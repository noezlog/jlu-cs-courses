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5" r:id="rId1"/>
  </p:sldMasterIdLst>
  <p:notesMasterIdLst>
    <p:notesMasterId r:id="rId72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4" r:id="rId9"/>
    <p:sldId id="329" r:id="rId10"/>
    <p:sldId id="265" r:id="rId11"/>
    <p:sldId id="263" r:id="rId12"/>
    <p:sldId id="266" r:id="rId13"/>
    <p:sldId id="267" r:id="rId14"/>
    <p:sldId id="268" r:id="rId15"/>
    <p:sldId id="331" r:id="rId16"/>
    <p:sldId id="332" r:id="rId17"/>
    <p:sldId id="333" r:id="rId18"/>
    <p:sldId id="269" r:id="rId19"/>
    <p:sldId id="270" r:id="rId20"/>
    <p:sldId id="271" r:id="rId21"/>
    <p:sldId id="272" r:id="rId22"/>
    <p:sldId id="330" r:id="rId23"/>
    <p:sldId id="273" r:id="rId24"/>
    <p:sldId id="274" r:id="rId25"/>
    <p:sldId id="275" r:id="rId26"/>
    <p:sldId id="276" r:id="rId27"/>
    <p:sldId id="277" r:id="rId28"/>
    <p:sldId id="327" r:id="rId29"/>
    <p:sldId id="278" r:id="rId30"/>
    <p:sldId id="279" r:id="rId31"/>
    <p:sldId id="280" r:id="rId32"/>
    <p:sldId id="281" r:id="rId33"/>
    <p:sldId id="334" r:id="rId34"/>
    <p:sldId id="282" r:id="rId35"/>
    <p:sldId id="283" r:id="rId36"/>
    <p:sldId id="335" r:id="rId37"/>
    <p:sldId id="284" r:id="rId38"/>
    <p:sldId id="285" r:id="rId39"/>
    <p:sldId id="286" r:id="rId40"/>
    <p:sldId id="287" r:id="rId41"/>
    <p:sldId id="353" r:id="rId42"/>
    <p:sldId id="288" r:id="rId43"/>
    <p:sldId id="336" r:id="rId44"/>
    <p:sldId id="289" r:id="rId45"/>
    <p:sldId id="290" r:id="rId46"/>
    <p:sldId id="291" r:id="rId47"/>
    <p:sldId id="292" r:id="rId48"/>
    <p:sldId id="305" r:id="rId49"/>
    <p:sldId id="306" r:id="rId50"/>
    <p:sldId id="307" r:id="rId51"/>
    <p:sldId id="308" r:id="rId52"/>
    <p:sldId id="309" r:id="rId53"/>
    <p:sldId id="310" r:id="rId54"/>
    <p:sldId id="311" r:id="rId55"/>
    <p:sldId id="312" r:id="rId56"/>
    <p:sldId id="313" r:id="rId57"/>
    <p:sldId id="314" r:id="rId58"/>
    <p:sldId id="315" r:id="rId59"/>
    <p:sldId id="351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25" r:id="rId70"/>
    <p:sldId id="326" r:id="rId71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941"/>
    <p:restoredTop sz="79403"/>
  </p:normalViewPr>
  <p:slideViewPr>
    <p:cSldViewPr>
      <p:cViewPr varScale="1">
        <p:scale>
          <a:sx n="87" d="100"/>
          <a:sy n="87" d="100"/>
        </p:scale>
        <p:origin x="1488" y="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  <p:sld r:id="rId18" collapse="1"/>
    </p:sldLst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11.xml"/><Relationship Id="rId13" Type="http://schemas.openxmlformats.org/officeDocument/2006/relationships/slide" Target="slides/slide19.xml"/><Relationship Id="rId18" Type="http://schemas.openxmlformats.org/officeDocument/2006/relationships/slide" Target="slides/slide27.xml"/><Relationship Id="rId3" Type="http://schemas.openxmlformats.org/officeDocument/2006/relationships/slide" Target="slides/slide5.xml"/><Relationship Id="rId7" Type="http://schemas.openxmlformats.org/officeDocument/2006/relationships/slide" Target="slides/slide10.xml"/><Relationship Id="rId12" Type="http://schemas.openxmlformats.org/officeDocument/2006/relationships/slide" Target="slides/slide18.xml"/><Relationship Id="rId17" Type="http://schemas.openxmlformats.org/officeDocument/2006/relationships/slide" Target="slides/slide26.xml"/><Relationship Id="rId2" Type="http://schemas.openxmlformats.org/officeDocument/2006/relationships/slide" Target="slides/slide4.xml"/><Relationship Id="rId16" Type="http://schemas.openxmlformats.org/officeDocument/2006/relationships/slide" Target="slides/slide25.xml"/><Relationship Id="rId1" Type="http://schemas.openxmlformats.org/officeDocument/2006/relationships/slide" Target="slides/slide2.xml"/><Relationship Id="rId6" Type="http://schemas.openxmlformats.org/officeDocument/2006/relationships/slide" Target="slides/slide8.xml"/><Relationship Id="rId11" Type="http://schemas.openxmlformats.org/officeDocument/2006/relationships/slide" Target="slides/slide14.xml"/><Relationship Id="rId5" Type="http://schemas.openxmlformats.org/officeDocument/2006/relationships/slide" Target="slides/slide7.xml"/><Relationship Id="rId15" Type="http://schemas.openxmlformats.org/officeDocument/2006/relationships/slide" Target="slides/slide21.xml"/><Relationship Id="rId10" Type="http://schemas.openxmlformats.org/officeDocument/2006/relationships/slide" Target="slides/slide13.xml"/><Relationship Id="rId4" Type="http://schemas.openxmlformats.org/officeDocument/2006/relationships/slide" Target="slides/slide6.xml"/><Relationship Id="rId9" Type="http://schemas.openxmlformats.org/officeDocument/2006/relationships/slide" Target="slides/slide12.xml"/><Relationship Id="rId14" Type="http://schemas.openxmlformats.org/officeDocument/2006/relationships/slide" Target="slides/slide2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E7827DF9-D7AB-BF46-AF8B-DCABFE25576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0A22E251-EEA0-2040-AF1A-FB666B86063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DF2D1BF6-D676-104E-8072-D9B17EE9FEC8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5" name="Rectangle 5">
            <a:extLst>
              <a:ext uri="{FF2B5EF4-FFF2-40B4-BE49-F238E27FC236}">
                <a16:creationId xmlns:a16="http://schemas.microsoft.com/office/drawing/2014/main" id="{C696A64E-CCFF-BB40-BBB3-C66521C864C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40966" name="Rectangle 6">
            <a:extLst>
              <a:ext uri="{FF2B5EF4-FFF2-40B4-BE49-F238E27FC236}">
                <a16:creationId xmlns:a16="http://schemas.microsoft.com/office/drawing/2014/main" id="{E5F956FB-6980-4B4F-A90B-7D0706C334F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0967" name="Rectangle 7">
            <a:extLst>
              <a:ext uri="{FF2B5EF4-FFF2-40B4-BE49-F238E27FC236}">
                <a16:creationId xmlns:a16="http://schemas.microsoft.com/office/drawing/2014/main" id="{568FA677-BE3E-C448-8CFA-A2692E986A9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AADF3562-D50C-7740-8237-27D0EB47B30E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宋体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7">
            <a:extLst>
              <a:ext uri="{FF2B5EF4-FFF2-40B4-BE49-F238E27FC236}">
                <a16:creationId xmlns:a16="http://schemas.microsoft.com/office/drawing/2014/main" id="{D83A4ABD-9155-BE48-B1D4-F94646285FF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A870DC6-9FEC-8742-9676-E512918F735C}" type="slidenum">
              <a:rPr kumimoji="0" lang="en-US" altLang="zh-CN" sz="1200"/>
              <a:pPr/>
              <a:t>5</a:t>
            </a:fld>
            <a:endParaRPr kumimoji="0" lang="en-US" altLang="zh-CN" sz="1200"/>
          </a:p>
        </p:txBody>
      </p:sp>
      <p:sp>
        <p:nvSpPr>
          <p:cNvPr id="19458" name="Rectangle 2">
            <a:extLst>
              <a:ext uri="{FF2B5EF4-FFF2-40B4-BE49-F238E27FC236}">
                <a16:creationId xmlns:a16="http://schemas.microsoft.com/office/drawing/2014/main" id="{C0D40D6F-8B6F-E049-98C7-AE19292FAD5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6AB51621-6DF5-7845-B860-7D135C44AA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kumimoji="0" lang="zh-CN" altLang="en-US">
                <a:latin typeface="Arial" panose="020B0604020202020204" pitchFamily="34" charset="0"/>
              </a:rPr>
              <a:t>这个三段论一定是正确的。因此一定要用恒真的公式表达。而</a:t>
            </a:r>
            <a:r>
              <a:rPr kumimoji="0" lang="en-US" altLang="zh-CN" sz="1600">
                <a:latin typeface="Arial" panose="020B0604020202020204" pitchFamily="34" charset="0"/>
              </a:rPr>
              <a:t>P</a:t>
            </a:r>
            <a:r>
              <a:rPr kumimoji="0" lang="en-US" altLang="zh-CN" sz="1600">
                <a:latin typeface="Arial" panose="020B0604020202020204" pitchFamily="34" charset="0"/>
                <a:sym typeface="Symbol" pitchFamily="2" charset="2"/>
              </a:rPr>
              <a:t></a:t>
            </a:r>
            <a:r>
              <a:rPr kumimoji="0" lang="en-US" altLang="zh-CN" sz="1600">
                <a:latin typeface="Arial" panose="020B0604020202020204" pitchFamily="34" charset="0"/>
              </a:rPr>
              <a:t>Q</a:t>
            </a:r>
            <a:r>
              <a:rPr kumimoji="0" lang="en-US" altLang="zh-CN" sz="1600">
                <a:latin typeface="Arial" panose="020B0604020202020204" pitchFamily="34" charset="0"/>
                <a:sym typeface="Symbol" pitchFamily="2" charset="2"/>
              </a:rPr>
              <a:t></a:t>
            </a:r>
            <a:r>
              <a:rPr kumimoji="0" lang="en-US" altLang="zh-CN" sz="1600">
                <a:latin typeface="Arial" panose="020B0604020202020204" pitchFamily="34" charset="0"/>
              </a:rPr>
              <a:t>R</a:t>
            </a:r>
            <a:r>
              <a:rPr kumimoji="0" lang="zh-CN" altLang="en-US" sz="1600">
                <a:latin typeface="Arial" panose="020B0604020202020204" pitchFamily="34" charset="0"/>
              </a:rPr>
              <a:t>却不是恒真的。那么一定不是自然语言有问题，而是表达方式有问题。即命题逻辑无法准确地表达。</a:t>
            </a:r>
          </a:p>
          <a:p>
            <a:pPr eaLnBrk="1" hangingPunct="1"/>
            <a:r>
              <a:rPr kumimoji="0" lang="zh-CN" altLang="en-US" sz="1600">
                <a:latin typeface="Arial" panose="020B0604020202020204" pitchFamily="34" charset="0"/>
              </a:rPr>
              <a:t>错误在于命题逻辑把</a:t>
            </a:r>
            <a:r>
              <a:rPr kumimoji="0" lang="en-US" altLang="zh-CN" sz="1600">
                <a:latin typeface="Arial" panose="020B0604020202020204" pitchFamily="34" charset="0"/>
              </a:rPr>
              <a:t>R</a:t>
            </a:r>
            <a:r>
              <a:rPr kumimoji="0" lang="zh-CN" altLang="en-US" sz="1600">
                <a:latin typeface="Arial" panose="020B0604020202020204" pitchFamily="34" charset="0"/>
              </a:rPr>
              <a:t>看成是独立的、与</a:t>
            </a:r>
            <a:r>
              <a:rPr kumimoji="0" lang="en-US" altLang="zh-CN" sz="1600">
                <a:latin typeface="Arial" panose="020B0604020202020204" pitchFamily="34" charset="0"/>
              </a:rPr>
              <a:t>PQ</a:t>
            </a:r>
            <a:r>
              <a:rPr kumimoji="0" lang="zh-CN" altLang="en-US" sz="1600">
                <a:latin typeface="Arial" panose="020B0604020202020204" pitchFamily="34" charset="0"/>
              </a:rPr>
              <a:t>无关的命题，实际上是有联系的，不能独立取假。</a:t>
            </a:r>
          </a:p>
          <a:p>
            <a:r>
              <a:rPr lang="zh-CN" altLang="en-US">
                <a:latin typeface="Arial" panose="020B0604020202020204" pitchFamily="34" charset="0"/>
              </a:rPr>
              <a:t>为了考虑这种联系，要分析命题的内部结构。发现</a:t>
            </a:r>
            <a:r>
              <a:rPr lang="en-US" altLang="zh-CN">
                <a:latin typeface="Arial" panose="020B0604020202020204" pitchFamily="34" charset="0"/>
              </a:rPr>
              <a:t>R</a:t>
            </a:r>
            <a:r>
              <a:rPr lang="zh-CN" altLang="en-US">
                <a:latin typeface="Arial" panose="020B0604020202020204" pitchFamily="34" charset="0"/>
              </a:rPr>
              <a:t>似乎是凡人落实到具体个体上，命题可以分解为谓词与个体两部分。“张三是人。”“张三”是个体，“是人”是谓词。</a:t>
            </a:r>
            <a:endParaRPr lang="zh-CN" altLang="zh-CN">
              <a:latin typeface="Arial" panose="020B0604020202020204" pitchFamily="34" charset="0"/>
            </a:endParaRPr>
          </a:p>
          <a:p>
            <a:r>
              <a:rPr lang="zh-CN" altLang="en-US">
                <a:latin typeface="Arial" panose="020B0604020202020204" pitchFamily="34" charset="0"/>
              </a:rPr>
              <a:t>含有变量的命题，在变量未知的时候是谓词，不是命题。本节课就讨论从这种语句产生命题的方法。</a:t>
            </a:r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7">
            <a:extLst>
              <a:ext uri="{FF2B5EF4-FFF2-40B4-BE49-F238E27FC236}">
                <a16:creationId xmlns:a16="http://schemas.microsoft.com/office/drawing/2014/main" id="{D3A57BA6-8647-1741-87C3-08CB7816F75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226C00C-1537-2948-AA09-D692A736201C}" type="slidenum">
              <a:rPr kumimoji="0" lang="en-US" altLang="zh-CN" sz="1200"/>
              <a:pPr/>
              <a:t>7</a:t>
            </a:fld>
            <a:endParaRPr kumimoji="0" lang="en-US" altLang="zh-CN" sz="1200"/>
          </a:p>
        </p:txBody>
      </p:sp>
      <p:sp>
        <p:nvSpPr>
          <p:cNvPr id="22530" name="Rectangle 2">
            <a:extLst>
              <a:ext uri="{FF2B5EF4-FFF2-40B4-BE49-F238E27FC236}">
                <a16:creationId xmlns:a16="http://schemas.microsoft.com/office/drawing/2014/main" id="{6ACB7C1B-5EA6-7D49-8A26-7FA4B823ACC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7373D20A-F17F-D94D-B454-D39B42932C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kumimoji="0" lang="en-US" altLang="zh-CN">
                <a:latin typeface="Arial" panose="020B0604020202020204" pitchFamily="34" charset="0"/>
              </a:rPr>
              <a:t>D</a:t>
            </a:r>
            <a:r>
              <a:rPr kumimoji="0" lang="en-US" altLang="zh-CN" baseline="30000">
                <a:latin typeface="Arial" panose="020B0604020202020204" pitchFamily="34" charset="0"/>
              </a:rPr>
              <a:t>n</a:t>
            </a:r>
            <a:r>
              <a:rPr kumimoji="0" lang="zh-CN" altLang="en-US">
                <a:latin typeface="Arial" panose="020B0604020202020204" pitchFamily="34" charset="0"/>
              </a:rPr>
              <a:t>相当于定义域，</a:t>
            </a:r>
            <a:r>
              <a:rPr kumimoji="0" lang="en-US" altLang="zh-CN">
                <a:latin typeface="Arial" panose="020B0604020202020204" pitchFamily="34" charset="0"/>
              </a:rPr>
              <a:t>{1,0}</a:t>
            </a:r>
            <a:r>
              <a:rPr kumimoji="0" lang="zh-CN" altLang="en-US">
                <a:latin typeface="Arial" panose="020B0604020202020204" pitchFamily="34" charset="0"/>
              </a:rPr>
              <a:t>是值域。一元谓词定义在</a:t>
            </a:r>
            <a:r>
              <a:rPr kumimoji="0" lang="en-US" altLang="zh-CN">
                <a:latin typeface="Arial" panose="020B0604020202020204" pitchFamily="34" charset="0"/>
              </a:rPr>
              <a:t>D</a:t>
            </a:r>
            <a:r>
              <a:rPr kumimoji="0" lang="zh-CN" altLang="en-US">
                <a:latin typeface="Arial" panose="020B0604020202020204" pitchFamily="34" charset="0"/>
              </a:rPr>
              <a:t>上，取值</a:t>
            </a:r>
            <a:r>
              <a:rPr kumimoji="0" lang="en-US" altLang="zh-CN">
                <a:latin typeface="Arial" panose="020B0604020202020204" pitchFamily="34" charset="0"/>
              </a:rPr>
              <a:t>x</a:t>
            </a:r>
            <a:r>
              <a:rPr kumimoji="0" lang="zh-CN" altLang="en-US">
                <a:latin typeface="Arial" panose="020B0604020202020204" pitchFamily="34" charset="0"/>
              </a:rPr>
              <a:t>等；二元谓词定义在</a:t>
            </a:r>
            <a:r>
              <a:rPr kumimoji="0" lang="en-US" altLang="zh-CN">
                <a:latin typeface="Arial" panose="020B0604020202020204" pitchFamily="34" charset="0"/>
              </a:rPr>
              <a:t>D</a:t>
            </a:r>
            <a:r>
              <a:rPr kumimoji="0" lang="en-US" altLang="zh-CN" baseline="30000">
                <a:latin typeface="Arial" panose="020B0604020202020204" pitchFamily="34" charset="0"/>
              </a:rPr>
              <a:t>2</a:t>
            </a:r>
            <a:r>
              <a:rPr kumimoji="0" lang="zh-CN" altLang="en-US">
                <a:latin typeface="Arial" panose="020B0604020202020204" pitchFamily="34" charset="0"/>
              </a:rPr>
              <a:t>上，取值形如</a:t>
            </a:r>
            <a:r>
              <a:rPr kumimoji="0" lang="en-US" altLang="zh-CN">
                <a:latin typeface="Arial" panose="020B0604020202020204" pitchFamily="34" charset="0"/>
              </a:rPr>
              <a:t>(x,y)……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7">
            <a:extLst>
              <a:ext uri="{FF2B5EF4-FFF2-40B4-BE49-F238E27FC236}">
                <a16:creationId xmlns:a16="http://schemas.microsoft.com/office/drawing/2014/main" id="{04EE8AEE-D613-E341-BA7E-87D0B149EC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A01F024-322F-5546-B87B-293857B6BDE0}" type="slidenum">
              <a:rPr kumimoji="0" lang="en-US" altLang="zh-CN" sz="1200"/>
              <a:pPr/>
              <a:t>8</a:t>
            </a:fld>
            <a:endParaRPr kumimoji="0" lang="en-US" altLang="zh-CN" sz="1200"/>
          </a:p>
        </p:txBody>
      </p:sp>
      <p:sp>
        <p:nvSpPr>
          <p:cNvPr id="24578" name="Rectangle 2">
            <a:extLst>
              <a:ext uri="{FF2B5EF4-FFF2-40B4-BE49-F238E27FC236}">
                <a16:creationId xmlns:a16="http://schemas.microsoft.com/office/drawing/2014/main" id="{745AD9B7-DF3B-4B40-BE72-88913BB65D5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81E163F2-1ADE-8147-8D87-FEAF93AEEC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kumimoji="0" lang="en-US" altLang="zh-CN">
                <a:latin typeface="Arial" panose="020B0604020202020204" pitchFamily="34" charset="0"/>
              </a:rPr>
              <a:t>G(x,y)</a:t>
            </a:r>
            <a:r>
              <a:rPr kumimoji="0" lang="zh-CN" altLang="en-US">
                <a:latin typeface="Arial" panose="020B0604020202020204" pitchFamily="34" charset="0"/>
              </a:rPr>
              <a:t>中的</a:t>
            </a:r>
            <a:r>
              <a:rPr kumimoji="0" lang="en-US" altLang="zh-CN">
                <a:latin typeface="Arial" panose="020B0604020202020204" pitchFamily="34" charset="0"/>
              </a:rPr>
              <a:t>x</a:t>
            </a:r>
            <a:r>
              <a:rPr kumimoji="0" lang="zh-CN" altLang="en-US">
                <a:latin typeface="Arial" panose="020B0604020202020204" pitchFamily="34" charset="0"/>
              </a:rPr>
              <a:t>、</a:t>
            </a:r>
            <a:r>
              <a:rPr kumimoji="0" lang="en-US" altLang="zh-CN">
                <a:latin typeface="Arial" panose="020B0604020202020204" pitchFamily="34" charset="0"/>
              </a:rPr>
              <a:t>y</a:t>
            </a:r>
            <a:r>
              <a:rPr kumimoji="0" lang="zh-CN" altLang="en-US">
                <a:latin typeface="Arial" panose="020B0604020202020204" pitchFamily="34" charset="0"/>
              </a:rPr>
              <a:t>有确定值则是命题；没有类似于变量则是命题函数即谓词。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>
            <a:extLst>
              <a:ext uri="{FF2B5EF4-FFF2-40B4-BE49-F238E27FC236}">
                <a16:creationId xmlns:a16="http://schemas.microsoft.com/office/drawing/2014/main" id="{5F0CB09A-B011-684B-BDF6-CF2C220CF1A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337A05C-9308-E54A-813A-22A79CFE0D00}" type="slidenum">
              <a:rPr kumimoji="0" lang="en-US" altLang="zh-CN" sz="1200"/>
              <a:pPr/>
              <a:t>11</a:t>
            </a:fld>
            <a:endParaRPr kumimoji="0" lang="en-US" altLang="zh-CN" sz="1200"/>
          </a:p>
        </p:txBody>
      </p:sp>
      <p:sp>
        <p:nvSpPr>
          <p:cNvPr id="28674" name="Rectangle 2">
            <a:extLst>
              <a:ext uri="{FF2B5EF4-FFF2-40B4-BE49-F238E27FC236}">
                <a16:creationId xmlns:a16="http://schemas.microsoft.com/office/drawing/2014/main" id="{87C723F0-4B54-5B4B-B421-02E9847B89D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90FA129E-4946-0B46-A458-03A517A053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kumimoji="0" lang="en-US" altLang="zh-CN">
                <a:latin typeface="Arial" panose="020B0604020202020204" pitchFamily="34" charset="0"/>
              </a:rPr>
              <a:t>P</a:t>
            </a:r>
            <a:r>
              <a:rPr kumimoji="0" lang="zh-CN" altLang="en-US">
                <a:latin typeface="Arial" panose="020B0604020202020204" pitchFamily="34" charset="0"/>
              </a:rPr>
              <a:t>的否定：有一个人不死都是</a:t>
            </a:r>
            <a:r>
              <a:rPr kumimoji="0" lang="en-US" altLang="zh-CN">
                <a:latin typeface="Arial" panose="020B0604020202020204" pitchFamily="34" charset="0"/>
              </a:rPr>
              <a:t>P</a:t>
            </a:r>
            <a:r>
              <a:rPr kumimoji="0" lang="zh-CN" altLang="en-US">
                <a:latin typeface="Arial" panose="020B0604020202020204" pitchFamily="34" charset="0"/>
              </a:rPr>
              <a:t>的否定，何况所有人都不死。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>
            <a:extLst>
              <a:ext uri="{FF2B5EF4-FFF2-40B4-BE49-F238E27FC236}">
                <a16:creationId xmlns:a16="http://schemas.microsoft.com/office/drawing/2014/main" id="{C6F98581-F4D1-B849-8BD3-0A99562E1CA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3954CEE-6787-4E49-83C0-246C0218DE8B}" type="slidenum">
              <a:rPr kumimoji="0" lang="en-US" altLang="zh-CN" sz="1200"/>
              <a:pPr/>
              <a:t>12</a:t>
            </a:fld>
            <a:endParaRPr kumimoji="0" lang="en-US" altLang="zh-CN" sz="1200"/>
          </a:p>
        </p:txBody>
      </p:sp>
      <p:sp>
        <p:nvSpPr>
          <p:cNvPr id="30722" name="Rectangle 2">
            <a:extLst>
              <a:ext uri="{FF2B5EF4-FFF2-40B4-BE49-F238E27FC236}">
                <a16:creationId xmlns:a16="http://schemas.microsoft.com/office/drawing/2014/main" id="{CB08F407-9EB8-064F-BC2B-49C0AC9E555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2554481F-B5A9-7C48-8684-E32835FC82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kumimoji="0" lang="zh-CN" altLang="en-US">
                <a:latin typeface="Arial" panose="020B0604020202020204" pitchFamily="34" charset="0"/>
              </a:rPr>
              <a:t>如果确切地表示出“对任意</a:t>
            </a:r>
            <a:r>
              <a:rPr kumimoji="0" lang="en-US" altLang="zh-CN">
                <a:latin typeface="Arial" panose="020B0604020202020204" pitchFamily="34" charset="0"/>
              </a:rPr>
              <a:t>x”</a:t>
            </a:r>
            <a:r>
              <a:rPr kumimoji="0" lang="zh-CN" altLang="en-US">
                <a:latin typeface="Arial" panose="020B0604020202020204" pitchFamily="34" charset="0"/>
              </a:rPr>
              <a:t>，那么</a:t>
            </a:r>
            <a:r>
              <a:rPr kumimoji="0" lang="en-US" altLang="zh-CN">
                <a:latin typeface="Arial" panose="020B0604020202020204" pitchFamily="34" charset="0"/>
              </a:rPr>
              <a:t>x</a:t>
            </a:r>
            <a:r>
              <a:rPr kumimoji="0" lang="zh-CN" altLang="en-US">
                <a:latin typeface="Arial" panose="020B0604020202020204" pitchFamily="34" charset="0"/>
              </a:rPr>
              <a:t>也算有了明确的值，那么就是命题。</a:t>
            </a:r>
          </a:p>
          <a:p>
            <a:pPr eaLnBrk="1" hangingPunct="1"/>
            <a:r>
              <a:rPr kumimoji="0" lang="zh-CN" altLang="en-US">
                <a:latin typeface="Arial" panose="020B0604020202020204" pitchFamily="34" charset="0"/>
              </a:rPr>
              <a:t>对偶：互为否定的两个。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>
            <a:extLst>
              <a:ext uri="{FF2B5EF4-FFF2-40B4-BE49-F238E27FC236}">
                <a16:creationId xmlns:a16="http://schemas.microsoft.com/office/drawing/2014/main" id="{D0AF4461-8C6A-0D4C-93F3-D939EF4B585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32FE859-2B42-714F-81CC-C1EF849B025C}" type="slidenum">
              <a:rPr kumimoji="0" lang="en-US" altLang="zh-CN" sz="1200"/>
              <a:pPr/>
              <a:t>15</a:t>
            </a:fld>
            <a:endParaRPr kumimoji="0" lang="en-US" altLang="zh-CN" sz="1200"/>
          </a:p>
        </p:txBody>
      </p:sp>
      <p:sp>
        <p:nvSpPr>
          <p:cNvPr id="34818" name="Rectangle 2">
            <a:extLst>
              <a:ext uri="{FF2B5EF4-FFF2-40B4-BE49-F238E27FC236}">
                <a16:creationId xmlns:a16="http://schemas.microsoft.com/office/drawing/2014/main" id="{E5D15C56-3048-1546-A181-057F51BC4C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442B72C8-3AA3-3048-84FD-F6525CA7CA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kumimoji="0"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7">
            <a:extLst>
              <a:ext uri="{FF2B5EF4-FFF2-40B4-BE49-F238E27FC236}">
                <a16:creationId xmlns:a16="http://schemas.microsoft.com/office/drawing/2014/main" id="{F28B6DCE-3278-BC40-8098-4B5A6162981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63E95DF-8B15-B248-B891-2D935DA317E5}" type="slidenum">
              <a:rPr kumimoji="0" lang="en-US" altLang="zh-CN" sz="1200"/>
              <a:pPr/>
              <a:t>17</a:t>
            </a:fld>
            <a:endParaRPr kumimoji="0" lang="en-US" altLang="zh-CN" sz="1200"/>
          </a:p>
        </p:txBody>
      </p:sp>
      <p:sp>
        <p:nvSpPr>
          <p:cNvPr id="37890" name="Rectangle 2">
            <a:extLst>
              <a:ext uri="{FF2B5EF4-FFF2-40B4-BE49-F238E27FC236}">
                <a16:creationId xmlns:a16="http://schemas.microsoft.com/office/drawing/2014/main" id="{5686F6F7-5936-4246-B8A8-B776FF47610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DF05D3B0-246C-514C-927A-11C0599655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kumimoji="0" lang="en-US" altLang="zh-CN">
                <a:latin typeface="Arial" panose="020B0604020202020204" pitchFamily="34" charset="0"/>
              </a:rPr>
              <a:t>1)</a:t>
            </a:r>
            <a:r>
              <a:rPr kumimoji="0" lang="zh-CN" altLang="en-US">
                <a:latin typeface="Arial" panose="020B0604020202020204" pitchFamily="34" charset="0"/>
              </a:rPr>
              <a:t>每个喜剧演员都很有趣。</a:t>
            </a:r>
          </a:p>
          <a:p>
            <a:pPr eaLnBrk="1" hangingPunct="1"/>
            <a:r>
              <a:rPr kumimoji="0" lang="en-US" altLang="zh-CN">
                <a:latin typeface="Arial" panose="020B0604020202020204" pitchFamily="34" charset="0"/>
              </a:rPr>
              <a:t>2)</a:t>
            </a:r>
            <a:r>
              <a:rPr kumimoji="0" lang="zh-CN" altLang="en-US">
                <a:latin typeface="Arial" panose="020B0604020202020204" pitchFamily="34" charset="0"/>
              </a:rPr>
              <a:t>每个人都是有趣的喜剧演员。</a:t>
            </a:r>
          </a:p>
          <a:p>
            <a:pPr eaLnBrk="1" hangingPunct="1"/>
            <a:r>
              <a:rPr kumimoji="0" lang="en-US" altLang="zh-CN">
                <a:latin typeface="Arial" panose="020B0604020202020204" pitchFamily="34" charset="0"/>
              </a:rPr>
              <a:t>3)</a:t>
            </a:r>
            <a:r>
              <a:rPr kumimoji="0" lang="zh-CN" altLang="en-US">
                <a:latin typeface="Arial" panose="020B0604020202020204" pitchFamily="34" charset="0"/>
              </a:rPr>
              <a:t>一些喜剧演员很有趣。</a:t>
            </a:r>
          </a:p>
          <a:p>
            <a:pPr eaLnBrk="1" hangingPunct="1"/>
            <a:r>
              <a:rPr kumimoji="0" lang="en-US" altLang="zh-CN">
                <a:latin typeface="Arial" panose="020B0604020202020204" pitchFamily="34" charset="0"/>
              </a:rPr>
              <a:t>4)</a:t>
            </a:r>
            <a:r>
              <a:rPr kumimoji="0" lang="zh-CN" altLang="en-US">
                <a:latin typeface="Arial" panose="020B0604020202020204" pitchFamily="34" charset="0"/>
              </a:rPr>
              <a:t>存在一个人，若他或她是喜剧演员，那么他或她很有趣。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7">
            <a:extLst>
              <a:ext uri="{FF2B5EF4-FFF2-40B4-BE49-F238E27FC236}">
                <a16:creationId xmlns:a16="http://schemas.microsoft.com/office/drawing/2014/main" id="{96DBD339-2741-3149-B5AA-59C4606B3E4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7B790AA-11EB-BA4D-A582-4BE8F4F2AEF3}" type="slidenum">
              <a:rPr kumimoji="0" lang="en-US" altLang="zh-CN" sz="1200"/>
              <a:pPr/>
              <a:t>18</a:t>
            </a:fld>
            <a:endParaRPr kumimoji="0" lang="en-US" altLang="zh-CN" sz="1200"/>
          </a:p>
        </p:txBody>
      </p:sp>
      <p:sp>
        <p:nvSpPr>
          <p:cNvPr id="39938" name="Rectangle 2">
            <a:extLst>
              <a:ext uri="{FF2B5EF4-FFF2-40B4-BE49-F238E27FC236}">
                <a16:creationId xmlns:a16="http://schemas.microsoft.com/office/drawing/2014/main" id="{959BB3B8-1088-D74E-B81D-BD829175F62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0D1DFD91-0B44-9C45-820E-6B5849CF45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kumimoji="0" lang="zh-CN" altLang="en-US">
                <a:latin typeface="Arial" panose="020B0604020202020204" pitchFamily="34" charset="0"/>
              </a:rPr>
              <a:t>取</a:t>
            </a:r>
            <a:r>
              <a:rPr kumimoji="0" lang="en-US" altLang="zh-CN">
                <a:latin typeface="Arial" panose="020B0604020202020204" pitchFamily="34" charset="0"/>
              </a:rPr>
              <a:t>0</a:t>
            </a:r>
            <a:r>
              <a:rPr kumimoji="0" lang="zh-CN" altLang="en-US">
                <a:latin typeface="Arial" panose="020B0604020202020204" pitchFamily="34" charset="0"/>
              </a:rPr>
              <a:t>值即为取</a:t>
            </a:r>
            <a:r>
              <a:rPr kumimoji="0" lang="en-US" altLang="zh-CN">
                <a:latin typeface="Arial" panose="020B0604020202020204" pitchFamily="34" charset="0"/>
              </a:rPr>
              <a:t>1</a:t>
            </a:r>
            <a:r>
              <a:rPr kumimoji="0" lang="zh-CN" altLang="en-US">
                <a:latin typeface="Arial" panose="020B0604020202020204" pitchFamily="34" charset="0"/>
              </a:rPr>
              <a:t>值的否定</a:t>
            </a:r>
            <a:r>
              <a:rPr lang="zh-CN" altLang="en-US">
                <a:latin typeface="Arial" panose="020B0604020202020204" pitchFamily="34" charset="0"/>
              </a:rPr>
              <a:t>，即存在</a:t>
            </a:r>
            <a:r>
              <a:rPr lang="en-US" altLang="zh-CN">
                <a:latin typeface="Arial" panose="020B0604020202020204" pitchFamily="34" charset="0"/>
              </a:rPr>
              <a:t>x</a:t>
            </a:r>
            <a:r>
              <a:rPr lang="zh-CN" altLang="zh-CN">
                <a:latin typeface="Arial" panose="020B0604020202020204" pitchFamily="34" charset="0"/>
              </a:rPr>
              <a:t> </a:t>
            </a:r>
            <a:r>
              <a:rPr kumimoji="0" lang="zh-CN" altLang="en-US">
                <a:latin typeface="Arial" panose="020B0604020202020204" pitchFamily="34" charset="0"/>
              </a:rPr>
              <a:t>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7">
            <a:extLst>
              <a:ext uri="{FF2B5EF4-FFF2-40B4-BE49-F238E27FC236}">
                <a16:creationId xmlns:a16="http://schemas.microsoft.com/office/drawing/2014/main" id="{9EBCF586-0542-7F4F-B43B-3AA749AA9C6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EDFC807-2336-E547-A1BD-027366FCC436}" type="slidenum">
              <a:rPr kumimoji="0" lang="en-US" altLang="zh-CN" sz="1200"/>
              <a:pPr/>
              <a:t>22</a:t>
            </a:fld>
            <a:endParaRPr kumimoji="0" lang="en-US" altLang="zh-CN" sz="1200"/>
          </a:p>
        </p:txBody>
      </p:sp>
      <p:sp>
        <p:nvSpPr>
          <p:cNvPr id="45058" name="Rectangle 2">
            <a:extLst>
              <a:ext uri="{FF2B5EF4-FFF2-40B4-BE49-F238E27FC236}">
                <a16:creationId xmlns:a16="http://schemas.microsoft.com/office/drawing/2014/main" id="{3FB8EC74-F5B5-294E-AA17-397F2C63D44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DC5C6854-75C9-9E4D-A3FB-71FF29546C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kumimoji="0" lang="en-US" altLang="zh-CN">
                <a:latin typeface="Arial" panose="020B0604020202020204" pitchFamily="34" charset="0"/>
              </a:rPr>
              <a:t>1.a)</a:t>
            </a:r>
            <a:r>
              <a:rPr kumimoji="0" lang="zh-CN" altLang="en-US">
                <a:latin typeface="Arial" panose="020B0604020202020204" pitchFamily="34" charset="0"/>
              </a:rPr>
              <a:t>真；真	</a:t>
            </a:r>
            <a:r>
              <a:rPr kumimoji="0" lang="en-US" altLang="zh-CN">
                <a:latin typeface="Arial" panose="020B0604020202020204" pitchFamily="34" charset="0"/>
              </a:rPr>
              <a:t>b)</a:t>
            </a:r>
            <a:r>
              <a:rPr kumimoji="0" lang="zh-CN" altLang="en-US">
                <a:latin typeface="Arial" panose="020B0604020202020204" pitchFamily="34" charset="0"/>
              </a:rPr>
              <a:t>假；真</a:t>
            </a:r>
          </a:p>
          <a:p>
            <a:pPr eaLnBrk="1" hangingPunct="1"/>
            <a:r>
              <a:rPr kumimoji="0" lang="zh-CN" altLang="en-US">
                <a:latin typeface="Arial" panose="020B0604020202020204" pitchFamily="34" charset="0"/>
              </a:rPr>
              <a:t>不同的量词有不同的真值结果；不同的谓词含义有不同的真值结果。</a:t>
            </a:r>
          </a:p>
          <a:p>
            <a:pPr eaLnBrk="1" hangingPunct="1"/>
            <a:r>
              <a:rPr kumimoji="0" lang="en-US" altLang="zh-CN">
                <a:latin typeface="Arial" panose="020B0604020202020204" pitchFamily="34" charset="0"/>
              </a:rPr>
              <a:t>2.</a:t>
            </a:r>
            <a:r>
              <a:rPr kumimoji="0" lang="zh-CN" altLang="en-US">
                <a:latin typeface="Arial" panose="020B0604020202020204" pitchFamily="34" charset="0"/>
              </a:rPr>
              <a:t>假；真</a:t>
            </a:r>
          </a:p>
          <a:p>
            <a:pPr eaLnBrk="1" hangingPunct="1"/>
            <a:r>
              <a:rPr kumimoji="0" lang="zh-CN" altLang="en-US">
                <a:latin typeface="Arial" panose="020B0604020202020204" pitchFamily="34" charset="0"/>
              </a:rPr>
              <a:t>可见，使用量词，论域很重要。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7">
            <a:extLst>
              <a:ext uri="{FF2B5EF4-FFF2-40B4-BE49-F238E27FC236}">
                <a16:creationId xmlns:a16="http://schemas.microsoft.com/office/drawing/2014/main" id="{5DB4A22D-BCA8-F041-B384-0A6FB4009B2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0FFE989-1EE5-8949-B5E8-D7F5CDE80096}" type="slidenum">
              <a:rPr kumimoji="0" lang="en-US" altLang="zh-CN" sz="1200"/>
              <a:pPr/>
              <a:t>27</a:t>
            </a:fld>
            <a:endParaRPr kumimoji="0" lang="en-US" altLang="zh-CN" sz="1200"/>
          </a:p>
        </p:txBody>
      </p:sp>
      <p:sp>
        <p:nvSpPr>
          <p:cNvPr id="51202" name="Rectangle 2">
            <a:extLst>
              <a:ext uri="{FF2B5EF4-FFF2-40B4-BE49-F238E27FC236}">
                <a16:creationId xmlns:a16="http://schemas.microsoft.com/office/drawing/2014/main" id="{8775F4AD-0069-8645-BB0E-E38419960AA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11E94591-E986-4549-AF2A-51C63C07BC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kumimoji="0"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7">
            <a:extLst>
              <a:ext uri="{FF2B5EF4-FFF2-40B4-BE49-F238E27FC236}">
                <a16:creationId xmlns:a16="http://schemas.microsoft.com/office/drawing/2014/main" id="{D406EA4C-EF34-3F44-A653-D771A54E57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C9F03B5-9C43-114E-AC73-E086D0D75A1A}" type="slidenum">
              <a:rPr kumimoji="0" lang="en-US" altLang="zh-CN" sz="1200"/>
              <a:pPr/>
              <a:t>31</a:t>
            </a:fld>
            <a:endParaRPr kumimoji="0" lang="en-US" altLang="zh-CN" sz="1200"/>
          </a:p>
        </p:txBody>
      </p:sp>
      <p:sp>
        <p:nvSpPr>
          <p:cNvPr id="56322" name="Rectangle 2">
            <a:extLst>
              <a:ext uri="{FF2B5EF4-FFF2-40B4-BE49-F238E27FC236}">
                <a16:creationId xmlns:a16="http://schemas.microsoft.com/office/drawing/2014/main" id="{2C3CA803-87BE-B54F-9669-F968E129656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EC336B13-3457-5E42-8F2F-F9D7826CA9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kumimoji="0" lang="en-US" altLang="zh-CN">
                <a:latin typeface="Arial" panose="020B0604020202020204" pitchFamily="34" charset="0"/>
              </a:rPr>
              <a:t>3.</a:t>
            </a:r>
            <a:r>
              <a:rPr kumimoji="0" lang="zh-CN" altLang="en-US">
                <a:latin typeface="Arial" panose="020B0604020202020204" pitchFamily="34" charset="0"/>
              </a:rPr>
              <a:t>函数符号：</a:t>
            </a:r>
            <a:r>
              <a:rPr kumimoji="0" lang="en-US" altLang="zh-CN" sz="1400">
                <a:latin typeface="Arial" panose="020B0604020202020204" pitchFamily="34" charset="0"/>
              </a:rPr>
              <a:t>(x</a:t>
            </a:r>
            <a:r>
              <a:rPr kumimoji="0" lang="en-US" altLang="zh-CN" sz="1400" baseline="-30000">
                <a:latin typeface="Arial" panose="020B0604020202020204" pitchFamily="34" charset="0"/>
              </a:rPr>
              <a:t>1</a:t>
            </a:r>
            <a:r>
              <a:rPr kumimoji="0" lang="en-US" altLang="zh-CN" sz="1400">
                <a:latin typeface="Arial" panose="020B0604020202020204" pitchFamily="34" charset="0"/>
              </a:rPr>
              <a:t>,…,x</a:t>
            </a:r>
            <a:r>
              <a:rPr kumimoji="0" lang="en-US" altLang="zh-CN" sz="1400" baseline="-30000">
                <a:latin typeface="Arial" panose="020B0604020202020204" pitchFamily="34" charset="0"/>
              </a:rPr>
              <a:t>n</a:t>
            </a:r>
            <a:r>
              <a:rPr kumimoji="0" lang="en-US" altLang="zh-CN" sz="1400">
                <a:latin typeface="Arial" panose="020B0604020202020204" pitchFamily="34" charset="0"/>
              </a:rPr>
              <a:t>)</a:t>
            </a:r>
            <a:r>
              <a:rPr kumimoji="0" lang="zh-CN" altLang="en-US" sz="1400">
                <a:latin typeface="Arial" panose="020B0604020202020204" pitchFamily="34" charset="0"/>
              </a:rPr>
              <a:t>定义域</a:t>
            </a:r>
            <a:r>
              <a:rPr kumimoji="0" lang="en-US" altLang="zh-CN" sz="1400">
                <a:latin typeface="Arial" panose="020B0604020202020204" pitchFamily="34" charset="0"/>
              </a:rPr>
              <a:t>Dn</a:t>
            </a:r>
            <a:r>
              <a:rPr kumimoji="0" lang="zh-CN" altLang="en-US" sz="1400">
                <a:latin typeface="Arial" panose="020B0604020202020204" pitchFamily="34" charset="0"/>
              </a:rPr>
              <a:t>，看成一个有序</a:t>
            </a:r>
            <a:r>
              <a:rPr kumimoji="0" lang="en-US" altLang="zh-CN" sz="1400">
                <a:latin typeface="Arial" panose="020B0604020202020204" pitchFamily="34" charset="0"/>
              </a:rPr>
              <a:t>n</a:t>
            </a:r>
            <a:r>
              <a:rPr kumimoji="0" lang="zh-CN" altLang="en-US" sz="1400">
                <a:latin typeface="Arial" panose="020B0604020202020204" pitchFamily="34" charset="0"/>
              </a:rPr>
              <a:t>元组；值域为</a:t>
            </a:r>
            <a:r>
              <a:rPr kumimoji="0" lang="en-US" altLang="zh-CN" sz="1400">
                <a:latin typeface="Arial" panose="020B0604020202020204" pitchFamily="34" charset="0"/>
              </a:rPr>
              <a:t>D</a:t>
            </a:r>
            <a:r>
              <a:rPr kumimoji="0" lang="zh-CN" altLang="en-US" sz="1400">
                <a:latin typeface="Arial" panose="020B0604020202020204" pitchFamily="34" charset="0"/>
              </a:rPr>
              <a:t>；因为在公式中函数也作为变量使用。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7">
            <a:extLst>
              <a:ext uri="{FF2B5EF4-FFF2-40B4-BE49-F238E27FC236}">
                <a16:creationId xmlns:a16="http://schemas.microsoft.com/office/drawing/2014/main" id="{7B7446B2-AFEF-8C4E-B8E0-ED1264F0EA5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C9904AF-8722-844E-98E9-50F06E20380D}" type="slidenum">
              <a:rPr kumimoji="0" lang="en-US" altLang="zh-CN" sz="1200"/>
              <a:pPr/>
              <a:t>32</a:t>
            </a:fld>
            <a:endParaRPr kumimoji="0" lang="en-US" altLang="zh-CN" sz="1200"/>
          </a:p>
        </p:txBody>
      </p:sp>
      <p:sp>
        <p:nvSpPr>
          <p:cNvPr id="58370" name="Rectangle 2">
            <a:extLst>
              <a:ext uri="{FF2B5EF4-FFF2-40B4-BE49-F238E27FC236}">
                <a16:creationId xmlns:a16="http://schemas.microsoft.com/office/drawing/2014/main" id="{FAC8C953-9D3A-514E-B089-30E80BFC906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6722F318-A84E-D449-9897-6584C0C90F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kumimoji="0" lang="en-US" altLang="zh-CN">
                <a:latin typeface="Arial" panose="020B0604020202020204" pitchFamily="34" charset="0"/>
              </a:rPr>
              <a:t>3)t1</a:t>
            </a:r>
            <a:r>
              <a:rPr kumimoji="0" lang="zh-CN" altLang="en-US">
                <a:latin typeface="Arial" panose="020B0604020202020204" pitchFamily="34" charset="0"/>
              </a:rPr>
              <a:t>等是变量、常量，都使函数变为项；因为变量也是项；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7">
            <a:extLst>
              <a:ext uri="{FF2B5EF4-FFF2-40B4-BE49-F238E27FC236}">
                <a16:creationId xmlns:a16="http://schemas.microsoft.com/office/drawing/2014/main" id="{12AEAA29-554C-0642-81F4-D9E89E8981E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80A80B3-0F62-D948-B520-9B61970E1717}" type="slidenum">
              <a:rPr kumimoji="0" lang="en-US" altLang="zh-CN" sz="1200"/>
              <a:pPr/>
              <a:t>33</a:t>
            </a:fld>
            <a:endParaRPr kumimoji="0" lang="en-US" altLang="zh-CN" sz="1200"/>
          </a:p>
        </p:txBody>
      </p:sp>
      <p:sp>
        <p:nvSpPr>
          <p:cNvPr id="60418" name="Rectangle 2">
            <a:extLst>
              <a:ext uri="{FF2B5EF4-FFF2-40B4-BE49-F238E27FC236}">
                <a16:creationId xmlns:a16="http://schemas.microsoft.com/office/drawing/2014/main" id="{2007D12F-50E9-D444-9A32-3F27676A04C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7A02A412-1D4D-994E-9926-0A49386AC5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kumimoji="0" lang="zh-CN" altLang="en-US">
                <a:latin typeface="Arial" panose="020B0604020202020204" pitchFamily="34" charset="0"/>
              </a:rPr>
              <a:t>如</a:t>
            </a:r>
            <a:r>
              <a:rPr kumimoji="0" lang="en-US" altLang="zh-CN">
                <a:latin typeface="Arial" panose="020B0604020202020204" pitchFamily="34" charset="0"/>
              </a:rPr>
              <a:t>2)</a:t>
            </a:r>
            <a:r>
              <a:rPr kumimoji="0" lang="zh-CN" altLang="en-US">
                <a:latin typeface="Arial" panose="020B0604020202020204" pitchFamily="34" charset="0"/>
              </a:rPr>
              <a:t>例：函数的使用给谓词逻辑中的个体词表示带来了很大的方便。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7">
            <a:extLst>
              <a:ext uri="{FF2B5EF4-FFF2-40B4-BE49-F238E27FC236}">
                <a16:creationId xmlns:a16="http://schemas.microsoft.com/office/drawing/2014/main" id="{6E360895-31A6-5D4C-B7DB-8ECE9385BC9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4493497-C760-DF4C-88B9-F63AFD063C60}" type="slidenum">
              <a:rPr kumimoji="0" lang="en-US" altLang="zh-CN" sz="1200"/>
              <a:pPr/>
              <a:t>37</a:t>
            </a:fld>
            <a:endParaRPr kumimoji="0" lang="en-US" altLang="zh-CN" sz="1200"/>
          </a:p>
        </p:txBody>
      </p:sp>
      <p:sp>
        <p:nvSpPr>
          <p:cNvPr id="65538" name="Rectangle 2">
            <a:extLst>
              <a:ext uri="{FF2B5EF4-FFF2-40B4-BE49-F238E27FC236}">
                <a16:creationId xmlns:a16="http://schemas.microsoft.com/office/drawing/2014/main" id="{4DEA2621-83CE-BD48-97CE-D988A58C70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AA09FDDD-A4C1-174A-BB0F-495DEE2C49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kumimoji="0" lang="zh-CN" altLang="en-US" sz="2000">
                <a:latin typeface="Arial" panose="020B0604020202020204" pitchFamily="34" charset="0"/>
              </a:rPr>
              <a:t>由于公式是由常量符号、变量符号、函数符号、谓词符号通过逻辑联结词和量词</a:t>
            </a:r>
            <a:r>
              <a:rPr kumimoji="0" lang="en-US" altLang="zh-CN" sz="2000">
                <a:latin typeface="Arial" panose="020B0604020202020204" pitchFamily="34" charset="0"/>
              </a:rPr>
              <a:t>(</a:t>
            </a:r>
            <a:r>
              <a:rPr kumimoji="0" lang="zh-CN" altLang="en-US" sz="2000">
                <a:latin typeface="Arial" panose="020B0604020202020204" pitchFamily="34" charset="0"/>
              </a:rPr>
              <a:t>当然还有括号</a:t>
            </a:r>
            <a:r>
              <a:rPr kumimoji="0" lang="en-US" altLang="zh-CN" sz="2000">
                <a:latin typeface="Arial" panose="020B0604020202020204" pitchFamily="34" charset="0"/>
              </a:rPr>
              <a:t>)</a:t>
            </a:r>
            <a:r>
              <a:rPr kumimoji="0" lang="zh-CN" altLang="en-US" sz="2000">
                <a:latin typeface="Arial" panose="020B0604020202020204" pitchFamily="34" charset="0"/>
              </a:rPr>
              <a:t>连结起来的抽象符号串，所以若不对它们</a:t>
            </a:r>
            <a:r>
              <a:rPr kumimoji="0" lang="en-US" altLang="zh-CN" sz="2000">
                <a:latin typeface="Arial" panose="020B0604020202020204" pitchFamily="34" charset="0"/>
              </a:rPr>
              <a:t>(</a:t>
            </a:r>
            <a:r>
              <a:rPr kumimoji="0" lang="zh-CN" altLang="en-US" sz="2000">
                <a:latin typeface="Arial" panose="020B0604020202020204" pitchFamily="34" charset="0"/>
              </a:rPr>
              <a:t>常量符号，变量符号，函数符号，谓词符号</a:t>
            </a:r>
            <a:r>
              <a:rPr kumimoji="0" lang="en-US" altLang="zh-CN" sz="2000">
                <a:latin typeface="Arial" panose="020B0604020202020204" pitchFamily="34" charset="0"/>
              </a:rPr>
              <a:t>)</a:t>
            </a:r>
            <a:r>
              <a:rPr kumimoji="0" lang="zh-CN" altLang="en-US" sz="2000">
                <a:latin typeface="Arial" panose="020B0604020202020204" pitchFamily="34" charset="0"/>
              </a:rPr>
              <a:t>给以具体解释，则公式是没有意义的。</a:t>
            </a:r>
          </a:p>
          <a:p>
            <a:pPr eaLnBrk="1" hangingPunct="1">
              <a:spcBef>
                <a:spcPct val="0"/>
              </a:spcBef>
            </a:pPr>
            <a:r>
              <a:rPr kumimoji="0" lang="zh-CN" altLang="en-US" sz="2000">
                <a:latin typeface="Arial" panose="020B0604020202020204" pitchFamily="34" charset="0"/>
              </a:rPr>
              <a:t>只有对它们解释和赋值后，才能对公式的意义做出说明，则公式的值可能真可能假。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7">
            <a:extLst>
              <a:ext uri="{FF2B5EF4-FFF2-40B4-BE49-F238E27FC236}">
                <a16:creationId xmlns:a16="http://schemas.microsoft.com/office/drawing/2014/main" id="{00D92A25-781E-8E4B-B25C-61D6BFF8118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F539625-9094-3547-86F5-F3944CB7B352}" type="slidenum">
              <a:rPr kumimoji="0" lang="en-US" altLang="zh-CN" sz="1200"/>
              <a:pPr/>
              <a:t>38</a:t>
            </a:fld>
            <a:endParaRPr kumimoji="0" lang="en-US" altLang="zh-CN" sz="1200"/>
          </a:p>
        </p:txBody>
      </p:sp>
      <p:sp>
        <p:nvSpPr>
          <p:cNvPr id="67586" name="Rectangle 2">
            <a:extLst>
              <a:ext uri="{FF2B5EF4-FFF2-40B4-BE49-F238E27FC236}">
                <a16:creationId xmlns:a16="http://schemas.microsoft.com/office/drawing/2014/main" id="{08A5D60D-5D67-CE46-85F0-A4333E73091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44FB59F4-1A0B-5D44-A81A-9E76CE61B4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kumimoji="0" lang="zh-CN" altLang="en-US">
                <a:latin typeface="Arial" panose="020B0604020202020204" pitchFamily="34" charset="0"/>
              </a:rPr>
              <a:t>自由变元没有量词规定其作用域，即相当于没有确定值的变量，不是命题。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7">
            <a:extLst>
              <a:ext uri="{FF2B5EF4-FFF2-40B4-BE49-F238E27FC236}">
                <a16:creationId xmlns:a16="http://schemas.microsoft.com/office/drawing/2014/main" id="{6D0E9ADB-8A64-2B46-AFFE-142389E97B3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493AFA6-6BFB-1142-84C3-EC08F6F50C89}" type="slidenum">
              <a:rPr kumimoji="0" lang="en-US" altLang="zh-CN" sz="1200"/>
              <a:pPr/>
              <a:t>39</a:t>
            </a:fld>
            <a:endParaRPr kumimoji="0" lang="en-US" altLang="zh-CN" sz="1200"/>
          </a:p>
        </p:txBody>
      </p:sp>
      <p:sp>
        <p:nvSpPr>
          <p:cNvPr id="69634" name="Rectangle 2">
            <a:extLst>
              <a:ext uri="{FF2B5EF4-FFF2-40B4-BE49-F238E27FC236}">
                <a16:creationId xmlns:a16="http://schemas.microsoft.com/office/drawing/2014/main" id="{0EB35E1E-BC0E-8F45-9941-ED5EFEF1C18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CFFE924E-65B5-8040-8803-76B3520F24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kumimoji="0"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7">
            <a:extLst>
              <a:ext uri="{FF2B5EF4-FFF2-40B4-BE49-F238E27FC236}">
                <a16:creationId xmlns:a16="http://schemas.microsoft.com/office/drawing/2014/main" id="{DE1E119B-D0A3-F944-B6CA-39ECA60DDB6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AB6DA90-6DDC-734F-88DD-542DC0457CCE}" type="slidenum">
              <a:rPr kumimoji="0" lang="en-US" altLang="zh-CN" sz="1200"/>
              <a:pPr/>
              <a:t>40</a:t>
            </a:fld>
            <a:endParaRPr kumimoji="0" lang="en-US" altLang="zh-CN" sz="1200"/>
          </a:p>
        </p:txBody>
      </p:sp>
      <p:sp>
        <p:nvSpPr>
          <p:cNvPr id="71682" name="Rectangle 2">
            <a:extLst>
              <a:ext uri="{FF2B5EF4-FFF2-40B4-BE49-F238E27FC236}">
                <a16:creationId xmlns:a16="http://schemas.microsoft.com/office/drawing/2014/main" id="{A149AF61-A22C-CB46-A209-530024B3DD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D67D7493-1BA9-9546-BC1C-90DF9BAAEC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kumimoji="0"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7">
            <a:extLst>
              <a:ext uri="{FF2B5EF4-FFF2-40B4-BE49-F238E27FC236}">
                <a16:creationId xmlns:a16="http://schemas.microsoft.com/office/drawing/2014/main" id="{DE1E119B-D0A3-F944-B6CA-39ECA60DDB6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AB6DA90-6DDC-734F-88DD-542DC0457CCE}" type="slidenum">
              <a:rPr kumimoji="0" lang="en-US" altLang="zh-CN" sz="1200"/>
              <a:pPr/>
              <a:t>41</a:t>
            </a:fld>
            <a:endParaRPr kumimoji="0" lang="en-US" altLang="zh-CN" sz="1200"/>
          </a:p>
        </p:txBody>
      </p:sp>
      <p:sp>
        <p:nvSpPr>
          <p:cNvPr id="71682" name="Rectangle 2">
            <a:extLst>
              <a:ext uri="{FF2B5EF4-FFF2-40B4-BE49-F238E27FC236}">
                <a16:creationId xmlns:a16="http://schemas.microsoft.com/office/drawing/2014/main" id="{A149AF61-A22C-CB46-A209-530024B3DD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D67D7493-1BA9-9546-BC1C-90DF9BAAEC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kumimoji="0"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630331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7">
            <a:extLst>
              <a:ext uri="{FF2B5EF4-FFF2-40B4-BE49-F238E27FC236}">
                <a16:creationId xmlns:a16="http://schemas.microsoft.com/office/drawing/2014/main" id="{BA5F564D-6E4D-984A-9E98-3B534BBDFF8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DFA7FB1-FD69-AE4D-8409-9E62C23B28AC}" type="slidenum">
              <a:rPr kumimoji="0" lang="en-US" altLang="zh-CN" sz="1200"/>
              <a:pPr/>
              <a:t>42</a:t>
            </a:fld>
            <a:endParaRPr kumimoji="0" lang="en-US" altLang="zh-CN" sz="1200"/>
          </a:p>
        </p:txBody>
      </p:sp>
      <p:sp>
        <p:nvSpPr>
          <p:cNvPr id="73730" name="Rectangle 2">
            <a:extLst>
              <a:ext uri="{FF2B5EF4-FFF2-40B4-BE49-F238E27FC236}">
                <a16:creationId xmlns:a16="http://schemas.microsoft.com/office/drawing/2014/main" id="{0F1586BC-98EB-DC46-8D21-39812207C07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9C60BDCF-0A53-4F4D-BE90-D3D9DFFFF7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kumimoji="0"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7">
            <a:extLst>
              <a:ext uri="{FF2B5EF4-FFF2-40B4-BE49-F238E27FC236}">
                <a16:creationId xmlns:a16="http://schemas.microsoft.com/office/drawing/2014/main" id="{DECA70C4-8355-3F44-B8E0-915E7C7437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787D239-231F-A545-ACC9-DDF79B2C8DD3}" type="slidenum">
              <a:rPr kumimoji="0" lang="en-US" altLang="zh-CN" sz="1200"/>
              <a:pPr/>
              <a:t>45</a:t>
            </a:fld>
            <a:endParaRPr kumimoji="0" lang="en-US" altLang="zh-CN" sz="1200"/>
          </a:p>
        </p:txBody>
      </p:sp>
      <p:sp>
        <p:nvSpPr>
          <p:cNvPr id="77826" name="Rectangle 2">
            <a:extLst>
              <a:ext uri="{FF2B5EF4-FFF2-40B4-BE49-F238E27FC236}">
                <a16:creationId xmlns:a16="http://schemas.microsoft.com/office/drawing/2014/main" id="{E390BE51-3FE6-0341-B641-50D08F267C2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F4444C28-44E4-F84E-93EC-48940D17B2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kumimoji="0"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7">
            <a:extLst>
              <a:ext uri="{FF2B5EF4-FFF2-40B4-BE49-F238E27FC236}">
                <a16:creationId xmlns:a16="http://schemas.microsoft.com/office/drawing/2014/main" id="{8E034464-FC03-E24B-91E7-05765525B1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CD8EC6E-9830-FB4D-A9F3-A864BC7FE882}" type="slidenum">
              <a:rPr kumimoji="0" lang="en-US" altLang="zh-CN" sz="1200"/>
              <a:pPr/>
              <a:t>46</a:t>
            </a:fld>
            <a:endParaRPr kumimoji="0" lang="en-US" altLang="zh-CN" sz="1200"/>
          </a:p>
        </p:txBody>
      </p:sp>
      <p:sp>
        <p:nvSpPr>
          <p:cNvPr id="79874" name="Rectangle 2">
            <a:extLst>
              <a:ext uri="{FF2B5EF4-FFF2-40B4-BE49-F238E27FC236}">
                <a16:creationId xmlns:a16="http://schemas.microsoft.com/office/drawing/2014/main" id="{C5D8F2CB-F80E-D945-831B-0D67900F8D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5C7CAD08-DDEF-A247-A443-E3AF2B03E3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kumimoji="0"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7">
            <a:extLst>
              <a:ext uri="{FF2B5EF4-FFF2-40B4-BE49-F238E27FC236}">
                <a16:creationId xmlns:a16="http://schemas.microsoft.com/office/drawing/2014/main" id="{AFE8243B-5163-8849-90F0-191FB977B1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57C5788-D5A7-F148-B8B7-8B396DE9E746}" type="slidenum">
              <a:rPr kumimoji="0" lang="en-US" altLang="zh-CN" sz="1200"/>
              <a:pPr/>
              <a:t>47</a:t>
            </a:fld>
            <a:endParaRPr kumimoji="0" lang="en-US" altLang="zh-CN" sz="1200"/>
          </a:p>
        </p:txBody>
      </p:sp>
      <p:sp>
        <p:nvSpPr>
          <p:cNvPr id="81922" name="Rectangle 2">
            <a:extLst>
              <a:ext uri="{FF2B5EF4-FFF2-40B4-BE49-F238E27FC236}">
                <a16:creationId xmlns:a16="http://schemas.microsoft.com/office/drawing/2014/main" id="{41F2221B-E3E1-B240-B66D-D3D1153D13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099099EF-3731-E844-B0B9-5F86F49D66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kumimoji="0"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7">
            <a:extLst>
              <a:ext uri="{FF2B5EF4-FFF2-40B4-BE49-F238E27FC236}">
                <a16:creationId xmlns:a16="http://schemas.microsoft.com/office/drawing/2014/main" id="{AB0DF117-2A9F-BE4C-A109-C4E2B852C5E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7ADE3FA-0123-FE4B-B684-C2B2FE2B4940}" type="slidenum">
              <a:rPr kumimoji="0" lang="en-US" altLang="zh-CN" sz="1200"/>
              <a:pPr/>
              <a:t>48</a:t>
            </a:fld>
            <a:endParaRPr kumimoji="0" lang="en-US" altLang="zh-CN" sz="1200"/>
          </a:p>
        </p:txBody>
      </p:sp>
      <p:sp>
        <p:nvSpPr>
          <p:cNvPr id="83970" name="Rectangle 2">
            <a:extLst>
              <a:ext uri="{FF2B5EF4-FFF2-40B4-BE49-F238E27FC236}">
                <a16:creationId xmlns:a16="http://schemas.microsoft.com/office/drawing/2014/main" id="{2A3222FC-407D-5D42-89F7-B03DE11621D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51E2C00E-4D55-4C4C-9478-C310F2A984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kumimoji="0" lang="zh-CN" altLang="en-US">
                <a:latin typeface="Arial" panose="020B0604020202020204" pitchFamily="34" charset="0"/>
              </a:rPr>
              <a:t>在命题逻辑中，每个公式都有与之等价的范式</a:t>
            </a:r>
            <a:r>
              <a:rPr kumimoji="0" lang="en-US" altLang="zh-CN">
                <a:latin typeface="Arial" panose="020B0604020202020204" pitchFamily="34" charset="0"/>
              </a:rPr>
              <a:t>(</a:t>
            </a:r>
            <a:r>
              <a:rPr kumimoji="0" lang="zh-CN" altLang="en-US">
                <a:latin typeface="Arial" panose="020B0604020202020204" pitchFamily="34" charset="0"/>
              </a:rPr>
              <a:t>析取范式、合取范式、主析取、主合取等</a:t>
            </a:r>
            <a:r>
              <a:rPr kumimoji="0" lang="en-US" altLang="zh-CN">
                <a:latin typeface="Arial" panose="020B0604020202020204" pitchFamily="34" charset="0"/>
              </a:rPr>
              <a:t>)</a:t>
            </a:r>
            <a:r>
              <a:rPr kumimoji="0" lang="zh-CN" altLang="en-US">
                <a:latin typeface="Arial" panose="020B0604020202020204" pitchFamily="34" charset="0"/>
              </a:rPr>
              <a:t>，是一种统一的表达方式，对于研究公式的恒真、恒假等特点有重要的作用。</a:t>
            </a:r>
          </a:p>
          <a:p>
            <a:pPr eaLnBrk="1" hangingPunct="1"/>
            <a:r>
              <a:rPr kumimoji="0" lang="zh-CN" altLang="en-US">
                <a:latin typeface="Arial" panose="020B0604020202020204" pitchFamily="34" charset="0"/>
              </a:rPr>
              <a:t>在谓词逻辑中，也有范式：前束范式、</a:t>
            </a:r>
            <a:r>
              <a:rPr kumimoji="0" lang="en-US" altLang="zh-CN">
                <a:latin typeface="Arial" panose="020B0604020202020204" pitchFamily="34" charset="0"/>
              </a:rPr>
              <a:t>Skolem</a:t>
            </a:r>
            <a:r>
              <a:rPr kumimoji="0" lang="zh-CN" altLang="en-US">
                <a:latin typeface="Arial" panose="020B0604020202020204" pitchFamily="34" charset="0"/>
              </a:rPr>
              <a:t>范式。其中前束范式与原公式等价，</a:t>
            </a:r>
            <a:r>
              <a:rPr kumimoji="0" lang="en-US" altLang="zh-CN">
                <a:latin typeface="Arial" panose="020B0604020202020204" pitchFamily="34" charset="0"/>
              </a:rPr>
              <a:t>Skolem</a:t>
            </a:r>
            <a:r>
              <a:rPr kumimoji="0" lang="zh-CN" altLang="en-US">
                <a:latin typeface="Arial" panose="020B0604020202020204" pitchFamily="34" charset="0"/>
              </a:rPr>
              <a:t>范式不是。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7">
            <a:extLst>
              <a:ext uri="{FF2B5EF4-FFF2-40B4-BE49-F238E27FC236}">
                <a16:creationId xmlns:a16="http://schemas.microsoft.com/office/drawing/2014/main" id="{7B61D3E2-8382-AE47-BD94-5F04F18F08C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D50E3AD-CBE3-394E-B118-96281C122AA0}" type="slidenum">
              <a:rPr kumimoji="0" lang="en-US" altLang="zh-CN" sz="1200"/>
              <a:pPr/>
              <a:t>49</a:t>
            </a:fld>
            <a:endParaRPr kumimoji="0" lang="en-US" altLang="zh-CN" sz="1200"/>
          </a:p>
        </p:txBody>
      </p:sp>
      <p:sp>
        <p:nvSpPr>
          <p:cNvPr id="86018" name="Rectangle 2">
            <a:extLst>
              <a:ext uri="{FF2B5EF4-FFF2-40B4-BE49-F238E27FC236}">
                <a16:creationId xmlns:a16="http://schemas.microsoft.com/office/drawing/2014/main" id="{6759A447-23D6-C64D-9A53-FE54519D505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6019" name="Rectangle 3">
            <a:extLst>
              <a:ext uri="{FF2B5EF4-FFF2-40B4-BE49-F238E27FC236}">
                <a16:creationId xmlns:a16="http://schemas.microsoft.com/office/drawing/2014/main" id="{2C683ADC-DABC-8F4D-98A8-F8F878FE77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kumimoji="0"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Rectangle 7">
            <a:extLst>
              <a:ext uri="{FF2B5EF4-FFF2-40B4-BE49-F238E27FC236}">
                <a16:creationId xmlns:a16="http://schemas.microsoft.com/office/drawing/2014/main" id="{A67B5296-DA9D-AE43-AEF2-103F0A42D1B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12CD0E2-8F89-8840-A42E-D5F5956DB933}" type="slidenum">
              <a:rPr kumimoji="0" lang="en-US" altLang="zh-CN" sz="1200"/>
              <a:pPr/>
              <a:t>50</a:t>
            </a:fld>
            <a:endParaRPr kumimoji="0" lang="en-US" altLang="zh-CN" sz="1200"/>
          </a:p>
        </p:txBody>
      </p:sp>
      <p:sp>
        <p:nvSpPr>
          <p:cNvPr id="88066" name="Rectangle 2">
            <a:extLst>
              <a:ext uri="{FF2B5EF4-FFF2-40B4-BE49-F238E27FC236}">
                <a16:creationId xmlns:a16="http://schemas.microsoft.com/office/drawing/2014/main" id="{86D87740-04FA-4848-B383-519348AA8DF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8067" name="Rectangle 3">
            <a:extLst>
              <a:ext uri="{FF2B5EF4-FFF2-40B4-BE49-F238E27FC236}">
                <a16:creationId xmlns:a16="http://schemas.microsoft.com/office/drawing/2014/main" id="{AA640F38-68FD-4440-B69E-F051C59F31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kumimoji="0"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7">
            <a:extLst>
              <a:ext uri="{FF2B5EF4-FFF2-40B4-BE49-F238E27FC236}">
                <a16:creationId xmlns:a16="http://schemas.microsoft.com/office/drawing/2014/main" id="{C7E34D79-7986-384A-93D2-4AC68B44071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2EDF861-F451-1E42-9061-6599352DB16B}" type="slidenum">
              <a:rPr kumimoji="0" lang="en-US" altLang="zh-CN" sz="1200"/>
              <a:pPr/>
              <a:t>51</a:t>
            </a:fld>
            <a:endParaRPr kumimoji="0" lang="en-US" altLang="zh-CN" sz="1200"/>
          </a:p>
        </p:txBody>
      </p:sp>
      <p:sp>
        <p:nvSpPr>
          <p:cNvPr id="90114" name="Rectangle 2">
            <a:extLst>
              <a:ext uri="{FF2B5EF4-FFF2-40B4-BE49-F238E27FC236}">
                <a16:creationId xmlns:a16="http://schemas.microsoft.com/office/drawing/2014/main" id="{3A9BCEF9-102D-7341-AE2E-26081C9C61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0115" name="Rectangle 3">
            <a:extLst>
              <a:ext uri="{FF2B5EF4-FFF2-40B4-BE49-F238E27FC236}">
                <a16:creationId xmlns:a16="http://schemas.microsoft.com/office/drawing/2014/main" id="{E50BC5DB-ED98-9348-BA1A-2A24FF1117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kumimoji="0"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Rectangle 7">
            <a:extLst>
              <a:ext uri="{FF2B5EF4-FFF2-40B4-BE49-F238E27FC236}">
                <a16:creationId xmlns:a16="http://schemas.microsoft.com/office/drawing/2014/main" id="{49F53EA7-0CDB-F14D-9F38-0244A71C7A0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36646DB-D73C-874B-8C37-F32090C80F92}" type="slidenum">
              <a:rPr kumimoji="0" lang="en-US" altLang="zh-CN" sz="1200"/>
              <a:pPr/>
              <a:t>52</a:t>
            </a:fld>
            <a:endParaRPr kumimoji="0" lang="en-US" altLang="zh-CN" sz="1200"/>
          </a:p>
        </p:txBody>
      </p:sp>
      <p:sp>
        <p:nvSpPr>
          <p:cNvPr id="92162" name="Rectangle 2">
            <a:extLst>
              <a:ext uri="{FF2B5EF4-FFF2-40B4-BE49-F238E27FC236}">
                <a16:creationId xmlns:a16="http://schemas.microsoft.com/office/drawing/2014/main" id="{859D3646-4455-AB4B-8AC6-988B8DDD2CF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864E85E6-EB1F-104E-B165-22E113DA4C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kumimoji="0"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Rectangle 7">
            <a:extLst>
              <a:ext uri="{FF2B5EF4-FFF2-40B4-BE49-F238E27FC236}">
                <a16:creationId xmlns:a16="http://schemas.microsoft.com/office/drawing/2014/main" id="{4A702732-EABA-7D4D-A25E-7B83246F142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010CDAF-398D-6C4B-9B97-6E08BB759F82}" type="slidenum">
              <a:rPr kumimoji="0" lang="en-US" altLang="zh-CN" sz="1200"/>
              <a:pPr/>
              <a:t>53</a:t>
            </a:fld>
            <a:endParaRPr kumimoji="0" lang="en-US" altLang="zh-CN" sz="1200"/>
          </a:p>
        </p:txBody>
      </p:sp>
      <p:sp>
        <p:nvSpPr>
          <p:cNvPr id="94210" name="Rectangle 2">
            <a:extLst>
              <a:ext uri="{FF2B5EF4-FFF2-40B4-BE49-F238E27FC236}">
                <a16:creationId xmlns:a16="http://schemas.microsoft.com/office/drawing/2014/main" id="{7F201F66-49DD-3743-9D62-32F8FD2BB9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4211" name="Rectangle 3">
            <a:extLst>
              <a:ext uri="{FF2B5EF4-FFF2-40B4-BE49-F238E27FC236}">
                <a16:creationId xmlns:a16="http://schemas.microsoft.com/office/drawing/2014/main" id="{AD7C38BB-54B3-BA40-8488-C255ED3CD1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kumimoji="0" lang="en-US" altLang="zh-CN">
                <a:latin typeface="Arial" panose="020B0604020202020204" pitchFamily="34" charset="0"/>
              </a:rPr>
              <a:t>3)4)</a:t>
            </a:r>
            <a:r>
              <a:rPr kumimoji="0" lang="zh-CN" altLang="en-US">
                <a:latin typeface="Arial" panose="020B0604020202020204" pitchFamily="34" charset="0"/>
              </a:rPr>
              <a:t>必须改名，否则不等价，见书上举例。我们给出</a:t>
            </a:r>
            <a:r>
              <a:rPr kumimoji="0" lang="en-US" altLang="zh-CN">
                <a:latin typeface="Arial" panose="020B0604020202020204" pitchFamily="34" charset="0"/>
              </a:rPr>
              <a:t>1)</a:t>
            </a:r>
            <a:r>
              <a:rPr kumimoji="0" lang="zh-CN" altLang="en-US">
                <a:latin typeface="Arial" panose="020B0604020202020204" pitchFamily="34" charset="0"/>
              </a:rPr>
              <a:t>和</a:t>
            </a:r>
            <a:r>
              <a:rPr kumimoji="0" lang="en-US" altLang="zh-CN">
                <a:latin typeface="Arial" panose="020B0604020202020204" pitchFamily="34" charset="0"/>
              </a:rPr>
              <a:t>3)</a:t>
            </a:r>
            <a:r>
              <a:rPr kumimoji="0" lang="zh-CN" altLang="en-US">
                <a:latin typeface="Arial" panose="020B0604020202020204" pitchFamily="34" charset="0"/>
              </a:rPr>
              <a:t>的证明。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Rectangle 7">
            <a:extLst>
              <a:ext uri="{FF2B5EF4-FFF2-40B4-BE49-F238E27FC236}">
                <a16:creationId xmlns:a16="http://schemas.microsoft.com/office/drawing/2014/main" id="{E654628B-0B34-A746-80A2-BEB0AA20FAC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87DCA2A-B347-4E47-86ED-651DA938D098}" type="slidenum">
              <a:rPr kumimoji="0" lang="en-US" altLang="zh-CN" sz="1200"/>
              <a:pPr/>
              <a:t>54</a:t>
            </a:fld>
            <a:endParaRPr kumimoji="0" lang="en-US" altLang="zh-CN" sz="1200"/>
          </a:p>
        </p:txBody>
      </p:sp>
      <p:sp>
        <p:nvSpPr>
          <p:cNvPr id="96258" name="Rectangle 2">
            <a:extLst>
              <a:ext uri="{FF2B5EF4-FFF2-40B4-BE49-F238E27FC236}">
                <a16:creationId xmlns:a16="http://schemas.microsoft.com/office/drawing/2014/main" id="{B080CCC5-A512-A04A-B078-EA428FFA0A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6259" name="Rectangle 3">
            <a:extLst>
              <a:ext uri="{FF2B5EF4-FFF2-40B4-BE49-F238E27FC236}">
                <a16:creationId xmlns:a16="http://schemas.microsoft.com/office/drawing/2014/main" id="{E92A49FA-AFD4-9148-BC06-B93F5F39DA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kumimoji="0"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Rectangle 7">
            <a:extLst>
              <a:ext uri="{FF2B5EF4-FFF2-40B4-BE49-F238E27FC236}">
                <a16:creationId xmlns:a16="http://schemas.microsoft.com/office/drawing/2014/main" id="{0BA7DCE7-5AFC-BC42-AAC8-BBD00C404DD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C07D6B6-2852-2C46-B47D-D6E4AA86D33E}" type="slidenum">
              <a:rPr kumimoji="0" lang="en-US" altLang="zh-CN" sz="1200"/>
              <a:pPr/>
              <a:t>55</a:t>
            </a:fld>
            <a:endParaRPr kumimoji="0" lang="en-US" altLang="zh-CN" sz="1200"/>
          </a:p>
        </p:txBody>
      </p:sp>
      <p:sp>
        <p:nvSpPr>
          <p:cNvPr id="98306" name="Rectangle 2">
            <a:extLst>
              <a:ext uri="{FF2B5EF4-FFF2-40B4-BE49-F238E27FC236}">
                <a16:creationId xmlns:a16="http://schemas.microsoft.com/office/drawing/2014/main" id="{1B73C70E-44D6-874A-B3F3-238E0DC6944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8307" name="Rectangle 3">
            <a:extLst>
              <a:ext uri="{FF2B5EF4-FFF2-40B4-BE49-F238E27FC236}">
                <a16:creationId xmlns:a16="http://schemas.microsoft.com/office/drawing/2014/main" id="{31941068-BA6E-D24F-A01F-D3986EC99F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kumimoji="0"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Rectangle 7">
            <a:extLst>
              <a:ext uri="{FF2B5EF4-FFF2-40B4-BE49-F238E27FC236}">
                <a16:creationId xmlns:a16="http://schemas.microsoft.com/office/drawing/2014/main" id="{6B1BDB6B-F3E9-4E4D-A2D4-2D8751F0BFB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632143F-83B9-B640-B765-E54121A2A78F}" type="slidenum">
              <a:rPr kumimoji="0" lang="en-US" altLang="zh-CN" sz="1200"/>
              <a:pPr/>
              <a:t>56</a:t>
            </a:fld>
            <a:endParaRPr kumimoji="0" lang="en-US" altLang="zh-CN" sz="1200"/>
          </a:p>
        </p:txBody>
      </p:sp>
      <p:sp>
        <p:nvSpPr>
          <p:cNvPr id="100354" name="Rectangle 2">
            <a:extLst>
              <a:ext uri="{FF2B5EF4-FFF2-40B4-BE49-F238E27FC236}">
                <a16:creationId xmlns:a16="http://schemas.microsoft.com/office/drawing/2014/main" id="{4B920836-5AF9-5442-B6D0-9B761030F9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00355" name="Rectangle 3">
            <a:extLst>
              <a:ext uri="{FF2B5EF4-FFF2-40B4-BE49-F238E27FC236}">
                <a16:creationId xmlns:a16="http://schemas.microsoft.com/office/drawing/2014/main" id="{6981DDDB-5C72-AC43-8E93-38191CC30A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kumimoji="0"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Rectangle 7">
            <a:extLst>
              <a:ext uri="{FF2B5EF4-FFF2-40B4-BE49-F238E27FC236}">
                <a16:creationId xmlns:a16="http://schemas.microsoft.com/office/drawing/2014/main" id="{45D4701B-E3D0-3544-A544-1BF70139795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0485786-3813-934F-A8DB-817DAB940D16}" type="slidenum">
              <a:rPr kumimoji="0" lang="en-US" altLang="zh-CN" sz="1200"/>
              <a:pPr/>
              <a:t>57</a:t>
            </a:fld>
            <a:endParaRPr kumimoji="0" lang="en-US" altLang="zh-CN" sz="1200"/>
          </a:p>
        </p:txBody>
      </p:sp>
      <p:sp>
        <p:nvSpPr>
          <p:cNvPr id="102402" name="Rectangle 2">
            <a:extLst>
              <a:ext uri="{FF2B5EF4-FFF2-40B4-BE49-F238E27FC236}">
                <a16:creationId xmlns:a16="http://schemas.microsoft.com/office/drawing/2014/main" id="{85B398AE-B577-2642-BF7F-D843C0D00C7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02403" name="Rectangle 3">
            <a:extLst>
              <a:ext uri="{FF2B5EF4-FFF2-40B4-BE49-F238E27FC236}">
                <a16:creationId xmlns:a16="http://schemas.microsoft.com/office/drawing/2014/main" id="{F77B1788-1538-4345-AD58-34130B2D42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kumimoji="0"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Rectangle 7">
            <a:extLst>
              <a:ext uri="{FF2B5EF4-FFF2-40B4-BE49-F238E27FC236}">
                <a16:creationId xmlns:a16="http://schemas.microsoft.com/office/drawing/2014/main" id="{FF61FE18-6C46-464B-B07F-A66018F290C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6A26A70-6C9F-2A4E-B438-58107BEA29A2}" type="slidenum">
              <a:rPr kumimoji="0" lang="en-US" altLang="zh-CN" sz="1200"/>
              <a:pPr/>
              <a:t>58</a:t>
            </a:fld>
            <a:endParaRPr kumimoji="0" lang="en-US" altLang="zh-CN" sz="1200"/>
          </a:p>
        </p:txBody>
      </p:sp>
      <p:sp>
        <p:nvSpPr>
          <p:cNvPr id="104450" name="Rectangle 2">
            <a:extLst>
              <a:ext uri="{FF2B5EF4-FFF2-40B4-BE49-F238E27FC236}">
                <a16:creationId xmlns:a16="http://schemas.microsoft.com/office/drawing/2014/main" id="{97F3570F-3C27-494C-A5D8-B67C34AADA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04451" name="Rectangle 3">
            <a:extLst>
              <a:ext uri="{FF2B5EF4-FFF2-40B4-BE49-F238E27FC236}">
                <a16:creationId xmlns:a16="http://schemas.microsoft.com/office/drawing/2014/main" id="{926575CE-FC7C-A141-B4C1-0AFC4268AC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kumimoji="0" lang="en-US" altLang="zh-CN">
                <a:latin typeface="Arial" panose="020B0604020202020204" pitchFamily="34" charset="0"/>
              </a:rPr>
              <a:t>1)</a:t>
            </a:r>
            <a:r>
              <a:rPr kumimoji="0" lang="zh-CN" altLang="en-US">
                <a:latin typeface="Arial" panose="020B0604020202020204" pitchFamily="34" charset="0"/>
              </a:rPr>
              <a:t>消去</a:t>
            </a:r>
            <a:r>
              <a:rPr kumimoji="0" lang="zh-CN" altLang="en-US">
                <a:latin typeface="Arial" panose="020B0604020202020204" pitchFamily="34" charset="0"/>
                <a:sym typeface="Symbol" pitchFamily="2" charset="2"/>
              </a:rPr>
              <a:t>；</a:t>
            </a:r>
            <a:r>
              <a:rPr kumimoji="0" lang="en-US" altLang="zh-CN">
                <a:latin typeface="Arial" panose="020B0604020202020204" pitchFamily="34" charset="0"/>
                <a:sym typeface="Symbol" pitchFamily="2" charset="2"/>
              </a:rPr>
              <a:t>2)</a:t>
            </a:r>
            <a:r>
              <a:rPr kumimoji="0" lang="zh-CN" altLang="en-US">
                <a:latin typeface="Arial" panose="020B0604020202020204" pitchFamily="34" charset="0"/>
                <a:sym typeface="Symbol" pitchFamily="2" charset="2"/>
              </a:rPr>
              <a:t>把放在原子前；</a:t>
            </a:r>
            <a:r>
              <a:rPr kumimoji="0" lang="en-US" altLang="zh-CN">
                <a:latin typeface="Arial" panose="020B0604020202020204" pitchFamily="34" charset="0"/>
                <a:sym typeface="Symbol" pitchFamily="2" charset="2"/>
              </a:rPr>
              <a:t>3)</a:t>
            </a:r>
            <a:r>
              <a:rPr kumimoji="0" lang="zh-CN" altLang="en-US">
                <a:latin typeface="Arial" panose="020B0604020202020204" pitchFamily="34" charset="0"/>
                <a:sym typeface="Symbol" pitchFamily="2" charset="2"/>
              </a:rPr>
              <a:t>提取</a:t>
            </a:r>
            <a:r>
              <a:rPr kumimoji="0" lang="en-US" altLang="zh-CN">
                <a:latin typeface="Arial" panose="020B0604020202020204" pitchFamily="34" charset="0"/>
                <a:sym typeface="Symbol" pitchFamily="2" charset="2"/>
              </a:rPr>
              <a:t>z</a:t>
            </a:r>
            <a:r>
              <a:rPr kumimoji="0" lang="zh-CN" altLang="en-US">
                <a:latin typeface="Arial" panose="020B0604020202020204" pitchFamily="34" charset="0"/>
                <a:sym typeface="Symbol" pitchFamily="2" charset="2"/>
              </a:rPr>
              <a:t>到最前面（引理</a:t>
            </a:r>
            <a:r>
              <a:rPr kumimoji="0" lang="en-US" altLang="zh-CN">
                <a:latin typeface="Arial" panose="020B0604020202020204" pitchFamily="34" charset="0"/>
                <a:sym typeface="Symbol" pitchFamily="2" charset="2"/>
              </a:rPr>
              <a:t>1</a:t>
            </a:r>
            <a:r>
              <a:rPr kumimoji="0" lang="zh-CN" altLang="en-US">
                <a:latin typeface="Arial" panose="020B0604020202020204" pitchFamily="34" charset="0"/>
                <a:sym typeface="Symbol" pitchFamily="2" charset="2"/>
              </a:rPr>
              <a:t>）；</a:t>
            </a:r>
            <a:r>
              <a:rPr kumimoji="0" lang="en-US" altLang="zh-CN">
                <a:latin typeface="Arial" panose="020B0604020202020204" pitchFamily="34" charset="0"/>
                <a:sym typeface="Symbol" pitchFamily="2" charset="2"/>
              </a:rPr>
              <a:t>4)</a:t>
            </a:r>
            <a:r>
              <a:rPr kumimoji="0" lang="zh-CN" altLang="en-US">
                <a:latin typeface="Arial" panose="020B0604020202020204" pitchFamily="34" charset="0"/>
                <a:sym typeface="Symbol" pitchFamily="2" charset="2"/>
              </a:rPr>
              <a:t>提取</a:t>
            </a:r>
            <a:r>
              <a:rPr kumimoji="0" lang="en-US" altLang="zh-CN">
                <a:latin typeface="Arial" panose="020B0604020202020204" pitchFamily="34" charset="0"/>
                <a:sym typeface="Symbol" pitchFamily="2" charset="2"/>
              </a:rPr>
              <a:t>u</a:t>
            </a:r>
            <a:r>
              <a:rPr kumimoji="0" lang="zh-CN" altLang="en-US">
                <a:latin typeface="Arial" panose="020B0604020202020204" pitchFamily="34" charset="0"/>
                <a:sym typeface="Symbol" pitchFamily="2" charset="2"/>
              </a:rPr>
              <a:t>到最前面（引理</a:t>
            </a:r>
            <a:r>
              <a:rPr kumimoji="0" lang="en-US" altLang="zh-CN">
                <a:latin typeface="Arial" panose="020B0604020202020204" pitchFamily="34" charset="0"/>
                <a:sym typeface="Symbol" pitchFamily="2" charset="2"/>
              </a:rPr>
              <a:t>1</a:t>
            </a:r>
            <a:r>
              <a:rPr kumimoji="0" lang="zh-CN" altLang="en-US">
                <a:latin typeface="Arial" panose="020B0604020202020204" pitchFamily="34" charset="0"/>
                <a:sym typeface="Symbol" pitchFamily="2" charset="2"/>
              </a:rPr>
              <a:t>）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Rectangle 7">
            <a:extLst>
              <a:ext uri="{FF2B5EF4-FFF2-40B4-BE49-F238E27FC236}">
                <a16:creationId xmlns:a16="http://schemas.microsoft.com/office/drawing/2014/main" id="{D79B5A16-2053-7B4F-89B4-AEBE0D29D3A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4FC5A37-490C-C94B-BBD2-638FE038E42B}" type="slidenum">
              <a:rPr kumimoji="0" lang="en-US" altLang="zh-CN" sz="1200"/>
              <a:pPr/>
              <a:t>59</a:t>
            </a:fld>
            <a:endParaRPr kumimoji="0" lang="en-US" altLang="zh-CN" sz="1200"/>
          </a:p>
        </p:txBody>
      </p:sp>
      <p:sp>
        <p:nvSpPr>
          <p:cNvPr id="106498" name="Rectangle 2">
            <a:extLst>
              <a:ext uri="{FF2B5EF4-FFF2-40B4-BE49-F238E27FC236}">
                <a16:creationId xmlns:a16="http://schemas.microsoft.com/office/drawing/2014/main" id="{99FC570F-AD46-FB4C-BF10-71F660FB82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499" name="Rectangle 3">
            <a:extLst>
              <a:ext uri="{FF2B5EF4-FFF2-40B4-BE49-F238E27FC236}">
                <a16:creationId xmlns:a16="http://schemas.microsoft.com/office/drawing/2014/main" id="{8C371BB8-1434-C84F-B2E4-2468E1792C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kumimoji="0" lang="en-US" altLang="zh-CN">
                <a:latin typeface="Arial" panose="020B0604020202020204" pitchFamily="34" charset="0"/>
              </a:rPr>
              <a:t>1)</a:t>
            </a:r>
            <a:r>
              <a:rPr kumimoji="0" lang="zh-CN" altLang="en-US">
                <a:latin typeface="Arial" panose="020B0604020202020204" pitchFamily="34" charset="0"/>
              </a:rPr>
              <a:t>消去两个</a:t>
            </a:r>
            <a:r>
              <a:rPr kumimoji="0" lang="zh-CN" altLang="en-US">
                <a:latin typeface="Arial" panose="020B0604020202020204" pitchFamily="34" charset="0"/>
                <a:sym typeface="Symbol" pitchFamily="2" charset="2"/>
              </a:rPr>
              <a:t>；</a:t>
            </a:r>
            <a:r>
              <a:rPr kumimoji="0" lang="en-US" altLang="zh-CN">
                <a:latin typeface="Arial" panose="020B0604020202020204" pitchFamily="34" charset="0"/>
                <a:sym typeface="Symbol" pitchFamily="2" charset="2"/>
              </a:rPr>
              <a:t>2)</a:t>
            </a:r>
            <a:r>
              <a:rPr kumimoji="0" lang="zh-CN" altLang="en-US">
                <a:latin typeface="Arial" panose="020B0604020202020204" pitchFamily="34" charset="0"/>
                <a:sym typeface="Symbol" pitchFamily="2" charset="2"/>
              </a:rPr>
              <a:t>把放在原子前；</a:t>
            </a:r>
            <a:r>
              <a:rPr kumimoji="0" lang="en-US" altLang="zh-CN">
                <a:latin typeface="Arial" panose="020B0604020202020204" pitchFamily="34" charset="0"/>
                <a:sym typeface="Symbol" pitchFamily="2" charset="2"/>
              </a:rPr>
              <a:t>3)</a:t>
            </a:r>
            <a:r>
              <a:rPr kumimoji="0" lang="zh-CN" altLang="en-US">
                <a:latin typeface="Arial" panose="020B0604020202020204" pitchFamily="34" charset="0"/>
                <a:sym typeface="Symbol" pitchFamily="2" charset="2"/>
              </a:rPr>
              <a:t>把放在原子前； </a:t>
            </a:r>
            <a:r>
              <a:rPr kumimoji="0" lang="en-US" altLang="zh-CN">
                <a:latin typeface="Arial" panose="020B0604020202020204" pitchFamily="34" charset="0"/>
                <a:sym typeface="Symbol" pitchFamily="2" charset="2"/>
              </a:rPr>
              <a:t>4)</a:t>
            </a:r>
            <a:r>
              <a:rPr kumimoji="0" lang="zh-CN" altLang="en-US">
                <a:latin typeface="Arial" panose="020B0604020202020204" pitchFamily="34" charset="0"/>
                <a:sym typeface="Symbol" pitchFamily="2" charset="2"/>
              </a:rPr>
              <a:t>提取</a:t>
            </a:r>
            <a:r>
              <a:rPr kumimoji="0" lang="en-US" altLang="zh-CN">
                <a:latin typeface="Arial" panose="020B0604020202020204" pitchFamily="34" charset="0"/>
                <a:sym typeface="Symbol" pitchFamily="2" charset="2"/>
              </a:rPr>
              <a:t>x</a:t>
            </a:r>
            <a:r>
              <a:rPr kumimoji="0" lang="zh-CN" altLang="en-US">
                <a:latin typeface="Arial" panose="020B0604020202020204" pitchFamily="34" charset="0"/>
                <a:sym typeface="Symbol" pitchFamily="2" charset="2"/>
              </a:rPr>
              <a:t>到最前面（引理</a:t>
            </a:r>
            <a:r>
              <a:rPr kumimoji="0" lang="en-US" altLang="zh-CN">
                <a:latin typeface="Arial" panose="020B0604020202020204" pitchFamily="34" charset="0"/>
                <a:sym typeface="Symbol" pitchFamily="2" charset="2"/>
              </a:rPr>
              <a:t>2</a:t>
            </a:r>
            <a:r>
              <a:rPr kumimoji="0" lang="zh-CN" altLang="en-US">
                <a:latin typeface="Arial" panose="020B0604020202020204" pitchFamily="34" charset="0"/>
                <a:sym typeface="Symbol" pitchFamily="2" charset="2"/>
              </a:rPr>
              <a:t>）；</a:t>
            </a:r>
            <a:r>
              <a:rPr kumimoji="0" lang="en-US" altLang="zh-CN">
                <a:latin typeface="Arial" panose="020B0604020202020204" pitchFamily="34" charset="0"/>
                <a:sym typeface="Symbol" pitchFamily="2" charset="2"/>
              </a:rPr>
              <a:t>5)</a:t>
            </a:r>
            <a:r>
              <a:rPr kumimoji="0" lang="zh-CN" altLang="en-US">
                <a:latin typeface="Arial" panose="020B0604020202020204" pitchFamily="34" charset="0"/>
                <a:sym typeface="Symbol" pitchFamily="2" charset="2"/>
              </a:rPr>
              <a:t>改名规则，</a:t>
            </a:r>
            <a:r>
              <a:rPr kumimoji="0" lang="en-US" altLang="zh-CN">
                <a:latin typeface="Arial" panose="020B0604020202020204" pitchFamily="34" charset="0"/>
              </a:rPr>
              <a:t>y</a:t>
            </a:r>
            <a:r>
              <a:rPr kumimoji="0" lang="en-US" altLang="zh-CN">
                <a:latin typeface="Arial" panose="020B0604020202020204" pitchFamily="34" charset="0"/>
                <a:sym typeface="Symbol" pitchFamily="2" charset="2"/>
              </a:rPr>
              <a:t></a:t>
            </a:r>
            <a:r>
              <a:rPr kumimoji="0" lang="en-US" altLang="zh-CN">
                <a:latin typeface="Arial" panose="020B0604020202020204" pitchFamily="34" charset="0"/>
              </a:rPr>
              <a:t>z</a:t>
            </a:r>
            <a:r>
              <a:rPr kumimoji="0" lang="zh-CN" altLang="en-US">
                <a:latin typeface="Arial" panose="020B0604020202020204" pitchFamily="34" charset="0"/>
              </a:rPr>
              <a:t>；</a:t>
            </a:r>
            <a:endParaRPr kumimoji="0" lang="zh-CN" altLang="en-US">
              <a:latin typeface="Arial" panose="020B0604020202020204" pitchFamily="34" charset="0"/>
              <a:sym typeface="Symbol" pitchFamily="2" charset="2"/>
            </a:endParaRPr>
          </a:p>
          <a:p>
            <a:pPr eaLnBrk="1" hangingPunct="1"/>
            <a:r>
              <a:rPr kumimoji="0" lang="en-US" altLang="zh-CN">
                <a:latin typeface="Arial" panose="020B0604020202020204" pitchFamily="34" charset="0"/>
                <a:sym typeface="Symbol" pitchFamily="2" charset="2"/>
              </a:rPr>
              <a:t>6)</a:t>
            </a:r>
            <a:r>
              <a:rPr kumimoji="0" lang="zh-CN" altLang="en-US">
                <a:latin typeface="Arial" panose="020B0604020202020204" pitchFamily="34" charset="0"/>
                <a:sym typeface="Symbol" pitchFamily="2" charset="2"/>
              </a:rPr>
              <a:t>提取</a:t>
            </a:r>
            <a:r>
              <a:rPr kumimoji="0" lang="en-US" altLang="zh-CN">
                <a:latin typeface="Arial" panose="020B0604020202020204" pitchFamily="34" charset="0"/>
                <a:sym typeface="Symbol" pitchFamily="2" charset="2"/>
              </a:rPr>
              <a:t>y</a:t>
            </a:r>
            <a:r>
              <a:rPr kumimoji="0" lang="zh-CN" altLang="en-US">
                <a:latin typeface="Arial" panose="020B0604020202020204" pitchFamily="34" charset="0"/>
                <a:sym typeface="Symbol" pitchFamily="2" charset="2"/>
              </a:rPr>
              <a:t>、</a:t>
            </a:r>
            <a:r>
              <a:rPr kumimoji="0" lang="en-US" altLang="zh-CN">
                <a:latin typeface="Arial" panose="020B0604020202020204" pitchFamily="34" charset="0"/>
                <a:sym typeface="Symbol" pitchFamily="2" charset="2"/>
              </a:rPr>
              <a:t>z</a:t>
            </a:r>
            <a:r>
              <a:rPr kumimoji="0" lang="zh-CN" altLang="en-US">
                <a:latin typeface="Arial" panose="020B0604020202020204" pitchFamily="34" charset="0"/>
                <a:sym typeface="Symbol" pitchFamily="2" charset="2"/>
              </a:rPr>
              <a:t>到最前面（引理</a:t>
            </a:r>
            <a:r>
              <a:rPr kumimoji="0" lang="en-US" altLang="zh-CN">
                <a:latin typeface="Arial" panose="020B0604020202020204" pitchFamily="34" charset="0"/>
                <a:sym typeface="Symbol" pitchFamily="2" charset="2"/>
              </a:rPr>
              <a:t>1</a:t>
            </a:r>
            <a:r>
              <a:rPr kumimoji="0" lang="zh-CN" altLang="en-US">
                <a:latin typeface="Arial" panose="020B0604020202020204" pitchFamily="34" charset="0"/>
                <a:sym typeface="Symbol" pitchFamily="2" charset="2"/>
              </a:rPr>
              <a:t>）</a:t>
            </a:r>
            <a:endParaRPr kumimoji="0"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Rectangle 7">
            <a:extLst>
              <a:ext uri="{FF2B5EF4-FFF2-40B4-BE49-F238E27FC236}">
                <a16:creationId xmlns:a16="http://schemas.microsoft.com/office/drawing/2014/main" id="{386FBC47-2634-9543-9BC9-FEE36A58E54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B821645-7FE5-344B-AF8A-EBA606384042}" type="slidenum">
              <a:rPr kumimoji="0" lang="en-US" altLang="zh-CN" sz="1200"/>
              <a:pPr/>
              <a:t>60</a:t>
            </a:fld>
            <a:endParaRPr kumimoji="0" lang="en-US" altLang="zh-CN" sz="1200"/>
          </a:p>
        </p:txBody>
      </p:sp>
      <p:sp>
        <p:nvSpPr>
          <p:cNvPr id="108546" name="Rectangle 2">
            <a:extLst>
              <a:ext uri="{FF2B5EF4-FFF2-40B4-BE49-F238E27FC236}">
                <a16:creationId xmlns:a16="http://schemas.microsoft.com/office/drawing/2014/main" id="{B20B6544-61A7-B741-960B-1E8E3C5DCB5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08547" name="Rectangle 3">
            <a:extLst>
              <a:ext uri="{FF2B5EF4-FFF2-40B4-BE49-F238E27FC236}">
                <a16:creationId xmlns:a16="http://schemas.microsoft.com/office/drawing/2014/main" id="{2443A9D2-8B88-224E-B176-425C32840B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kumimoji="0"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3" name="Rectangle 7">
            <a:extLst>
              <a:ext uri="{FF2B5EF4-FFF2-40B4-BE49-F238E27FC236}">
                <a16:creationId xmlns:a16="http://schemas.microsoft.com/office/drawing/2014/main" id="{1BF655CB-232F-5F4D-AF82-9C8D28F43CE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374054F-ADEE-C64C-B22D-170C9A8368F7}" type="slidenum">
              <a:rPr kumimoji="0" lang="en-US" altLang="zh-CN" sz="1200"/>
              <a:pPr/>
              <a:t>61</a:t>
            </a:fld>
            <a:endParaRPr kumimoji="0" lang="en-US" altLang="zh-CN" sz="1200"/>
          </a:p>
        </p:txBody>
      </p:sp>
      <p:sp>
        <p:nvSpPr>
          <p:cNvPr id="110594" name="Rectangle 2">
            <a:extLst>
              <a:ext uri="{FF2B5EF4-FFF2-40B4-BE49-F238E27FC236}">
                <a16:creationId xmlns:a16="http://schemas.microsoft.com/office/drawing/2014/main" id="{B75AD173-1270-0449-9705-3734339465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10595" name="Rectangle 3">
            <a:extLst>
              <a:ext uri="{FF2B5EF4-FFF2-40B4-BE49-F238E27FC236}">
                <a16:creationId xmlns:a16="http://schemas.microsoft.com/office/drawing/2014/main" id="{6A4F6E4D-8C3A-024E-93C4-377640FF22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kumimoji="0"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Rectangle 7">
            <a:extLst>
              <a:ext uri="{FF2B5EF4-FFF2-40B4-BE49-F238E27FC236}">
                <a16:creationId xmlns:a16="http://schemas.microsoft.com/office/drawing/2014/main" id="{DF4D6F9E-B701-4E41-B600-F3A0FBC8EED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D3787B1-E79C-BD4F-83C4-DF1549C63065}" type="slidenum">
              <a:rPr kumimoji="0" lang="en-US" altLang="zh-CN" sz="1200"/>
              <a:pPr/>
              <a:t>62</a:t>
            </a:fld>
            <a:endParaRPr kumimoji="0" lang="en-US" altLang="zh-CN" sz="1200"/>
          </a:p>
        </p:txBody>
      </p:sp>
      <p:sp>
        <p:nvSpPr>
          <p:cNvPr id="112642" name="Rectangle 2">
            <a:extLst>
              <a:ext uri="{FF2B5EF4-FFF2-40B4-BE49-F238E27FC236}">
                <a16:creationId xmlns:a16="http://schemas.microsoft.com/office/drawing/2014/main" id="{1A9B73A7-DDF9-AC42-8207-35986D9BD55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12643" name="Rectangle 3">
            <a:extLst>
              <a:ext uri="{FF2B5EF4-FFF2-40B4-BE49-F238E27FC236}">
                <a16:creationId xmlns:a16="http://schemas.microsoft.com/office/drawing/2014/main" id="{3FBBCBEB-3BAB-C741-B377-B449F6B95A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kumimoji="0"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89" name="Rectangle 7">
            <a:extLst>
              <a:ext uri="{FF2B5EF4-FFF2-40B4-BE49-F238E27FC236}">
                <a16:creationId xmlns:a16="http://schemas.microsoft.com/office/drawing/2014/main" id="{B9A41178-DEB4-7441-B1C5-2595531B2E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5F20E71-1956-8840-8086-1E3294C29A51}" type="slidenum">
              <a:rPr kumimoji="0" lang="en-US" altLang="zh-CN" sz="1200"/>
              <a:pPr/>
              <a:t>63</a:t>
            </a:fld>
            <a:endParaRPr kumimoji="0" lang="en-US" altLang="zh-CN" sz="1200"/>
          </a:p>
        </p:txBody>
      </p:sp>
      <p:sp>
        <p:nvSpPr>
          <p:cNvPr id="114690" name="Rectangle 2">
            <a:extLst>
              <a:ext uri="{FF2B5EF4-FFF2-40B4-BE49-F238E27FC236}">
                <a16:creationId xmlns:a16="http://schemas.microsoft.com/office/drawing/2014/main" id="{927C887D-F01B-7442-A4ED-1EBD6F71738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14691" name="Rectangle 3">
            <a:extLst>
              <a:ext uri="{FF2B5EF4-FFF2-40B4-BE49-F238E27FC236}">
                <a16:creationId xmlns:a16="http://schemas.microsoft.com/office/drawing/2014/main" id="{DC8DDF22-E118-D240-BCF7-CAB5AA469E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kumimoji="0"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7" name="Rectangle 7">
            <a:extLst>
              <a:ext uri="{FF2B5EF4-FFF2-40B4-BE49-F238E27FC236}">
                <a16:creationId xmlns:a16="http://schemas.microsoft.com/office/drawing/2014/main" id="{A2A22761-6186-524B-8F11-117A1B0BA00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1F36479-ECE7-BD48-9358-D8CE5D735F09}" type="slidenum">
              <a:rPr kumimoji="0" lang="en-US" altLang="zh-CN" sz="1200"/>
              <a:pPr/>
              <a:t>64</a:t>
            </a:fld>
            <a:endParaRPr kumimoji="0" lang="en-US" altLang="zh-CN" sz="1200"/>
          </a:p>
        </p:txBody>
      </p:sp>
      <p:sp>
        <p:nvSpPr>
          <p:cNvPr id="116738" name="Rectangle 2">
            <a:extLst>
              <a:ext uri="{FF2B5EF4-FFF2-40B4-BE49-F238E27FC236}">
                <a16:creationId xmlns:a16="http://schemas.microsoft.com/office/drawing/2014/main" id="{6F34FEFB-B400-EC4B-BF6E-238A770874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16739" name="Rectangle 3">
            <a:extLst>
              <a:ext uri="{FF2B5EF4-FFF2-40B4-BE49-F238E27FC236}">
                <a16:creationId xmlns:a16="http://schemas.microsoft.com/office/drawing/2014/main" id="{2CC1B6DD-3554-3440-96BE-B121362454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kumimoji="0"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5" name="Rectangle 7">
            <a:extLst>
              <a:ext uri="{FF2B5EF4-FFF2-40B4-BE49-F238E27FC236}">
                <a16:creationId xmlns:a16="http://schemas.microsoft.com/office/drawing/2014/main" id="{AA5120C5-FD18-CB4F-99B5-6C462450468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862689B-64E9-BF48-9800-A16B02DB11BB}" type="slidenum">
              <a:rPr kumimoji="0" lang="en-US" altLang="zh-CN" sz="1200"/>
              <a:pPr/>
              <a:t>65</a:t>
            </a:fld>
            <a:endParaRPr kumimoji="0" lang="en-US" altLang="zh-CN" sz="1200"/>
          </a:p>
        </p:txBody>
      </p:sp>
      <p:sp>
        <p:nvSpPr>
          <p:cNvPr id="118786" name="Rectangle 2">
            <a:extLst>
              <a:ext uri="{FF2B5EF4-FFF2-40B4-BE49-F238E27FC236}">
                <a16:creationId xmlns:a16="http://schemas.microsoft.com/office/drawing/2014/main" id="{8A1D930A-E432-0A4D-9BB3-AC5CD61B8C9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18787" name="Rectangle 3">
            <a:extLst>
              <a:ext uri="{FF2B5EF4-FFF2-40B4-BE49-F238E27FC236}">
                <a16:creationId xmlns:a16="http://schemas.microsoft.com/office/drawing/2014/main" id="{7401BBBF-920C-274B-9C4A-0BB34E97E3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kumimoji="0"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3" name="Rectangle 7">
            <a:extLst>
              <a:ext uri="{FF2B5EF4-FFF2-40B4-BE49-F238E27FC236}">
                <a16:creationId xmlns:a16="http://schemas.microsoft.com/office/drawing/2014/main" id="{B3CDBE59-28AE-804A-95A1-A76784AEF58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5B6C7C4-834C-8E4E-B042-B3D9E7497EFC}" type="slidenum">
              <a:rPr kumimoji="0" lang="en-US" altLang="zh-CN" sz="1200"/>
              <a:pPr/>
              <a:t>66</a:t>
            </a:fld>
            <a:endParaRPr kumimoji="0" lang="en-US" altLang="zh-CN" sz="1200"/>
          </a:p>
        </p:txBody>
      </p:sp>
      <p:sp>
        <p:nvSpPr>
          <p:cNvPr id="120834" name="Rectangle 2">
            <a:extLst>
              <a:ext uri="{FF2B5EF4-FFF2-40B4-BE49-F238E27FC236}">
                <a16:creationId xmlns:a16="http://schemas.microsoft.com/office/drawing/2014/main" id="{BED44DE2-A2A4-F34E-A074-0575C7F0C7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20835" name="Rectangle 3">
            <a:extLst>
              <a:ext uri="{FF2B5EF4-FFF2-40B4-BE49-F238E27FC236}">
                <a16:creationId xmlns:a16="http://schemas.microsoft.com/office/drawing/2014/main" id="{BD72A439-5BD5-C443-8A93-7BBEC7BF9A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kumimoji="0"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1" name="Rectangle 7">
            <a:extLst>
              <a:ext uri="{FF2B5EF4-FFF2-40B4-BE49-F238E27FC236}">
                <a16:creationId xmlns:a16="http://schemas.microsoft.com/office/drawing/2014/main" id="{E88F9F85-5AF4-6447-8D92-80077305FD9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757E106-C2D3-8E4D-A00F-43A35AF00198}" type="slidenum">
              <a:rPr kumimoji="0" lang="en-US" altLang="zh-CN" sz="1200"/>
              <a:pPr/>
              <a:t>67</a:t>
            </a:fld>
            <a:endParaRPr kumimoji="0" lang="en-US" altLang="zh-CN" sz="1200"/>
          </a:p>
        </p:txBody>
      </p:sp>
      <p:sp>
        <p:nvSpPr>
          <p:cNvPr id="122882" name="Rectangle 2">
            <a:extLst>
              <a:ext uri="{FF2B5EF4-FFF2-40B4-BE49-F238E27FC236}">
                <a16:creationId xmlns:a16="http://schemas.microsoft.com/office/drawing/2014/main" id="{6200BD3E-27CC-7248-A394-DD541C2DDC2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22883" name="Rectangle 3">
            <a:extLst>
              <a:ext uri="{FF2B5EF4-FFF2-40B4-BE49-F238E27FC236}">
                <a16:creationId xmlns:a16="http://schemas.microsoft.com/office/drawing/2014/main" id="{F7C087BA-3740-AF4C-8100-B5F2C88E0C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kumimoji="0"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29" name="Rectangle 7">
            <a:extLst>
              <a:ext uri="{FF2B5EF4-FFF2-40B4-BE49-F238E27FC236}">
                <a16:creationId xmlns:a16="http://schemas.microsoft.com/office/drawing/2014/main" id="{C8EA81B7-777E-344F-90E9-28217F8E1FB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A39A243-9FB2-E748-8CEA-AC336BA3C7D7}" type="slidenum">
              <a:rPr kumimoji="0" lang="en-US" altLang="zh-CN" sz="1200"/>
              <a:pPr/>
              <a:t>68</a:t>
            </a:fld>
            <a:endParaRPr kumimoji="0" lang="en-US" altLang="zh-CN" sz="1200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A4856F8F-C689-514D-BC16-73B9A2BC7B8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EA47E355-AFBA-A14A-AAED-A20230A031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kumimoji="0"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7" name="Rectangle 7">
            <a:extLst>
              <a:ext uri="{FF2B5EF4-FFF2-40B4-BE49-F238E27FC236}">
                <a16:creationId xmlns:a16="http://schemas.microsoft.com/office/drawing/2014/main" id="{7C540B9F-4841-754A-A6B6-43F50704362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F2667E4-2140-5F4B-85B3-77524C2DAB60}" type="slidenum">
              <a:rPr kumimoji="0" lang="en-US" altLang="zh-CN" sz="1200"/>
              <a:pPr/>
              <a:t>69</a:t>
            </a:fld>
            <a:endParaRPr kumimoji="0" lang="en-US" altLang="zh-CN" sz="1200"/>
          </a:p>
        </p:txBody>
      </p:sp>
      <p:sp>
        <p:nvSpPr>
          <p:cNvPr id="126978" name="Rectangle 2">
            <a:extLst>
              <a:ext uri="{FF2B5EF4-FFF2-40B4-BE49-F238E27FC236}">
                <a16:creationId xmlns:a16="http://schemas.microsoft.com/office/drawing/2014/main" id="{4D38BA93-7AE4-8141-A487-4EB2AA8512D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26979" name="Rectangle 3">
            <a:extLst>
              <a:ext uri="{FF2B5EF4-FFF2-40B4-BE49-F238E27FC236}">
                <a16:creationId xmlns:a16="http://schemas.microsoft.com/office/drawing/2014/main" id="{8589C670-0662-F140-AC22-2211D88891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kumimoji="0"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5" name="Rectangle 7">
            <a:extLst>
              <a:ext uri="{FF2B5EF4-FFF2-40B4-BE49-F238E27FC236}">
                <a16:creationId xmlns:a16="http://schemas.microsoft.com/office/drawing/2014/main" id="{E0E3CF62-92A5-694C-A84B-91A766EEAD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D6AC717-C35C-EA49-A430-9912B9162CE6}" type="slidenum">
              <a:rPr kumimoji="0" lang="en-US" altLang="zh-CN" sz="1200"/>
              <a:pPr/>
              <a:t>70</a:t>
            </a:fld>
            <a:endParaRPr kumimoji="0" lang="en-US" altLang="zh-CN" sz="1200"/>
          </a:p>
        </p:txBody>
      </p:sp>
      <p:sp>
        <p:nvSpPr>
          <p:cNvPr id="129026" name="Rectangle 2">
            <a:extLst>
              <a:ext uri="{FF2B5EF4-FFF2-40B4-BE49-F238E27FC236}">
                <a16:creationId xmlns:a16="http://schemas.microsoft.com/office/drawing/2014/main" id="{33174D3E-BC6A-7A40-A116-9C7493C96FE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29027" name="Rectangle 3">
            <a:extLst>
              <a:ext uri="{FF2B5EF4-FFF2-40B4-BE49-F238E27FC236}">
                <a16:creationId xmlns:a16="http://schemas.microsoft.com/office/drawing/2014/main" id="{A90E526A-B2E7-5E4E-99D2-D826B39F0C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kumimoji="0" lang="zh-CN" altLang="en-US" b="1">
                <a:latin typeface="Arial" panose="020B0604020202020204" pitchFamily="34" charset="0"/>
              </a:rPr>
              <a:t>恒真性不等价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>
            <a:extLst>
              <a:ext uri="{FF2B5EF4-FFF2-40B4-BE49-F238E27FC236}">
                <a16:creationId xmlns:a16="http://schemas.microsoft.com/office/drawing/2014/main" id="{0945076F-7110-9542-BB52-3AF6A68A4F35}"/>
              </a:ext>
            </a:extLst>
          </p:cNvPr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E5350402-3646-EE41-8841-BF22C8449D5C}"/>
              </a:ext>
            </a:extLst>
          </p:cNvPr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17ECDEE1-93A2-E740-8415-8D62365B7F22}"/>
              </a:ext>
            </a:extLst>
          </p:cNvPr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Oval 13">
            <a:extLst>
              <a:ext uri="{FF2B5EF4-FFF2-40B4-BE49-F238E27FC236}">
                <a16:creationId xmlns:a16="http://schemas.microsoft.com/office/drawing/2014/main" id="{17271827-66FF-3F46-8681-B18DA74B6C52}"/>
              </a:ext>
            </a:extLst>
          </p:cNvPr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3795" y="5052545"/>
            <a:ext cx="5637010" cy="88211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7581" y="3132290"/>
            <a:ext cx="7175351" cy="1793167"/>
          </a:xfrm>
          <a:effectLst/>
        </p:spPr>
        <p:txBody>
          <a:bodyPr/>
          <a:lstStyle>
            <a:lvl1pPr marL="640080" indent="-457200" algn="l">
              <a:defRPr sz="5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AB8E4E09-220E-FF4E-8121-E5D24DE92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A9B3EAF-C4ED-A642-97FF-760B8DE7D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B1BA7A72-40BE-DB41-8FA5-24BD68190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1CB33E-ECAB-204A-BA0F-E8B2E112980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8268060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143000" y="731520"/>
            <a:ext cx="6400800" cy="347472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D699EE-0E59-9848-99A4-B09EAE5AB5C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DED712-BC99-E344-8E1B-81E461BE77B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6E2C46-825B-4647-B85D-7030DEC40E6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A5224D03-907E-EF46-86CF-018647D939A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57539758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>
            <a:extLst>
              <a:ext uri="{FF2B5EF4-FFF2-40B4-BE49-F238E27FC236}">
                <a16:creationId xmlns:a16="http://schemas.microsoft.com/office/drawing/2014/main" id="{305F3BC1-E7A7-024C-B179-C5B68DA441CB}"/>
              </a:ext>
            </a:extLst>
          </p:cNvPr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93D6E73D-3BC9-0446-AB65-8FD6763BADD5}"/>
              </a:ext>
            </a:extLst>
          </p:cNvPr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501ECD01-6115-D543-9535-2392054B0F2B}"/>
              </a:ext>
            </a:extLst>
          </p:cNvPr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Oval 9">
            <a:extLst>
              <a:ext uri="{FF2B5EF4-FFF2-40B4-BE49-F238E27FC236}">
                <a16:creationId xmlns:a16="http://schemas.microsoft.com/office/drawing/2014/main" id="{ADA8AF84-F065-5344-8740-CECE280DA734}"/>
              </a:ext>
            </a:extLst>
          </p:cNvPr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3195" y="2172648"/>
            <a:ext cx="5966666" cy="2423346"/>
          </a:xfrm>
          <a:effectLst/>
        </p:spPr>
        <p:txBody>
          <a:bodyPr anchor="b"/>
          <a:lstStyle>
            <a:lvl1pPr algn="r">
              <a:defRPr sz="4600" b="1" cap="none" baseline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2438" y="4607511"/>
            <a:ext cx="5970494" cy="83546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DE17EB51-6BD0-3747-8AEF-5A40B98D4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6CA8CFB-24C3-4149-B919-767CF055B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C1250C95-4B7B-924D-83F3-EC0887DC1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E421B9-1F96-5D41-B7A5-A0297286C98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00732425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142999" y="731519"/>
            <a:ext cx="3346704" cy="347472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731520"/>
            <a:ext cx="3346704" cy="347472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D5C7F86-998E-6147-AC51-9A4D1C2E6A3F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48B8ADC-7C40-1146-AB19-5073E5E64F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190039E-AD86-D644-9F9F-0CC81D9E8B6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42F698FF-2025-7949-BB5D-415AE913242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6010893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6447" y="1400327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7302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399032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6205195D-7304-B145-B3F1-8F97F4EDD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F85D76B-9F4A-6348-BD42-BD9A0DCA0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FC26715-0003-A141-BAE5-FC4A02DCD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357078-D816-7C44-8671-5738D9EBDE6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5191873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0B2D1F64-3901-FF46-895D-AE238851D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97C969-63CA-8F4A-9E5D-369B4171B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035DBA8-B796-5E4E-A0C1-7F7C50366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069DB51-FE05-3741-9C2A-83DA0736BFF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36468073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5B0CE27C-5983-8148-9AD9-9A002A3C6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484F133-37F9-6646-A750-E11CEC2A3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1170218-214B-774E-922E-A1A4397A4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4949637-FFD7-B545-AA0A-8E814FCF57C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59106221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095" y="2209800"/>
            <a:ext cx="3636085" cy="1258493"/>
          </a:xfrm>
          <a:effectLst/>
        </p:spPr>
        <p:txBody>
          <a:bodyPr anchor="b"/>
          <a:lstStyle>
            <a:lvl1pPr marL="228600" indent="-228600" algn="l">
              <a:defRPr sz="2800" b="1">
                <a:effectLst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3515" y="731520"/>
            <a:ext cx="4017085" cy="4894730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5765" y="3497802"/>
            <a:ext cx="3388660" cy="21395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D614583-1DCD-614A-BF2E-912C84B27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5A87F62-01D2-DA4B-9022-85E774964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12F89F0-F3D1-6746-B46C-39D0831EB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B7A408-7A5F-4C49-8E22-4BCD5FD28B5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90446012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072C3FA8-4B7C-5344-A417-0D7C3AFB088B}"/>
              </a:ext>
            </a:extLst>
          </p:cNvPr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CB25BE27-F118-6B4A-8063-46ABBD5AA873}"/>
              </a:ext>
            </a:extLst>
          </p:cNvPr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D7E34534-CCCA-B94E-BDC5-5E764C4583D3}"/>
              </a:ext>
            </a:extLst>
          </p:cNvPr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Oval 10">
            <a:extLst>
              <a:ext uri="{FF2B5EF4-FFF2-40B4-BE49-F238E27FC236}">
                <a16:creationId xmlns:a16="http://schemas.microsoft.com/office/drawing/2014/main" id="{8640C207-9653-D745-B1D0-4402ADFD6C1E}"/>
              </a:ext>
            </a:extLst>
          </p:cNvPr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75175" y="1143000"/>
            <a:ext cx="4114800" cy="3127806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blurRad="4350" stA="23000" endA="300" endPos="28000" dir="5400000" sy="-100000" algn="bl" rotWithShape="0"/>
          </a:effectLst>
          <a:scene3d>
            <a:camera prst="perspectiveContrastingLeftFacing" fov="1800000">
              <a:rot lat="300000" lon="2100000" rev="0"/>
            </a:camera>
            <a:lightRig rig="balanced" dir="t"/>
          </a:scene3d>
          <a:sp3d>
            <a:bevelT w="50800" h="50800"/>
          </a:sp3d>
        </p:spPr>
        <p:txBody>
          <a:bodyPr rtlCol="0">
            <a:normAutofit/>
            <a:flatTx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将图片拖动到占位符，或单击添加图标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7887" y="1010486"/>
            <a:ext cx="3694114" cy="2163020"/>
          </a:xfrm>
        </p:spPr>
        <p:txBody>
          <a:bodyPr anchor="b"/>
          <a:lstStyle>
            <a:lvl1pPr marL="182880" indent="-182880">
              <a:buFont typeface="Georgia" pitchFamily="18" charset="0"/>
              <a:buChar char="*"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268" y="4464421"/>
            <a:ext cx="6383538" cy="1143000"/>
          </a:xfrm>
        </p:spPr>
        <p:txBody>
          <a:bodyPr anchor="b"/>
          <a:lstStyle>
            <a:lvl1pPr algn="l">
              <a:defRPr sz="4600" b="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BED148AA-DDBB-5E4B-812C-50D087E24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FF9BADF2-666C-DD4C-935D-68BD27FDA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9BECA44B-63CC-5A47-AC72-7DFC2F9D1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28CF23-1DB3-1D41-B935-3B92790E095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18418758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0" y="731519"/>
            <a:ext cx="6400800" cy="347472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E829D0-BE6A-774C-B025-E1BF479DD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3499ED-2469-C940-AA88-AB1C67695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A2ABF0-AA1B-1044-A5EA-CA9D64D3D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3ABF0E-3280-EF42-A0E3-61B824131CB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33860702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3758" y="376517"/>
            <a:ext cx="2057400" cy="5238339"/>
          </a:xfrm>
          <a:effectLst/>
        </p:spPr>
        <p:txBody>
          <a:bodyPr vert="eaVert"/>
          <a:lstStyle>
            <a:lvl1pPr algn="l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24113" y="731519"/>
            <a:ext cx="4829287" cy="489472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17A9E4-BD92-5D45-A716-E01A718A0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AC6006-C65D-C246-B73B-6FB375685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64E7E0-DE1A-A24A-9923-BD8BA1768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480A53-1EE6-004D-95EA-BE2A3BC0304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94088367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2A73CCF-8D43-5E48-AE34-C90C505C5BA9}"/>
              </a:ext>
            </a:extLst>
          </p:cNvPr>
          <p:cNvSpPr/>
          <p:nvPr/>
        </p:nvSpPr>
        <p:spPr>
          <a:xfrm>
            <a:off x="0" y="5105400"/>
            <a:ext cx="9144000" cy="175260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E00794-1FB3-CB45-AF94-AFA7DF7BD78B}"/>
              </a:ext>
            </a:extLst>
          </p:cNvPr>
          <p:cNvSpPr/>
          <p:nvPr/>
        </p:nvSpPr>
        <p:spPr>
          <a:xfrm>
            <a:off x="0" y="0"/>
            <a:ext cx="9144000" cy="51054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14050E2-786F-6F46-A90E-B550DABADD77}"/>
              </a:ext>
            </a:extLst>
          </p:cNvPr>
          <p:cNvSpPr/>
          <p:nvPr/>
        </p:nvSpPr>
        <p:spPr>
          <a:xfrm>
            <a:off x="0" y="3768725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8B6AB5E-F4BB-8146-AA4B-9F29CF2FC308}"/>
              </a:ext>
            </a:extLst>
          </p:cNvPr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00B254-8AD3-5342-9633-43AF4D219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3875" y="4371975"/>
            <a:ext cx="6511925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37" name="Text Placeholder 2">
            <a:extLst>
              <a:ext uri="{FF2B5EF4-FFF2-40B4-BE49-F238E27FC236}">
                <a16:creationId xmlns:a16="http://schemas.microsoft.com/office/drawing/2014/main" id="{55F8EF7A-5883-0F40-AB8B-286EC8F1F7D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143000" y="731838"/>
            <a:ext cx="6400800" cy="347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381710-9D4D-414F-9A00-996180ADD0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72200" y="6172200"/>
            <a:ext cx="2514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  <a:ea typeface="宋体" charset="0"/>
                <a:cs typeface="宋体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012C98-B422-0445-83D6-8619C22221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172200"/>
            <a:ext cx="3352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  <a:ea typeface="宋体" charset="0"/>
                <a:cs typeface="宋体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E782DF-A93B-7542-A055-4FC10A1DF8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10000" y="6172200"/>
            <a:ext cx="1828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 b="1">
                <a:solidFill>
                  <a:srgbClr val="7F7F7F"/>
                </a:solidFill>
              </a:defRPr>
            </a:lvl1pPr>
          </a:lstStyle>
          <a:p>
            <a:fld id="{FBB80A26-BE30-AA4D-85DB-6576A7574551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0" r:id="rId1"/>
    <p:sldLayoutId id="2147483802" r:id="rId2"/>
    <p:sldLayoutId id="2147483811" r:id="rId3"/>
    <p:sldLayoutId id="2147483803" r:id="rId4"/>
    <p:sldLayoutId id="2147483804" r:id="rId5"/>
    <p:sldLayoutId id="2147483805" r:id="rId6"/>
    <p:sldLayoutId id="2147483806" r:id="rId7"/>
    <p:sldLayoutId id="2147483807" r:id="rId8"/>
    <p:sldLayoutId id="2147483812" r:id="rId9"/>
    <p:sldLayoutId id="2147483808" r:id="rId10"/>
    <p:sldLayoutId id="2147483809" r:id="rId11"/>
  </p:sldLayoutIdLst>
  <p:transition>
    <p:blinds dir="vert"/>
  </p:transition>
  <p:hf hdr="0" ftr="0" dt="0"/>
  <p:txStyles>
    <p:titleStyle>
      <a:lvl1pPr marL="319088" indent="-319088" algn="r" rtl="0" fontAlgn="base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anose="02040502050405020303" pitchFamily="18" charset="0"/>
        <a:buChar char="*"/>
        <a:defRPr sz="4600" b="1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+mj-ea"/>
          <a:cs typeface="华文新魏" charset="0"/>
        </a:defRPr>
      </a:lvl1pPr>
      <a:lvl2pPr marL="319088" indent="-319088" algn="r" rtl="0" fontAlgn="base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anose="02040502050405020303" pitchFamily="18" charset="0"/>
        <a:buChar char="*"/>
        <a:defRPr sz="4600" b="1">
          <a:solidFill>
            <a:schemeClr val="tx1"/>
          </a:solidFill>
          <a:latin typeface="Trebuchet MS" charset="0"/>
          <a:ea typeface="华文新魏" charset="0"/>
          <a:cs typeface="华文新魏" charset="0"/>
        </a:defRPr>
      </a:lvl2pPr>
      <a:lvl3pPr marL="319088" indent="-319088" algn="r" rtl="0" fontAlgn="base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anose="02040502050405020303" pitchFamily="18" charset="0"/>
        <a:buChar char="*"/>
        <a:defRPr sz="4600" b="1">
          <a:solidFill>
            <a:schemeClr val="tx1"/>
          </a:solidFill>
          <a:latin typeface="Trebuchet MS" charset="0"/>
          <a:ea typeface="华文新魏" charset="0"/>
          <a:cs typeface="华文新魏" charset="0"/>
        </a:defRPr>
      </a:lvl3pPr>
      <a:lvl4pPr marL="319088" indent="-319088" algn="r" rtl="0" fontAlgn="base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anose="02040502050405020303" pitchFamily="18" charset="0"/>
        <a:buChar char="*"/>
        <a:defRPr sz="4600" b="1">
          <a:solidFill>
            <a:schemeClr val="tx1"/>
          </a:solidFill>
          <a:latin typeface="Trebuchet MS" charset="0"/>
          <a:ea typeface="华文新魏" charset="0"/>
          <a:cs typeface="华文新魏" charset="0"/>
        </a:defRPr>
      </a:lvl4pPr>
      <a:lvl5pPr marL="319088" indent="-319088" algn="r" rtl="0" fontAlgn="base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anose="02040502050405020303" pitchFamily="18" charset="0"/>
        <a:buChar char="*"/>
        <a:defRPr sz="4600" b="1">
          <a:solidFill>
            <a:schemeClr val="tx1"/>
          </a:solidFill>
          <a:latin typeface="Trebuchet MS" charset="0"/>
          <a:ea typeface="华文新魏" charset="0"/>
          <a:cs typeface="华文新魏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563" algn="l" rtl="0" fontAlgn="base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anose="02040502050405020303" pitchFamily="18" charset="0"/>
        <a:buChar char="*"/>
        <a:defRPr kumimoji="1" sz="2200" kern="1200">
          <a:solidFill>
            <a:srgbClr val="404040"/>
          </a:solidFill>
          <a:latin typeface="+mn-lt"/>
          <a:ea typeface="+mn-ea"/>
          <a:cs typeface="华文新魏" charset="0"/>
        </a:defRPr>
      </a:lvl1pPr>
      <a:lvl2pPr marL="547688" indent="-182563" algn="l" rtl="0" fontAlgn="base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anose="02040502050405020303" pitchFamily="18" charset="0"/>
        <a:buChar char="*"/>
        <a:defRPr kumimoji="1" sz="2000" kern="1200">
          <a:solidFill>
            <a:srgbClr val="404040"/>
          </a:solidFill>
          <a:latin typeface="+mn-lt"/>
          <a:ea typeface="+mn-ea"/>
          <a:cs typeface="华文新魏" charset="0"/>
        </a:defRPr>
      </a:lvl2pPr>
      <a:lvl3pPr marL="822325" indent="-182563" algn="l" rtl="0" fontAlgn="base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anose="02040502050405020303" pitchFamily="18" charset="0"/>
        <a:buChar char="*"/>
        <a:defRPr kumimoji="1" kern="1200">
          <a:solidFill>
            <a:srgbClr val="404040"/>
          </a:solidFill>
          <a:latin typeface="+mn-lt"/>
          <a:ea typeface="+mn-ea"/>
          <a:cs typeface="华文新魏" charset="0"/>
        </a:defRPr>
      </a:lvl3pPr>
      <a:lvl4pPr marL="1096963" indent="-182563" algn="l" rtl="0" fontAlgn="base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anose="02040502050405020303" pitchFamily="18" charset="0"/>
        <a:buChar char="*"/>
        <a:defRPr kumimoji="1" sz="1600" kern="1200">
          <a:solidFill>
            <a:srgbClr val="404040"/>
          </a:solidFill>
          <a:latin typeface="+mn-lt"/>
          <a:ea typeface="+mn-ea"/>
          <a:cs typeface="华文新魏" charset="0"/>
        </a:defRPr>
      </a:lvl4pPr>
      <a:lvl5pPr marL="1389063" indent="-182563" algn="l" rtl="0" fontAlgn="base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anose="02040502050405020303" pitchFamily="18" charset="0"/>
        <a:buChar char="*"/>
        <a:defRPr kumimoji="1" sz="1400" kern="1200">
          <a:solidFill>
            <a:srgbClr val="404040"/>
          </a:solidFill>
          <a:latin typeface="+mn-lt"/>
          <a:ea typeface="+mn-ea"/>
          <a:cs typeface="华文新魏" charset="0"/>
        </a:defRPr>
      </a:lvl5pPr>
      <a:lvl6pPr marL="166420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65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860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87752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46">
            <a:extLst>
              <a:ext uri="{FF2B5EF4-FFF2-40B4-BE49-F238E27FC236}">
                <a16:creationId xmlns:a16="http://schemas.microsoft.com/office/drawing/2014/main" id="{E6EBC07A-31CA-7D47-AABD-4F4312789B7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0304307-4A57-4E48-B34F-FD809AFCECD7}" type="slidenum">
              <a:rPr kumimoji="0" lang="en-US" altLang="zh-CN" sz="1200"/>
              <a:pPr/>
              <a:t>1</a:t>
            </a:fld>
            <a:endParaRPr kumimoji="0" lang="en-US" altLang="zh-CN" sz="1200"/>
          </a:p>
        </p:txBody>
      </p:sp>
      <p:sp>
        <p:nvSpPr>
          <p:cNvPr id="2050" name="Rectangle 2">
            <a:extLst>
              <a:ext uri="{FF2B5EF4-FFF2-40B4-BE49-F238E27FC236}">
                <a16:creationId xmlns:a16="http://schemas.microsoft.com/office/drawing/2014/main" id="{6FB1AB49-AC4A-2347-9293-5A63751AB51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19200" y="2286000"/>
            <a:ext cx="6781800" cy="1828800"/>
          </a:xfrm>
        </p:spPr>
        <p:txBody>
          <a:bodyPr/>
          <a:lstStyle/>
          <a:p>
            <a:pPr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>
                <a:latin typeface="Arial" panose="020B0604020202020204" pitchFamily="34" charset="0"/>
                <a:ea typeface="楷体_GB2312" charset="0"/>
                <a:cs typeface="Arial" panose="020B0604020202020204" pitchFamily="34" charset="0"/>
              </a:rPr>
              <a:t>§3.2</a:t>
            </a:r>
            <a:r>
              <a:rPr lang="zh-CN" altLang="en-US" dirty="0">
                <a:latin typeface="Arial" panose="020B0604020202020204" pitchFamily="34" charset="0"/>
                <a:ea typeface="楷体_GB2312" charset="0"/>
                <a:cs typeface="Arial" panose="020B0604020202020204" pitchFamily="34" charset="0"/>
              </a:rPr>
              <a:t>   谓词逻辑</a:t>
            </a:r>
          </a:p>
        </p:txBody>
      </p:sp>
    </p:spTree>
  </p:cSld>
  <p:clrMapOvr>
    <a:masterClrMapping/>
  </p:clrMapOvr>
  <p:transition>
    <p:cover dir="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Slide Number Placeholder 5">
            <a:extLst>
              <a:ext uri="{FF2B5EF4-FFF2-40B4-BE49-F238E27FC236}">
                <a16:creationId xmlns:a16="http://schemas.microsoft.com/office/drawing/2014/main" id="{7093AD06-65BC-934E-AE83-018D4712A1C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9F4A122-2CBC-404F-814C-34FE2159DFCF}" type="slidenum">
              <a:rPr kumimoji="0" lang="en-US" altLang="zh-CN" sz="1200"/>
              <a:pPr/>
              <a:t>2</a:t>
            </a:fld>
            <a:endParaRPr kumimoji="0" lang="en-US" altLang="zh-CN" sz="1200"/>
          </a:p>
        </p:txBody>
      </p:sp>
      <p:sp>
        <p:nvSpPr>
          <p:cNvPr id="19458" name="Rectangle 2">
            <a:extLst>
              <a:ext uri="{FF2B5EF4-FFF2-40B4-BE49-F238E27FC236}">
                <a16:creationId xmlns:a16="http://schemas.microsoft.com/office/drawing/2014/main" id="{C98195C1-5022-C247-B0FB-DC03FF9288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8750" y="304800"/>
            <a:ext cx="8985250" cy="1143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>
                <a:latin typeface="Arial" panose="020B0604020202020204" pitchFamily="34" charset="0"/>
                <a:ea typeface="楷体_GB2312" charset="0"/>
                <a:cs typeface="Arial" panose="020B0604020202020204" pitchFamily="34" charset="0"/>
              </a:rPr>
              <a:t>§3.2</a:t>
            </a:r>
            <a:r>
              <a:rPr lang="zh-CN" altLang="en-US" dirty="0">
                <a:latin typeface="Arial" panose="020B0604020202020204" pitchFamily="34" charset="0"/>
                <a:ea typeface="楷体_GB2312" charset="0"/>
                <a:cs typeface="Arial" panose="020B0604020202020204" pitchFamily="34" charset="0"/>
              </a:rPr>
              <a:t> 谓词逻辑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672C15A3-8070-E943-B569-05B07EA64796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52400" y="1600200"/>
            <a:ext cx="8839200" cy="4530725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45000"/>
              </a:spcBef>
              <a:buClr>
                <a:srgbClr val="FFCC00"/>
              </a:buClr>
              <a:buFont typeface="Wingdings" pitchFamily="2" charset="2"/>
              <a:buChar char="ü"/>
              <a:tabLst>
                <a:tab pos="457200" algn="l"/>
                <a:tab pos="1768475" algn="l"/>
              </a:tabLst>
            </a:pP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§3.2.1	 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谓词逻辑的基本概念</a:t>
            </a:r>
          </a:p>
          <a:p>
            <a:pPr>
              <a:lnSpc>
                <a:spcPct val="90000"/>
              </a:lnSpc>
              <a:spcBef>
                <a:spcPct val="45000"/>
              </a:spcBef>
              <a:buClr>
                <a:srgbClr val="FFCC00"/>
              </a:buClr>
              <a:buFont typeface="Wingdings" pitchFamily="2" charset="2"/>
              <a:buChar char="ü"/>
              <a:tabLst>
                <a:tab pos="457200" algn="l"/>
                <a:tab pos="1768475" algn="l"/>
              </a:tabLst>
            </a:pP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§3.2.2   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谓词公式</a:t>
            </a:r>
          </a:p>
          <a:p>
            <a:pPr>
              <a:lnSpc>
                <a:spcPct val="90000"/>
              </a:lnSpc>
              <a:spcBef>
                <a:spcPct val="45000"/>
              </a:spcBef>
              <a:buClr>
                <a:srgbClr val="FFCC00"/>
              </a:buClr>
              <a:buFont typeface="Wingdings" pitchFamily="2" charset="2"/>
              <a:buChar char="ü"/>
              <a:tabLst>
                <a:tab pos="457200" algn="l"/>
                <a:tab pos="1768475" algn="l"/>
              </a:tabLst>
            </a:pP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§3.2.3	 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谓词公式的等价关系和蕴涵关系 </a:t>
            </a:r>
          </a:p>
          <a:p>
            <a:pPr>
              <a:lnSpc>
                <a:spcPct val="90000"/>
              </a:lnSpc>
              <a:spcBef>
                <a:spcPct val="45000"/>
              </a:spcBef>
              <a:buClr>
                <a:srgbClr val="FFCC00"/>
              </a:buClr>
              <a:buFont typeface="Wingdings" pitchFamily="2" charset="2"/>
              <a:buChar char="ü"/>
              <a:tabLst>
                <a:tab pos="457200" algn="l"/>
                <a:tab pos="1768475" algn="l"/>
              </a:tabLst>
            </a:pP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§3.2.4   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范式</a:t>
            </a:r>
          </a:p>
          <a:p>
            <a:pPr>
              <a:lnSpc>
                <a:spcPct val="90000"/>
              </a:lnSpc>
              <a:spcBef>
                <a:spcPct val="45000"/>
              </a:spcBef>
              <a:buFont typeface="Wingdings" pitchFamily="2" charset="2"/>
              <a:buNone/>
              <a:tabLst>
                <a:tab pos="457200" algn="l"/>
                <a:tab pos="1768475" algn="l"/>
              </a:tabLst>
            </a:pP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	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	§3.2.5   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谓词逻辑的应用</a:t>
            </a:r>
          </a:p>
        </p:txBody>
      </p:sp>
    </p:spTree>
  </p:cSld>
  <p:clrMapOvr>
    <a:masterClrMapping/>
  </p:clrMapOvr>
  <p:transition>
    <p:blinds dir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46">
            <a:extLst>
              <a:ext uri="{FF2B5EF4-FFF2-40B4-BE49-F238E27FC236}">
                <a16:creationId xmlns:a16="http://schemas.microsoft.com/office/drawing/2014/main" id="{49506D53-1E49-4146-BAF0-E1E3356DDFF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44ABC65-DF0B-8745-B5AA-74405F478FD8}" type="slidenum">
              <a:rPr kumimoji="0" lang="en-US" altLang="zh-CN" sz="1200"/>
              <a:pPr/>
              <a:t>3</a:t>
            </a:fld>
            <a:endParaRPr kumimoji="0" lang="en-US" altLang="zh-CN" sz="1200"/>
          </a:p>
        </p:txBody>
      </p:sp>
      <p:sp>
        <p:nvSpPr>
          <p:cNvPr id="21506" name="Rectangle 2">
            <a:extLst>
              <a:ext uri="{FF2B5EF4-FFF2-40B4-BE49-F238E27FC236}">
                <a16:creationId xmlns:a16="http://schemas.microsoft.com/office/drawing/2014/main" id="{BA36EA1C-CC41-024E-89F7-A97D39FDE1A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133600"/>
            <a:ext cx="8991600" cy="1828800"/>
          </a:xfrm>
        </p:spPr>
        <p:txBody>
          <a:bodyPr/>
          <a:lstStyle/>
          <a:p>
            <a:pPr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sz="4800" dirty="0">
                <a:latin typeface="Arial" panose="020B0604020202020204" pitchFamily="34" charset="0"/>
                <a:ea typeface="楷体_GB2312" charset="0"/>
                <a:cs typeface="Arial" panose="020B0604020202020204" pitchFamily="34" charset="0"/>
              </a:rPr>
              <a:t>§3.2.1 </a:t>
            </a:r>
            <a:r>
              <a:rPr lang="zh-CN" altLang="en-US" sz="4800" dirty="0">
                <a:latin typeface="Arial" panose="020B0604020202020204" pitchFamily="34" charset="0"/>
                <a:ea typeface="楷体_GB2312" charset="0"/>
                <a:cs typeface="Arial" panose="020B0604020202020204" pitchFamily="34" charset="0"/>
              </a:rPr>
              <a:t>谓词逻辑的基本概念</a:t>
            </a:r>
          </a:p>
        </p:txBody>
      </p:sp>
    </p:spTree>
  </p:cSld>
  <p:clrMapOvr>
    <a:masterClrMapping/>
  </p:clrMapOvr>
  <p:transition>
    <p:blinds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Number Placeholder 5">
            <a:extLst>
              <a:ext uri="{FF2B5EF4-FFF2-40B4-BE49-F238E27FC236}">
                <a16:creationId xmlns:a16="http://schemas.microsoft.com/office/drawing/2014/main" id="{D1E80581-30CE-EF46-9ECD-8DAA419C542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7E2207B-D5F8-1A4F-855C-49A792FB8349}" type="slidenum">
              <a:rPr kumimoji="0" lang="en-US" altLang="zh-CN" sz="1200"/>
              <a:pPr/>
              <a:t>4</a:t>
            </a:fld>
            <a:endParaRPr kumimoji="0" lang="en-US" altLang="zh-CN" sz="1200"/>
          </a:p>
        </p:txBody>
      </p:sp>
      <p:sp>
        <p:nvSpPr>
          <p:cNvPr id="20482" name="Rectangle 2">
            <a:extLst>
              <a:ext uri="{FF2B5EF4-FFF2-40B4-BE49-F238E27FC236}">
                <a16:creationId xmlns:a16="http://schemas.microsoft.com/office/drawing/2014/main" id="{379C450B-82BB-F940-909B-FB545FC083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277813"/>
            <a:ext cx="8229600" cy="1143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谓词和量词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76285614-CBAF-BA44-8AD3-A94B8049C77A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52400" y="1600200"/>
            <a:ext cx="8458200" cy="4530725"/>
          </a:xfrm>
        </p:spPr>
        <p:txBody>
          <a:bodyPr/>
          <a:lstStyle/>
          <a:p>
            <a:pPr>
              <a:tabLst>
                <a:tab pos="352425" algn="l"/>
              </a:tabLst>
            </a:pP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很多思维过程不能用命题逻辑表达出来。</a:t>
            </a:r>
          </a:p>
          <a:p>
            <a:pPr>
              <a:buFont typeface="Wingdings" pitchFamily="2" charset="2"/>
              <a:buChar char="v"/>
              <a:tabLst>
                <a:tab pos="352425" algn="l"/>
              </a:tabLst>
            </a:pPr>
            <a:r>
              <a:rPr kumimoji="0" lang="zh-CN" altLang="en-US" sz="3200" dirty="0">
                <a:solidFill>
                  <a:schemeClr val="accent1"/>
                </a:solidFill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例如：</a:t>
            </a:r>
            <a:r>
              <a:rPr kumimoji="0" lang="zh-CN" altLang="en-US" sz="3200" dirty="0">
                <a:solidFill>
                  <a:srgbClr val="FFFF00"/>
                </a:solidFill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	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逻辑学中著名的三段论：</a:t>
            </a:r>
            <a:b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</a:b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			凡人必死</a:t>
            </a:r>
            <a:b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</a:b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			张三是人</a:t>
            </a:r>
            <a:b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</a:b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			张三必死 </a:t>
            </a:r>
          </a:p>
          <a:p>
            <a:pPr>
              <a:buFont typeface="Wingdings" pitchFamily="2" charset="2"/>
              <a:buNone/>
              <a:tabLst>
                <a:tab pos="352425" algn="l"/>
              </a:tabLst>
            </a:pP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	</a:t>
            </a:r>
          </a:p>
          <a:p>
            <a:pPr>
              <a:buFont typeface="Wingdings" pitchFamily="2" charset="2"/>
              <a:buNone/>
              <a:tabLst>
                <a:tab pos="352425" algn="l"/>
              </a:tabLst>
            </a:pP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在命题逻辑中就无法表示这种推理过程。</a:t>
            </a:r>
          </a:p>
        </p:txBody>
      </p:sp>
    </p:spTree>
  </p:cSld>
  <p:clrMapOvr>
    <a:masterClrMapping/>
  </p:clrMapOvr>
  <p:transition>
    <p:blinds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Number Placeholder 5">
            <a:extLst>
              <a:ext uri="{FF2B5EF4-FFF2-40B4-BE49-F238E27FC236}">
                <a16:creationId xmlns:a16="http://schemas.microsoft.com/office/drawing/2014/main" id="{03C849A1-0AE4-234C-B24F-CC4DFEF2600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EBE98F7-6F1B-264A-9A8F-90AC6B87B2F9}" type="slidenum">
              <a:rPr kumimoji="0" lang="en-US" altLang="zh-CN" sz="1200"/>
              <a:pPr/>
              <a:t>5</a:t>
            </a:fld>
            <a:endParaRPr kumimoji="0" lang="en-US" altLang="zh-CN" sz="1200"/>
          </a:p>
        </p:txBody>
      </p:sp>
      <p:sp>
        <p:nvSpPr>
          <p:cNvPr id="22530" name="Rectangle 2">
            <a:extLst>
              <a:ext uri="{FF2B5EF4-FFF2-40B4-BE49-F238E27FC236}">
                <a16:creationId xmlns:a16="http://schemas.microsoft.com/office/drawing/2014/main" id="{4F7A139B-15BA-8E46-A98A-BC58ACE442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304800"/>
            <a:ext cx="8229600" cy="1143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谓词和量词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BC4C1B31-037D-D346-AF45-BD4F06E7C797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228600" y="1066800"/>
            <a:ext cx="8686800" cy="4800600"/>
          </a:xfrm>
        </p:spPr>
        <p:txBody>
          <a:bodyPr/>
          <a:lstStyle/>
          <a:p>
            <a:pPr>
              <a:tabLst>
                <a:tab pos="1716088" algn="l"/>
              </a:tabLst>
            </a:pP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因为：如果用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P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代表 “凡人必死”这个命题，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Q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代表 “张三是人”这个命题，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R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代表 “张三必死”这个命题，则按照三段论，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R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应该是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P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和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Q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的逻辑结果。</a:t>
            </a:r>
          </a:p>
          <a:p>
            <a:pPr>
              <a:tabLst>
                <a:tab pos="1716088" algn="l"/>
              </a:tabLst>
            </a:pP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但是，在命题逻辑中，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R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却不是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P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和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Q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的逻辑结果，因为公式</a:t>
            </a:r>
            <a:b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</a:b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	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P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  <a:sym typeface="Symbol" pitchFamily="2" charset="2"/>
              </a:rPr>
              <a:t>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Q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  <a:sym typeface="Symbol" pitchFamily="2" charset="2"/>
              </a:rPr>
              <a:t>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R</a:t>
            </a:r>
            <a:b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</a:b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显然不是恒真的，解释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{P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，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Q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，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  <a:sym typeface="Symbol" pitchFamily="2" charset="2"/>
              </a:rPr>
              <a:t>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R}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就能弄假上面的公式。 </a:t>
            </a:r>
          </a:p>
        </p:txBody>
      </p:sp>
      <p:sp>
        <p:nvSpPr>
          <p:cNvPr id="22532" name="Rectangle 4">
            <a:extLst>
              <a:ext uri="{FF2B5EF4-FFF2-40B4-BE49-F238E27FC236}">
                <a16:creationId xmlns:a16="http://schemas.microsoft.com/office/drawing/2014/main" id="{38D93287-5A7D-A847-9D34-8F8D011EE3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5715000"/>
            <a:ext cx="8458200" cy="584200"/>
          </a:xfrm>
          <a:prstGeom prst="rect">
            <a:avLst/>
          </a:prstGeom>
          <a:solidFill>
            <a:srgbClr val="FF66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90000"/>
              <a:buFont typeface="Wingdings" charset="0"/>
              <a:buChar char="Ø"/>
              <a:defRPr/>
            </a:pPr>
            <a:r>
              <a:rPr lang="en-US" altLang="zh-CN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楷体_GB2312" charset="0"/>
                <a:cs typeface="楷体_GB2312" charset="0"/>
              </a:rPr>
              <a:t>x=y+3</a:t>
            </a:r>
            <a:r>
              <a:rPr lang="zh-CN" altLang="en-US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楷体_GB2312" charset="0"/>
                <a:cs typeface="楷体_GB2312" charset="0"/>
              </a:rPr>
              <a:t>，</a:t>
            </a:r>
            <a:r>
              <a:rPr lang="en-US" altLang="zh-CN" sz="32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楷体_GB2312" charset="0"/>
                <a:cs typeface="楷体_GB2312" charset="0"/>
              </a:rPr>
              <a:t>x+y</a:t>
            </a:r>
            <a:r>
              <a:rPr lang="en-US" altLang="zh-CN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楷体_GB2312" charset="0"/>
                <a:cs typeface="楷体_GB2312" charset="0"/>
              </a:rPr>
              <a:t>=z</a:t>
            </a:r>
            <a:r>
              <a:rPr lang="zh-CN" altLang="en-US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楷体_GB2312" charset="0"/>
                <a:cs typeface="楷体_GB2312" charset="0"/>
              </a:rPr>
              <a:t>，变量未知的时候都不是命题。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225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225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 build="p" autoUpdateAnimBg="0"/>
      <p:bldP spid="2253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Slide Number Placeholder 5">
            <a:extLst>
              <a:ext uri="{FF2B5EF4-FFF2-40B4-BE49-F238E27FC236}">
                <a16:creationId xmlns:a16="http://schemas.microsoft.com/office/drawing/2014/main" id="{BC84ED86-DBB4-CC4C-B054-E9499C2A4D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21C066E-9AF6-4B4F-A4F1-DFDE5430BD1D}" type="slidenum">
              <a:rPr kumimoji="0" lang="en-US" altLang="zh-CN" sz="1200"/>
              <a:pPr/>
              <a:t>6</a:t>
            </a:fld>
            <a:endParaRPr kumimoji="0" lang="en-US" altLang="zh-CN" sz="1200"/>
          </a:p>
        </p:txBody>
      </p:sp>
      <p:sp>
        <p:nvSpPr>
          <p:cNvPr id="23554" name="Rectangle 2">
            <a:extLst>
              <a:ext uri="{FF2B5EF4-FFF2-40B4-BE49-F238E27FC236}">
                <a16:creationId xmlns:a16="http://schemas.microsoft.com/office/drawing/2014/main" id="{45780B5E-A4F6-4640-84E6-11DF14F4B5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304800"/>
            <a:ext cx="8229600" cy="1143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定义</a:t>
            </a:r>
            <a:r>
              <a:rPr lang="en-US" altLang="zh-CN" dirty="0">
                <a:latin typeface="Arial" charset="0"/>
                <a:ea typeface="楷体_GB2312" charset="0"/>
                <a:cs typeface="+mj-cs"/>
              </a:rPr>
              <a:t>3.2.1 </a:t>
            </a: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个体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5BAB9875-2E15-2044-8A58-804AAADDCBB2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717675"/>
            <a:ext cx="8686800" cy="4530725"/>
          </a:xfrm>
        </p:spPr>
        <p:txBody>
          <a:bodyPr/>
          <a:lstStyle/>
          <a:p>
            <a:pPr>
              <a:tabLst>
                <a:tab pos="1716088" algn="l"/>
              </a:tabLst>
            </a:pPr>
            <a:r>
              <a:rPr kumimoji="0" lang="zh-CN" altLang="en-US" sz="3200" dirty="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定义</a:t>
            </a:r>
            <a:r>
              <a:rPr kumimoji="0" lang="en-US" altLang="zh-CN" sz="3200" dirty="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3.2.1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 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可以独立存在的物体称为</a:t>
            </a:r>
            <a:r>
              <a:rPr kumimoji="0" lang="zh-CN" altLang="en-US" sz="3200" dirty="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个体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。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(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它可以是抽象的，也可以是具体的。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)</a:t>
            </a:r>
          </a:p>
          <a:p>
            <a:pPr>
              <a:tabLst>
                <a:tab pos="1716088" algn="l"/>
              </a:tabLst>
            </a:pPr>
            <a:endParaRPr kumimoji="0" lang="en-US" altLang="zh-CN" sz="3200" dirty="0">
              <a:latin typeface="Arial" panose="020B0604020202020204" pitchFamily="34" charset="0"/>
              <a:ea typeface="楷体_GB2312" pitchFamily="1" charset="-122"/>
              <a:cs typeface="Arial" panose="020B0604020202020204" pitchFamily="34" charset="0"/>
            </a:endParaRPr>
          </a:p>
          <a:p>
            <a:pPr>
              <a:buFont typeface="Wingdings" pitchFamily="2" charset="2"/>
              <a:buChar char="v"/>
              <a:tabLst>
                <a:tab pos="1716088" algn="l"/>
              </a:tabLst>
            </a:pP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如人、学生、桌子、自然数等都可以做个体。在谓词演算中，个体通常在一个命题里表示思维对象。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Number Placeholder 5">
            <a:extLst>
              <a:ext uri="{FF2B5EF4-FFF2-40B4-BE49-F238E27FC236}">
                <a16:creationId xmlns:a16="http://schemas.microsoft.com/office/drawing/2014/main" id="{7C7416CB-FF9C-B34C-BEDE-42874D88C03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21266B4-1D9A-384B-8AB8-F478FAD582AA}" type="slidenum">
              <a:rPr kumimoji="0" lang="en-US" altLang="zh-CN" sz="1200"/>
              <a:pPr/>
              <a:t>7</a:t>
            </a:fld>
            <a:endParaRPr kumimoji="0" lang="en-US" altLang="zh-CN" sz="1200"/>
          </a:p>
        </p:txBody>
      </p:sp>
      <p:sp>
        <p:nvSpPr>
          <p:cNvPr id="24578" name="Rectangle 2">
            <a:extLst>
              <a:ext uri="{FF2B5EF4-FFF2-40B4-BE49-F238E27FC236}">
                <a16:creationId xmlns:a16="http://schemas.microsoft.com/office/drawing/2014/main" id="{A59ADB29-D058-8F42-AB0E-5D282F52B1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304800"/>
            <a:ext cx="8229600" cy="1143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定义</a:t>
            </a:r>
            <a:r>
              <a:rPr lang="en-US" altLang="zh-CN" dirty="0">
                <a:latin typeface="Arial" charset="0"/>
                <a:ea typeface="楷体_GB2312" charset="0"/>
                <a:cs typeface="+mj-cs"/>
              </a:rPr>
              <a:t>3.2.2 </a:t>
            </a: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谓词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5073039D-374D-644F-BF0F-E5D65EA37EDE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600200"/>
            <a:ext cx="8839200" cy="4800600"/>
          </a:xfrm>
        </p:spPr>
        <p:txBody>
          <a:bodyPr/>
          <a:lstStyle/>
          <a:p>
            <a:pPr>
              <a:tabLst>
                <a:tab pos="1716088" algn="l"/>
              </a:tabLst>
            </a:pPr>
            <a:r>
              <a:rPr kumimoji="0" lang="zh-CN" altLang="en-US" sz="3200" dirty="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定义</a:t>
            </a:r>
            <a:r>
              <a:rPr kumimoji="0" lang="en-US" altLang="zh-CN" sz="3200" dirty="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3.2.2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  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设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D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是非空个体名称集合，定义在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D</a:t>
            </a:r>
            <a:r>
              <a:rPr kumimoji="0" lang="en-US" altLang="zh-CN" sz="3200" baseline="30000" dirty="0" err="1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n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上取值于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{1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，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0}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上的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n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元函数，称为</a:t>
            </a:r>
            <a:r>
              <a:rPr kumimoji="0" lang="en-US" altLang="zh-CN" sz="3200" dirty="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n</a:t>
            </a:r>
            <a:r>
              <a:rPr kumimoji="0" lang="zh-CN" altLang="en-US" sz="3200" dirty="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元命题函数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或</a:t>
            </a:r>
            <a:r>
              <a:rPr kumimoji="0" lang="en-US" altLang="zh-CN" sz="3200" dirty="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n</a:t>
            </a:r>
            <a:r>
              <a:rPr kumimoji="0" lang="zh-CN" altLang="en-US" sz="3200" dirty="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元谓词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。其中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D</a:t>
            </a:r>
            <a:r>
              <a:rPr kumimoji="0" lang="en-US" altLang="zh-CN" sz="3200" baseline="30000" dirty="0" err="1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n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表示集合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D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的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n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次笛卡尔乘积。</a:t>
            </a:r>
          </a:p>
          <a:p>
            <a:pPr>
              <a:tabLst>
                <a:tab pos="1716088" algn="l"/>
              </a:tabLst>
            </a:pP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一般地，一元谓词描述个体的性质；二元或多元谓词描述两个或多个个体间的关系。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0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元谓词中无个体，理解为就是命题，这样，谓词逻辑包括命题逻辑。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Slide Number Placeholder 5">
            <a:extLst>
              <a:ext uri="{FF2B5EF4-FFF2-40B4-BE49-F238E27FC236}">
                <a16:creationId xmlns:a16="http://schemas.microsoft.com/office/drawing/2014/main" id="{2F8C0B1F-13C2-B946-A365-7E6A0CC7641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D6E7FB7-E3E8-FF47-83C8-231525E7975E}" type="slidenum">
              <a:rPr kumimoji="0" lang="en-US" altLang="zh-CN" sz="1200"/>
              <a:pPr/>
              <a:t>8</a:t>
            </a:fld>
            <a:endParaRPr kumimoji="0" lang="en-US" altLang="zh-CN" sz="1200"/>
          </a:p>
        </p:txBody>
      </p:sp>
      <p:sp>
        <p:nvSpPr>
          <p:cNvPr id="26626" name="Rectangle 1026">
            <a:extLst>
              <a:ext uri="{FF2B5EF4-FFF2-40B4-BE49-F238E27FC236}">
                <a16:creationId xmlns:a16="http://schemas.microsoft.com/office/drawing/2014/main" id="{0AC42968-C071-0D4E-8579-C7C44A7958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152400"/>
            <a:ext cx="8229600" cy="1143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cs typeface="+mj-cs"/>
              </a:rPr>
              <a:t>例：</a:t>
            </a:r>
          </a:p>
        </p:txBody>
      </p:sp>
      <p:sp>
        <p:nvSpPr>
          <p:cNvPr id="23555" name="Rectangle 1027">
            <a:extLst>
              <a:ext uri="{FF2B5EF4-FFF2-40B4-BE49-F238E27FC236}">
                <a16:creationId xmlns:a16="http://schemas.microsoft.com/office/drawing/2014/main" id="{3636F9E2-3289-874C-8601-FE07A1BFE6D6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295400"/>
            <a:ext cx="8686800" cy="5257800"/>
          </a:xfrm>
        </p:spPr>
        <p:txBody>
          <a:bodyPr/>
          <a:lstStyle/>
          <a:p>
            <a:pPr>
              <a:buFont typeface="Wingdings" pitchFamily="2" charset="2"/>
              <a:buChar char="v"/>
              <a:tabLst>
                <a:tab pos="1716088" algn="l"/>
              </a:tabLst>
            </a:pP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下面我们举一个谓词的例子：</a:t>
            </a:r>
            <a:b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</a:b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令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G(x, y)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： “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x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高于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y”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，于是，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G(x, y)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是一个二元谓词。</a:t>
            </a:r>
            <a:b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</a:b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将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x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代以个体 “张三”，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y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代以个体“李四”，则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G(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张三，李四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)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就是命题： “张三高于李四”。</a:t>
            </a:r>
            <a:b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</a:br>
            <a:endParaRPr kumimoji="0" lang="en-US" altLang="zh-CN" sz="3200" dirty="0">
              <a:latin typeface="Arial" panose="020B0604020202020204" pitchFamily="34" charset="0"/>
              <a:ea typeface="楷体_GB2312" pitchFamily="1" charset="-122"/>
              <a:cs typeface="Arial" panose="020B0604020202020204" pitchFamily="34" charset="0"/>
            </a:endParaRPr>
          </a:p>
          <a:p>
            <a:pPr>
              <a:buFont typeface="Wingdings" pitchFamily="2" charset="2"/>
              <a:buChar char="v"/>
              <a:tabLst>
                <a:tab pos="1716088" algn="l"/>
              </a:tabLst>
            </a:pP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随便将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x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，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y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代以确定的个体，由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G(x, y)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都能得到一个命题。但是，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G(x, y)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不是命题，而是一个命题函数即谓词。</a:t>
            </a:r>
          </a:p>
        </p:txBody>
      </p:sp>
    </p:spTree>
  </p:cSld>
  <p:clrMapOvr>
    <a:masterClrMapping/>
  </p:clrMapOvr>
  <p:transition>
    <p:blinds dir="vert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Slide Number Placeholder 5">
            <a:extLst>
              <a:ext uri="{FF2B5EF4-FFF2-40B4-BE49-F238E27FC236}">
                <a16:creationId xmlns:a16="http://schemas.microsoft.com/office/drawing/2014/main" id="{E78AFA91-6973-C145-9EFF-B0FFAAD5C75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E07B0C5-58F1-5A4D-A393-3FF3FA47A0CB}" type="slidenum">
              <a:rPr kumimoji="0" lang="en-US" altLang="zh-CN" sz="1200"/>
              <a:pPr/>
              <a:t>9</a:t>
            </a:fld>
            <a:endParaRPr kumimoji="0" lang="en-US" altLang="zh-CN" sz="1200"/>
          </a:p>
        </p:txBody>
      </p:sp>
      <p:sp>
        <p:nvSpPr>
          <p:cNvPr id="150530" name="Rectangle 2">
            <a:extLst>
              <a:ext uri="{FF2B5EF4-FFF2-40B4-BE49-F238E27FC236}">
                <a16:creationId xmlns:a16="http://schemas.microsoft.com/office/drawing/2014/main" id="{4161331C-593B-1740-AF81-F5F7329294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6512511" cy="1143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cs typeface="+mj-cs"/>
              </a:rPr>
              <a:t>例：</a:t>
            </a:r>
          </a:p>
        </p:txBody>
      </p:sp>
      <p:sp>
        <p:nvSpPr>
          <p:cNvPr id="150531" name="Rectangle 3">
            <a:extLst>
              <a:ext uri="{FF2B5EF4-FFF2-40B4-BE49-F238E27FC236}">
                <a16:creationId xmlns:a16="http://schemas.microsoft.com/office/drawing/2014/main" id="{696DC0BA-824B-0A4A-809C-307AB9AF29F9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52400" y="1600200"/>
            <a:ext cx="8686800" cy="3962400"/>
          </a:xfrm>
        </p:spPr>
        <p:txBody>
          <a:bodyPr/>
          <a:lstStyle/>
          <a:p>
            <a:pPr>
              <a:buFont typeface="Georgia" charset="0"/>
              <a:buChar char="*"/>
              <a:defRPr/>
            </a:pPr>
            <a:r>
              <a:rPr kumimoji="0" lang="zh-CN" altLang="en-US" sz="3200" dirty="0">
                <a:latin typeface="Arial" panose="020B0604020202020204" pitchFamily="34" charset="0"/>
                <a:ea typeface="楷体_GB2312" charset="0"/>
                <a:cs typeface="Arial" panose="020B0604020202020204" pitchFamily="34" charset="0"/>
              </a:rPr>
              <a:t>令</a:t>
            </a:r>
            <a:r>
              <a:rPr kumimoji="0" lang="en-US" altLang="zh-CN" sz="3200" dirty="0">
                <a:latin typeface="Arial" panose="020B0604020202020204" pitchFamily="34" charset="0"/>
                <a:ea typeface="楷体_GB2312" charset="0"/>
                <a:cs typeface="Arial" panose="020B0604020202020204" pitchFamily="34" charset="0"/>
              </a:rPr>
              <a:t>R(x, y, z)</a:t>
            </a:r>
            <a:r>
              <a:rPr kumimoji="0" lang="zh-CN" altLang="en-US" sz="3200" dirty="0">
                <a:latin typeface="Arial" panose="020B0604020202020204" pitchFamily="34" charset="0"/>
                <a:ea typeface="楷体_GB2312" charset="0"/>
                <a:cs typeface="Arial" panose="020B0604020202020204" pitchFamily="34" charset="0"/>
              </a:rPr>
              <a:t>表示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charset="0"/>
                <a:cs typeface="Arial" panose="020B0604020202020204" pitchFamily="34" charset="0"/>
              </a:rPr>
              <a:t>x+y</a:t>
            </a:r>
            <a:r>
              <a:rPr kumimoji="0" lang="en-US" altLang="zh-CN" sz="3200" dirty="0">
                <a:latin typeface="Arial" panose="020B0604020202020204" pitchFamily="34" charset="0"/>
                <a:ea typeface="楷体_GB2312" charset="0"/>
                <a:cs typeface="Arial" panose="020B0604020202020204" pitchFamily="34" charset="0"/>
              </a:rPr>
              <a:t>=z</a:t>
            </a:r>
            <a:r>
              <a:rPr kumimoji="0" lang="zh-CN" altLang="en-US" sz="3200" dirty="0">
                <a:latin typeface="Arial" panose="020B0604020202020204" pitchFamily="34" charset="0"/>
                <a:ea typeface="楷体_GB2312" charset="0"/>
                <a:cs typeface="Arial" panose="020B0604020202020204" pitchFamily="34" charset="0"/>
              </a:rPr>
              <a:t>，命题</a:t>
            </a:r>
            <a:r>
              <a:rPr kumimoji="0" lang="en-US" altLang="zh-CN" sz="3200" dirty="0">
                <a:latin typeface="Arial" panose="020B0604020202020204" pitchFamily="34" charset="0"/>
                <a:ea typeface="楷体_GB2312" charset="0"/>
                <a:cs typeface="Arial" panose="020B0604020202020204" pitchFamily="34" charset="0"/>
              </a:rPr>
              <a:t>R(1, 2, 3)</a:t>
            </a:r>
            <a:r>
              <a:rPr kumimoji="0" lang="zh-CN" altLang="en-US" sz="3200" dirty="0">
                <a:latin typeface="Arial" panose="020B0604020202020204" pitchFamily="34" charset="0"/>
                <a:ea typeface="楷体_GB2312" charset="0"/>
                <a:cs typeface="Arial" panose="020B0604020202020204" pitchFamily="34" charset="0"/>
              </a:rPr>
              <a:t>和</a:t>
            </a:r>
            <a:r>
              <a:rPr kumimoji="0" lang="en-US" altLang="zh-CN" sz="3200" dirty="0">
                <a:latin typeface="Arial" panose="020B0604020202020204" pitchFamily="34" charset="0"/>
                <a:ea typeface="楷体_GB2312" charset="0"/>
                <a:cs typeface="Arial" panose="020B0604020202020204" pitchFamily="34" charset="0"/>
              </a:rPr>
              <a:t>R(0, 0, 1)</a:t>
            </a:r>
            <a:r>
              <a:rPr kumimoji="0" lang="zh-CN" altLang="en-US" sz="3200" dirty="0">
                <a:latin typeface="Arial" panose="020B0604020202020204" pitchFamily="34" charset="0"/>
                <a:ea typeface="楷体_GB2312" charset="0"/>
                <a:cs typeface="Arial" panose="020B0604020202020204" pitchFamily="34" charset="0"/>
              </a:rPr>
              <a:t>的真值是什么？</a:t>
            </a:r>
          </a:p>
          <a:p>
            <a:pPr>
              <a:buFont typeface="Georgia" charset="0"/>
              <a:buChar char="*"/>
              <a:defRPr/>
            </a:pPr>
            <a:endParaRPr kumimoji="0" lang="zh-CN" altLang="en-US" sz="3200" dirty="0">
              <a:latin typeface="Arial" panose="020B0604020202020204" pitchFamily="34" charset="0"/>
              <a:ea typeface="楷体_GB2312" charset="0"/>
              <a:cs typeface="Arial" panose="020B0604020202020204" pitchFamily="34" charset="0"/>
            </a:endParaRPr>
          </a:p>
          <a:p>
            <a:pPr>
              <a:buFont typeface="Georgia" charset="0"/>
              <a:buChar char="*"/>
              <a:defRPr/>
            </a:pPr>
            <a:r>
              <a:rPr kumimoji="0" lang="zh-CN" altLang="en-US" sz="3200" dirty="0">
                <a:solidFill>
                  <a:srgbClr val="4E67C8"/>
                </a:solidFill>
                <a:latin typeface="Arial" panose="020B0604020202020204" pitchFamily="34" charset="0"/>
                <a:ea typeface="楷体_GB2312" charset="0"/>
                <a:cs typeface="Arial" panose="020B0604020202020204" pitchFamily="34" charset="0"/>
              </a:rPr>
              <a:t>解：</a:t>
            </a:r>
            <a:r>
              <a:rPr kumimoji="0" lang="zh-CN" altLang="en-US" sz="3200" dirty="0">
                <a:latin typeface="Arial" panose="020B0604020202020204" pitchFamily="34" charset="0"/>
                <a:ea typeface="楷体_GB2312" charset="0"/>
                <a:cs typeface="Arial" panose="020B0604020202020204" pitchFamily="34" charset="0"/>
              </a:rPr>
              <a:t>在语句</a:t>
            </a:r>
            <a:r>
              <a:rPr kumimoji="0" lang="en-US" altLang="zh-CN" sz="3200" dirty="0">
                <a:latin typeface="Arial" panose="020B0604020202020204" pitchFamily="34" charset="0"/>
                <a:ea typeface="楷体_GB2312" charset="0"/>
                <a:cs typeface="Arial" panose="020B0604020202020204" pitchFamily="34" charset="0"/>
              </a:rPr>
              <a:t>R(x, y, z)</a:t>
            </a:r>
            <a:r>
              <a:rPr kumimoji="0" lang="zh-CN" altLang="en-US" sz="3200" dirty="0">
                <a:latin typeface="Arial" panose="020B0604020202020204" pitchFamily="34" charset="0"/>
                <a:ea typeface="楷体_GB2312" charset="0"/>
                <a:cs typeface="Arial" panose="020B0604020202020204" pitchFamily="34" charset="0"/>
              </a:rPr>
              <a:t>中令</a:t>
            </a:r>
            <a:r>
              <a:rPr kumimoji="0" lang="en-US" altLang="zh-CN" sz="3200" dirty="0">
                <a:latin typeface="Arial" panose="020B0604020202020204" pitchFamily="34" charset="0"/>
                <a:ea typeface="楷体_GB2312" charset="0"/>
                <a:cs typeface="Arial" panose="020B0604020202020204" pitchFamily="34" charset="0"/>
              </a:rPr>
              <a:t>x=1, y=2, z=3</a:t>
            </a:r>
            <a:r>
              <a:rPr kumimoji="0" lang="zh-CN" altLang="en-US" sz="3200" dirty="0">
                <a:latin typeface="Arial" panose="020B0604020202020204" pitchFamily="34" charset="0"/>
                <a:ea typeface="楷体_GB2312" charset="0"/>
                <a:cs typeface="Arial" panose="020B0604020202020204" pitchFamily="34" charset="0"/>
              </a:rPr>
              <a:t>，即得到命题</a:t>
            </a:r>
            <a:r>
              <a:rPr kumimoji="0" lang="en-US" altLang="zh-CN" sz="3200" dirty="0">
                <a:latin typeface="Arial" panose="020B0604020202020204" pitchFamily="34" charset="0"/>
                <a:ea typeface="楷体_GB2312" charset="0"/>
                <a:cs typeface="Arial" panose="020B0604020202020204" pitchFamily="34" charset="0"/>
              </a:rPr>
              <a:t>R(1, 2, 3)</a:t>
            </a:r>
            <a:r>
              <a:rPr kumimoji="0" lang="zh-CN" altLang="en-US" sz="3200" dirty="0">
                <a:latin typeface="Arial" panose="020B0604020202020204" pitchFamily="34" charset="0"/>
                <a:ea typeface="楷体_GB2312" charset="0"/>
                <a:cs typeface="Arial" panose="020B0604020202020204" pitchFamily="34" charset="0"/>
              </a:rPr>
              <a:t>。可以看出：</a:t>
            </a:r>
            <a:endParaRPr kumimoji="0" lang="en-US" altLang="zh-CN" sz="3200" dirty="0">
              <a:latin typeface="Arial" panose="020B0604020202020204" pitchFamily="34" charset="0"/>
              <a:ea typeface="楷体_GB2312" charset="0"/>
              <a:cs typeface="Arial" panose="020B0604020202020204" pitchFamily="34" charset="0"/>
            </a:endParaRPr>
          </a:p>
          <a:p>
            <a:pPr marL="46037" indent="0">
              <a:buFont typeface="Georgia" charset="0"/>
              <a:buNone/>
              <a:defRPr/>
            </a:pPr>
            <a:r>
              <a:rPr kumimoji="0" lang="en-US" altLang="zh-CN" sz="3200" dirty="0">
                <a:latin typeface="Arial" panose="020B0604020202020204" pitchFamily="34" charset="0"/>
                <a:ea typeface="楷体_GB2312" charset="0"/>
                <a:cs typeface="Arial" panose="020B0604020202020204" pitchFamily="34" charset="0"/>
              </a:rPr>
              <a:t>	R(1, 2, 3)</a:t>
            </a:r>
            <a:r>
              <a:rPr kumimoji="0" lang="zh-CN" altLang="en-US" sz="3200" dirty="0">
                <a:latin typeface="Arial" panose="020B0604020202020204" pitchFamily="34" charset="0"/>
                <a:ea typeface="楷体_GB2312" charset="0"/>
                <a:cs typeface="Arial" panose="020B0604020202020204" pitchFamily="34" charset="0"/>
              </a:rPr>
              <a:t>即</a:t>
            </a:r>
            <a:r>
              <a:rPr kumimoji="0" lang="en-US" altLang="zh-CN" sz="3200" dirty="0">
                <a:latin typeface="Arial" panose="020B0604020202020204" pitchFamily="34" charset="0"/>
                <a:ea typeface="楷体_GB2312" charset="0"/>
                <a:cs typeface="Arial" panose="020B0604020202020204" pitchFamily="34" charset="0"/>
              </a:rPr>
              <a:t>1+2=3</a:t>
            </a:r>
            <a:r>
              <a:rPr kumimoji="0" lang="zh-CN" altLang="en-US" sz="3200" dirty="0">
                <a:latin typeface="Arial" panose="020B0604020202020204" pitchFamily="34" charset="0"/>
                <a:ea typeface="楷体_GB2312" charset="0"/>
                <a:cs typeface="Arial" panose="020B0604020202020204" pitchFamily="34" charset="0"/>
              </a:rPr>
              <a:t>，为真。</a:t>
            </a:r>
            <a:br>
              <a:rPr kumimoji="0" lang="zh-CN" altLang="en-US" sz="3200" dirty="0">
                <a:latin typeface="Arial" panose="020B0604020202020204" pitchFamily="34" charset="0"/>
                <a:ea typeface="楷体_GB2312" charset="0"/>
                <a:cs typeface="Arial" panose="020B0604020202020204" pitchFamily="34" charset="0"/>
              </a:rPr>
            </a:br>
            <a:r>
              <a:rPr kumimoji="0" lang="zh-CN" altLang="en-US" sz="3200" dirty="0">
                <a:latin typeface="Arial" panose="020B0604020202020204" pitchFamily="34" charset="0"/>
                <a:ea typeface="楷体_GB2312" charset="0"/>
                <a:cs typeface="Arial" panose="020B0604020202020204" pitchFamily="34" charset="0"/>
              </a:rPr>
              <a:t> </a:t>
            </a:r>
            <a:r>
              <a:rPr kumimoji="0" lang="en-US" altLang="zh-CN" sz="3200" dirty="0">
                <a:latin typeface="Arial" panose="020B0604020202020204" pitchFamily="34" charset="0"/>
                <a:ea typeface="楷体_GB2312" charset="0"/>
                <a:cs typeface="Arial" panose="020B0604020202020204" pitchFamily="34" charset="0"/>
              </a:rPr>
              <a:t>	</a:t>
            </a:r>
            <a:r>
              <a:rPr kumimoji="0" lang="zh-CN" altLang="en-US" sz="3200" dirty="0">
                <a:latin typeface="Arial" panose="020B0604020202020204" pitchFamily="34" charset="0"/>
                <a:ea typeface="楷体_GB2312" charset="0"/>
                <a:cs typeface="Arial" panose="020B0604020202020204" pitchFamily="34" charset="0"/>
              </a:rPr>
              <a:t> </a:t>
            </a:r>
            <a:r>
              <a:rPr kumimoji="0" lang="en-US" altLang="zh-CN" sz="3200" dirty="0">
                <a:latin typeface="Arial" panose="020B0604020202020204" pitchFamily="34" charset="0"/>
                <a:ea typeface="楷体_GB2312" charset="0"/>
                <a:cs typeface="Arial" panose="020B0604020202020204" pitchFamily="34" charset="0"/>
              </a:rPr>
              <a:t>R(0, 0, 1)</a:t>
            </a:r>
            <a:r>
              <a:rPr kumimoji="0" lang="zh-CN" altLang="en-US" sz="3200" dirty="0">
                <a:latin typeface="Arial" panose="020B0604020202020204" pitchFamily="34" charset="0"/>
                <a:ea typeface="楷体_GB2312" charset="0"/>
                <a:cs typeface="Arial" panose="020B0604020202020204" pitchFamily="34" charset="0"/>
              </a:rPr>
              <a:t>即</a:t>
            </a:r>
            <a:r>
              <a:rPr kumimoji="0" lang="en-US" altLang="zh-CN" sz="3200" dirty="0">
                <a:latin typeface="Arial" panose="020B0604020202020204" pitchFamily="34" charset="0"/>
                <a:ea typeface="楷体_GB2312" charset="0"/>
                <a:cs typeface="Arial" panose="020B0604020202020204" pitchFamily="34" charset="0"/>
              </a:rPr>
              <a:t>0+0=1</a:t>
            </a:r>
            <a:r>
              <a:rPr kumimoji="0" lang="zh-CN" altLang="en-US" sz="3200" dirty="0">
                <a:latin typeface="Arial" panose="020B0604020202020204" pitchFamily="34" charset="0"/>
                <a:ea typeface="楷体_GB2312" charset="0"/>
                <a:cs typeface="Arial" panose="020B0604020202020204" pitchFamily="34" charset="0"/>
              </a:rPr>
              <a:t>，为假。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150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150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150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7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2" dur="80"/>
                                        <p:tgtEl>
                                          <p:spTgt spid="150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3" dur="80"/>
                                        <p:tgtEl>
                                          <p:spTgt spid="150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80"/>
                                        <p:tgtEl>
                                          <p:spTgt spid="150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Slide Number Placeholder 5">
            <a:extLst>
              <a:ext uri="{FF2B5EF4-FFF2-40B4-BE49-F238E27FC236}">
                <a16:creationId xmlns:a16="http://schemas.microsoft.com/office/drawing/2014/main" id="{DC17B396-3676-944A-8358-E29DBC35F84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8564754-A4CA-F746-A37C-9AEC35B20605}" type="slidenum">
              <a:rPr kumimoji="0" lang="en-US" altLang="zh-CN" sz="1200"/>
              <a:pPr/>
              <a:t>10</a:t>
            </a:fld>
            <a:endParaRPr kumimoji="0" lang="en-US" altLang="zh-CN" sz="1200"/>
          </a:p>
        </p:txBody>
      </p:sp>
      <p:sp>
        <p:nvSpPr>
          <p:cNvPr id="27650" name="Rectangle 2">
            <a:extLst>
              <a:ext uri="{FF2B5EF4-FFF2-40B4-BE49-F238E27FC236}">
                <a16:creationId xmlns:a16="http://schemas.microsoft.com/office/drawing/2014/main" id="{44A5F897-EC6F-5241-BEA0-EFC8AAF864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304800"/>
            <a:ext cx="8229600" cy="1143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谓词和量词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2AA87F4A-0C7B-034A-BE23-137D8DF32A0A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228600" y="1447800"/>
            <a:ext cx="8686800" cy="4800600"/>
          </a:xfrm>
        </p:spPr>
        <p:txBody>
          <a:bodyPr/>
          <a:lstStyle/>
          <a:p>
            <a:pPr>
              <a:tabLst>
                <a:tab pos="1716088" algn="l"/>
              </a:tabLst>
            </a:pP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用谓词的概念可将三段论做如下的符号化，令：</a:t>
            </a:r>
            <a:b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</a:b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H(x)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表示 “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x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是人”，</a:t>
            </a:r>
            <a:b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</a:b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M(x)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表示 “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x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必死”。</a:t>
            </a:r>
            <a:endParaRPr kumimoji="0" lang="en-US" altLang="zh-CN" sz="3200" dirty="0">
              <a:latin typeface="Arial" panose="020B0604020202020204" pitchFamily="34" charset="0"/>
              <a:ea typeface="楷体_GB2312" pitchFamily="1" charset="-122"/>
              <a:cs typeface="Arial" panose="020B0604020202020204" pitchFamily="34" charset="0"/>
            </a:endParaRPr>
          </a:p>
          <a:p>
            <a:pPr>
              <a:tabLst>
                <a:tab pos="1716088" algn="l"/>
              </a:tabLst>
            </a:pPr>
            <a:endParaRPr kumimoji="0" lang="zh-CN" altLang="en-US" sz="3200" dirty="0">
              <a:latin typeface="Arial" panose="020B0604020202020204" pitchFamily="34" charset="0"/>
              <a:ea typeface="楷体_GB2312" pitchFamily="1" charset="-122"/>
              <a:cs typeface="Arial" panose="020B0604020202020204" pitchFamily="34" charset="0"/>
            </a:endParaRPr>
          </a:p>
          <a:p>
            <a:pPr>
              <a:tabLst>
                <a:tab pos="1716088" algn="l"/>
              </a:tabLst>
            </a:pP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则三段论的三个命题表示如下：</a:t>
            </a:r>
            <a:b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</a:b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P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： 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H(x)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  <a:sym typeface="Symbol" pitchFamily="2" charset="2"/>
              </a:rPr>
              <a:t>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M(x)</a:t>
            </a:r>
            <a:b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</a:b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Q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： 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H(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张三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)</a:t>
            </a:r>
            <a:b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</a:b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R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： 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M(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张三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)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build="p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Slide Number Placeholder 5">
            <a:extLst>
              <a:ext uri="{FF2B5EF4-FFF2-40B4-BE49-F238E27FC236}">
                <a16:creationId xmlns:a16="http://schemas.microsoft.com/office/drawing/2014/main" id="{C1043062-3661-E54F-8947-7759E10D11F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E4BB7CE-569C-2545-86E3-7075EF3A8AF7}" type="slidenum">
              <a:rPr kumimoji="0" lang="en-US" altLang="zh-CN" sz="1200"/>
              <a:pPr/>
              <a:t>11</a:t>
            </a:fld>
            <a:endParaRPr kumimoji="0" lang="en-US" altLang="zh-CN" sz="1200"/>
          </a:p>
        </p:txBody>
      </p:sp>
      <p:sp>
        <p:nvSpPr>
          <p:cNvPr id="25602" name="Rectangle 2">
            <a:extLst>
              <a:ext uri="{FF2B5EF4-FFF2-40B4-BE49-F238E27FC236}">
                <a16:creationId xmlns:a16="http://schemas.microsoft.com/office/drawing/2014/main" id="{AEA1BFB0-21EA-9140-B9D2-378F050F43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152400"/>
            <a:ext cx="8229600" cy="1143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谓词和量词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7D1F205F-A4A3-FD4C-8DF6-8FE3A16D80E8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219200"/>
            <a:ext cx="8763000" cy="5257800"/>
          </a:xfrm>
        </p:spPr>
        <p:txBody>
          <a:bodyPr/>
          <a:lstStyle/>
          <a:p>
            <a:pPr>
              <a:tabLst>
                <a:tab pos="274638" algn="l"/>
                <a:tab pos="365125" algn="l"/>
              </a:tabLst>
            </a:pP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仅有谓词的概念是不够的。</a:t>
            </a:r>
          </a:p>
          <a:p>
            <a:pPr>
              <a:buFont typeface="Wingdings" pitchFamily="2" charset="2"/>
              <a:buChar char="v"/>
              <a:tabLst>
                <a:tab pos="274638" algn="l"/>
                <a:tab pos="365125" algn="l"/>
              </a:tabLst>
            </a:pPr>
            <a:r>
              <a:rPr kumimoji="0" lang="zh-CN" altLang="en-US" sz="3200" dirty="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例如：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“命题”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P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的否定 “命题”，应该就是“命题”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  <a:sym typeface="Symbol" pitchFamily="2" charset="2"/>
              </a:rPr>
              <a:t>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P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。但是，</a:t>
            </a:r>
            <a:b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</a:b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  <a:sym typeface="Symbol" pitchFamily="2" charset="2"/>
              </a:rPr>
              <a:t>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P = 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  <a:sym typeface="Symbol" pitchFamily="2" charset="2"/>
              </a:rPr>
              <a:t>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(H(x)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  <a:sym typeface="Symbol" pitchFamily="2" charset="2"/>
              </a:rPr>
              <a:t>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M(x)) = 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  <a:sym typeface="Symbol" pitchFamily="2" charset="2"/>
              </a:rPr>
              <a:t>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(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  <a:sym typeface="Symbol" pitchFamily="2" charset="2"/>
              </a:rPr>
              <a:t>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H(x)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  <a:sym typeface="Symbol" pitchFamily="2" charset="2"/>
              </a:rPr>
              <a:t>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M(x))</a:t>
            </a:r>
            <a:b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</a:b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		  =H(x)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  <a:sym typeface="Symbol" pitchFamily="2" charset="2"/>
              </a:rPr>
              <a:t>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M(x)</a:t>
            </a:r>
          </a:p>
          <a:p>
            <a:pPr>
              <a:buFont typeface="Georgia" panose="02040502050405020303" pitchFamily="18" charset="0"/>
              <a:buNone/>
              <a:tabLst>
                <a:tab pos="274638" algn="l"/>
                <a:tab pos="365125" algn="l"/>
              </a:tabLst>
            </a:pPr>
            <a:endParaRPr kumimoji="0" lang="en-US" altLang="zh-CN" sz="3200" dirty="0">
              <a:latin typeface="Arial" panose="020B0604020202020204" pitchFamily="34" charset="0"/>
              <a:ea typeface="楷体_GB2312" pitchFamily="1" charset="-122"/>
              <a:cs typeface="Arial" panose="020B0604020202020204" pitchFamily="34" charset="0"/>
            </a:endParaRPr>
          </a:p>
          <a:p>
            <a:pPr>
              <a:buFont typeface="Wingdings" pitchFamily="2" charset="2"/>
              <a:buChar char="v"/>
              <a:tabLst>
                <a:tab pos="274638" algn="l"/>
                <a:tab pos="365125" algn="l"/>
              </a:tabLst>
            </a:pP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亦即，“命题”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P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的否定 “命题”是 “</a:t>
            </a:r>
            <a:r>
              <a:rPr kumimoji="0" lang="zh-CN" altLang="en-US" sz="3200" u="sng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所有人都不死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”。这和人们日常对命题 “所有人都必死”的否定的理解，相差得实在太远了。 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lide Number Placeholder 5">
            <a:extLst>
              <a:ext uri="{FF2B5EF4-FFF2-40B4-BE49-F238E27FC236}">
                <a16:creationId xmlns:a16="http://schemas.microsoft.com/office/drawing/2014/main" id="{1CF35446-76F1-1E4F-9C7A-13DA6DFEF9D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C6E03C2-6F62-0440-99D6-86DED09CA15F}" type="slidenum">
              <a:rPr kumimoji="0" lang="en-US" altLang="zh-CN" sz="1200"/>
              <a:pPr/>
              <a:t>12</a:t>
            </a:fld>
            <a:endParaRPr kumimoji="0" lang="en-US" altLang="zh-CN" sz="1200"/>
          </a:p>
        </p:txBody>
      </p:sp>
      <p:sp>
        <p:nvSpPr>
          <p:cNvPr id="28674" name="Rectangle 2">
            <a:extLst>
              <a:ext uri="{FF2B5EF4-FFF2-40B4-BE49-F238E27FC236}">
                <a16:creationId xmlns:a16="http://schemas.microsoft.com/office/drawing/2014/main" id="{863004B3-FD39-1D44-90F5-5D67DB8CE7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228600"/>
            <a:ext cx="8229600" cy="1143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谓词和量词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0F6D7300-C735-1F4C-8593-335868A3EF3A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228600" y="1447800"/>
            <a:ext cx="8458200" cy="5029200"/>
          </a:xfrm>
        </p:spPr>
        <p:txBody>
          <a:bodyPr/>
          <a:lstStyle/>
          <a:p>
            <a:pPr>
              <a:tabLst>
                <a:tab pos="1716088" algn="l"/>
                <a:tab pos="2343150" algn="l"/>
              </a:tabLst>
            </a:pP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原因在于：命题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P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的确切意思应该是： “对任意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x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，如果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x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是人，则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x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必死”。</a:t>
            </a:r>
          </a:p>
          <a:p>
            <a:pPr>
              <a:buFont typeface="Wingdings" pitchFamily="2" charset="2"/>
              <a:buNone/>
              <a:tabLst>
                <a:tab pos="1716088" algn="l"/>
                <a:tab pos="2343150" algn="l"/>
              </a:tabLst>
            </a:pP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	但是</a:t>
            </a:r>
            <a:b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</a:b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	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H(x)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  <a:sym typeface="Symbol" pitchFamily="2" charset="2"/>
              </a:rPr>
              <a:t>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M(x)</a:t>
            </a:r>
            <a:b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</a:b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中并没有确切的表示出 “对任意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x”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这个意思，亦即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H(x)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  <a:sym typeface="Symbol" pitchFamily="2" charset="2"/>
              </a:rPr>
              <a:t>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M(x)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不是一个命题。 因此，在谓词逻辑中除引进谓词外，还需要引进 “对任意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x”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这个语句，及其对偶的语句 “存在一个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x”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。 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Number Placeholder 5">
            <a:extLst>
              <a:ext uri="{FF2B5EF4-FFF2-40B4-BE49-F238E27FC236}">
                <a16:creationId xmlns:a16="http://schemas.microsoft.com/office/drawing/2014/main" id="{768EFB25-99E4-0E42-AB60-DF51F9960AC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01111B2-42F9-7C4A-ADBE-C94906B39632}" type="slidenum">
              <a:rPr kumimoji="0" lang="en-US" altLang="zh-CN" sz="1200"/>
              <a:pPr/>
              <a:t>13</a:t>
            </a:fld>
            <a:endParaRPr kumimoji="0" lang="en-US" altLang="zh-CN" sz="1200"/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A7CE01DB-8107-E34B-8A22-7636DD8E50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152400"/>
            <a:ext cx="8229600" cy="1143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定义</a:t>
            </a:r>
            <a:r>
              <a:rPr lang="en-US" altLang="zh-CN" dirty="0">
                <a:latin typeface="Arial" charset="0"/>
                <a:ea typeface="楷体_GB2312" charset="0"/>
                <a:cs typeface="+mj-cs"/>
              </a:rPr>
              <a:t>3.2.3 </a:t>
            </a: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量词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4490FFE9-9A22-844A-9B5A-096CAB4FA76C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295400"/>
            <a:ext cx="8686800" cy="5334000"/>
          </a:xfrm>
        </p:spPr>
        <p:txBody>
          <a:bodyPr/>
          <a:lstStyle/>
          <a:p>
            <a:pPr>
              <a:lnSpc>
                <a:spcPct val="90000"/>
              </a:lnSpc>
              <a:tabLst>
                <a:tab pos="1716088" algn="l"/>
                <a:tab pos="2343150" algn="l"/>
              </a:tabLst>
            </a:pP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语句 “对任意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x”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称为</a:t>
            </a:r>
            <a:r>
              <a:rPr kumimoji="0" lang="zh-CN" altLang="en-US" sz="3200" dirty="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全称量词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，记以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  <a:sym typeface="Symbol" pitchFamily="2" charset="2"/>
              </a:rPr>
              <a:t>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x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； 语句 “存在一个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x”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称为</a:t>
            </a:r>
            <a:r>
              <a:rPr kumimoji="0" lang="zh-CN" altLang="en-US" sz="3200" dirty="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存在量词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，记以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  <a:sym typeface="Symbol" pitchFamily="2" charset="2"/>
              </a:rPr>
              <a:t>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x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。</a:t>
            </a:r>
          </a:p>
          <a:p>
            <a:pPr>
              <a:lnSpc>
                <a:spcPct val="90000"/>
              </a:lnSpc>
              <a:tabLst>
                <a:tab pos="1716088" algn="l"/>
                <a:tab pos="2343150" algn="l"/>
              </a:tabLst>
            </a:pP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这时，命题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P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就可确切地符号化如下：	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  <a:sym typeface="Symbol" pitchFamily="2" charset="2"/>
              </a:rPr>
              <a:t>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x(H(x)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  <a:sym typeface="Symbol" pitchFamily="2" charset="2"/>
              </a:rPr>
              <a:t>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M(x))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tabLst>
                <a:tab pos="1716088" algn="l"/>
                <a:tab pos="2343150" algn="l"/>
              </a:tabLst>
            </a:pP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	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命题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P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的否定命题为：	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  <a:sym typeface="Symbol" pitchFamily="2" charset="2"/>
              </a:rPr>
              <a:t>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P=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  <a:sym typeface="Symbol" pitchFamily="2" charset="2"/>
              </a:rPr>
              <a:t>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(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  <a:sym typeface="Symbol" pitchFamily="2" charset="2"/>
              </a:rPr>
              <a:t>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x(H(x)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  <a:sym typeface="Symbol" pitchFamily="2" charset="2"/>
              </a:rPr>
              <a:t>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M(x)))</a:t>
            </a:r>
            <a:b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</a:b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		=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  <a:sym typeface="Symbol" pitchFamily="2" charset="2"/>
              </a:rPr>
              <a:t>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x(H(x)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  <a:sym typeface="Symbol" pitchFamily="2" charset="2"/>
              </a:rPr>
              <a:t>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M(x))</a:t>
            </a:r>
            <a:b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</a:b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亦即 “有一个人是不死的”。这个命题确实是 “所有人都要死”的否定。 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9" grpId="0" build="p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Slide Number Placeholder 5">
            <a:extLst>
              <a:ext uri="{FF2B5EF4-FFF2-40B4-BE49-F238E27FC236}">
                <a16:creationId xmlns:a16="http://schemas.microsoft.com/office/drawing/2014/main" id="{34F9ED8A-C72D-6443-9707-8C87BBE5830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A397218-C56E-A244-87AF-01DFD77B4E5E}" type="slidenum">
              <a:rPr kumimoji="0" lang="en-US" altLang="zh-CN" sz="1200"/>
              <a:pPr/>
              <a:t>14</a:t>
            </a:fld>
            <a:endParaRPr kumimoji="0" lang="en-US" altLang="zh-CN" sz="1200"/>
          </a:p>
        </p:txBody>
      </p:sp>
      <p:sp>
        <p:nvSpPr>
          <p:cNvPr id="30722" name="Rectangle 2">
            <a:extLst>
              <a:ext uri="{FF2B5EF4-FFF2-40B4-BE49-F238E27FC236}">
                <a16:creationId xmlns:a16="http://schemas.microsoft.com/office/drawing/2014/main" id="{5E7CBA17-4117-5B43-8BBC-D410D2CA30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304800"/>
            <a:ext cx="8229600" cy="1143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谓词和量词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111FE984-00A5-A749-8158-C4ABBF63D986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52400" y="1600200"/>
            <a:ext cx="8458200" cy="4419600"/>
          </a:xfrm>
        </p:spPr>
        <p:txBody>
          <a:bodyPr/>
          <a:lstStyle/>
          <a:p>
            <a:pPr>
              <a:tabLst>
                <a:tab pos="1716088" algn="l"/>
                <a:tab pos="2343150" algn="l"/>
              </a:tabLst>
            </a:pP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三段论的三个命题，在谓词逻辑中是如下这样表示的：</a:t>
            </a:r>
            <a:b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</a:b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	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P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：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  <a:sym typeface="Symbol" pitchFamily="2" charset="2"/>
              </a:rPr>
              <a:t>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x(H(x)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  <a:sym typeface="Symbol" pitchFamily="2" charset="2"/>
              </a:rPr>
              <a:t>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M(x))</a:t>
            </a:r>
            <a:b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</a:b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	Q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：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H(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张三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)</a:t>
            </a:r>
            <a:b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</a:b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	R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：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M(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张三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)</a:t>
            </a:r>
          </a:p>
          <a:p>
            <a:pPr>
              <a:tabLst>
                <a:tab pos="1716088" algn="l"/>
                <a:tab pos="2343150" algn="l"/>
              </a:tabLst>
            </a:pP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以后可以证明：在谓词逻辑中，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R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是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P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和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Q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的逻辑结果。 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 build="p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Slide Number Placeholder 5">
            <a:extLst>
              <a:ext uri="{FF2B5EF4-FFF2-40B4-BE49-F238E27FC236}">
                <a16:creationId xmlns:a16="http://schemas.microsoft.com/office/drawing/2014/main" id="{BC48155C-8402-094F-9DF0-3E56C8106CB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DF974FE-5AFE-8947-91EA-EBBC7AA85963}" type="slidenum">
              <a:rPr kumimoji="0" lang="en-US" altLang="zh-CN" sz="1200"/>
              <a:pPr/>
              <a:t>15</a:t>
            </a:fld>
            <a:endParaRPr kumimoji="0" lang="en-US" altLang="zh-CN" sz="1200"/>
          </a:p>
        </p:txBody>
      </p:sp>
      <p:sp>
        <p:nvSpPr>
          <p:cNvPr id="153602" name="Rectangle 2">
            <a:extLst>
              <a:ext uri="{FF2B5EF4-FFF2-40B4-BE49-F238E27FC236}">
                <a16:creationId xmlns:a16="http://schemas.microsoft.com/office/drawing/2014/main" id="{A5B4F1F4-E081-5240-AC3C-76F04E1E32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8985250" cy="1143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cs typeface="+mj-cs"/>
              </a:rPr>
              <a:t>例</a:t>
            </a:r>
            <a:r>
              <a:rPr lang="en-US" altLang="zh-CN" dirty="0">
                <a:cs typeface="+mj-cs"/>
              </a:rPr>
              <a:t>1</a:t>
            </a:r>
            <a:r>
              <a:rPr lang="zh-CN" altLang="en-US" dirty="0">
                <a:cs typeface="+mj-cs"/>
              </a:rPr>
              <a:t>：</a:t>
            </a:r>
          </a:p>
        </p:txBody>
      </p:sp>
      <p:sp>
        <p:nvSpPr>
          <p:cNvPr id="153603" name="Rectangle 3">
            <a:extLst>
              <a:ext uri="{FF2B5EF4-FFF2-40B4-BE49-F238E27FC236}">
                <a16:creationId xmlns:a16="http://schemas.microsoft.com/office/drawing/2014/main" id="{D96FF569-874A-834D-97FE-017CAF77F840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52400" y="1295400"/>
            <a:ext cx="8686800" cy="5029200"/>
          </a:xfrm>
        </p:spPr>
        <p:txBody>
          <a:bodyPr/>
          <a:lstStyle/>
          <a:p>
            <a:pPr marL="609600" indent="-609600"/>
            <a:r>
              <a:rPr kumimoji="0" lang="zh-CN" altLang="en-US" sz="28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考虑以下论证的谓词表示。</a:t>
            </a:r>
          </a:p>
          <a:p>
            <a:pPr marL="609600" indent="-609600">
              <a:buFont typeface="Wingdings" pitchFamily="2" charset="2"/>
              <a:buNone/>
            </a:pPr>
            <a:r>
              <a:rPr kumimoji="0" lang="zh-CN" altLang="en-US" sz="28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	“所有狮子都是凶猛的。”</a:t>
            </a:r>
          </a:p>
          <a:p>
            <a:pPr marL="609600" indent="-609600">
              <a:buFont typeface="Wingdings" pitchFamily="2" charset="2"/>
              <a:buNone/>
            </a:pPr>
            <a:r>
              <a:rPr kumimoji="0" lang="zh-CN" altLang="en-US" sz="28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	“有些狮子不喝咖啡。”</a:t>
            </a:r>
          </a:p>
          <a:p>
            <a:pPr marL="609600" indent="-609600">
              <a:buFont typeface="Wingdings" pitchFamily="2" charset="2"/>
              <a:buNone/>
            </a:pPr>
            <a:r>
              <a:rPr kumimoji="0" lang="zh-CN" altLang="en-US" sz="28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	“有些凶猛的动物不喝咖啡。”</a:t>
            </a:r>
          </a:p>
          <a:p>
            <a:pPr marL="609600" indent="-609600"/>
            <a:r>
              <a:rPr kumimoji="0" lang="zh-CN" altLang="en-US" sz="28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令</a:t>
            </a:r>
            <a:r>
              <a:rPr kumimoji="0" lang="en-US" altLang="zh-CN" sz="28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P(x)</a:t>
            </a:r>
            <a:r>
              <a:rPr kumimoji="0" lang="zh-CN" altLang="en-US" sz="28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、</a:t>
            </a:r>
            <a:r>
              <a:rPr kumimoji="0" lang="en-US" altLang="zh-CN" sz="28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Q(x)</a:t>
            </a:r>
            <a:r>
              <a:rPr kumimoji="0" lang="zh-CN" altLang="en-US" sz="28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、</a:t>
            </a:r>
            <a:r>
              <a:rPr kumimoji="0" lang="en-US" altLang="zh-CN" sz="28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R(x)</a:t>
            </a:r>
            <a:r>
              <a:rPr kumimoji="0" lang="zh-CN" altLang="en-US" sz="28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分别表示“</a:t>
            </a:r>
            <a:r>
              <a:rPr kumimoji="0" lang="en-US" altLang="zh-CN" sz="28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x</a:t>
            </a:r>
            <a:r>
              <a:rPr kumimoji="0" lang="zh-CN" altLang="en-US" sz="28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是狮子”，“</a:t>
            </a:r>
            <a:r>
              <a:rPr kumimoji="0" lang="en-US" altLang="zh-CN" sz="28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x</a:t>
            </a:r>
            <a:r>
              <a:rPr kumimoji="0" lang="zh-CN" altLang="en-US" sz="28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是凶猛的”，“</a:t>
            </a:r>
            <a:r>
              <a:rPr kumimoji="0" lang="en-US" altLang="zh-CN" sz="28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x</a:t>
            </a:r>
            <a:r>
              <a:rPr kumimoji="0" lang="zh-CN" altLang="en-US" sz="28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喝咖啡”。所有动物为论域。</a:t>
            </a:r>
          </a:p>
          <a:p>
            <a:pPr marL="609600" indent="-609600">
              <a:buFont typeface="Wingdings" pitchFamily="2" charset="2"/>
              <a:buNone/>
            </a:pPr>
            <a:r>
              <a:rPr kumimoji="0" lang="zh-CN" altLang="en-US" sz="28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  <a:sym typeface="Symbol" pitchFamily="2" charset="2"/>
              </a:rPr>
              <a:t>	</a:t>
            </a:r>
            <a:r>
              <a:rPr kumimoji="0" lang="en-US" altLang="zh-CN" sz="28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x(P(x)</a:t>
            </a:r>
            <a:r>
              <a:rPr kumimoji="0" lang="en-US" altLang="zh-CN" sz="28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  <a:sym typeface="Symbol" pitchFamily="2" charset="2"/>
              </a:rPr>
              <a:t></a:t>
            </a:r>
            <a:r>
              <a:rPr kumimoji="0" lang="en-US" altLang="zh-CN" sz="28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Q(x))</a:t>
            </a:r>
          </a:p>
          <a:p>
            <a:pPr marL="609600" indent="-609600">
              <a:buFont typeface="Wingdings" pitchFamily="2" charset="2"/>
              <a:buNone/>
            </a:pPr>
            <a:r>
              <a:rPr kumimoji="0" lang="en-US" altLang="zh-CN" sz="28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  <a:sym typeface="Symbol" pitchFamily="2" charset="2"/>
              </a:rPr>
              <a:t>	</a:t>
            </a:r>
            <a:r>
              <a:rPr kumimoji="0" lang="en-US" altLang="zh-CN" sz="28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x(P(x)</a:t>
            </a:r>
            <a:r>
              <a:rPr kumimoji="0" lang="en-US" altLang="zh-CN" sz="28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  <a:sym typeface="Symbol" pitchFamily="2" charset="2"/>
              </a:rPr>
              <a:t></a:t>
            </a:r>
            <a:r>
              <a:rPr kumimoji="0" lang="en-US" altLang="zh-CN" sz="28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R(x))</a:t>
            </a:r>
          </a:p>
          <a:p>
            <a:pPr marL="609600" indent="-609600">
              <a:buFont typeface="Wingdings" pitchFamily="2" charset="2"/>
              <a:buNone/>
            </a:pPr>
            <a:r>
              <a:rPr kumimoji="0" lang="en-US" altLang="zh-CN" sz="28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  <a:sym typeface="Symbol" pitchFamily="2" charset="2"/>
              </a:rPr>
              <a:t>	</a:t>
            </a:r>
            <a:r>
              <a:rPr kumimoji="0" lang="en-US" altLang="zh-CN" sz="28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x(Q(x)</a:t>
            </a:r>
            <a:r>
              <a:rPr kumimoji="0" lang="en-US" altLang="zh-CN" sz="28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  <a:sym typeface="Symbol" pitchFamily="2" charset="2"/>
              </a:rPr>
              <a:t></a:t>
            </a:r>
            <a:r>
              <a:rPr kumimoji="0" lang="en-US" altLang="zh-CN" sz="28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R(x))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153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153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153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153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153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153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7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9" dur="80"/>
                                        <p:tgtEl>
                                          <p:spTgt spid="153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0" dur="80"/>
                                        <p:tgtEl>
                                          <p:spTgt spid="153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" dur="80"/>
                                        <p:tgtEl>
                                          <p:spTgt spid="153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27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4" dur="80"/>
                                        <p:tgtEl>
                                          <p:spTgt spid="153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5" dur="80"/>
                                        <p:tgtEl>
                                          <p:spTgt spid="153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80"/>
                                        <p:tgtEl>
                                          <p:spTgt spid="153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Number Placeholder 5">
            <a:extLst>
              <a:ext uri="{FF2B5EF4-FFF2-40B4-BE49-F238E27FC236}">
                <a16:creationId xmlns:a16="http://schemas.microsoft.com/office/drawing/2014/main" id="{99F7A64A-9C36-A44E-AA1B-3E7349C2854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2D9D10A-954F-6F41-A78D-AB94DB15F4C8}" type="slidenum">
              <a:rPr kumimoji="0" lang="en-US" altLang="zh-CN" sz="1200"/>
              <a:pPr/>
              <a:t>16</a:t>
            </a:fld>
            <a:endParaRPr kumimoji="0" lang="en-US" altLang="zh-CN" sz="1200"/>
          </a:p>
        </p:txBody>
      </p:sp>
      <p:sp>
        <p:nvSpPr>
          <p:cNvPr id="154626" name="Rectangle 2">
            <a:extLst>
              <a:ext uri="{FF2B5EF4-FFF2-40B4-BE49-F238E27FC236}">
                <a16:creationId xmlns:a16="http://schemas.microsoft.com/office/drawing/2014/main" id="{78B64FFC-6927-DC47-B958-16FB35BB01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8985250" cy="1143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cs typeface="+mj-cs"/>
              </a:rPr>
              <a:t>例</a:t>
            </a:r>
            <a:r>
              <a:rPr lang="en-US" altLang="zh-CN" dirty="0">
                <a:cs typeface="+mj-cs"/>
              </a:rPr>
              <a:t>2</a:t>
            </a:r>
            <a:r>
              <a:rPr lang="zh-CN" altLang="en-US" dirty="0">
                <a:cs typeface="+mj-cs"/>
              </a:rPr>
              <a:t>：</a:t>
            </a:r>
          </a:p>
        </p:txBody>
      </p:sp>
      <p:sp>
        <p:nvSpPr>
          <p:cNvPr id="154627" name="Rectangle 3">
            <a:extLst>
              <a:ext uri="{FF2B5EF4-FFF2-40B4-BE49-F238E27FC236}">
                <a16:creationId xmlns:a16="http://schemas.microsoft.com/office/drawing/2014/main" id="{62DB8D78-EED5-D14A-8320-DF62CC58F4E6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52400" y="1031875"/>
            <a:ext cx="8839200" cy="559752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kumimoji="0" lang="zh-CN" altLang="en-US" sz="28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考虑以下论证的谓词表示。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kumimoji="0" lang="zh-CN" altLang="en-US" sz="28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	“所有蜂鸟都五彩斑斓。”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kumimoji="0" lang="zh-CN" altLang="en-US" sz="28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	“没有大鸟以蜜为生。”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kumimoji="0" lang="zh-CN" altLang="en-US" sz="28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	“不以蜜为生的鸟都色彩单调。”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kumimoji="0" lang="zh-CN" altLang="en-US" sz="28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	“蜂鸟都是小鸟。”</a:t>
            </a:r>
          </a:p>
          <a:p>
            <a:pPr>
              <a:lnSpc>
                <a:spcPct val="90000"/>
              </a:lnSpc>
            </a:pPr>
            <a:r>
              <a:rPr kumimoji="0" lang="zh-CN" altLang="en-US" sz="28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令</a:t>
            </a:r>
            <a:r>
              <a:rPr kumimoji="0" lang="en-US" altLang="zh-CN" sz="28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P(x)</a:t>
            </a:r>
            <a:r>
              <a:rPr kumimoji="0" lang="zh-CN" altLang="en-US" sz="28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、</a:t>
            </a:r>
            <a:r>
              <a:rPr kumimoji="0" lang="en-US" altLang="zh-CN" sz="28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Q(x)</a:t>
            </a:r>
            <a:r>
              <a:rPr kumimoji="0" lang="zh-CN" altLang="en-US" sz="28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、</a:t>
            </a:r>
            <a:r>
              <a:rPr kumimoji="0" lang="en-US" altLang="zh-CN" sz="28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R(x)</a:t>
            </a:r>
            <a:r>
              <a:rPr kumimoji="0" lang="zh-CN" altLang="en-US" sz="28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、</a:t>
            </a:r>
            <a:r>
              <a:rPr kumimoji="0" lang="en-US" altLang="zh-CN" sz="28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S(x)</a:t>
            </a:r>
            <a:r>
              <a:rPr kumimoji="0" lang="zh-CN" altLang="en-US" sz="28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分别表示语句“</a:t>
            </a:r>
            <a:r>
              <a:rPr kumimoji="0" lang="en-US" altLang="zh-CN" sz="28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x</a:t>
            </a:r>
            <a:r>
              <a:rPr kumimoji="0" lang="zh-CN" altLang="en-US" sz="28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是蜂鸟”，“</a:t>
            </a:r>
            <a:r>
              <a:rPr kumimoji="0" lang="en-US" altLang="zh-CN" sz="28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x</a:t>
            </a:r>
            <a:r>
              <a:rPr kumimoji="0" lang="zh-CN" altLang="en-US" sz="28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是大鸟”，“</a:t>
            </a:r>
            <a:r>
              <a:rPr kumimoji="0" lang="en-US" altLang="zh-CN" sz="28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x</a:t>
            </a:r>
            <a:r>
              <a:rPr kumimoji="0" lang="zh-CN" altLang="en-US" sz="28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以蜜为生”，“</a:t>
            </a:r>
            <a:r>
              <a:rPr kumimoji="0" lang="en-US" altLang="zh-CN" sz="28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x</a:t>
            </a:r>
            <a:r>
              <a:rPr kumimoji="0" lang="zh-CN" altLang="en-US" sz="28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色彩斑斓”。所有鸟为论域。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kumimoji="0" lang="zh-CN" altLang="en-US" sz="28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	</a:t>
            </a:r>
            <a:r>
              <a:rPr kumimoji="0" lang="zh-CN" altLang="en-US" sz="28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  <a:sym typeface="Symbol" pitchFamily="2" charset="2"/>
              </a:rPr>
              <a:t></a:t>
            </a:r>
            <a:r>
              <a:rPr kumimoji="0" lang="en-US" altLang="zh-CN" sz="28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x(P(x)</a:t>
            </a:r>
            <a:r>
              <a:rPr kumimoji="0" lang="en-US" altLang="zh-CN" sz="28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  <a:sym typeface="Symbol" pitchFamily="2" charset="2"/>
              </a:rPr>
              <a:t></a:t>
            </a:r>
            <a:r>
              <a:rPr kumimoji="0" lang="en-US" altLang="zh-CN" sz="28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S(x))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kumimoji="0" lang="en-US" altLang="zh-CN" sz="28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	</a:t>
            </a:r>
            <a:r>
              <a:rPr kumimoji="0" lang="en-US" altLang="zh-CN" sz="28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  <a:sym typeface="Symbol" pitchFamily="2" charset="2"/>
              </a:rPr>
              <a:t>(</a:t>
            </a:r>
            <a:r>
              <a:rPr kumimoji="0" lang="en-US" altLang="zh-CN" sz="28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x(Q(x)</a:t>
            </a:r>
            <a:r>
              <a:rPr kumimoji="0" lang="en-US" altLang="zh-CN" sz="28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  <a:sym typeface="Symbol" pitchFamily="2" charset="2"/>
              </a:rPr>
              <a:t></a:t>
            </a:r>
            <a:r>
              <a:rPr kumimoji="0" lang="en-US" altLang="zh-CN" sz="28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R(x)))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kumimoji="0" lang="en-US" altLang="zh-CN" sz="28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	</a:t>
            </a:r>
            <a:r>
              <a:rPr kumimoji="0" lang="en-US" altLang="zh-CN" sz="28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  <a:sym typeface="Symbol" pitchFamily="2" charset="2"/>
              </a:rPr>
              <a:t></a:t>
            </a:r>
            <a:r>
              <a:rPr kumimoji="0" lang="en-US" altLang="zh-CN" sz="28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x(</a:t>
            </a:r>
            <a:r>
              <a:rPr kumimoji="0" lang="en-US" altLang="zh-CN" sz="28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  <a:sym typeface="Symbol" pitchFamily="2" charset="2"/>
              </a:rPr>
              <a:t>R</a:t>
            </a:r>
            <a:r>
              <a:rPr kumimoji="0" lang="en-US" altLang="zh-CN" sz="28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(x)</a:t>
            </a:r>
            <a:r>
              <a:rPr kumimoji="0" lang="en-US" altLang="zh-CN" sz="28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  <a:sym typeface="Symbol" pitchFamily="2" charset="2"/>
              </a:rPr>
              <a:t></a:t>
            </a:r>
            <a:r>
              <a:rPr kumimoji="0" lang="en-US" altLang="zh-CN" sz="28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S(x))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kumimoji="0" lang="en-US" altLang="zh-CN" sz="28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  <a:sym typeface="Symbol" pitchFamily="2" charset="2"/>
              </a:rPr>
              <a:t>	</a:t>
            </a:r>
            <a:r>
              <a:rPr kumimoji="0" lang="en-US" altLang="zh-CN" sz="28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x(P(x)</a:t>
            </a:r>
            <a:r>
              <a:rPr kumimoji="0" lang="en-US" altLang="zh-CN" sz="28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  <a:sym typeface="Symbol" pitchFamily="2" charset="2"/>
              </a:rPr>
              <a:t>Q(x))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154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154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154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154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154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154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1" dur="80"/>
                                        <p:tgtEl>
                                          <p:spTgt spid="154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2" dur="80"/>
                                        <p:tgtEl>
                                          <p:spTgt spid="154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80"/>
                                        <p:tgtEl>
                                          <p:spTgt spid="154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8" dur="80"/>
                                        <p:tgtEl>
                                          <p:spTgt spid="1546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9" dur="80"/>
                                        <p:tgtEl>
                                          <p:spTgt spid="1546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80"/>
                                        <p:tgtEl>
                                          <p:spTgt spid="1546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5" dur="80"/>
                                        <p:tgtEl>
                                          <p:spTgt spid="1546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6" dur="80"/>
                                        <p:tgtEl>
                                          <p:spTgt spid="1546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80"/>
                                        <p:tgtEl>
                                          <p:spTgt spid="1546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Slide Number Placeholder 5">
            <a:extLst>
              <a:ext uri="{FF2B5EF4-FFF2-40B4-BE49-F238E27FC236}">
                <a16:creationId xmlns:a16="http://schemas.microsoft.com/office/drawing/2014/main" id="{57D34C32-2787-8A46-861F-823B6DDECAC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F250608-0834-DB47-8310-40AA487676C6}" type="slidenum">
              <a:rPr kumimoji="0" lang="en-US" altLang="zh-CN" sz="1200"/>
              <a:pPr/>
              <a:t>17</a:t>
            </a:fld>
            <a:endParaRPr kumimoji="0" lang="en-US" altLang="zh-CN" sz="1200"/>
          </a:p>
        </p:txBody>
      </p:sp>
      <p:sp>
        <p:nvSpPr>
          <p:cNvPr id="156674" name="Rectangle 2">
            <a:extLst>
              <a:ext uri="{FF2B5EF4-FFF2-40B4-BE49-F238E27FC236}">
                <a16:creationId xmlns:a16="http://schemas.microsoft.com/office/drawing/2014/main" id="{86418263-CB8F-114B-A96C-D4A880CC9F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889" y="228600"/>
            <a:ext cx="6512511" cy="1143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cs typeface="+mj-cs"/>
              </a:rPr>
              <a:t>例</a:t>
            </a:r>
            <a:r>
              <a:rPr lang="en-US" altLang="zh-CN" dirty="0">
                <a:cs typeface="+mj-cs"/>
              </a:rPr>
              <a:t>3</a:t>
            </a:r>
            <a:r>
              <a:rPr lang="zh-CN" altLang="en-US" dirty="0">
                <a:cs typeface="+mj-cs"/>
              </a:rPr>
              <a:t>：</a:t>
            </a:r>
          </a:p>
        </p:txBody>
      </p:sp>
      <p:sp>
        <p:nvSpPr>
          <p:cNvPr id="156675" name="Rectangle 3">
            <a:extLst>
              <a:ext uri="{FF2B5EF4-FFF2-40B4-BE49-F238E27FC236}">
                <a16:creationId xmlns:a16="http://schemas.microsoft.com/office/drawing/2014/main" id="{B1B963B0-7B19-6D4C-B732-F6A1C2F1C5C7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600200"/>
            <a:ext cx="8763000" cy="4530725"/>
          </a:xfrm>
        </p:spPr>
        <p:txBody>
          <a:bodyPr/>
          <a:lstStyle/>
          <a:p>
            <a:pPr marL="609600" indent="-609600"/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将下列语句翻译成语句，其中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C(x)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是“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x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是一个喜剧演员”，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F(x)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是“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x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很有趣”，论域是所有人。</a:t>
            </a:r>
          </a:p>
          <a:p>
            <a:pPr marL="609600" indent="-609600">
              <a:buFont typeface="Wingdings" pitchFamily="2" charset="2"/>
              <a:buAutoNum type="arabicParenR"/>
            </a:pP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  <a:sym typeface="Symbol" pitchFamily="2" charset="2"/>
              </a:rPr>
              <a:t>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x(C(x)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  <a:sym typeface="Symbol" pitchFamily="2" charset="2"/>
              </a:rPr>
              <a:t>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F(x))</a:t>
            </a:r>
          </a:p>
          <a:p>
            <a:pPr marL="609600" indent="-609600">
              <a:buFont typeface="Wingdings" pitchFamily="2" charset="2"/>
              <a:buAutoNum type="arabicParenR"/>
            </a:pP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  <a:sym typeface="Symbol" pitchFamily="2" charset="2"/>
              </a:rPr>
              <a:t>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x(C(x)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  <a:sym typeface="Symbol" pitchFamily="2" charset="2"/>
              </a:rPr>
              <a:t>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F(x))</a:t>
            </a:r>
          </a:p>
          <a:p>
            <a:pPr marL="609600" indent="-609600">
              <a:buFont typeface="Wingdings" pitchFamily="2" charset="2"/>
              <a:buAutoNum type="arabicParenR"/>
            </a:pP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  <a:sym typeface="Symbol" pitchFamily="2" charset="2"/>
              </a:rPr>
              <a:t>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x(C(x)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  <a:sym typeface="Symbol" pitchFamily="2" charset="2"/>
              </a:rPr>
              <a:t>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F(x))</a:t>
            </a:r>
          </a:p>
          <a:p>
            <a:pPr marL="609600" indent="-609600">
              <a:buFont typeface="Wingdings" pitchFamily="2" charset="2"/>
              <a:buAutoNum type="arabicParenR"/>
            </a:pP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  <a:sym typeface="Symbol" pitchFamily="2" charset="2"/>
              </a:rPr>
              <a:t>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x(C(x)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  <a:sym typeface="Symbol" pitchFamily="2" charset="2"/>
              </a:rPr>
              <a:t>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F(x))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156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156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156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156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156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156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1" dur="80"/>
                                        <p:tgtEl>
                                          <p:spTgt spid="156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2" dur="80"/>
                                        <p:tgtEl>
                                          <p:spTgt spid="156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80"/>
                                        <p:tgtEl>
                                          <p:spTgt spid="156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8" dur="80"/>
                                        <p:tgtEl>
                                          <p:spTgt spid="156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9" dur="80"/>
                                        <p:tgtEl>
                                          <p:spTgt spid="156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80"/>
                                        <p:tgtEl>
                                          <p:spTgt spid="156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Slide Number Placeholder 5">
            <a:extLst>
              <a:ext uri="{FF2B5EF4-FFF2-40B4-BE49-F238E27FC236}">
                <a16:creationId xmlns:a16="http://schemas.microsoft.com/office/drawing/2014/main" id="{59B07FC7-DD87-234D-A893-4EC7EF42BC3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4D404FD-81F5-DA4D-81D6-1CAD87A73AA3}" type="slidenum">
              <a:rPr kumimoji="0" lang="en-US" altLang="zh-CN" sz="1200"/>
              <a:pPr/>
              <a:t>18</a:t>
            </a:fld>
            <a:endParaRPr kumimoji="0" lang="en-US" altLang="zh-CN" sz="1200"/>
          </a:p>
        </p:txBody>
      </p:sp>
      <p:sp>
        <p:nvSpPr>
          <p:cNvPr id="31746" name="Rectangle 2">
            <a:extLst>
              <a:ext uri="{FF2B5EF4-FFF2-40B4-BE49-F238E27FC236}">
                <a16:creationId xmlns:a16="http://schemas.microsoft.com/office/drawing/2014/main" id="{0F19922B-50E8-8C40-A4FC-6FACE2CE8C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228600"/>
            <a:ext cx="8229600" cy="1143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命题真值的规定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9B337803-1649-A247-A78D-5914348C2BB3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447800"/>
            <a:ext cx="8763000" cy="4267200"/>
          </a:xfrm>
        </p:spPr>
        <p:txBody>
          <a:bodyPr/>
          <a:lstStyle/>
          <a:p>
            <a:pPr>
              <a:tabLst>
                <a:tab pos="1716088" algn="l"/>
                <a:tab pos="2343150" algn="l"/>
              </a:tabLst>
            </a:pP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设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G(x)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是一元谓词，任取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x</a:t>
            </a:r>
            <a:r>
              <a:rPr kumimoji="0" lang="en-US" altLang="zh-CN" sz="3200" baseline="-250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0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  <a:sym typeface="Symbol" pitchFamily="2" charset="2"/>
              </a:rPr>
              <a:t>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D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，则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G(x</a:t>
            </a:r>
            <a:r>
              <a:rPr kumimoji="0" lang="en-US" altLang="zh-CN" sz="3200" baseline="-250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0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)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是一个命题。于是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  <a:sym typeface="Symbol" pitchFamily="2" charset="2"/>
              </a:rPr>
              <a:t>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xG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(x)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是这样一个命题 “对任意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x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  <a:sym typeface="Symbol" pitchFamily="2" charset="2"/>
              </a:rPr>
              <a:t>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D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，都有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G(x)”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。</a:t>
            </a:r>
            <a:b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</a:b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故对命题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  <a:sym typeface="Symbol" pitchFamily="2" charset="2"/>
              </a:rPr>
              <a:t>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xG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(x)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的真值做如下规定：</a:t>
            </a:r>
          </a:p>
          <a:p>
            <a:pPr>
              <a:tabLst>
                <a:tab pos="1716088" algn="l"/>
                <a:tab pos="2343150" algn="l"/>
              </a:tabLst>
            </a:pP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  <a:sym typeface="Symbol" pitchFamily="2" charset="2"/>
              </a:rPr>
              <a:t>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xG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(x)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取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1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值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  <a:sym typeface="Symbol" pitchFamily="2" charset="2"/>
              </a:rPr>
              <a:t>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对任意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x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  <a:sym typeface="Symbol" pitchFamily="2" charset="2"/>
              </a:rPr>
              <a:t>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D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，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G(x)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都取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1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值；</a:t>
            </a:r>
            <a:b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</a:b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 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  <a:sym typeface="Symbol" pitchFamily="2" charset="2"/>
              </a:rPr>
              <a:t>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xG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(x)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取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0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值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  <a:sym typeface="Symbol" pitchFamily="2" charset="2"/>
              </a:rPr>
              <a:t>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有一个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x</a:t>
            </a:r>
            <a:r>
              <a:rPr kumimoji="0" lang="en-US" altLang="zh-CN" sz="3200" baseline="-250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0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  <a:sym typeface="Symbol" pitchFamily="2" charset="2"/>
              </a:rPr>
              <a:t>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D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，使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G(x</a:t>
            </a:r>
            <a:r>
              <a:rPr kumimoji="0" lang="en-US" altLang="zh-CN" sz="3200" baseline="-250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0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)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取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0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cs typeface="Arial" panose="020B0604020202020204" pitchFamily="34" charset="0"/>
              </a:rPr>
              <a:t>值。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7" grpId="0" build="p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Slide Number Placeholder 5">
            <a:extLst>
              <a:ext uri="{FF2B5EF4-FFF2-40B4-BE49-F238E27FC236}">
                <a16:creationId xmlns:a16="http://schemas.microsoft.com/office/drawing/2014/main" id="{6A92F7C4-6557-B745-AA7E-7277A6B58FB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63F3F58-E450-6F4B-9792-773FCFD05AEF}" type="slidenum">
              <a:rPr kumimoji="0" lang="en-US" altLang="zh-CN" sz="1200"/>
              <a:pPr/>
              <a:t>19</a:t>
            </a:fld>
            <a:endParaRPr kumimoji="0" lang="en-US" altLang="zh-CN" sz="1200"/>
          </a:p>
        </p:txBody>
      </p:sp>
      <p:sp>
        <p:nvSpPr>
          <p:cNvPr id="32773" name="Rectangle 5">
            <a:extLst>
              <a:ext uri="{FF2B5EF4-FFF2-40B4-BE49-F238E27FC236}">
                <a16:creationId xmlns:a16="http://schemas.microsoft.com/office/drawing/2014/main" id="{65C88D86-42EF-804A-BE2C-850F3E3FB4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228600"/>
            <a:ext cx="8229600" cy="1143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命题真值的规定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A4140EF8-FDF5-504B-A44D-C0B7906381AB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447800"/>
            <a:ext cx="8839200" cy="3810000"/>
          </a:xfrm>
        </p:spPr>
        <p:txBody>
          <a:bodyPr/>
          <a:lstStyle/>
          <a:p>
            <a:pPr>
              <a:lnSpc>
                <a:spcPct val="120000"/>
              </a:lnSpc>
              <a:tabLst>
                <a:tab pos="1716088" algn="l"/>
                <a:tab pos="2343150" algn="l"/>
              </a:tabLst>
            </a:pP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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xG(x)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是命题 “存在一个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x</a:t>
            </a:r>
            <a:r>
              <a:rPr kumimoji="0" lang="en-US" altLang="zh-CN" sz="3200" baseline="-25000">
                <a:latin typeface="Arial" panose="020B0604020202020204" pitchFamily="34" charset="0"/>
                <a:ea typeface="楷体_GB2312" pitchFamily="1" charset="-122"/>
              </a:rPr>
              <a:t>0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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D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，使得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G(x</a:t>
            </a:r>
            <a:r>
              <a:rPr kumimoji="0" lang="en-US" altLang="zh-CN" sz="3200" baseline="-25000">
                <a:latin typeface="Arial" panose="020B0604020202020204" pitchFamily="34" charset="0"/>
                <a:ea typeface="楷体_GB2312" pitchFamily="1" charset="-122"/>
              </a:rPr>
              <a:t>0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)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成立”。对命题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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xG(x)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的真值规定如下：</a:t>
            </a:r>
          </a:p>
          <a:p>
            <a:pPr>
              <a:lnSpc>
                <a:spcPct val="120000"/>
              </a:lnSpc>
              <a:tabLst>
                <a:tab pos="1716088" algn="l"/>
                <a:tab pos="2343150" algn="l"/>
              </a:tabLst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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xG(x)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取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值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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有一个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x</a:t>
            </a:r>
            <a:r>
              <a:rPr kumimoji="0" lang="en-US" altLang="zh-CN" sz="3200" baseline="-25000">
                <a:latin typeface="Arial" panose="020B0604020202020204" pitchFamily="34" charset="0"/>
                <a:ea typeface="楷体_GB2312" pitchFamily="1" charset="-122"/>
              </a:rPr>
              <a:t>0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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D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，使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G(x</a:t>
            </a:r>
            <a:r>
              <a:rPr kumimoji="0" lang="en-US" altLang="zh-CN" sz="3200" baseline="-25000">
                <a:latin typeface="Arial" panose="020B0604020202020204" pitchFamily="34" charset="0"/>
                <a:ea typeface="楷体_GB2312" pitchFamily="1" charset="-122"/>
              </a:rPr>
              <a:t>0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)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取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值；</a:t>
            </a:r>
            <a:b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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xG(x)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取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0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值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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对所有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x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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D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G(x)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都取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0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值。 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1" grpId="0" build="p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Slide Number Placeholder 5">
            <a:extLst>
              <a:ext uri="{FF2B5EF4-FFF2-40B4-BE49-F238E27FC236}">
                <a16:creationId xmlns:a16="http://schemas.microsoft.com/office/drawing/2014/main" id="{8BFB8B35-C770-6246-B7AA-734A9F37BEF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060771D-F9C9-1249-A1BF-C60D265F7578}" type="slidenum">
              <a:rPr kumimoji="0" lang="en-US" altLang="zh-CN" sz="1200"/>
              <a:pPr/>
              <a:t>20</a:t>
            </a:fld>
            <a:endParaRPr kumimoji="0" lang="en-US" altLang="zh-CN" sz="1200"/>
          </a:p>
        </p:txBody>
      </p:sp>
      <p:sp>
        <p:nvSpPr>
          <p:cNvPr id="33794" name="Rectangle 2">
            <a:extLst>
              <a:ext uri="{FF2B5EF4-FFF2-40B4-BE49-F238E27FC236}">
                <a16:creationId xmlns:a16="http://schemas.microsoft.com/office/drawing/2014/main" id="{E48FC3E6-BA6D-9343-89A9-0261327480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277813"/>
            <a:ext cx="8229600" cy="1143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命题真值的规定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225AA3A3-EC57-7A4D-B6A1-3002FC27A400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600200"/>
            <a:ext cx="8839200" cy="3581400"/>
          </a:xfrm>
        </p:spPr>
        <p:txBody>
          <a:bodyPr/>
          <a:lstStyle/>
          <a:p>
            <a:pPr>
              <a:lnSpc>
                <a:spcPct val="120000"/>
              </a:lnSpc>
              <a:tabLst>
                <a:tab pos="1146175" algn="l"/>
              </a:tabLst>
            </a:pP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通过这个规定可以看出：</a:t>
            </a:r>
            <a:b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当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D={x</a:t>
            </a:r>
            <a:r>
              <a:rPr kumimoji="0" lang="en-US" altLang="zh-CN" sz="3200" baseline="-30000" dirty="0">
                <a:latin typeface="Arial" panose="020B0604020202020204" pitchFamily="34" charset="0"/>
                <a:ea typeface="楷体_GB2312" pitchFamily="1" charset="-122"/>
              </a:rPr>
              <a:t>0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x</a:t>
            </a:r>
            <a:r>
              <a:rPr kumimoji="0" lang="en-US" altLang="zh-CN" sz="3200" baseline="-30000" dirty="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…}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是可数集合时，	</a:t>
            </a:r>
            <a:b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</a:br>
            <a:b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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xG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(x)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等价于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G(x</a:t>
            </a:r>
            <a:r>
              <a:rPr kumimoji="0" lang="en-US" altLang="zh-CN" sz="3200" baseline="-30000" dirty="0">
                <a:latin typeface="Arial" panose="020B0604020202020204" pitchFamily="34" charset="0"/>
                <a:ea typeface="楷体_GB2312" pitchFamily="1" charset="-122"/>
              </a:rPr>
              <a:t>0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)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G(x</a:t>
            </a:r>
            <a:r>
              <a:rPr kumimoji="0" lang="en-US" altLang="zh-CN" sz="3200" baseline="-30000" dirty="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)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…</a:t>
            </a:r>
            <a:b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 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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xG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(x)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等价于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G(x</a:t>
            </a:r>
            <a:r>
              <a:rPr kumimoji="0" lang="en-US" altLang="zh-CN" sz="3200" baseline="-30000" dirty="0">
                <a:latin typeface="Arial" panose="020B0604020202020204" pitchFamily="34" charset="0"/>
                <a:ea typeface="楷体_GB2312" pitchFamily="1" charset="-122"/>
              </a:rPr>
              <a:t>0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)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G(x</a:t>
            </a:r>
            <a:r>
              <a:rPr kumimoji="0" lang="en-US" altLang="zh-CN" sz="3200" baseline="-30000" dirty="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)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… </a:t>
            </a:r>
          </a:p>
        </p:txBody>
      </p:sp>
    </p:spTree>
  </p:cSld>
  <p:clrMapOvr>
    <a:masterClrMapping/>
  </p:clrMapOvr>
  <p:transition>
    <p:blinds dir="vert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Slide Number Placeholder 5">
            <a:extLst>
              <a:ext uri="{FF2B5EF4-FFF2-40B4-BE49-F238E27FC236}">
                <a16:creationId xmlns:a16="http://schemas.microsoft.com/office/drawing/2014/main" id="{E747618D-EB28-BD48-BADC-224C19D3ED5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3FEFA27-CC4C-444E-BD77-5072D32BD64A}" type="slidenum">
              <a:rPr kumimoji="0" lang="en-US" altLang="zh-CN" sz="1200"/>
              <a:pPr/>
              <a:t>21</a:t>
            </a:fld>
            <a:endParaRPr kumimoji="0" lang="en-US" altLang="zh-CN" sz="1200"/>
          </a:p>
        </p:txBody>
      </p:sp>
      <p:sp>
        <p:nvSpPr>
          <p:cNvPr id="34818" name="Rectangle 2">
            <a:extLst>
              <a:ext uri="{FF2B5EF4-FFF2-40B4-BE49-F238E27FC236}">
                <a16:creationId xmlns:a16="http://schemas.microsoft.com/office/drawing/2014/main" id="{C0DEBE57-1FE8-DA49-A3EE-5F43E14DA4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277813"/>
            <a:ext cx="8229600" cy="1143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谓词和量词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4B7E40F8-63B4-E947-8FDE-D3216DCB0E5C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447800"/>
            <a:ext cx="8839200" cy="4724400"/>
          </a:xfrm>
        </p:spPr>
        <p:txBody>
          <a:bodyPr/>
          <a:lstStyle/>
          <a:p>
            <a:pPr>
              <a:lnSpc>
                <a:spcPct val="105000"/>
              </a:lnSpc>
              <a:tabLst>
                <a:tab pos="1146175" algn="l"/>
              </a:tabLst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对于一个谓词，如果其中每一个变量都在一个量词作用之下，则它就不再是命题函数，而是一个命题了。但是，这种命题和命题逻辑中的命题毕竟有所不同。</a:t>
            </a:r>
          </a:p>
          <a:p>
            <a:pPr>
              <a:lnSpc>
                <a:spcPct val="105000"/>
              </a:lnSpc>
              <a:tabLst>
                <a:tab pos="1146175" algn="l"/>
              </a:tabLst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使用量词时应注意以下几个问题：</a:t>
            </a:r>
            <a:b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1. 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量词的论域，即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D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中都有哪些元素；</a:t>
            </a:r>
            <a:b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2. 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在多重量词时，应注意量词的顺序；</a:t>
            </a:r>
            <a:b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3. 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量词的作用域。 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9" grpId="0" build="p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Slide Number Placeholder 5">
            <a:extLst>
              <a:ext uri="{FF2B5EF4-FFF2-40B4-BE49-F238E27FC236}">
                <a16:creationId xmlns:a16="http://schemas.microsoft.com/office/drawing/2014/main" id="{6FFD7057-3182-6240-A5B7-090508BAE68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20A6EDE-9F36-4F44-9751-B5E3F218E365}" type="slidenum">
              <a:rPr kumimoji="0" lang="en-US" altLang="zh-CN" sz="1200"/>
              <a:pPr/>
              <a:t>22</a:t>
            </a:fld>
            <a:endParaRPr kumimoji="0" lang="en-US" altLang="zh-CN" sz="1200"/>
          </a:p>
        </p:txBody>
      </p:sp>
      <p:sp>
        <p:nvSpPr>
          <p:cNvPr id="151554" name="Rectangle 2">
            <a:extLst>
              <a:ext uri="{FF2B5EF4-FFF2-40B4-BE49-F238E27FC236}">
                <a16:creationId xmlns:a16="http://schemas.microsoft.com/office/drawing/2014/main" id="{60E9785A-E6CE-5049-BFB9-B3EBD73F9A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6512511" cy="1143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cs typeface="+mj-cs"/>
              </a:rPr>
              <a:t>例：</a:t>
            </a:r>
          </a:p>
        </p:txBody>
      </p:sp>
      <p:sp>
        <p:nvSpPr>
          <p:cNvPr id="151555" name="Rectangle 3">
            <a:extLst>
              <a:ext uri="{FF2B5EF4-FFF2-40B4-BE49-F238E27FC236}">
                <a16:creationId xmlns:a16="http://schemas.microsoft.com/office/drawing/2014/main" id="{F2FEFE19-1D40-DE42-A2C2-496717A4D60D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52400" y="1600200"/>
            <a:ext cx="8610600" cy="4530725"/>
          </a:xfrm>
        </p:spPr>
        <p:txBody>
          <a:bodyPr/>
          <a:lstStyle/>
          <a:p>
            <a:pPr marL="609600" indent="-609600">
              <a:buFont typeface="Wingdings" pitchFamily="2" charset="2"/>
              <a:buAutoNum type="arabicPeriod"/>
            </a:pP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D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为实数集合：</a:t>
            </a:r>
          </a:p>
          <a:p>
            <a:pPr marL="1246188" lvl="1" indent="-533400">
              <a:buFont typeface="Wingdings" pitchFamily="2" charset="2"/>
              <a:buAutoNum type="alphaLcParenR"/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令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P(x)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为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x+1&gt;x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；</a:t>
            </a:r>
          </a:p>
          <a:p>
            <a:pPr marL="1246188" lvl="1" indent="-533400">
              <a:buFont typeface="Wingdings" pitchFamily="2" charset="2"/>
              <a:buAutoNum type="alphaLcParenR"/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令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P(x)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为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x&lt;2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；</a:t>
            </a:r>
          </a:p>
          <a:p>
            <a:pPr marL="609600" indent="-609600">
              <a:buFont typeface="Wingdings" pitchFamily="2" charset="2"/>
              <a:buNone/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	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xP(x)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、 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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xP(x)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的真值是什么？</a:t>
            </a:r>
          </a:p>
          <a:p>
            <a:pPr marL="609600" indent="-609600">
              <a:buFont typeface="Wingdings" pitchFamily="2" charset="2"/>
              <a:buAutoNum type="arabicPeriod" startAt="2"/>
            </a:pP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D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为实数集合，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P(x)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为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x</a:t>
            </a:r>
            <a:r>
              <a:rPr kumimoji="0" lang="en-US" altLang="zh-CN" sz="3200" baseline="30000">
                <a:latin typeface="Arial" panose="020B0604020202020204" pitchFamily="34" charset="0"/>
                <a:ea typeface="楷体_GB2312" pitchFamily="1" charset="-122"/>
              </a:rPr>
              <a:t>2</a:t>
            </a:r>
            <a:r>
              <a:rPr kumimoji="0" lang="en-US" altLang="zh-CN" sz="3200">
                <a:latin typeface="Arial" panose="020B0604020202020204" pitchFamily="34" charset="0"/>
                <a:cs typeface="Arial" panose="020B0604020202020204" pitchFamily="34" charset="0"/>
              </a:rPr>
              <a:t>≥x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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xP(x)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的真值是什么？如果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D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为整数集合，真值又是什么？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1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Slide Number Placeholder 5">
            <a:extLst>
              <a:ext uri="{FF2B5EF4-FFF2-40B4-BE49-F238E27FC236}">
                <a16:creationId xmlns:a16="http://schemas.microsoft.com/office/drawing/2014/main" id="{C1B6CDC8-0684-C149-8DF9-E3C1D07BDF7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3CFE3CD-17D5-2F4C-A75D-3BDB3512A2D7}" type="slidenum">
              <a:rPr kumimoji="0" lang="en-US" altLang="zh-CN" sz="1200"/>
              <a:pPr/>
              <a:t>23</a:t>
            </a:fld>
            <a:endParaRPr kumimoji="0" lang="en-US" altLang="zh-CN" sz="1200"/>
          </a:p>
        </p:txBody>
      </p:sp>
      <p:sp>
        <p:nvSpPr>
          <p:cNvPr id="35842" name="Rectangle 2">
            <a:extLst>
              <a:ext uri="{FF2B5EF4-FFF2-40B4-BE49-F238E27FC236}">
                <a16:creationId xmlns:a16="http://schemas.microsoft.com/office/drawing/2014/main" id="{8E7E25FB-5F0D-E845-A4DD-78329DE963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277813"/>
            <a:ext cx="8229600" cy="1143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改名规则 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7DD468B8-68A3-4947-A2CE-7AE6E8AC5614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371600"/>
            <a:ext cx="8763000" cy="5029200"/>
          </a:xfrm>
        </p:spPr>
        <p:txBody>
          <a:bodyPr/>
          <a:lstStyle/>
          <a:p>
            <a:pPr>
              <a:tabLst>
                <a:tab pos="1146175" algn="l"/>
              </a:tabLst>
            </a:pPr>
            <a:r>
              <a:rPr kumimoji="0" lang="zh-CN" altLang="en-US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定义</a:t>
            </a:r>
            <a:r>
              <a:rPr kumimoji="0" lang="en-US" altLang="zh-CN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3.2.4</a:t>
            </a:r>
            <a:r>
              <a:rPr kumimoji="0" lang="en-US" altLang="zh-CN" sz="3200">
                <a:latin typeface="Arial" panose="020B0604020202020204" pitchFamily="34" charset="0"/>
                <a:ea typeface="黑体" panose="02010609060101010101" pitchFamily="49" charset="-122"/>
              </a:rPr>
              <a:t> 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 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在一个由谓词，量词，逻辑联结词，括号组成的有意义的符号串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实际是指下一节将严格定义的公式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)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中，变量的出现说是</a:t>
            </a:r>
            <a:r>
              <a:rPr kumimoji="0" lang="zh-CN" altLang="en-US" sz="3200" u="sng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约束的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，当且仅当它出现在使用这个变量的量词范围之内；变量的出现说是</a:t>
            </a:r>
            <a:r>
              <a:rPr kumimoji="0" lang="zh-CN" altLang="en-US" sz="3200" u="sng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自由的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，当且仅当这个出现不是约束的。 </a:t>
            </a:r>
          </a:p>
          <a:p>
            <a:pPr>
              <a:buFont typeface="Wingdings" pitchFamily="2" charset="2"/>
              <a:buChar char="v"/>
              <a:tabLst>
                <a:tab pos="1146175" algn="l"/>
              </a:tabLst>
            </a:pPr>
            <a:r>
              <a:rPr kumimoji="0" lang="zh-CN" altLang="en-US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例如：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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x(P(x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y)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Q(x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z))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R(x)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。从左向右算起，变量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x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的第一，第二次出现是约束的，第三次出现是自由的；变量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y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z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的出现是自由的。 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3" grpId="0" build="p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Slide Number Placeholder 5">
            <a:extLst>
              <a:ext uri="{FF2B5EF4-FFF2-40B4-BE49-F238E27FC236}">
                <a16:creationId xmlns:a16="http://schemas.microsoft.com/office/drawing/2014/main" id="{99C810BD-019F-6442-82C7-B14DA0EC087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F7A9F57-33F6-9746-91F7-CD376F300F0B}" type="slidenum">
              <a:rPr kumimoji="0" lang="en-US" altLang="zh-CN" sz="1200"/>
              <a:pPr/>
              <a:t>24</a:t>
            </a:fld>
            <a:endParaRPr kumimoji="0" lang="en-US" altLang="zh-CN" sz="1200"/>
          </a:p>
        </p:txBody>
      </p:sp>
      <p:sp>
        <p:nvSpPr>
          <p:cNvPr id="36866" name="Rectangle 2">
            <a:extLst>
              <a:ext uri="{FF2B5EF4-FFF2-40B4-BE49-F238E27FC236}">
                <a16:creationId xmlns:a16="http://schemas.microsoft.com/office/drawing/2014/main" id="{E56F0CB4-7308-CC44-B70E-1F3B6723B7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228600"/>
            <a:ext cx="9067800" cy="1143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sz="4800" dirty="0">
                <a:latin typeface="Arial" charset="0"/>
                <a:ea typeface="楷体_GB2312" charset="0"/>
                <a:cs typeface="+mj-cs"/>
              </a:rPr>
              <a:t>定义</a:t>
            </a:r>
            <a:r>
              <a:rPr lang="en-US" altLang="zh-CN" sz="4800" dirty="0">
                <a:latin typeface="Arial" charset="0"/>
                <a:ea typeface="楷体_GB2312" charset="0"/>
                <a:cs typeface="+mj-cs"/>
              </a:rPr>
              <a:t>3.2.5 </a:t>
            </a:r>
            <a:r>
              <a:rPr lang="zh-CN" altLang="en-US" sz="4800" dirty="0">
                <a:latin typeface="Arial" charset="0"/>
                <a:ea typeface="楷体_GB2312" charset="0"/>
                <a:cs typeface="+mj-cs"/>
              </a:rPr>
              <a:t>约束变量和自由变量 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F446F6C0-D441-9749-9AE6-C04B72AB23F5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371600"/>
            <a:ext cx="8839200" cy="487680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tabLst>
                <a:tab pos="1146175" algn="l"/>
              </a:tabLst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变量说是约束的，如果至少一个它的出现是约束的；变量说是自由的，如果至少一个它的出现是自由的。</a:t>
            </a:r>
          </a:p>
          <a:p>
            <a:pPr>
              <a:lnSpc>
                <a:spcPct val="110000"/>
              </a:lnSpc>
              <a:tabLst>
                <a:tab pos="1146175" algn="l"/>
              </a:tabLst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由定义可以看出一个变量可以既是约束变量又是自由变量。</a:t>
            </a:r>
          </a:p>
          <a:p>
            <a:pPr>
              <a:lnSpc>
                <a:spcPct val="110000"/>
              </a:lnSpc>
              <a:buFont typeface="Wingdings" pitchFamily="2" charset="2"/>
              <a:buChar char="v"/>
              <a:tabLst>
                <a:tab pos="1146175" algn="l"/>
              </a:tabLst>
            </a:pPr>
            <a:r>
              <a:rPr kumimoji="0" lang="zh-CN" altLang="en-US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例如：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上例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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x(P(x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y)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Q(x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z))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R(x)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中的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x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既是约束变量，又是自由变量；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y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z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只是自由变量。 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" grpId="0" build="p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Slide Number Placeholder 5">
            <a:extLst>
              <a:ext uri="{FF2B5EF4-FFF2-40B4-BE49-F238E27FC236}">
                <a16:creationId xmlns:a16="http://schemas.microsoft.com/office/drawing/2014/main" id="{1E8D7639-964F-1942-8D6A-5885A007C2F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33763B7-D976-2F43-9981-ABAA7F5CD6B1}" type="slidenum">
              <a:rPr kumimoji="0" lang="en-US" altLang="zh-CN" sz="1200"/>
              <a:pPr/>
              <a:t>25</a:t>
            </a:fld>
            <a:endParaRPr kumimoji="0" lang="en-US" altLang="zh-CN" sz="1200"/>
          </a:p>
        </p:txBody>
      </p:sp>
      <p:sp>
        <p:nvSpPr>
          <p:cNvPr id="37890" name="Rectangle 2">
            <a:extLst>
              <a:ext uri="{FF2B5EF4-FFF2-40B4-BE49-F238E27FC236}">
                <a16:creationId xmlns:a16="http://schemas.microsoft.com/office/drawing/2014/main" id="{2C6B8684-B32B-3A40-B842-281EB9336B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277813"/>
            <a:ext cx="8229600" cy="1143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改名规则 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91B00919-D0C7-894E-94C5-D38F075ECB1A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447800"/>
            <a:ext cx="8839200" cy="3276600"/>
          </a:xfrm>
        </p:spPr>
        <p:txBody>
          <a:bodyPr/>
          <a:lstStyle/>
          <a:p>
            <a:pPr>
              <a:lnSpc>
                <a:spcPct val="110000"/>
              </a:lnSpc>
              <a:tabLst>
                <a:tab pos="1146175" algn="l"/>
              </a:tabLst>
            </a:pPr>
            <a:r>
              <a:rPr kumimoji="0" lang="zh-CN" altLang="en-US" sz="3400" dirty="0">
                <a:latin typeface="楷体" panose="02010609060101010101" pitchFamily="49" charset="-122"/>
                <a:ea typeface="楷体" panose="02010609060101010101" pitchFamily="49" charset="-122"/>
              </a:rPr>
              <a:t>显然，</a:t>
            </a:r>
            <a:r>
              <a:rPr kumimoji="0" lang="zh-CN" altLang="en-US" sz="3400" dirty="0">
                <a:latin typeface="楷体" panose="02010609060101010101" pitchFamily="49" charset="-122"/>
                <a:ea typeface="楷体" panose="02010609060101010101" pitchFamily="49" charset="-122"/>
                <a:sym typeface="Symbol" pitchFamily="2" charset="2"/>
              </a:rPr>
              <a:t></a:t>
            </a:r>
            <a:r>
              <a:rPr kumimoji="0" lang="en-US" altLang="zh-CN" sz="3400" dirty="0" err="1">
                <a:latin typeface="楷体" panose="02010609060101010101" pitchFamily="49" charset="-122"/>
                <a:ea typeface="楷体" panose="02010609060101010101" pitchFamily="49" charset="-122"/>
              </a:rPr>
              <a:t>xG</a:t>
            </a:r>
            <a:r>
              <a:rPr kumimoji="0" lang="en-US" altLang="zh-CN" sz="3400" dirty="0">
                <a:latin typeface="楷体" panose="02010609060101010101" pitchFamily="49" charset="-122"/>
                <a:ea typeface="楷体" panose="02010609060101010101" pitchFamily="49" charset="-122"/>
              </a:rPr>
              <a:t>(x)</a:t>
            </a:r>
            <a:r>
              <a:rPr kumimoji="0" lang="zh-CN" altLang="en-US" sz="3400" dirty="0">
                <a:latin typeface="楷体" panose="02010609060101010101" pitchFamily="49" charset="-122"/>
                <a:ea typeface="楷体" panose="02010609060101010101" pitchFamily="49" charset="-122"/>
              </a:rPr>
              <a:t>与</a:t>
            </a:r>
            <a:r>
              <a:rPr kumimoji="0" lang="zh-CN" altLang="en-US" sz="3400" dirty="0">
                <a:latin typeface="楷体" panose="02010609060101010101" pitchFamily="49" charset="-122"/>
                <a:ea typeface="楷体" panose="02010609060101010101" pitchFamily="49" charset="-122"/>
                <a:sym typeface="Symbol" pitchFamily="2" charset="2"/>
              </a:rPr>
              <a:t></a:t>
            </a:r>
            <a:r>
              <a:rPr kumimoji="0" lang="en-US" altLang="zh-CN" sz="3400" dirty="0" err="1">
                <a:latin typeface="楷体" panose="02010609060101010101" pitchFamily="49" charset="-122"/>
                <a:ea typeface="楷体" panose="02010609060101010101" pitchFamily="49" charset="-122"/>
              </a:rPr>
              <a:t>yG</a:t>
            </a:r>
            <a:r>
              <a:rPr kumimoji="0" lang="en-US" altLang="zh-CN" sz="3400" dirty="0">
                <a:latin typeface="楷体" panose="02010609060101010101" pitchFamily="49" charset="-122"/>
                <a:ea typeface="楷体" panose="02010609060101010101" pitchFamily="49" charset="-122"/>
              </a:rPr>
              <a:t>(y)</a:t>
            </a:r>
            <a:r>
              <a:rPr kumimoji="0" lang="zh-CN" altLang="en-US" sz="3400" dirty="0">
                <a:latin typeface="楷体" panose="02010609060101010101" pitchFamily="49" charset="-122"/>
                <a:ea typeface="楷体" panose="02010609060101010101" pitchFamily="49" charset="-122"/>
              </a:rPr>
              <a:t>的真值一样，</a:t>
            </a:r>
            <a:r>
              <a:rPr kumimoji="0" lang="zh-CN" altLang="en-US" sz="3400" dirty="0">
                <a:latin typeface="楷体" panose="02010609060101010101" pitchFamily="49" charset="-122"/>
                <a:ea typeface="楷体" panose="02010609060101010101" pitchFamily="49" charset="-122"/>
                <a:sym typeface="Symbol" pitchFamily="2" charset="2"/>
              </a:rPr>
              <a:t></a:t>
            </a:r>
            <a:r>
              <a:rPr kumimoji="0" lang="en-US" altLang="zh-CN" sz="3400" dirty="0" err="1">
                <a:latin typeface="楷体" panose="02010609060101010101" pitchFamily="49" charset="-122"/>
                <a:ea typeface="楷体" panose="02010609060101010101" pitchFamily="49" charset="-122"/>
              </a:rPr>
              <a:t>xG</a:t>
            </a:r>
            <a:r>
              <a:rPr kumimoji="0" lang="en-US" altLang="zh-CN" sz="3400" dirty="0">
                <a:latin typeface="楷体" panose="02010609060101010101" pitchFamily="49" charset="-122"/>
                <a:ea typeface="楷体" panose="02010609060101010101" pitchFamily="49" charset="-122"/>
              </a:rPr>
              <a:t>(x)</a:t>
            </a:r>
            <a:r>
              <a:rPr kumimoji="0" lang="zh-CN" altLang="en-US" sz="3400" dirty="0">
                <a:latin typeface="楷体" panose="02010609060101010101" pitchFamily="49" charset="-122"/>
                <a:ea typeface="楷体" panose="02010609060101010101" pitchFamily="49" charset="-122"/>
              </a:rPr>
              <a:t>与</a:t>
            </a:r>
            <a:r>
              <a:rPr kumimoji="0" lang="zh-CN" altLang="en-US" sz="3400" dirty="0">
                <a:latin typeface="楷体" panose="02010609060101010101" pitchFamily="49" charset="-122"/>
                <a:ea typeface="楷体" panose="02010609060101010101" pitchFamily="49" charset="-122"/>
                <a:sym typeface="Symbol" pitchFamily="2" charset="2"/>
              </a:rPr>
              <a:t></a:t>
            </a:r>
            <a:r>
              <a:rPr kumimoji="0" lang="en-US" altLang="zh-CN" sz="3400" dirty="0" err="1">
                <a:latin typeface="楷体" panose="02010609060101010101" pitchFamily="49" charset="-122"/>
                <a:ea typeface="楷体" panose="02010609060101010101" pitchFamily="49" charset="-122"/>
              </a:rPr>
              <a:t>yG</a:t>
            </a:r>
            <a:r>
              <a:rPr kumimoji="0" lang="en-US" altLang="zh-CN" sz="3400" dirty="0">
                <a:latin typeface="楷体" panose="02010609060101010101" pitchFamily="49" charset="-122"/>
                <a:ea typeface="楷体" panose="02010609060101010101" pitchFamily="49" charset="-122"/>
              </a:rPr>
              <a:t>(y)</a:t>
            </a:r>
            <a:r>
              <a:rPr kumimoji="0" lang="zh-CN" altLang="en-US" sz="3400" dirty="0">
                <a:latin typeface="楷体" panose="02010609060101010101" pitchFamily="49" charset="-122"/>
                <a:ea typeface="楷体" panose="02010609060101010101" pitchFamily="49" charset="-122"/>
              </a:rPr>
              <a:t>的真值一样。亦即，谓词逻辑中的命题的真值，与命题中的约束变量的记法无关。这就引出了谓词逻辑中的改名规则。 </a:t>
            </a:r>
          </a:p>
        </p:txBody>
      </p:sp>
    </p:spTree>
  </p:cSld>
  <p:clrMapOvr>
    <a:masterClrMapping/>
  </p:clrMapOvr>
  <p:transition>
    <p:blinds dir="vert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Slide Number Placeholder 5">
            <a:extLst>
              <a:ext uri="{FF2B5EF4-FFF2-40B4-BE49-F238E27FC236}">
                <a16:creationId xmlns:a16="http://schemas.microsoft.com/office/drawing/2014/main" id="{5A01BCC0-872C-FE47-8633-4DCA71CC88D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71E7B37-5972-8F4D-BB35-31136B160693}" type="slidenum">
              <a:rPr kumimoji="0" lang="en-US" altLang="zh-CN" sz="1200"/>
              <a:pPr/>
              <a:t>26</a:t>
            </a:fld>
            <a:endParaRPr kumimoji="0" lang="en-US" altLang="zh-CN" sz="1200"/>
          </a:p>
        </p:txBody>
      </p:sp>
      <p:sp>
        <p:nvSpPr>
          <p:cNvPr id="38914" name="Rectangle 2">
            <a:extLst>
              <a:ext uri="{FF2B5EF4-FFF2-40B4-BE49-F238E27FC236}">
                <a16:creationId xmlns:a16="http://schemas.microsoft.com/office/drawing/2014/main" id="{CD363196-CF8B-864D-A310-375080B5AC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228600"/>
            <a:ext cx="8229600" cy="1143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改名规则 </a:t>
            </a:r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84FC4E9F-764E-1444-BE8D-D46C462290E9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371600"/>
            <a:ext cx="8839200" cy="4343400"/>
          </a:xfrm>
        </p:spPr>
        <p:txBody>
          <a:bodyPr/>
          <a:lstStyle/>
          <a:p>
            <a:pPr marL="365125" indent="-365125">
              <a:lnSpc>
                <a:spcPct val="110000"/>
              </a:lnSpc>
              <a:tabLst>
                <a:tab pos="365125" algn="l"/>
              </a:tabLst>
            </a:pPr>
            <a:r>
              <a:rPr kumimoji="0" lang="zh-CN" altLang="en-US" sz="3200">
                <a:latin typeface="楷体_GB2312" pitchFamily="1" charset="-122"/>
                <a:ea typeface="楷体_GB2312" pitchFamily="1" charset="-122"/>
              </a:rPr>
              <a:t>在由谓词，量词，逻辑联结词，括号组成的有意义的符号串</a:t>
            </a:r>
            <a:r>
              <a:rPr kumimoji="0" lang="en-US" altLang="zh-CN" sz="3200">
                <a:latin typeface="楷体_GB2312" pitchFamily="1" charset="-122"/>
                <a:ea typeface="楷体_GB2312" pitchFamily="1" charset="-122"/>
              </a:rPr>
              <a:t>(</a:t>
            </a:r>
            <a:r>
              <a:rPr kumimoji="0" lang="zh-CN" altLang="en-US" sz="3200">
                <a:latin typeface="楷体_GB2312" pitchFamily="1" charset="-122"/>
                <a:ea typeface="楷体_GB2312" pitchFamily="1" charset="-122"/>
              </a:rPr>
              <a:t>实际是下节定义的公式</a:t>
            </a:r>
            <a:r>
              <a:rPr kumimoji="0" lang="en-US" altLang="zh-CN" sz="3200">
                <a:latin typeface="楷体_GB2312" pitchFamily="1" charset="-122"/>
                <a:ea typeface="楷体_GB2312" pitchFamily="1" charset="-122"/>
              </a:rPr>
              <a:t>)</a:t>
            </a:r>
            <a:r>
              <a:rPr kumimoji="0" lang="zh-CN" altLang="en-US" sz="3200">
                <a:latin typeface="楷体_GB2312" pitchFamily="1" charset="-122"/>
                <a:ea typeface="楷体_GB2312" pitchFamily="1" charset="-122"/>
              </a:rPr>
              <a:t>中，我们可将其中出现的约束变量改为另一个约束变量，这种改名必须在量词作用区域内各处以及该量词符号中实行，并且改成的新约束变量要有别于改名区域中的所有其它变量。</a:t>
            </a:r>
          </a:p>
          <a:p>
            <a:pPr marL="365125" indent="-365125">
              <a:lnSpc>
                <a:spcPct val="110000"/>
              </a:lnSpc>
              <a:tabLst>
                <a:tab pos="365125" algn="l"/>
              </a:tabLst>
            </a:pPr>
            <a:r>
              <a:rPr kumimoji="0" lang="zh-CN" altLang="en-US" sz="3200">
                <a:latin typeface="楷体_GB2312" pitchFamily="1" charset="-122"/>
                <a:ea typeface="楷体_GB2312" pitchFamily="1" charset="-122"/>
              </a:rPr>
              <a:t>显然改名规则不改变原符号串的真值。 </a:t>
            </a:r>
          </a:p>
        </p:txBody>
      </p:sp>
    </p:spTree>
  </p:cSld>
  <p:clrMapOvr>
    <a:masterClrMapping/>
  </p:clrMapOvr>
  <p:transition>
    <p:blinds dir="vert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Slide Number Placeholder 5">
            <a:extLst>
              <a:ext uri="{FF2B5EF4-FFF2-40B4-BE49-F238E27FC236}">
                <a16:creationId xmlns:a16="http://schemas.microsoft.com/office/drawing/2014/main" id="{93E9CBFC-E0D0-ED47-89D8-04731891EFC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38CFE96-DE36-7F4A-8E00-D950076B789F}" type="slidenum">
              <a:rPr kumimoji="0" lang="en-US" altLang="zh-CN" sz="1200"/>
              <a:pPr/>
              <a:t>27</a:t>
            </a:fld>
            <a:endParaRPr kumimoji="0" lang="en-US" altLang="zh-CN" sz="1200"/>
          </a:p>
        </p:txBody>
      </p:sp>
      <p:sp>
        <p:nvSpPr>
          <p:cNvPr id="39938" name="Rectangle 2">
            <a:extLst>
              <a:ext uri="{FF2B5EF4-FFF2-40B4-BE49-F238E27FC236}">
                <a16:creationId xmlns:a16="http://schemas.microsoft.com/office/drawing/2014/main" id="{1915660E-D4C3-3642-89BF-14A1C8343F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76200"/>
            <a:ext cx="8229600" cy="1143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Times New Roman" charset="0"/>
                <a:ea typeface="楷体_GB2312" charset="0"/>
                <a:cs typeface="+mj-cs"/>
              </a:rPr>
              <a:t>例</a:t>
            </a:r>
            <a:r>
              <a:rPr lang="en-US" altLang="zh-CN" dirty="0">
                <a:latin typeface="Times New Roman" charset="0"/>
                <a:ea typeface="楷体_GB2312" charset="0"/>
                <a:cs typeface="+mj-cs"/>
              </a:rPr>
              <a:t>: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0F8097E3-3A65-3B44-8305-3C2E4C4A960E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066800"/>
            <a:ext cx="8610600" cy="4953000"/>
          </a:xfrm>
        </p:spPr>
        <p:txBody>
          <a:bodyPr/>
          <a:lstStyle/>
          <a:p>
            <a:pPr marL="365125" indent="-365125">
              <a:lnSpc>
                <a:spcPct val="105000"/>
              </a:lnSpc>
              <a:tabLst>
                <a:tab pos="365125" algn="l"/>
              </a:tabLst>
            </a:pPr>
            <a:r>
              <a:rPr kumimoji="0" lang="zh-CN" altLang="en-US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对于</a:t>
            </a:r>
            <a:r>
              <a:rPr kumimoji="0" lang="zh-CN" altLang="en-US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</a:t>
            </a:r>
            <a:r>
              <a:rPr kumimoji="0" lang="en-US" altLang="zh-CN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x(P(x</a:t>
            </a:r>
            <a:r>
              <a:rPr kumimoji="0" lang="zh-CN" altLang="en-US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y)</a:t>
            </a:r>
            <a:r>
              <a:rPr kumimoji="0" lang="en-US" altLang="zh-CN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Q(x</a:t>
            </a:r>
            <a:r>
              <a:rPr kumimoji="0" lang="zh-CN" altLang="en-US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z))</a:t>
            </a:r>
            <a:r>
              <a:rPr kumimoji="0" lang="zh-CN" altLang="en-US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，可改名为</a:t>
            </a:r>
            <a:r>
              <a:rPr kumimoji="0" lang="zh-CN" altLang="en-US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</a:t>
            </a:r>
            <a:r>
              <a:rPr kumimoji="0" lang="en-US" altLang="zh-CN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u(P(u</a:t>
            </a:r>
            <a:r>
              <a:rPr kumimoji="0" lang="zh-CN" altLang="en-US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y)</a:t>
            </a:r>
            <a:r>
              <a:rPr kumimoji="0" lang="en-US" altLang="zh-CN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Q(u</a:t>
            </a:r>
            <a:r>
              <a:rPr kumimoji="0" lang="zh-CN" altLang="en-US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z))</a:t>
            </a:r>
            <a:r>
              <a:rPr kumimoji="0" lang="zh-CN" altLang="en-US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。但下面的改名都是不对的：</a:t>
            </a:r>
          </a:p>
          <a:p>
            <a:pPr marL="365125" indent="-365125">
              <a:lnSpc>
                <a:spcPct val="105000"/>
              </a:lnSpc>
              <a:buFont typeface="Wingdings" pitchFamily="2" charset="2"/>
              <a:buNone/>
              <a:tabLst>
                <a:tab pos="365125" algn="l"/>
              </a:tabLst>
            </a:pPr>
            <a:r>
              <a:rPr kumimoji="0" lang="zh-CN" altLang="en-US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        </a:t>
            </a:r>
            <a:r>
              <a:rPr kumimoji="0" lang="en-US" altLang="zh-CN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a. </a:t>
            </a:r>
            <a:r>
              <a:rPr kumimoji="0" lang="en-US" altLang="zh-CN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</a:t>
            </a:r>
            <a:r>
              <a:rPr kumimoji="0" lang="en-US" altLang="zh-CN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u(P(u</a:t>
            </a:r>
            <a:r>
              <a:rPr kumimoji="0" lang="zh-CN" altLang="en-US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y)</a:t>
            </a:r>
            <a:r>
              <a:rPr kumimoji="0" lang="en-US" altLang="zh-CN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Q(x</a:t>
            </a:r>
            <a:r>
              <a:rPr kumimoji="0" lang="zh-CN" altLang="en-US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z))</a:t>
            </a:r>
          </a:p>
          <a:p>
            <a:pPr marL="365125" indent="-365125">
              <a:lnSpc>
                <a:spcPct val="105000"/>
              </a:lnSpc>
              <a:buFont typeface="Wingdings" pitchFamily="2" charset="2"/>
              <a:buNone/>
              <a:tabLst>
                <a:tab pos="365125" algn="l"/>
              </a:tabLst>
            </a:pPr>
            <a:r>
              <a:rPr kumimoji="0" lang="en-US" altLang="zh-CN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        b. </a:t>
            </a:r>
            <a:r>
              <a:rPr kumimoji="0" lang="en-US" altLang="zh-CN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</a:t>
            </a:r>
            <a:r>
              <a:rPr kumimoji="0" lang="en-US" altLang="zh-CN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x(P(u</a:t>
            </a:r>
            <a:r>
              <a:rPr kumimoji="0" lang="zh-CN" altLang="en-US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y)</a:t>
            </a:r>
            <a:r>
              <a:rPr kumimoji="0" lang="en-US" altLang="zh-CN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Q(u</a:t>
            </a:r>
            <a:r>
              <a:rPr kumimoji="0" lang="zh-CN" altLang="en-US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z))</a:t>
            </a:r>
          </a:p>
          <a:p>
            <a:pPr marL="365125" indent="-365125">
              <a:lnSpc>
                <a:spcPct val="105000"/>
              </a:lnSpc>
              <a:buFont typeface="Wingdings" pitchFamily="2" charset="2"/>
              <a:buNone/>
              <a:tabLst>
                <a:tab pos="365125" algn="l"/>
              </a:tabLst>
            </a:pPr>
            <a:r>
              <a:rPr kumimoji="0" lang="en-US" altLang="zh-CN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        c. </a:t>
            </a:r>
            <a:r>
              <a:rPr kumimoji="0" lang="en-US" altLang="zh-CN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</a:t>
            </a:r>
            <a:r>
              <a:rPr kumimoji="0" lang="en-US" altLang="zh-CN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u(P(x</a:t>
            </a:r>
            <a:r>
              <a:rPr kumimoji="0" lang="zh-CN" altLang="en-US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y)</a:t>
            </a:r>
            <a:r>
              <a:rPr kumimoji="0" lang="en-US" altLang="zh-CN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Q(x</a:t>
            </a:r>
            <a:r>
              <a:rPr kumimoji="0" lang="zh-CN" altLang="en-US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z))</a:t>
            </a:r>
          </a:p>
          <a:p>
            <a:pPr marL="365125" indent="-365125">
              <a:lnSpc>
                <a:spcPct val="105000"/>
              </a:lnSpc>
              <a:buFont typeface="Wingdings" pitchFamily="2" charset="2"/>
              <a:buNone/>
              <a:tabLst>
                <a:tab pos="365125" algn="l"/>
              </a:tabLst>
            </a:pPr>
            <a:r>
              <a:rPr kumimoji="0" lang="en-US" altLang="zh-CN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        d. </a:t>
            </a:r>
            <a:r>
              <a:rPr kumimoji="0" lang="en-US" altLang="zh-CN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</a:t>
            </a:r>
            <a:r>
              <a:rPr kumimoji="0" lang="en-US" altLang="zh-CN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y(P(y</a:t>
            </a:r>
            <a:r>
              <a:rPr kumimoji="0" lang="zh-CN" altLang="en-US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y)</a:t>
            </a:r>
            <a:r>
              <a:rPr kumimoji="0" lang="en-US" altLang="zh-CN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Q(y</a:t>
            </a:r>
            <a:r>
              <a:rPr kumimoji="0" lang="zh-CN" altLang="en-US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z))</a:t>
            </a:r>
          </a:p>
          <a:p>
            <a:pPr marL="365125" indent="-365125">
              <a:lnSpc>
                <a:spcPct val="105000"/>
              </a:lnSpc>
              <a:buFont typeface="Wingdings" pitchFamily="2" charset="2"/>
              <a:buNone/>
              <a:tabLst>
                <a:tab pos="365125" algn="l"/>
              </a:tabLst>
            </a:pPr>
            <a:r>
              <a:rPr kumimoji="0" lang="en-US" altLang="zh-CN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        e. </a:t>
            </a:r>
            <a:r>
              <a:rPr kumimoji="0" lang="en-US" altLang="zh-CN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</a:t>
            </a:r>
            <a:r>
              <a:rPr kumimoji="0" lang="en-US" altLang="zh-CN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z(P(z</a:t>
            </a:r>
            <a:r>
              <a:rPr kumimoji="0" lang="zh-CN" altLang="en-US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y)</a:t>
            </a:r>
            <a:r>
              <a:rPr kumimoji="0" lang="en-US" altLang="zh-CN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Q(z</a:t>
            </a:r>
            <a:r>
              <a:rPr kumimoji="0" lang="zh-CN" altLang="en-US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z)) 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1" dur="80"/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2" dur="80"/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80"/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8" dur="80"/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9" dur="80"/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80"/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5" dur="80"/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6" dur="80"/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80"/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9" grpId="0" build="p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Slide Number Placeholder 5">
            <a:extLst>
              <a:ext uri="{FF2B5EF4-FFF2-40B4-BE49-F238E27FC236}">
                <a16:creationId xmlns:a16="http://schemas.microsoft.com/office/drawing/2014/main" id="{36E15717-2BF4-E24E-994C-A2E04A4BCC1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0F679E0-DE2B-AF41-9035-24CB7B4F62DD}" type="slidenum">
              <a:rPr kumimoji="0" lang="en-US" altLang="zh-CN" sz="1200"/>
              <a:pPr/>
              <a:t>28</a:t>
            </a:fld>
            <a:endParaRPr kumimoji="0" lang="en-US" altLang="zh-CN" sz="1200"/>
          </a:p>
        </p:txBody>
      </p:sp>
      <p:sp>
        <p:nvSpPr>
          <p:cNvPr id="147459" name="Rectangle 3">
            <a:extLst>
              <a:ext uri="{FF2B5EF4-FFF2-40B4-BE49-F238E27FC236}">
                <a16:creationId xmlns:a16="http://schemas.microsoft.com/office/drawing/2014/main" id="{F14727E1-0A99-2543-B880-AF2F8FA39CD3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838200"/>
            <a:ext cx="8763000" cy="4953000"/>
          </a:xfrm>
        </p:spPr>
        <p:txBody>
          <a:bodyPr/>
          <a:lstStyle/>
          <a:p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因此，在谓词逻辑中的一个表达式里，我们总可以通过改名规则，使得该表达式中所有的约束变量都不是自由变量，于是所有的自由变量也都不是约束变量了。</a:t>
            </a:r>
          </a:p>
          <a:p>
            <a:endParaRPr kumimoji="0" lang="zh-CN" altLang="en-US" sz="3200">
              <a:latin typeface="Arial" panose="020B0604020202020204" pitchFamily="34" charset="0"/>
              <a:ea typeface="楷体_GB2312" pitchFamily="1" charset="-122"/>
            </a:endParaRPr>
          </a:p>
          <a:p>
            <a:pPr>
              <a:spcBef>
                <a:spcPct val="0"/>
              </a:spcBef>
              <a:buClrTx/>
              <a:buSzTx/>
              <a:buFont typeface="Wingdings" pitchFamily="2" charset="2"/>
              <a:buChar char="v"/>
            </a:pPr>
            <a:r>
              <a:rPr kumimoji="0" lang="zh-CN" altLang="en-US" sz="3200">
                <a:solidFill>
                  <a:schemeClr val="accent1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例如：</a:t>
            </a:r>
            <a:br>
              <a:rPr kumimoji="0" lang="zh-CN" altLang="en-US" sz="3200">
                <a:solidFill>
                  <a:schemeClr val="accent1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</a:b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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x(P(x, y)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Q(x, z))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R(x)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可改名为：</a:t>
            </a:r>
            <a:b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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u(P(u, y)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Q(u, z))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R(x)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147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147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147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46">
            <a:extLst>
              <a:ext uri="{FF2B5EF4-FFF2-40B4-BE49-F238E27FC236}">
                <a16:creationId xmlns:a16="http://schemas.microsoft.com/office/drawing/2014/main" id="{0970A7DF-F515-ED4C-AE1E-154D7437FBF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CC2BC38-47C8-AB47-B0A8-B5197E7CE585}" type="slidenum">
              <a:rPr kumimoji="0" lang="en-US" altLang="zh-CN" sz="1200"/>
              <a:pPr/>
              <a:t>29</a:t>
            </a:fld>
            <a:endParaRPr kumimoji="0" lang="en-US" altLang="zh-CN" sz="1200"/>
          </a:p>
        </p:txBody>
      </p:sp>
      <p:sp>
        <p:nvSpPr>
          <p:cNvPr id="43010" name="Rectangle 2">
            <a:extLst>
              <a:ext uri="{FF2B5EF4-FFF2-40B4-BE49-F238E27FC236}">
                <a16:creationId xmlns:a16="http://schemas.microsoft.com/office/drawing/2014/main" id="{0C4B5FC1-20C1-8145-9DB5-918F514B149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066800" y="2362200"/>
            <a:ext cx="6629400" cy="1828800"/>
          </a:xfrm>
        </p:spPr>
        <p:txBody>
          <a:bodyPr/>
          <a:lstStyle/>
          <a:p>
            <a:pPr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>
                <a:latin typeface="Arial" charset="0"/>
                <a:ea typeface="楷体_GB2312" charset="0"/>
                <a:cs typeface="+mj-cs"/>
              </a:rPr>
              <a:t>§</a:t>
            </a:r>
            <a:r>
              <a:rPr lang="en-US" altLang="zh-CN">
                <a:latin typeface="Arial" charset="0"/>
                <a:ea typeface="楷体_GB2312" charset="0"/>
                <a:cs typeface="Times New Roman" charset="0"/>
              </a:rPr>
              <a:t>3.2.2  </a:t>
            </a:r>
            <a:r>
              <a:rPr lang="zh-CN" altLang="en-US">
                <a:latin typeface="Arial" charset="0"/>
                <a:ea typeface="楷体_GB2312" charset="0"/>
                <a:cs typeface="+mj-cs"/>
              </a:rPr>
              <a:t>谓词公式 </a:t>
            </a:r>
          </a:p>
        </p:txBody>
      </p:sp>
    </p:spTree>
  </p:cSld>
  <p:clrMapOvr>
    <a:masterClrMapping/>
  </p:clrMapOvr>
  <p:transition>
    <p:blinds dir="vert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Slide Number Placeholder 5">
            <a:extLst>
              <a:ext uri="{FF2B5EF4-FFF2-40B4-BE49-F238E27FC236}">
                <a16:creationId xmlns:a16="http://schemas.microsoft.com/office/drawing/2014/main" id="{2914C640-5832-9046-A3CE-AA15948051A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46DE752-D10A-0A4D-8210-C5786C1B4F77}" type="slidenum">
              <a:rPr kumimoji="0" lang="en-US" altLang="zh-CN" sz="1200"/>
              <a:pPr/>
              <a:t>30</a:t>
            </a:fld>
            <a:endParaRPr kumimoji="0" lang="en-US" altLang="zh-CN" sz="1200"/>
          </a:p>
        </p:txBody>
      </p:sp>
      <p:sp>
        <p:nvSpPr>
          <p:cNvPr id="44034" name="Rectangle 2">
            <a:extLst>
              <a:ext uri="{FF2B5EF4-FFF2-40B4-BE49-F238E27FC236}">
                <a16:creationId xmlns:a16="http://schemas.microsoft.com/office/drawing/2014/main" id="{3234B8B1-E81B-3145-BAFC-E288E490C5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277813"/>
            <a:ext cx="8001000" cy="1143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公式 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A8004FDE-D5B1-DB4E-89D0-552554420E5A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447800"/>
            <a:ext cx="8839200" cy="4648200"/>
          </a:xfrm>
        </p:spPr>
        <p:txBody>
          <a:bodyPr/>
          <a:lstStyle/>
          <a:p>
            <a:pPr marL="441325" indent="-441325">
              <a:lnSpc>
                <a:spcPct val="110000"/>
              </a:lnSpc>
              <a:tabLst>
                <a:tab pos="441325" algn="l"/>
              </a:tabLst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在形式化中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, 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我们将使用如下四种符号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:</a:t>
            </a:r>
          </a:p>
          <a:p>
            <a:pPr marL="441325" indent="-441325">
              <a:lnSpc>
                <a:spcPct val="110000"/>
              </a:lnSpc>
              <a:buFont typeface="Wingdings" pitchFamily="2" charset="2"/>
              <a:buNone/>
              <a:tabLst>
                <a:tab pos="441325" algn="l"/>
              </a:tabLst>
            </a:pPr>
            <a:r>
              <a:rPr kumimoji="0" lang="en-US" altLang="zh-CN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1.</a:t>
            </a:r>
            <a:r>
              <a:rPr kumimoji="0" lang="zh-CN" altLang="en-US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常量符号：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用小写英文字母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a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b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c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…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表示，当个体名称集合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D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给出时，它可以是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D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中某个元素。</a:t>
            </a:r>
          </a:p>
          <a:p>
            <a:pPr marL="441325" indent="-441325">
              <a:lnSpc>
                <a:spcPct val="110000"/>
              </a:lnSpc>
              <a:buFont typeface="Wingdings" pitchFamily="2" charset="2"/>
              <a:buNone/>
              <a:tabLst>
                <a:tab pos="441325" algn="l"/>
              </a:tabLst>
            </a:pPr>
            <a:r>
              <a:rPr kumimoji="0" lang="en-US" altLang="zh-CN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2.</a:t>
            </a:r>
            <a:r>
              <a:rPr kumimoji="0" lang="zh-CN" altLang="en-US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变量符号：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用小写英文字母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x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y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z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…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表示，当个体名称集合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D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给出时，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D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中任意元素可代入变量符号。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5" grpId="0" build="p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Slide Number Placeholder 5">
            <a:extLst>
              <a:ext uri="{FF2B5EF4-FFF2-40B4-BE49-F238E27FC236}">
                <a16:creationId xmlns:a16="http://schemas.microsoft.com/office/drawing/2014/main" id="{7A4750DF-DCD2-314F-8464-DE8C31E959A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34C936A-4D16-BD4E-90C3-37CA77B4E745}" type="slidenum">
              <a:rPr kumimoji="0" lang="en-US" altLang="zh-CN" sz="1200"/>
              <a:pPr/>
              <a:t>31</a:t>
            </a:fld>
            <a:endParaRPr kumimoji="0" lang="en-US" altLang="zh-CN" sz="1200"/>
          </a:p>
        </p:txBody>
      </p:sp>
      <p:sp>
        <p:nvSpPr>
          <p:cNvPr id="45058" name="Rectangle 2">
            <a:extLst>
              <a:ext uri="{FF2B5EF4-FFF2-40B4-BE49-F238E27FC236}">
                <a16:creationId xmlns:a16="http://schemas.microsoft.com/office/drawing/2014/main" id="{C843D7FB-BAF1-F04D-A4B1-4FEC136256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277813"/>
            <a:ext cx="8001000" cy="1143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公式 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9AF26908-A0B1-6F4A-B545-B177D5860BEE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52400" y="1447800"/>
            <a:ext cx="8610600" cy="3962400"/>
          </a:xfrm>
        </p:spPr>
        <p:txBody>
          <a:bodyPr/>
          <a:lstStyle/>
          <a:p>
            <a:pPr marL="533400" indent="-533400">
              <a:lnSpc>
                <a:spcPct val="105000"/>
              </a:lnSpc>
              <a:buFont typeface="Wingdings" pitchFamily="2" charset="2"/>
              <a:buNone/>
              <a:tabLst>
                <a:tab pos="1146175" algn="l"/>
              </a:tabLst>
            </a:pPr>
            <a:r>
              <a:rPr kumimoji="0" lang="en-US" altLang="zh-CN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3. </a:t>
            </a:r>
            <a:r>
              <a:rPr kumimoji="0" lang="zh-CN" altLang="en-US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函数符号：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用小写英文字母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f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…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表示，当个体名称集合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D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给出时，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n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元函数符号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f(x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…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x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n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)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可以是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D</a:t>
            </a:r>
            <a:r>
              <a:rPr kumimoji="0" lang="en-US" altLang="zh-CN" sz="3200" baseline="30000">
                <a:latin typeface="Arial" panose="020B0604020202020204" pitchFamily="34" charset="0"/>
                <a:ea typeface="楷体_GB2312" pitchFamily="1" charset="-122"/>
              </a:rPr>
              <a:t>n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到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D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的任意一个映射。</a:t>
            </a:r>
          </a:p>
          <a:p>
            <a:pPr marL="533400" indent="-533400">
              <a:lnSpc>
                <a:spcPct val="105000"/>
              </a:lnSpc>
              <a:buFont typeface="Wingdings" pitchFamily="2" charset="2"/>
              <a:buNone/>
              <a:tabLst>
                <a:tab pos="1146175" algn="l"/>
              </a:tabLst>
            </a:pPr>
            <a:r>
              <a:rPr kumimoji="0" lang="en-US" altLang="zh-CN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4. </a:t>
            </a:r>
            <a:r>
              <a:rPr kumimoji="0" lang="zh-CN" altLang="en-US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谓词符号：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用大写英文字母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R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…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表示，当个体名称集合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D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给出时，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n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元谓词符号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P(x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…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x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n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)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可以是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D</a:t>
            </a:r>
            <a:r>
              <a:rPr kumimoji="0" lang="en-US" altLang="zh-CN" sz="3200" baseline="30000">
                <a:latin typeface="Arial" panose="020B0604020202020204" pitchFamily="34" charset="0"/>
                <a:ea typeface="楷体_GB2312" pitchFamily="1" charset="-122"/>
              </a:rPr>
              <a:t>n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上的任意一个谓词。 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9" grpId="0" build="p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Slide Number Placeholder 5">
            <a:extLst>
              <a:ext uri="{FF2B5EF4-FFF2-40B4-BE49-F238E27FC236}">
                <a16:creationId xmlns:a16="http://schemas.microsoft.com/office/drawing/2014/main" id="{E17531CA-56BE-8746-9704-3500EA4003A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24A503F-5AB2-B444-913D-E31CFD4DDED2}" type="slidenum">
              <a:rPr kumimoji="0" lang="en-US" altLang="zh-CN" sz="1200"/>
              <a:pPr/>
              <a:t>32</a:t>
            </a:fld>
            <a:endParaRPr kumimoji="0" lang="en-US" altLang="zh-CN" sz="1200"/>
          </a:p>
        </p:txBody>
      </p:sp>
      <p:sp>
        <p:nvSpPr>
          <p:cNvPr id="46082" name="Rectangle 2">
            <a:extLst>
              <a:ext uri="{FF2B5EF4-FFF2-40B4-BE49-F238E27FC236}">
                <a16:creationId xmlns:a16="http://schemas.microsoft.com/office/drawing/2014/main" id="{69AFF61F-8477-7E4C-8A22-3CB99998F3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277813"/>
            <a:ext cx="8229600" cy="1143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定义</a:t>
            </a:r>
            <a:r>
              <a:rPr lang="en-US" altLang="zh-CN" dirty="0">
                <a:latin typeface="Arial" charset="0"/>
                <a:ea typeface="楷体_GB2312" charset="0"/>
                <a:cs typeface="+mj-cs"/>
              </a:rPr>
              <a:t>3.2.6 </a:t>
            </a: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项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410A718F-FDC3-2543-916A-7318ABC87163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447800"/>
            <a:ext cx="8610600" cy="5029200"/>
          </a:xfrm>
        </p:spPr>
        <p:txBody>
          <a:bodyPr/>
          <a:lstStyle/>
          <a:p>
            <a:pPr marL="365125" indent="-365125">
              <a:lnSpc>
                <a:spcPct val="105000"/>
              </a:lnSpc>
              <a:tabLst>
                <a:tab pos="533400" algn="l"/>
              </a:tabLst>
            </a:pPr>
            <a:r>
              <a:rPr kumimoji="0" lang="zh-CN" altLang="en-US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谓词逻辑中的项，被递归定义为：</a:t>
            </a:r>
          </a:p>
          <a:p>
            <a:pPr marL="365125" indent="-365125">
              <a:lnSpc>
                <a:spcPct val="105000"/>
              </a:lnSpc>
              <a:buFont typeface="Wingdings" pitchFamily="2" charset="2"/>
              <a:buNone/>
              <a:tabLst>
                <a:tab pos="533400" algn="l"/>
              </a:tabLst>
            </a:pPr>
            <a:r>
              <a:rPr kumimoji="0" lang="en-US" altLang="zh-CN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1) </a:t>
            </a:r>
            <a:r>
              <a:rPr kumimoji="0" lang="zh-CN" altLang="en-US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常量符号是项；</a:t>
            </a:r>
          </a:p>
          <a:p>
            <a:pPr marL="365125" indent="-365125">
              <a:lnSpc>
                <a:spcPct val="105000"/>
              </a:lnSpc>
              <a:buFont typeface="Wingdings" pitchFamily="2" charset="2"/>
              <a:buNone/>
              <a:tabLst>
                <a:tab pos="533400" algn="l"/>
              </a:tabLst>
            </a:pPr>
            <a:r>
              <a:rPr kumimoji="0" lang="en-US" altLang="zh-CN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2) </a:t>
            </a:r>
            <a:r>
              <a:rPr kumimoji="0" lang="zh-CN" altLang="en-US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变量符号是项；</a:t>
            </a:r>
          </a:p>
          <a:p>
            <a:pPr marL="365125" indent="-365125">
              <a:lnSpc>
                <a:spcPct val="105000"/>
              </a:lnSpc>
              <a:buFont typeface="Wingdings" pitchFamily="2" charset="2"/>
              <a:buNone/>
              <a:tabLst>
                <a:tab pos="533400" algn="l"/>
              </a:tabLst>
            </a:pPr>
            <a:r>
              <a:rPr kumimoji="0" lang="en-US" altLang="zh-CN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3) </a:t>
            </a:r>
            <a:r>
              <a:rPr kumimoji="0" lang="zh-CN" altLang="en-US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若</a:t>
            </a:r>
            <a:r>
              <a:rPr kumimoji="0" lang="en-US" altLang="zh-CN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f(x</a:t>
            </a:r>
            <a:r>
              <a:rPr kumimoji="0" lang="en-US" altLang="zh-CN" sz="3200" baseline="-300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, …, x</a:t>
            </a:r>
            <a:r>
              <a:rPr kumimoji="0" lang="en-US" altLang="zh-CN" sz="3200" baseline="-300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n</a:t>
            </a:r>
            <a:r>
              <a:rPr kumimoji="0" lang="en-US" altLang="zh-CN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)</a:t>
            </a:r>
            <a:r>
              <a:rPr kumimoji="0" lang="zh-CN" altLang="en-US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是</a:t>
            </a:r>
            <a:r>
              <a:rPr kumimoji="0" lang="en-US" altLang="zh-CN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n</a:t>
            </a:r>
            <a:r>
              <a:rPr kumimoji="0" lang="zh-CN" altLang="en-US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元函数符号，</a:t>
            </a:r>
            <a:r>
              <a:rPr kumimoji="0" lang="en-US" altLang="zh-CN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t</a:t>
            </a:r>
            <a:r>
              <a:rPr kumimoji="0" lang="en-US" altLang="zh-CN" sz="3200" baseline="-300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, …, t</a:t>
            </a:r>
            <a:r>
              <a:rPr kumimoji="0" lang="en-US" altLang="zh-CN" sz="3200" baseline="-300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n</a:t>
            </a:r>
            <a:br>
              <a:rPr kumimoji="0" lang="en-US" altLang="zh-CN" sz="3200" baseline="-300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en-US" altLang="zh-CN" sz="3200" baseline="-300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	</a:t>
            </a:r>
            <a:r>
              <a:rPr kumimoji="0" lang="zh-CN" altLang="en-US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是项，则</a:t>
            </a:r>
            <a:r>
              <a:rPr kumimoji="0" lang="en-US" altLang="zh-CN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f(t</a:t>
            </a:r>
            <a:r>
              <a:rPr kumimoji="0" lang="en-US" altLang="zh-CN" sz="3200" baseline="-300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, …, t</a:t>
            </a:r>
            <a:r>
              <a:rPr kumimoji="0" lang="en-US" altLang="zh-CN" sz="3200" baseline="-300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n</a:t>
            </a:r>
            <a:r>
              <a:rPr kumimoji="0" lang="en-US" altLang="zh-CN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)</a:t>
            </a:r>
            <a:r>
              <a:rPr kumimoji="0" lang="zh-CN" altLang="en-US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是项；</a:t>
            </a:r>
          </a:p>
          <a:p>
            <a:pPr marL="365125" indent="-365125">
              <a:lnSpc>
                <a:spcPct val="105000"/>
              </a:lnSpc>
              <a:buFont typeface="Wingdings" pitchFamily="2" charset="2"/>
              <a:buNone/>
              <a:tabLst>
                <a:tab pos="533400" algn="l"/>
              </a:tabLst>
            </a:pPr>
            <a:r>
              <a:rPr kumimoji="0" lang="en-US" altLang="zh-CN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4) </a:t>
            </a:r>
            <a:r>
              <a:rPr kumimoji="0" lang="zh-CN" altLang="en-US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所有项都是有限次使用</a:t>
            </a:r>
            <a:r>
              <a:rPr kumimoji="0" lang="en-US" altLang="zh-CN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1)</a:t>
            </a:r>
            <a:r>
              <a:rPr kumimoji="0" lang="zh-CN" altLang="en-US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2)</a:t>
            </a:r>
            <a:r>
              <a:rPr kumimoji="0" lang="zh-CN" altLang="en-US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3)</a:t>
            </a:r>
            <a:r>
              <a:rPr kumimoji="0" lang="zh-CN" altLang="en-US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生成</a:t>
            </a:r>
            <a:br>
              <a:rPr kumimoji="0" lang="zh-CN" altLang="en-US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zh-CN" altLang="en-US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	的符号串。 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1" dur="80"/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2" dur="80"/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80"/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8" dur="80"/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9" dur="80"/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80"/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3" grpId="0" build="p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Slide Number Placeholder 5">
            <a:extLst>
              <a:ext uri="{FF2B5EF4-FFF2-40B4-BE49-F238E27FC236}">
                <a16:creationId xmlns:a16="http://schemas.microsoft.com/office/drawing/2014/main" id="{50610167-C13A-5947-9BD4-DF50369B9DD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12CD680-37A0-9844-AC7D-4D386576C71D}" type="slidenum">
              <a:rPr kumimoji="0" lang="en-US" altLang="zh-CN" sz="1200"/>
              <a:pPr/>
              <a:t>33</a:t>
            </a:fld>
            <a:endParaRPr kumimoji="0" lang="en-US" altLang="zh-CN" sz="1200"/>
          </a:p>
        </p:txBody>
      </p:sp>
      <p:sp>
        <p:nvSpPr>
          <p:cNvPr id="159746" name="Rectangle 2">
            <a:extLst>
              <a:ext uri="{FF2B5EF4-FFF2-40B4-BE49-F238E27FC236}">
                <a16:creationId xmlns:a16="http://schemas.microsoft.com/office/drawing/2014/main" id="{54334BB0-9055-F04B-BCF4-EAD09C1BC1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6512511" cy="1143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cs typeface="+mj-cs"/>
              </a:rPr>
              <a:t>例：</a:t>
            </a:r>
          </a:p>
        </p:txBody>
      </p:sp>
      <p:sp>
        <p:nvSpPr>
          <p:cNvPr id="159747" name="Rectangle 3">
            <a:extLst>
              <a:ext uri="{FF2B5EF4-FFF2-40B4-BE49-F238E27FC236}">
                <a16:creationId xmlns:a16="http://schemas.microsoft.com/office/drawing/2014/main" id="{A64488F1-CB4E-BC41-A1DB-2E1C4CCD9BBC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52400" y="1600200"/>
            <a:ext cx="8610600" cy="4800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1) 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复合函数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f(g(x, y), h(a, g(x, y), z))</a:t>
            </a:r>
            <a:b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    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是一个</a:t>
            </a:r>
            <a:r>
              <a:rPr kumimoji="0" lang="zh-CN" altLang="en-US" sz="3200">
                <a:solidFill>
                  <a:schemeClr val="accent1"/>
                </a:solidFill>
                <a:latin typeface="Arial" panose="020B0604020202020204" pitchFamily="34" charset="0"/>
                <a:ea typeface="楷体_GB2312" pitchFamily="1" charset="-122"/>
              </a:rPr>
              <a:t>项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；</a:t>
            </a:r>
          </a:p>
          <a:p>
            <a:pPr>
              <a:lnSpc>
                <a:spcPct val="90000"/>
              </a:lnSpc>
            </a:pPr>
            <a:endParaRPr kumimoji="0" lang="zh-CN" altLang="en-US" sz="3200">
              <a:latin typeface="Arial" panose="020B0604020202020204" pitchFamily="34" charset="0"/>
              <a:ea typeface="楷体_GB2312" pitchFamily="1" charset="-122"/>
            </a:endParaRPr>
          </a:p>
          <a:p>
            <a:pPr>
              <a:lnSpc>
                <a:spcPct val="90000"/>
              </a:lnSpc>
            </a:pP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2) 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设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f(x)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x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的父亲；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P(x)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x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是教授；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c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：周鸿。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	则：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f(c)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是一个</a:t>
            </a:r>
            <a:r>
              <a:rPr kumimoji="0" lang="zh-CN" altLang="en-US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项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；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		   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P(f(c))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表示“周鸿的父亲是教授。”这一</a:t>
            </a:r>
            <a:r>
              <a:rPr kumimoji="0" lang="zh-CN" altLang="en-US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命题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。不是项。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159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159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159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159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159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159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1" dur="80"/>
                                        <p:tgtEl>
                                          <p:spTgt spid="159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2" dur="80"/>
                                        <p:tgtEl>
                                          <p:spTgt spid="159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80"/>
                                        <p:tgtEl>
                                          <p:spTgt spid="159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Slide Number Placeholder 5">
            <a:extLst>
              <a:ext uri="{FF2B5EF4-FFF2-40B4-BE49-F238E27FC236}">
                <a16:creationId xmlns:a16="http://schemas.microsoft.com/office/drawing/2014/main" id="{93C52A08-5FAC-A545-8E07-1DA4D3DCDC7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65B2F07-D4FA-224D-8187-DC3C7E0E0234}" type="slidenum">
              <a:rPr kumimoji="0" lang="en-US" altLang="zh-CN" sz="1200"/>
              <a:pPr/>
              <a:t>34</a:t>
            </a:fld>
            <a:endParaRPr kumimoji="0" lang="en-US" altLang="zh-CN" sz="1200"/>
          </a:p>
        </p:txBody>
      </p:sp>
      <p:sp>
        <p:nvSpPr>
          <p:cNvPr id="47106" name="Rectangle 2">
            <a:extLst>
              <a:ext uri="{FF2B5EF4-FFF2-40B4-BE49-F238E27FC236}">
                <a16:creationId xmlns:a16="http://schemas.microsoft.com/office/drawing/2014/main" id="{761E3F6D-5A3D-F641-A197-26DAA25806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304800"/>
            <a:ext cx="8229600" cy="1143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定义</a:t>
            </a:r>
            <a:r>
              <a:rPr lang="en-US" altLang="zh-CN" dirty="0">
                <a:latin typeface="Arial" charset="0"/>
                <a:ea typeface="楷体_GB2312" charset="0"/>
                <a:cs typeface="+mj-cs"/>
              </a:rPr>
              <a:t>3.2.7 </a:t>
            </a: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原子</a:t>
            </a:r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00FD4FF4-B1B5-DE49-A1B6-49FB3E780432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524000"/>
            <a:ext cx="8763000" cy="3429000"/>
          </a:xfrm>
        </p:spPr>
        <p:txBody>
          <a:bodyPr/>
          <a:lstStyle/>
          <a:p>
            <a:pPr marL="365125" indent="-365125">
              <a:lnSpc>
                <a:spcPct val="120000"/>
              </a:lnSpc>
              <a:tabLst>
                <a:tab pos="1146175" algn="l"/>
              </a:tabLst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若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P(x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,…,x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n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)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是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n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元谓词符号，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t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,…,t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n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是项，则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P(t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,…,t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n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)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是原子。 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7" grpId="0" build="p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Slide Number Placeholder 5">
            <a:extLst>
              <a:ext uri="{FF2B5EF4-FFF2-40B4-BE49-F238E27FC236}">
                <a16:creationId xmlns:a16="http://schemas.microsoft.com/office/drawing/2014/main" id="{0C9E6D3E-A1D0-AD48-B12F-53415EC6F12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7F5F2C0-D5A4-0147-AC55-BDFC045C8ECD}" type="slidenum">
              <a:rPr kumimoji="0" lang="en-US" altLang="zh-CN" sz="1200"/>
              <a:pPr/>
              <a:t>35</a:t>
            </a:fld>
            <a:endParaRPr kumimoji="0" lang="en-US" altLang="zh-CN" sz="1200"/>
          </a:p>
        </p:txBody>
      </p:sp>
      <p:sp>
        <p:nvSpPr>
          <p:cNvPr id="48130" name="Rectangle 2">
            <a:extLst>
              <a:ext uri="{FF2B5EF4-FFF2-40B4-BE49-F238E27FC236}">
                <a16:creationId xmlns:a16="http://schemas.microsoft.com/office/drawing/2014/main" id="{E40C2777-4995-E64C-93C6-B1117CB617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228600"/>
            <a:ext cx="8229600" cy="1143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定义</a:t>
            </a:r>
            <a:r>
              <a:rPr lang="en-US" altLang="zh-CN" dirty="0">
                <a:latin typeface="Arial" charset="0"/>
                <a:ea typeface="楷体_GB2312" charset="0"/>
                <a:cs typeface="+mj-cs"/>
              </a:rPr>
              <a:t>3.2.8  </a:t>
            </a: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公式 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51A85F21-0F5A-5842-842F-C4042890DDDD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371600"/>
            <a:ext cx="8839200" cy="5029200"/>
          </a:xfrm>
        </p:spPr>
        <p:txBody>
          <a:bodyPr>
            <a:normAutofit/>
          </a:bodyPr>
          <a:lstStyle/>
          <a:p>
            <a:pPr marL="533400" indent="-533400">
              <a:tabLst>
                <a:tab pos="758825" algn="l"/>
              </a:tabLst>
            </a:pPr>
            <a:r>
              <a:rPr kumimoji="0" lang="zh-CN" altLang="en-US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谓词逻辑中的公式，被递归定义如下：</a:t>
            </a:r>
          </a:p>
          <a:p>
            <a:pPr marL="533400" indent="-533400">
              <a:buFont typeface="Wingdings" pitchFamily="2" charset="2"/>
              <a:buNone/>
              <a:tabLst>
                <a:tab pos="758825" algn="l"/>
              </a:tabLst>
            </a:pPr>
            <a:r>
              <a:rPr kumimoji="0" lang="en-US" altLang="zh-CN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1) </a:t>
            </a:r>
            <a:r>
              <a:rPr kumimoji="0" lang="zh-CN" altLang="en-US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原子是公式；</a:t>
            </a:r>
          </a:p>
          <a:p>
            <a:pPr marL="533400" indent="-533400">
              <a:buFont typeface="Wingdings" pitchFamily="2" charset="2"/>
              <a:buNone/>
              <a:tabLst>
                <a:tab pos="758825" algn="l"/>
              </a:tabLst>
            </a:pPr>
            <a:r>
              <a:rPr kumimoji="0" lang="en-US" altLang="zh-CN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2) </a:t>
            </a:r>
            <a:r>
              <a:rPr kumimoji="0" lang="zh-CN" altLang="en-US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若</a:t>
            </a:r>
            <a:r>
              <a:rPr kumimoji="0" lang="en-US" altLang="zh-CN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H</a:t>
            </a:r>
            <a:r>
              <a:rPr kumimoji="0" lang="zh-CN" altLang="en-US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是公式，则</a:t>
            </a:r>
            <a:r>
              <a:rPr kumimoji="0" lang="en-US" altLang="zh-CN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(</a:t>
            </a:r>
            <a:r>
              <a:rPr kumimoji="0" lang="en-US" altLang="zh-CN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G)</a:t>
            </a:r>
            <a:r>
              <a:rPr kumimoji="0" lang="zh-CN" altLang="en-US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(G</a:t>
            </a:r>
            <a:r>
              <a:rPr kumimoji="0" lang="en-US" altLang="zh-CN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H)</a:t>
            </a:r>
            <a:r>
              <a:rPr kumimoji="0" lang="zh-CN" altLang="en-US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(G</a:t>
            </a:r>
            <a:r>
              <a:rPr kumimoji="0" lang="en-US" altLang="zh-CN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H)</a:t>
            </a:r>
            <a:r>
              <a:rPr kumimoji="0" lang="zh-CN" altLang="en-US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(G</a:t>
            </a:r>
            <a:r>
              <a:rPr kumimoji="0" lang="en-US" altLang="zh-CN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</a:t>
            </a:r>
            <a:r>
              <a:rPr kumimoji="0" lang="en-US" altLang="zh-CN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H)</a:t>
            </a:r>
            <a:r>
              <a:rPr kumimoji="0" lang="zh-CN" altLang="en-US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(G</a:t>
            </a:r>
            <a:r>
              <a:rPr kumimoji="0" lang="en-US" altLang="zh-CN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</a:t>
            </a:r>
            <a:r>
              <a:rPr kumimoji="0" lang="en-US" altLang="zh-CN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H)</a:t>
            </a:r>
            <a:r>
              <a:rPr kumimoji="0" lang="zh-CN" altLang="en-US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是公式；</a:t>
            </a:r>
          </a:p>
          <a:p>
            <a:pPr marL="533400" indent="-533400">
              <a:buFont typeface="Wingdings" pitchFamily="2" charset="2"/>
              <a:buNone/>
              <a:tabLst>
                <a:tab pos="758825" algn="l"/>
              </a:tabLst>
            </a:pPr>
            <a:r>
              <a:rPr kumimoji="0" lang="en-US" altLang="zh-CN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3) </a:t>
            </a:r>
            <a:r>
              <a:rPr kumimoji="0" lang="zh-CN" altLang="en-US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若</a:t>
            </a:r>
            <a:r>
              <a:rPr kumimoji="0" lang="en-US" altLang="zh-CN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是公式，</a:t>
            </a:r>
            <a:r>
              <a:rPr kumimoji="0" lang="en-US" altLang="zh-CN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x</a:t>
            </a:r>
            <a:r>
              <a:rPr kumimoji="0" lang="zh-CN" altLang="en-US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是</a:t>
            </a:r>
            <a:r>
              <a:rPr kumimoji="0" lang="en-US" altLang="zh-CN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中的自由变量，则</a:t>
            </a:r>
            <a:r>
              <a:rPr kumimoji="0" lang="zh-CN" altLang="en-US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</a:t>
            </a:r>
            <a:r>
              <a:rPr kumimoji="0" lang="en-US" altLang="zh-CN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xG</a:t>
            </a:r>
            <a:r>
              <a:rPr kumimoji="0" lang="zh-CN" altLang="en-US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zh-CN" altLang="en-US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</a:t>
            </a:r>
            <a:r>
              <a:rPr kumimoji="0" lang="en-US" altLang="zh-CN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xG</a:t>
            </a:r>
            <a:r>
              <a:rPr kumimoji="0" lang="zh-CN" altLang="en-US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是公式；</a:t>
            </a:r>
          </a:p>
          <a:p>
            <a:pPr marL="533400" indent="-533400">
              <a:buFont typeface="Wingdings" pitchFamily="2" charset="2"/>
              <a:buNone/>
              <a:tabLst>
                <a:tab pos="758825" algn="l"/>
              </a:tabLst>
            </a:pPr>
            <a:r>
              <a:rPr kumimoji="0" lang="en-US" altLang="zh-CN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4) </a:t>
            </a:r>
            <a:r>
              <a:rPr kumimoji="0" lang="zh-CN" altLang="en-US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所有公式都是有限次使用</a:t>
            </a:r>
            <a:r>
              <a:rPr kumimoji="0" lang="en-US" altLang="zh-CN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1)</a:t>
            </a:r>
            <a:r>
              <a:rPr kumimoji="0" lang="zh-CN" altLang="en-US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～</a:t>
            </a:r>
            <a:r>
              <a:rPr kumimoji="0" lang="en-US" altLang="zh-CN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3)</a:t>
            </a:r>
            <a:r>
              <a:rPr kumimoji="0" lang="zh-CN" altLang="en-US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生成的符号串。 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1" dur="80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2" dur="80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80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8" dur="80"/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9" dur="80"/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80"/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 build="p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Slide Number Placeholder 5">
            <a:extLst>
              <a:ext uri="{FF2B5EF4-FFF2-40B4-BE49-F238E27FC236}">
                <a16:creationId xmlns:a16="http://schemas.microsoft.com/office/drawing/2014/main" id="{BAA86FA7-6A65-324C-BC1F-657E6BC95FD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2142998-2707-C445-BCC5-96B65EA11AF8}" type="slidenum">
              <a:rPr kumimoji="0" lang="en-US" altLang="zh-CN" sz="1200"/>
              <a:pPr/>
              <a:t>36</a:t>
            </a:fld>
            <a:endParaRPr kumimoji="0" lang="en-US" altLang="zh-CN" sz="1200"/>
          </a:p>
        </p:txBody>
      </p:sp>
      <p:sp>
        <p:nvSpPr>
          <p:cNvPr id="162818" name="Rectangle 2">
            <a:extLst>
              <a:ext uri="{FF2B5EF4-FFF2-40B4-BE49-F238E27FC236}">
                <a16:creationId xmlns:a16="http://schemas.microsoft.com/office/drawing/2014/main" id="{508AF622-0AA7-0543-A5DF-D15E377982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6512511" cy="1143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cs typeface="+mj-cs"/>
              </a:rPr>
              <a:t>例：</a:t>
            </a:r>
          </a:p>
        </p:txBody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02850650-8EDD-2C49-B926-C7D646871103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52400" y="1600200"/>
            <a:ext cx="8610600" cy="34290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kumimoji="0" lang="en-US" altLang="zh-CN" sz="3200"/>
              <a:t>	(</a:t>
            </a:r>
            <a:r>
              <a:rPr kumimoji="0" lang="en-US" altLang="zh-CN" sz="3200">
                <a:sym typeface="Symbol" pitchFamily="2" charset="2"/>
              </a:rPr>
              <a:t></a:t>
            </a:r>
            <a:r>
              <a:rPr kumimoji="0" lang="en-US" altLang="zh-CN" sz="3200"/>
              <a:t>x)(</a:t>
            </a:r>
            <a:r>
              <a:rPr kumimoji="0" lang="en-US" altLang="zh-CN" sz="3200">
                <a:sym typeface="Symbol" pitchFamily="2" charset="2"/>
              </a:rPr>
              <a:t></a:t>
            </a:r>
            <a:r>
              <a:rPr kumimoji="0" lang="en-US" altLang="zh-CN" sz="3200"/>
              <a:t>y)(P(x, y)</a:t>
            </a:r>
            <a:r>
              <a:rPr kumimoji="0" lang="en-US" altLang="zh-CN" sz="3200">
                <a:sym typeface="Symbol" pitchFamily="2" charset="2"/>
              </a:rPr>
              <a:t></a:t>
            </a:r>
            <a:br>
              <a:rPr kumimoji="0" lang="en-US" altLang="zh-CN" sz="3200">
                <a:sym typeface="Symbol" pitchFamily="2" charset="2"/>
              </a:rPr>
            </a:br>
            <a:r>
              <a:rPr kumimoji="0" lang="en-US" altLang="zh-CN" sz="3200">
                <a:sym typeface="Symbol" pitchFamily="2" charset="2"/>
              </a:rPr>
              <a:t>		</a:t>
            </a:r>
            <a:r>
              <a:rPr kumimoji="0" lang="en-US" altLang="zh-CN" sz="3200"/>
              <a:t>(Q(x, y)</a:t>
            </a:r>
            <a:r>
              <a:rPr kumimoji="0" lang="en-US" altLang="zh-CN" sz="3200">
                <a:sym typeface="Symbol" pitchFamily="2" charset="2"/>
              </a:rPr>
              <a:t></a:t>
            </a:r>
            <a:r>
              <a:rPr kumimoji="0" lang="en-US" altLang="zh-CN" sz="3200"/>
              <a:t>R(x, a, f(z))))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3200"/>
              <a:t>	(</a:t>
            </a:r>
            <a:r>
              <a:rPr kumimoji="0" lang="en-US" altLang="zh-CN" sz="3200">
                <a:sym typeface="Symbol" pitchFamily="2" charset="2"/>
              </a:rPr>
              <a:t></a:t>
            </a:r>
            <a:r>
              <a:rPr kumimoji="0" lang="en-US" altLang="zh-CN" sz="3200"/>
              <a:t>x)(P(x)</a:t>
            </a:r>
            <a:r>
              <a:rPr kumimoji="0" lang="en-US" altLang="zh-CN" sz="3200">
                <a:sym typeface="Symbol" pitchFamily="2" charset="2"/>
              </a:rPr>
              <a:t></a:t>
            </a:r>
            <a:r>
              <a:rPr kumimoji="0" lang="en-US" altLang="zh-CN" sz="3200"/>
              <a:t>(</a:t>
            </a:r>
            <a:r>
              <a:rPr kumimoji="0" lang="en-US" altLang="zh-CN" sz="3200">
                <a:sym typeface="Symbol" pitchFamily="2" charset="2"/>
              </a:rPr>
              <a:t></a:t>
            </a:r>
            <a:r>
              <a:rPr kumimoji="0" lang="en-US" altLang="zh-CN" sz="3200"/>
              <a:t>y)R(x, y))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3200"/>
              <a:t>	(</a:t>
            </a:r>
            <a:r>
              <a:rPr kumimoji="0" lang="en-US" altLang="zh-CN" sz="3200">
                <a:sym typeface="Symbol" pitchFamily="2" charset="2"/>
              </a:rPr>
              <a:t></a:t>
            </a:r>
            <a:r>
              <a:rPr kumimoji="0" lang="en-US" altLang="zh-CN" sz="3200"/>
              <a:t>x)(P(x)</a:t>
            </a:r>
            <a:r>
              <a:rPr kumimoji="0" lang="en-US" altLang="zh-CN" sz="3200">
                <a:sym typeface="Symbol" pitchFamily="2" charset="2"/>
              </a:rPr>
              <a:t></a:t>
            </a:r>
            <a:r>
              <a:rPr kumimoji="0" lang="en-US" altLang="zh-CN" sz="3200"/>
              <a:t>R(x))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3200"/>
              <a:t>	</a:t>
            </a:r>
            <a:r>
              <a:rPr kumimoji="0" lang="zh-CN" altLang="en-US" sz="3200"/>
              <a:t>都是公式。</a:t>
            </a:r>
          </a:p>
        </p:txBody>
      </p:sp>
    </p:spTree>
  </p:cSld>
  <p:clrMapOvr>
    <a:masterClrMapping/>
  </p:clrMapOvr>
  <p:transition>
    <p:blinds dir="vert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Slide Number Placeholder 5">
            <a:extLst>
              <a:ext uri="{FF2B5EF4-FFF2-40B4-BE49-F238E27FC236}">
                <a16:creationId xmlns:a16="http://schemas.microsoft.com/office/drawing/2014/main" id="{3AB7910B-BD97-5546-A82F-D6C59362858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C7A169D-4274-624B-B80C-183F96BBE146}" type="slidenum">
              <a:rPr kumimoji="0" lang="en-US" altLang="zh-CN" sz="1200"/>
              <a:pPr/>
              <a:t>37</a:t>
            </a:fld>
            <a:endParaRPr kumimoji="0" lang="en-US" altLang="zh-CN" sz="1200"/>
          </a:p>
        </p:txBody>
      </p:sp>
      <p:sp>
        <p:nvSpPr>
          <p:cNvPr id="49154" name="Rectangle 2">
            <a:extLst>
              <a:ext uri="{FF2B5EF4-FFF2-40B4-BE49-F238E27FC236}">
                <a16:creationId xmlns:a16="http://schemas.microsoft.com/office/drawing/2014/main" id="{1C74F265-0888-3E4A-8158-5B04A821EE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228600"/>
            <a:ext cx="8229600" cy="1143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解释 </a:t>
            </a:r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EC8D8660-F31C-2F44-834C-D912650CEDDE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600200"/>
            <a:ext cx="8839200" cy="4648200"/>
          </a:xfrm>
        </p:spPr>
        <p:txBody>
          <a:bodyPr/>
          <a:lstStyle/>
          <a:p>
            <a:pPr marL="533400" indent="-533400">
              <a:tabLst>
                <a:tab pos="669925" algn="l"/>
              </a:tabLst>
            </a:pPr>
            <a:r>
              <a:rPr kumimoji="0" lang="zh-CN" altLang="en-US" sz="3200">
                <a:solidFill>
                  <a:schemeClr val="accent1"/>
                </a:solidFill>
                <a:latin typeface="Arial" panose="020B0604020202020204" pitchFamily="34" charset="0"/>
                <a:ea typeface="楷体_GB2312" pitchFamily="1" charset="-122"/>
              </a:rPr>
              <a:t>定义</a:t>
            </a:r>
            <a:r>
              <a:rPr kumimoji="0" lang="en-US" altLang="zh-CN" sz="3200">
                <a:solidFill>
                  <a:schemeClr val="accent1"/>
                </a:solidFill>
                <a:latin typeface="Arial" panose="020B0604020202020204" pitchFamily="34" charset="0"/>
                <a:ea typeface="楷体_GB2312" pitchFamily="1" charset="-122"/>
              </a:rPr>
              <a:t>3.2.9  </a:t>
            </a:r>
            <a:r>
              <a:rPr kumimoji="0" lang="zh-CN" altLang="en-US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谓词逻辑中公式</a:t>
            </a:r>
            <a:r>
              <a:rPr kumimoji="0" lang="en-US" altLang="zh-CN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的一个解释</a:t>
            </a:r>
            <a:r>
              <a:rPr kumimoji="0" lang="en-US" altLang="zh-CN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，是由非空区域</a:t>
            </a:r>
            <a:r>
              <a:rPr kumimoji="0" lang="en-US" altLang="zh-CN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D</a:t>
            </a:r>
            <a:r>
              <a:rPr kumimoji="0" lang="zh-CN" altLang="en-US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和对</a:t>
            </a:r>
            <a:r>
              <a:rPr kumimoji="0" lang="en-US" altLang="zh-CN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中常量符号，函数符号，谓词符号以下列规则进行的一组指定组成：</a:t>
            </a:r>
          </a:p>
          <a:p>
            <a:pPr marL="533400" indent="-533400">
              <a:buFont typeface="Wingdings" pitchFamily="2" charset="2"/>
              <a:buNone/>
              <a:tabLst>
                <a:tab pos="669925" algn="l"/>
              </a:tabLst>
            </a:pPr>
            <a:r>
              <a:rPr kumimoji="0" lang="en-US" altLang="zh-CN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1. </a:t>
            </a:r>
            <a:r>
              <a:rPr kumimoji="0" lang="zh-CN" altLang="en-US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对每个常量符号，指定</a:t>
            </a:r>
            <a:r>
              <a:rPr kumimoji="0" lang="en-US" altLang="zh-CN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D</a:t>
            </a:r>
            <a:r>
              <a:rPr kumimoji="0" lang="zh-CN" altLang="en-US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中一个元素；</a:t>
            </a:r>
          </a:p>
          <a:p>
            <a:pPr marL="533400" indent="-533400">
              <a:buFont typeface="Wingdings" pitchFamily="2" charset="2"/>
              <a:buNone/>
              <a:tabLst>
                <a:tab pos="669925" algn="l"/>
              </a:tabLst>
            </a:pPr>
            <a:r>
              <a:rPr kumimoji="0" lang="en-US" altLang="zh-CN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2. </a:t>
            </a:r>
            <a:r>
              <a:rPr kumimoji="0" lang="zh-CN" altLang="en-US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对每个</a:t>
            </a:r>
            <a:r>
              <a:rPr kumimoji="0" lang="en-US" altLang="zh-CN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n</a:t>
            </a:r>
            <a:r>
              <a:rPr kumimoji="0" lang="zh-CN" altLang="en-US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元函数符号，指定一个函数，即指定</a:t>
            </a:r>
            <a:r>
              <a:rPr kumimoji="0" lang="en-US" altLang="zh-CN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D</a:t>
            </a:r>
            <a:r>
              <a:rPr kumimoji="0" lang="en-US" altLang="zh-CN" sz="3200" baseline="300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n</a:t>
            </a:r>
            <a:r>
              <a:rPr kumimoji="0" lang="zh-CN" altLang="en-US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到</a:t>
            </a:r>
            <a:r>
              <a:rPr kumimoji="0" lang="en-US" altLang="zh-CN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D</a:t>
            </a:r>
            <a:r>
              <a:rPr kumimoji="0" lang="zh-CN" altLang="en-US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的一个映射；</a:t>
            </a:r>
          </a:p>
          <a:p>
            <a:pPr marL="533400" indent="-533400">
              <a:buFont typeface="Wingdings" pitchFamily="2" charset="2"/>
              <a:buNone/>
              <a:tabLst>
                <a:tab pos="669925" algn="l"/>
              </a:tabLst>
            </a:pPr>
            <a:r>
              <a:rPr kumimoji="0" lang="en-US" altLang="zh-CN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3. </a:t>
            </a:r>
            <a:r>
              <a:rPr kumimoji="0" lang="zh-CN" altLang="en-US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对每个</a:t>
            </a:r>
            <a:r>
              <a:rPr kumimoji="0" lang="en-US" altLang="zh-CN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n</a:t>
            </a:r>
            <a:r>
              <a:rPr kumimoji="0" lang="zh-CN" altLang="en-US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元谓词符号，指定一个谓词，即指定</a:t>
            </a:r>
            <a:r>
              <a:rPr kumimoji="0" lang="en-US" altLang="zh-CN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D</a:t>
            </a:r>
            <a:r>
              <a:rPr kumimoji="0" lang="en-US" altLang="zh-CN" sz="3200" baseline="300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n</a:t>
            </a:r>
            <a:r>
              <a:rPr kumimoji="0" lang="zh-CN" altLang="en-US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到</a:t>
            </a:r>
            <a:r>
              <a:rPr kumimoji="0" lang="en-US" altLang="zh-CN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{0</a:t>
            </a:r>
            <a:r>
              <a:rPr kumimoji="0" lang="zh-CN" altLang="en-US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1}</a:t>
            </a:r>
            <a:r>
              <a:rPr kumimoji="0" lang="zh-CN" altLang="en-US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的一个映射。 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4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4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4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1" dur="80"/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2" dur="80"/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80"/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8" dur="80"/>
                                        <p:tgtEl>
                                          <p:spTgt spid="49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9" dur="80"/>
                                        <p:tgtEl>
                                          <p:spTgt spid="49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80"/>
                                        <p:tgtEl>
                                          <p:spTgt spid="49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5" grpId="0" build="p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Slide Number Placeholder 5">
            <a:extLst>
              <a:ext uri="{FF2B5EF4-FFF2-40B4-BE49-F238E27FC236}">
                <a16:creationId xmlns:a16="http://schemas.microsoft.com/office/drawing/2014/main" id="{F2B5AFDB-354C-124D-A3D4-9529B1BD85E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4A36AFB-F391-4049-88EB-BD97D7F61C09}" type="slidenum">
              <a:rPr kumimoji="0" lang="en-US" altLang="zh-CN" sz="1200"/>
              <a:pPr/>
              <a:t>38</a:t>
            </a:fld>
            <a:endParaRPr kumimoji="0" lang="en-US" altLang="zh-CN" sz="1200"/>
          </a:p>
        </p:txBody>
      </p:sp>
      <p:sp>
        <p:nvSpPr>
          <p:cNvPr id="51202" name="Rectangle 2">
            <a:extLst>
              <a:ext uri="{FF2B5EF4-FFF2-40B4-BE49-F238E27FC236}">
                <a16:creationId xmlns:a16="http://schemas.microsoft.com/office/drawing/2014/main" id="{9C0ABCF2-6CE1-D64F-8BE9-44D67632B4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381000"/>
            <a:ext cx="8229600" cy="1143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规定： </a:t>
            </a:r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F31CC3A8-5DEE-4341-94A9-F003DF13A7B3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447800"/>
            <a:ext cx="8839200" cy="3810000"/>
          </a:xfrm>
        </p:spPr>
        <p:txBody>
          <a:bodyPr/>
          <a:lstStyle/>
          <a:p>
            <a:pPr marL="365125" indent="-365125">
              <a:lnSpc>
                <a:spcPct val="150000"/>
              </a:lnSpc>
              <a:tabLst>
                <a:tab pos="669925" algn="l"/>
              </a:tabLst>
            </a:pP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只有不包括自由变元的公式才有可能求出其真值，谓词公式变成了命题。</a:t>
            </a:r>
          </a:p>
          <a:p>
            <a:pPr marL="365125" indent="-365125">
              <a:lnSpc>
                <a:spcPct val="150000"/>
              </a:lnSpc>
              <a:tabLst>
                <a:tab pos="669925" algn="l"/>
              </a:tabLst>
            </a:pPr>
            <a:r>
              <a:rPr kumimoji="0" lang="zh-CN" altLang="en-US" sz="3200">
                <a:solidFill>
                  <a:srgbClr val="4E67C8"/>
                </a:solidFill>
                <a:latin typeface="宋体" panose="02010600030101010101" pitchFamily="2" charset="-122"/>
                <a:ea typeface="楷体_GB2312" pitchFamily="1" charset="-122"/>
              </a:rPr>
              <a:t>规定：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公式中无自由变量，或将自由变量看做常量。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1" charset="-122"/>
              </a:rPr>
              <a:t> 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51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51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51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Slide Number Placeholder 5">
            <a:extLst>
              <a:ext uri="{FF2B5EF4-FFF2-40B4-BE49-F238E27FC236}">
                <a16:creationId xmlns:a16="http://schemas.microsoft.com/office/drawing/2014/main" id="{6AB91E3C-A039-6449-B613-2D7CDC03A98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B0FC105-5586-F046-9F43-34E30E03C700}" type="slidenum">
              <a:rPr kumimoji="0" lang="en-US" altLang="zh-CN" sz="1200"/>
              <a:pPr/>
              <a:t>39</a:t>
            </a:fld>
            <a:endParaRPr kumimoji="0" lang="en-US" altLang="zh-CN" sz="1200"/>
          </a:p>
        </p:txBody>
      </p:sp>
      <p:sp>
        <p:nvSpPr>
          <p:cNvPr id="53250" name="Rectangle 2">
            <a:extLst>
              <a:ext uri="{FF2B5EF4-FFF2-40B4-BE49-F238E27FC236}">
                <a16:creationId xmlns:a16="http://schemas.microsoft.com/office/drawing/2014/main" id="{790ED625-521D-E340-AFE8-0FEF32146C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76200"/>
            <a:ext cx="8229600" cy="1143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Times New Roman" charset="0"/>
                <a:ea typeface="楷体_GB2312" charset="0"/>
                <a:cs typeface="+mj-cs"/>
              </a:rPr>
              <a:t>例</a:t>
            </a:r>
            <a:r>
              <a:rPr lang="en-US" altLang="zh-CN" dirty="0">
                <a:latin typeface="Times New Roman" charset="0"/>
                <a:ea typeface="楷体_GB2312" charset="0"/>
                <a:cs typeface="+mj-cs"/>
              </a:rPr>
              <a:t>:</a:t>
            </a:r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280B6D93-CD34-8046-9FD8-74CA591926AA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990600"/>
            <a:ext cx="8915400" cy="5638800"/>
          </a:xfrm>
        </p:spPr>
        <p:txBody>
          <a:bodyPr/>
          <a:lstStyle/>
          <a:p>
            <a:pPr marL="0" indent="0">
              <a:lnSpc>
                <a:spcPct val="105000"/>
              </a:lnSpc>
              <a:tabLst>
                <a:tab pos="365125" algn="l"/>
              </a:tabLst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给出如下两个公式：</a:t>
            </a:r>
            <a:b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	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1) G=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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x(P(f(x))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Q(x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f(a)))</a:t>
            </a:r>
            <a:b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	2) H=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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x(P(x)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Q(x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a))</a:t>
            </a:r>
          </a:p>
          <a:p>
            <a:pPr marL="0" indent="0">
              <a:lnSpc>
                <a:spcPct val="90000"/>
              </a:lnSpc>
              <a:tabLst>
                <a:tab pos="365125" algn="l"/>
              </a:tabLst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给出如下的解释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：</a:t>
            </a:r>
            <a:b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	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D={2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3}</a:t>
            </a:r>
            <a:b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 	</a:t>
            </a:r>
            <a:r>
              <a:rPr kumimoji="0" lang="en-US" altLang="zh-CN" sz="3200" u="sng">
                <a:latin typeface="Arial" panose="020B0604020202020204" pitchFamily="34" charset="0"/>
                <a:ea typeface="楷体_GB2312" pitchFamily="1" charset="-122"/>
              </a:rPr>
              <a:t> a  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 </a:t>
            </a:r>
            <a:r>
              <a:rPr kumimoji="0" lang="en-US" altLang="zh-CN" sz="3200" u="sng">
                <a:latin typeface="Arial" panose="020B0604020202020204" pitchFamily="34" charset="0"/>
                <a:ea typeface="楷体_GB2312" pitchFamily="1" charset="-122"/>
              </a:rPr>
              <a:t> </a:t>
            </a:r>
            <a:br>
              <a:rPr kumimoji="0" lang="en-US" altLang="zh-CN" sz="3200" u="sng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 	 2</a:t>
            </a:r>
            <a:b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	 </a:t>
            </a:r>
            <a:r>
              <a:rPr kumimoji="0" lang="en-US" altLang="zh-CN" sz="3200" u="sng">
                <a:latin typeface="Arial" panose="020B0604020202020204" pitchFamily="34" charset="0"/>
                <a:ea typeface="楷体_GB2312" pitchFamily="1" charset="-122"/>
              </a:rPr>
              <a:t>f(2) f(3)  </a:t>
            </a:r>
            <a:br>
              <a:rPr kumimoji="0" lang="en-US" altLang="zh-CN" sz="3200" u="sng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 	  3    2 	</a:t>
            </a:r>
            <a:b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en-US" altLang="zh-CN" sz="3200" u="sng">
                <a:latin typeface="Arial" panose="020B0604020202020204" pitchFamily="34" charset="0"/>
                <a:ea typeface="楷体_GB2312" pitchFamily="1" charset="-122"/>
              </a:rPr>
              <a:t> P(2)   P(3)   Q(2, 2)   Q(2, 3)   Q(3, 2)   Q(3, 3)  </a:t>
            </a:r>
            <a:br>
              <a:rPr kumimoji="0" lang="en-US" altLang="zh-CN" sz="3200" u="sng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   0        1           1            1           0             1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5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5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5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1" grpId="0" build="p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Slide Number Placeholder 5">
            <a:extLst>
              <a:ext uri="{FF2B5EF4-FFF2-40B4-BE49-F238E27FC236}">
                <a16:creationId xmlns:a16="http://schemas.microsoft.com/office/drawing/2014/main" id="{D7F19C57-90E7-5D4D-9331-D9C02EFD45C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CADD682-FA67-5C40-AEC1-FCA03CD9E29A}" type="slidenum">
              <a:rPr kumimoji="0" lang="en-US" altLang="zh-CN" sz="1200"/>
              <a:pPr/>
              <a:t>40</a:t>
            </a:fld>
            <a:endParaRPr kumimoji="0" lang="en-US" altLang="zh-CN" sz="1200"/>
          </a:p>
        </p:txBody>
      </p:sp>
      <p:sp>
        <p:nvSpPr>
          <p:cNvPr id="55298" name="Rectangle 2">
            <a:extLst>
              <a:ext uri="{FF2B5EF4-FFF2-40B4-BE49-F238E27FC236}">
                <a16:creationId xmlns:a16="http://schemas.microsoft.com/office/drawing/2014/main" id="{21F08861-AA18-6A49-9E08-157993B529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152400"/>
            <a:ext cx="8229600" cy="1143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Times New Roman" charset="0"/>
                <a:ea typeface="楷体_GB2312" charset="0"/>
                <a:cs typeface="+mj-cs"/>
              </a:rPr>
              <a:t>例</a:t>
            </a:r>
            <a:r>
              <a:rPr lang="en-US" altLang="zh-CN" dirty="0">
                <a:latin typeface="Times New Roman" charset="0"/>
                <a:ea typeface="楷体_GB2312" charset="0"/>
                <a:cs typeface="+mj-cs"/>
              </a:rPr>
              <a:t>:</a:t>
            </a:r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49747153-9F8A-C84A-A35E-7B117EE24EDA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228600" y="990600"/>
            <a:ext cx="8763000" cy="5029200"/>
          </a:xfrm>
        </p:spPr>
        <p:txBody>
          <a:bodyPr/>
          <a:lstStyle/>
          <a:p>
            <a:pPr marL="0" indent="0">
              <a:lnSpc>
                <a:spcPct val="120000"/>
              </a:lnSpc>
              <a:buFont typeface="Georgia" panose="02040502050405020303" pitchFamily="18" charset="0"/>
              <a:buNone/>
              <a:tabLst>
                <a:tab pos="1428750" algn="l"/>
                <a:tab pos="1814513" algn="l"/>
              </a:tabLst>
            </a:pP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1) G=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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x(P(f(x))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Q(x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f(a)))</a:t>
            </a:r>
            <a:b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2) H=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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x(P(x)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Q(x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a))</a:t>
            </a:r>
          </a:p>
          <a:p>
            <a:pPr marL="0" indent="0">
              <a:lnSpc>
                <a:spcPct val="120000"/>
              </a:lnSpc>
              <a:tabLst>
                <a:tab pos="1428750" algn="l"/>
                <a:tab pos="1814513" algn="l"/>
              </a:tabLst>
            </a:pP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T</a:t>
            </a:r>
            <a:r>
              <a:rPr kumimoji="0" lang="en-US" altLang="zh-CN" sz="2800" baseline="-300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(G)	= T</a:t>
            </a:r>
            <a:r>
              <a:rPr kumimoji="0" lang="en-US" altLang="zh-CN" sz="2800" baseline="-300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((P(f(2))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Q(2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f(2)))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 					(P(f(3))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Q(3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f(2))))</a:t>
            </a:r>
            <a:b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	= T</a:t>
            </a:r>
            <a:r>
              <a:rPr kumimoji="0" lang="en-US" altLang="zh-CN" sz="2800" baseline="-300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((P(3)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Q(2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3))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(P(2)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Q(3,3)))</a:t>
            </a:r>
            <a:b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	=(1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1)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(0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1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)</a:t>
            </a:r>
            <a:b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	=1</a:t>
            </a:r>
          </a:p>
          <a:p>
            <a:pPr marL="0" indent="0">
              <a:lnSpc>
                <a:spcPct val="120000"/>
              </a:lnSpc>
              <a:tabLst>
                <a:tab pos="1428750" algn="l"/>
                <a:tab pos="1814513" algn="l"/>
              </a:tabLst>
            </a:pP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T</a:t>
            </a:r>
            <a:r>
              <a:rPr kumimoji="0" lang="en-US" altLang="zh-CN" sz="2800" baseline="-300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(H)	= T</a:t>
            </a:r>
            <a:r>
              <a:rPr kumimoji="0" lang="en-US" altLang="zh-CN" sz="2800" baseline="-300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(P(2)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Q(2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2)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P(3)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Q(3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2))</a:t>
            </a:r>
            <a:b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	=0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0</a:t>
            </a:r>
            <a:b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	=0</a:t>
            </a:r>
          </a:p>
        </p:txBody>
      </p:sp>
      <p:sp>
        <p:nvSpPr>
          <p:cNvPr id="70660" name="矩形 1">
            <a:extLst>
              <a:ext uri="{FF2B5EF4-FFF2-40B4-BE49-F238E27FC236}">
                <a16:creationId xmlns:a16="http://schemas.microsoft.com/office/drawing/2014/main" id="{55477746-0711-D945-8EC9-3CBC405632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22225"/>
            <a:ext cx="4419600" cy="142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tabLst>
                <a:tab pos="365125" algn="l"/>
              </a:tabLs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tabLst>
                <a:tab pos="365125" algn="l"/>
              </a:tabLs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tabLst>
                <a:tab pos="365125" algn="l"/>
              </a:tabLs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tabLst>
                <a:tab pos="365125" algn="l"/>
              </a:tabLs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tabLst>
                <a:tab pos="365125" algn="l"/>
              </a:tabLs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tabLst>
                <a:tab pos="365125" algn="l"/>
              </a:tabLs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tabLst>
                <a:tab pos="365125" algn="l"/>
              </a:tabLs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tabLst>
                <a:tab pos="365125" algn="l"/>
              </a:tabLs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tabLst>
                <a:tab pos="365125" algn="l"/>
              </a:tabLs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</a:pPr>
            <a:r>
              <a:rPr kumimoji="0" lang="en-US" altLang="zh-CN" sz="1600" u="sng">
                <a:ea typeface="楷体_GB2312" pitchFamily="1" charset="-122"/>
              </a:rPr>
              <a:t>a  </a:t>
            </a:r>
            <a:r>
              <a:rPr kumimoji="0" lang="en-US" altLang="zh-CN" sz="1600">
                <a:ea typeface="楷体_GB2312" pitchFamily="1" charset="-122"/>
              </a:rPr>
              <a:t> </a:t>
            </a:r>
            <a:r>
              <a:rPr kumimoji="0" lang="en-US" altLang="zh-CN" sz="1600" u="sng">
                <a:ea typeface="楷体_GB2312" pitchFamily="1" charset="-122"/>
              </a:rPr>
              <a:t> </a:t>
            </a:r>
            <a:br>
              <a:rPr kumimoji="0" lang="en-US" altLang="zh-CN" sz="1600" u="sng">
                <a:ea typeface="楷体_GB2312" pitchFamily="1" charset="-122"/>
              </a:rPr>
            </a:br>
            <a:r>
              <a:rPr kumimoji="0" lang="en-US" altLang="zh-CN" sz="1600">
                <a:ea typeface="楷体_GB2312" pitchFamily="1" charset="-122"/>
              </a:rPr>
              <a:t>2</a:t>
            </a:r>
            <a:br>
              <a:rPr kumimoji="0" lang="en-US" altLang="zh-CN" sz="1600">
                <a:ea typeface="楷体_GB2312" pitchFamily="1" charset="-122"/>
              </a:rPr>
            </a:br>
            <a:r>
              <a:rPr kumimoji="0" lang="en-US" altLang="zh-CN" sz="1600" u="sng">
                <a:ea typeface="楷体_GB2312" pitchFamily="1" charset="-122"/>
              </a:rPr>
              <a:t>f(2) f(3)  </a:t>
            </a:r>
            <a:br>
              <a:rPr kumimoji="0" lang="en-US" altLang="zh-CN" sz="1600" u="sng">
                <a:ea typeface="楷体_GB2312" pitchFamily="1" charset="-122"/>
              </a:rPr>
            </a:br>
            <a:r>
              <a:rPr kumimoji="0" lang="en-US" altLang="zh-CN" sz="1600">
                <a:ea typeface="楷体_GB2312" pitchFamily="1" charset="-122"/>
              </a:rPr>
              <a:t> 3    2 	</a:t>
            </a:r>
            <a:br>
              <a:rPr kumimoji="0" lang="en-US" altLang="zh-CN" sz="1600">
                <a:ea typeface="楷体_GB2312" pitchFamily="1" charset="-122"/>
              </a:rPr>
            </a:br>
            <a:r>
              <a:rPr kumimoji="0" lang="en-US" altLang="zh-CN" sz="1600" u="sng">
                <a:ea typeface="楷体_GB2312" pitchFamily="1" charset="-122"/>
              </a:rPr>
              <a:t> P(2)   P(3)   Q(2, 2)   Q(2, 3)   Q(3, 2)   Q(3, 3)  </a:t>
            </a:r>
            <a:br>
              <a:rPr kumimoji="0" lang="en-US" altLang="zh-CN" sz="1600" u="sng">
                <a:ea typeface="楷体_GB2312" pitchFamily="1" charset="-122"/>
              </a:rPr>
            </a:br>
            <a:r>
              <a:rPr kumimoji="0" lang="en-US" altLang="zh-CN" sz="1600">
                <a:ea typeface="楷体_GB2312" pitchFamily="1" charset="-122"/>
              </a:rPr>
              <a:t>   0        1           1            1           0             1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374A1CD-3BC7-4B43-BF98-0E0E7A956C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5983069"/>
            <a:ext cx="289053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800" dirty="0"/>
              <a:t>学习通测试题</a:t>
            </a:r>
            <a:r>
              <a:rPr lang="en-US" altLang="zh-CN" sz="1800" dirty="0"/>
              <a:t>3-</a:t>
            </a:r>
            <a:r>
              <a:rPr lang="zh-CN" altLang="en-US" sz="1800" dirty="0"/>
              <a:t>谓词逻辑</a:t>
            </a:r>
            <a:r>
              <a:rPr lang="en-US" altLang="zh-CN" sz="1800" dirty="0"/>
              <a:t>.1</a:t>
            </a:r>
          </a:p>
          <a:p>
            <a:r>
              <a:rPr lang="zh-CN" altLang="en-US" sz="1800" dirty="0"/>
              <a:t>练习：书</a:t>
            </a:r>
            <a:r>
              <a:rPr lang="en-US" altLang="zh-CN" sz="1800" dirty="0"/>
              <a:t>P88-2</a:t>
            </a:r>
            <a:r>
              <a:rPr lang="zh-CN" altLang="en-US" sz="1800" dirty="0"/>
              <a:t>，</a:t>
            </a:r>
            <a:r>
              <a:rPr lang="en-US" altLang="zh-CN" sz="1800" dirty="0"/>
              <a:t>3</a:t>
            </a:r>
            <a:r>
              <a:rPr lang="zh-CN" altLang="en-US" sz="1800" dirty="0"/>
              <a:t>，</a:t>
            </a:r>
            <a:r>
              <a:rPr lang="en-US" altLang="zh-CN" sz="1800" dirty="0"/>
              <a:t>4</a:t>
            </a:r>
            <a:endParaRPr lang="zh-CN" altLang="en-US" sz="1800" dirty="0"/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55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55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55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299" grpId="0" build="p" autoUpdateAnimBg="0"/>
      <p:bldP spid="3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Slide Number Placeholder 5">
            <a:extLst>
              <a:ext uri="{FF2B5EF4-FFF2-40B4-BE49-F238E27FC236}">
                <a16:creationId xmlns:a16="http://schemas.microsoft.com/office/drawing/2014/main" id="{D7F19C57-90E7-5D4D-9331-D9C02EFD45C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CADD682-FA67-5C40-AEC1-FCA03CD9E29A}" type="slidenum">
              <a:rPr kumimoji="0" lang="en-US" altLang="zh-CN" sz="1200"/>
              <a:pPr/>
              <a:t>41</a:t>
            </a:fld>
            <a:endParaRPr kumimoji="0" lang="en-US" altLang="zh-CN" sz="1200"/>
          </a:p>
        </p:txBody>
      </p:sp>
      <p:sp>
        <p:nvSpPr>
          <p:cNvPr id="55298" name="Rectangle 2">
            <a:extLst>
              <a:ext uri="{FF2B5EF4-FFF2-40B4-BE49-F238E27FC236}">
                <a16:creationId xmlns:a16="http://schemas.microsoft.com/office/drawing/2014/main" id="{21F08861-AA18-6A49-9E08-157993B529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152400"/>
            <a:ext cx="8229600" cy="1143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Times New Roman" charset="0"/>
                <a:ea typeface="楷体_GB2312" charset="0"/>
                <a:cs typeface="+mj-cs"/>
              </a:rPr>
              <a:t>例</a:t>
            </a:r>
            <a:r>
              <a:rPr lang="en-US" altLang="zh-CN" dirty="0">
                <a:latin typeface="Times New Roman" charset="0"/>
                <a:ea typeface="楷体_GB2312" charset="0"/>
                <a:cs typeface="+mj-cs"/>
              </a:rPr>
              <a:t>:</a:t>
            </a:r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49747153-9F8A-C84A-A35E-7B117EE24EDA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228600" y="990600"/>
            <a:ext cx="8763000" cy="5235071"/>
          </a:xfrm>
        </p:spPr>
        <p:txBody>
          <a:bodyPr/>
          <a:lstStyle/>
          <a:p>
            <a:pPr marL="0" indent="0">
              <a:lnSpc>
                <a:spcPct val="120000"/>
              </a:lnSpc>
              <a:buNone/>
              <a:tabLst>
                <a:tab pos="1428750" algn="l"/>
                <a:tab pos="1814513" algn="l"/>
              </a:tabLst>
            </a:pPr>
            <a:r>
              <a:rPr kumimoji="0" lang="en-US" altLang="zh-CN" sz="2400" dirty="0">
                <a:latin typeface="Arial" panose="020B0604020202020204" pitchFamily="34" charset="0"/>
                <a:ea typeface="楷体_GB2312" pitchFamily="1" charset="-122"/>
              </a:rPr>
              <a:t>1) G=</a:t>
            </a:r>
            <a:r>
              <a:rPr kumimoji="0" lang="en-US" altLang="zh-CN" sz="24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</a:t>
            </a:r>
            <a:r>
              <a:rPr kumimoji="0" lang="en-US" altLang="zh-CN" sz="2400" dirty="0" err="1">
                <a:latin typeface="Arial" panose="020B0604020202020204" pitchFamily="34" charset="0"/>
                <a:ea typeface="楷体_GB2312" pitchFamily="1" charset="-122"/>
              </a:rPr>
              <a:t>x</a:t>
            </a:r>
            <a:r>
              <a:rPr kumimoji="0" lang="en-US" altLang="zh-CN" sz="2400" dirty="0" err="1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y</a:t>
            </a:r>
            <a:r>
              <a:rPr kumimoji="0" lang="en-US" altLang="zh-CN" sz="2400" dirty="0" err="1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en-US" altLang="zh-CN" sz="2400" dirty="0">
                <a:latin typeface="Arial" panose="020B0604020202020204" pitchFamily="34" charset="0"/>
                <a:ea typeface="楷体_GB2312" pitchFamily="1" charset="-122"/>
              </a:rPr>
              <a:t>(x, y)</a:t>
            </a:r>
            <a:br>
              <a:rPr kumimoji="0" lang="en-US" altLang="zh-CN" sz="2400" dirty="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en-US" altLang="zh-CN" sz="2400" dirty="0">
                <a:latin typeface="Arial" panose="020B0604020202020204" pitchFamily="34" charset="0"/>
                <a:ea typeface="楷体_GB2312" pitchFamily="1" charset="-122"/>
              </a:rPr>
              <a:t>2) H=</a:t>
            </a:r>
            <a:r>
              <a:rPr kumimoji="0" lang="en-US" altLang="zh-CN" sz="24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</a:t>
            </a:r>
            <a:r>
              <a:rPr kumimoji="0" lang="en-US" altLang="zh-CN" sz="2400" dirty="0" err="1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y</a:t>
            </a:r>
            <a:r>
              <a:rPr kumimoji="0" lang="en-US" altLang="zh-CN" sz="2400" dirty="0" err="1">
                <a:latin typeface="Arial" panose="020B0604020202020204" pitchFamily="34" charset="0"/>
                <a:ea typeface="楷体_GB2312" pitchFamily="1" charset="-122"/>
              </a:rPr>
              <a:t>xQ</a:t>
            </a:r>
            <a:r>
              <a:rPr kumimoji="0" lang="en-US" altLang="zh-CN" sz="2400" dirty="0">
                <a:latin typeface="Arial" panose="020B0604020202020204" pitchFamily="34" charset="0"/>
                <a:ea typeface="楷体_GB2312" pitchFamily="1" charset="-122"/>
              </a:rPr>
              <a:t>(x, y)</a:t>
            </a:r>
          </a:p>
          <a:p>
            <a:pPr marL="0" indent="0">
              <a:lnSpc>
                <a:spcPct val="120000"/>
              </a:lnSpc>
              <a:buNone/>
              <a:tabLst>
                <a:tab pos="1428750" algn="l"/>
                <a:tab pos="1814513" algn="l"/>
              </a:tabLst>
            </a:pPr>
            <a:r>
              <a:rPr kumimoji="0" lang="en-US" altLang="zh-CN" sz="2400" dirty="0">
                <a:latin typeface="Arial" panose="020B0604020202020204" pitchFamily="34" charset="0"/>
                <a:ea typeface="楷体_GB2312" pitchFamily="1" charset="-122"/>
              </a:rPr>
              <a:t>1)T</a:t>
            </a:r>
            <a:r>
              <a:rPr kumimoji="0" lang="en-US" altLang="zh-CN" sz="2400" baseline="-30000" dirty="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en-US" altLang="zh-CN" sz="2400" dirty="0">
                <a:latin typeface="Arial" panose="020B0604020202020204" pitchFamily="34" charset="0"/>
                <a:ea typeface="楷体_GB2312" pitchFamily="1" charset="-122"/>
              </a:rPr>
              <a:t>(G)	= T</a:t>
            </a:r>
            <a:r>
              <a:rPr kumimoji="0" lang="en-US" altLang="zh-CN" sz="2400" baseline="-30000" dirty="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en-US" altLang="zh-CN" sz="2400" dirty="0">
                <a:latin typeface="Arial" panose="020B0604020202020204" pitchFamily="34" charset="0"/>
                <a:ea typeface="楷体_GB2312" pitchFamily="1" charset="-122"/>
              </a:rPr>
              <a:t>(</a:t>
            </a:r>
            <a:r>
              <a:rPr kumimoji="0" lang="en-US" altLang="zh-CN" sz="24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</a:t>
            </a:r>
            <a:r>
              <a:rPr kumimoji="0" lang="en-US" altLang="zh-CN" sz="2400" dirty="0" err="1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yQ</a:t>
            </a:r>
            <a:r>
              <a:rPr kumimoji="0" lang="en-US" altLang="zh-CN" sz="24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(2, y)</a:t>
            </a:r>
            <a:r>
              <a:rPr kumimoji="0" lang="en-US" altLang="zh-CN" sz="2400" dirty="0" err="1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yQ</a:t>
            </a:r>
            <a:r>
              <a:rPr kumimoji="0" lang="en-US" altLang="zh-CN" sz="24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(3, y))</a:t>
            </a:r>
          </a:p>
          <a:p>
            <a:pPr marL="0" indent="0">
              <a:lnSpc>
                <a:spcPct val="120000"/>
              </a:lnSpc>
              <a:buNone/>
              <a:tabLst>
                <a:tab pos="1428750" algn="l"/>
                <a:tab pos="1814513" algn="l"/>
              </a:tabLst>
            </a:pPr>
            <a:r>
              <a:rPr kumimoji="0" lang="en-US" altLang="zh-CN" sz="2400" dirty="0">
                <a:latin typeface="Arial" panose="020B0604020202020204" pitchFamily="34" charset="0"/>
                <a:ea typeface="楷体_GB2312" pitchFamily="1" charset="-122"/>
              </a:rPr>
              <a:t>	= T</a:t>
            </a:r>
            <a:r>
              <a:rPr kumimoji="0" lang="en-US" altLang="zh-CN" sz="2400" baseline="-30000" dirty="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en-US" altLang="zh-CN" sz="2400" dirty="0">
                <a:latin typeface="Arial" panose="020B0604020202020204" pitchFamily="34" charset="0"/>
                <a:ea typeface="楷体_GB2312" pitchFamily="1" charset="-122"/>
              </a:rPr>
              <a:t>((Q(2, 2)</a:t>
            </a:r>
            <a:r>
              <a:rPr kumimoji="0" lang="en-US" altLang="zh-CN" sz="24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2400" dirty="0">
                <a:latin typeface="Arial" panose="020B0604020202020204" pitchFamily="34" charset="0"/>
                <a:ea typeface="楷体_GB2312" pitchFamily="1" charset="-122"/>
              </a:rPr>
              <a:t>Q(2, 3))</a:t>
            </a:r>
            <a:r>
              <a:rPr kumimoji="0" lang="en-US" altLang="zh-CN" sz="24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2400" dirty="0">
                <a:latin typeface="Arial" panose="020B0604020202020204" pitchFamily="34" charset="0"/>
                <a:ea typeface="楷体_GB2312" pitchFamily="1" charset="-122"/>
              </a:rPr>
              <a:t>(Q(3, 2)</a:t>
            </a:r>
            <a:r>
              <a:rPr kumimoji="0" lang="en-US" altLang="zh-CN" sz="24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2400" dirty="0">
                <a:latin typeface="Arial" panose="020B0604020202020204" pitchFamily="34" charset="0"/>
                <a:ea typeface="楷体_GB2312" pitchFamily="1" charset="-122"/>
              </a:rPr>
              <a:t>Q(3, 3)))</a:t>
            </a:r>
            <a:br>
              <a:rPr kumimoji="0" lang="en-US" altLang="zh-CN" sz="2400" dirty="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en-US" altLang="zh-CN" sz="2400" dirty="0">
                <a:latin typeface="Arial" panose="020B0604020202020204" pitchFamily="34" charset="0"/>
                <a:ea typeface="楷体_GB2312" pitchFamily="1" charset="-122"/>
              </a:rPr>
              <a:t>	= (1</a:t>
            </a:r>
            <a:r>
              <a:rPr kumimoji="0" lang="en-US" altLang="zh-CN" sz="24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0</a:t>
            </a:r>
            <a:r>
              <a:rPr kumimoji="0" lang="en-US" altLang="zh-CN" sz="2400" dirty="0">
                <a:latin typeface="Arial" panose="020B0604020202020204" pitchFamily="34" charset="0"/>
                <a:ea typeface="楷体_GB2312" pitchFamily="1" charset="-122"/>
              </a:rPr>
              <a:t>)</a:t>
            </a:r>
            <a:r>
              <a:rPr kumimoji="0" lang="en-US" altLang="zh-CN" sz="24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2400" dirty="0">
                <a:latin typeface="Arial" panose="020B0604020202020204" pitchFamily="34" charset="0"/>
                <a:ea typeface="楷体_GB2312" pitchFamily="1" charset="-122"/>
              </a:rPr>
              <a:t>(0</a:t>
            </a:r>
            <a:r>
              <a:rPr kumimoji="0" lang="en-US" altLang="zh-CN" sz="24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1</a:t>
            </a:r>
            <a:r>
              <a:rPr kumimoji="0" lang="en-US" altLang="zh-CN" sz="2400" dirty="0">
                <a:latin typeface="Arial" panose="020B0604020202020204" pitchFamily="34" charset="0"/>
                <a:ea typeface="楷体_GB2312" pitchFamily="1" charset="-122"/>
              </a:rPr>
              <a:t>)</a:t>
            </a:r>
            <a:br>
              <a:rPr kumimoji="0" lang="en-US" altLang="zh-CN" sz="2400" dirty="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en-US" altLang="zh-CN" sz="2400" dirty="0">
                <a:latin typeface="Arial" panose="020B0604020202020204" pitchFamily="34" charset="0"/>
                <a:ea typeface="楷体_GB2312" pitchFamily="1" charset="-122"/>
              </a:rPr>
              <a:t>	= 1</a:t>
            </a:r>
          </a:p>
          <a:p>
            <a:pPr marL="0" indent="0">
              <a:lnSpc>
                <a:spcPct val="120000"/>
              </a:lnSpc>
              <a:tabLst>
                <a:tab pos="1428750" algn="l"/>
                <a:tab pos="1814513" algn="l"/>
              </a:tabLst>
            </a:pPr>
            <a:r>
              <a:rPr kumimoji="0" lang="en-US" altLang="zh-CN" sz="2400" dirty="0">
                <a:latin typeface="Arial" panose="020B0604020202020204" pitchFamily="34" charset="0"/>
                <a:ea typeface="楷体_GB2312" pitchFamily="1" charset="-122"/>
              </a:rPr>
              <a:t>T</a:t>
            </a:r>
            <a:r>
              <a:rPr kumimoji="0" lang="en-US" altLang="zh-CN" sz="2400" baseline="-30000" dirty="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en-US" altLang="zh-CN" sz="2400" dirty="0">
                <a:latin typeface="Arial" panose="020B0604020202020204" pitchFamily="34" charset="0"/>
                <a:ea typeface="楷体_GB2312" pitchFamily="1" charset="-122"/>
              </a:rPr>
              <a:t>(G)	= T</a:t>
            </a:r>
            <a:r>
              <a:rPr kumimoji="0" lang="en-US" altLang="zh-CN" sz="2400" baseline="-30000" dirty="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en-US" altLang="zh-CN" sz="2400" dirty="0">
                <a:latin typeface="Arial" panose="020B0604020202020204" pitchFamily="34" charset="0"/>
                <a:ea typeface="楷体_GB2312" pitchFamily="1" charset="-122"/>
              </a:rPr>
              <a:t>(</a:t>
            </a:r>
            <a:r>
              <a:rPr kumimoji="0" lang="en-US" altLang="zh-CN" sz="24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</a:t>
            </a:r>
            <a:r>
              <a:rPr kumimoji="0" lang="en-US" altLang="zh-CN" sz="2400" dirty="0">
                <a:latin typeface="Arial" panose="020B0604020202020204" pitchFamily="34" charset="0"/>
                <a:ea typeface="楷体_GB2312" pitchFamily="1" charset="-122"/>
              </a:rPr>
              <a:t>x(</a:t>
            </a:r>
            <a:r>
              <a:rPr kumimoji="0" lang="en-US" altLang="zh-CN" sz="24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Q(x, 2)</a:t>
            </a:r>
            <a:r>
              <a:rPr kumimoji="0" lang="en-US" altLang="zh-CN" sz="2400" dirty="0" err="1">
                <a:latin typeface="Arial" panose="020B0604020202020204" pitchFamily="34" charset="0"/>
                <a:ea typeface="楷体_GB2312" pitchFamily="1" charset="-122"/>
              </a:rPr>
              <a:t>x</a:t>
            </a:r>
            <a:r>
              <a:rPr kumimoji="0" lang="en-US" altLang="zh-CN" sz="2400" dirty="0" err="1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Q</a:t>
            </a:r>
            <a:r>
              <a:rPr kumimoji="0" lang="en-US" altLang="zh-CN" sz="24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(x, 3)))</a:t>
            </a:r>
            <a:r>
              <a:rPr kumimoji="0" lang="zh-CN" altLang="en-US" sz="24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    </a:t>
            </a:r>
            <a:r>
              <a:rPr kumimoji="0" lang="en-US" altLang="zh-CN" sz="24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——</a:t>
            </a:r>
            <a:r>
              <a:rPr kumimoji="0" lang="zh-CN" altLang="en-US" sz="24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错误</a:t>
            </a:r>
            <a:endParaRPr kumimoji="0" lang="en-US" altLang="zh-CN" sz="2400" dirty="0">
              <a:latin typeface="Arial" panose="020B0604020202020204" pitchFamily="34" charset="0"/>
              <a:ea typeface="楷体_GB2312" pitchFamily="1" charset="-122"/>
              <a:sym typeface="Symbol" pitchFamily="2" charset="2"/>
            </a:endParaRPr>
          </a:p>
          <a:p>
            <a:pPr marL="0" indent="0">
              <a:lnSpc>
                <a:spcPct val="120000"/>
              </a:lnSpc>
              <a:buNone/>
              <a:tabLst>
                <a:tab pos="1428750" algn="l"/>
                <a:tab pos="1814513" algn="l"/>
              </a:tabLst>
            </a:pPr>
            <a:r>
              <a:rPr kumimoji="0" lang="en-US" altLang="zh-CN" sz="2400" dirty="0">
                <a:latin typeface="Arial" panose="020B0604020202020204" pitchFamily="34" charset="0"/>
                <a:ea typeface="楷体_GB2312" pitchFamily="1" charset="-122"/>
              </a:rPr>
              <a:t>	= T</a:t>
            </a:r>
            <a:r>
              <a:rPr kumimoji="0" lang="en-US" altLang="zh-CN" sz="2400" baseline="-30000" dirty="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en-US" altLang="zh-CN" sz="2400" dirty="0">
                <a:latin typeface="Arial" panose="020B0604020202020204" pitchFamily="34" charset="0"/>
                <a:ea typeface="楷体_GB2312" pitchFamily="1" charset="-122"/>
              </a:rPr>
              <a:t>((Q(2, 2)</a:t>
            </a:r>
            <a:r>
              <a:rPr kumimoji="0" lang="en-US" altLang="zh-CN" sz="24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2400" dirty="0">
                <a:latin typeface="Arial" panose="020B0604020202020204" pitchFamily="34" charset="0"/>
                <a:ea typeface="楷体_GB2312" pitchFamily="1" charset="-122"/>
              </a:rPr>
              <a:t>Q(3, 2))</a:t>
            </a:r>
            <a:r>
              <a:rPr kumimoji="0" lang="en-US" altLang="zh-CN" sz="24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2400" dirty="0">
                <a:latin typeface="Arial" panose="020B0604020202020204" pitchFamily="34" charset="0"/>
                <a:ea typeface="楷体_GB2312" pitchFamily="1" charset="-122"/>
              </a:rPr>
              <a:t>(Q(2, 3)</a:t>
            </a:r>
            <a:r>
              <a:rPr kumimoji="0" lang="en-US" altLang="zh-CN" sz="24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2400" dirty="0">
                <a:latin typeface="Arial" panose="020B0604020202020204" pitchFamily="34" charset="0"/>
                <a:ea typeface="楷体_GB2312" pitchFamily="1" charset="-122"/>
              </a:rPr>
              <a:t>Q(3, 3)))</a:t>
            </a:r>
            <a:br>
              <a:rPr kumimoji="0" lang="en-US" altLang="zh-CN" sz="2400" dirty="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en-US" altLang="zh-CN" sz="2400" dirty="0">
                <a:latin typeface="Arial" panose="020B0604020202020204" pitchFamily="34" charset="0"/>
                <a:ea typeface="楷体_GB2312" pitchFamily="1" charset="-122"/>
              </a:rPr>
              <a:t>	= (1</a:t>
            </a:r>
            <a:r>
              <a:rPr kumimoji="0" lang="en-US" altLang="zh-CN" sz="24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0</a:t>
            </a:r>
            <a:r>
              <a:rPr kumimoji="0" lang="en-US" altLang="zh-CN" sz="2400" dirty="0">
                <a:latin typeface="Arial" panose="020B0604020202020204" pitchFamily="34" charset="0"/>
                <a:ea typeface="楷体_GB2312" pitchFamily="1" charset="-122"/>
              </a:rPr>
              <a:t>)</a:t>
            </a:r>
            <a:r>
              <a:rPr kumimoji="0" lang="en-US" altLang="zh-CN" sz="24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2400" dirty="0">
                <a:latin typeface="Arial" panose="020B0604020202020204" pitchFamily="34" charset="0"/>
                <a:ea typeface="楷体_GB2312" pitchFamily="1" charset="-122"/>
              </a:rPr>
              <a:t>(0</a:t>
            </a:r>
            <a:r>
              <a:rPr kumimoji="0" lang="en-US" altLang="zh-CN" sz="24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1</a:t>
            </a:r>
            <a:r>
              <a:rPr kumimoji="0" lang="en-US" altLang="zh-CN" sz="2400" dirty="0">
                <a:latin typeface="Arial" panose="020B0604020202020204" pitchFamily="34" charset="0"/>
                <a:ea typeface="楷体_GB2312" pitchFamily="1" charset="-122"/>
              </a:rPr>
              <a:t>)</a:t>
            </a:r>
            <a:br>
              <a:rPr kumimoji="0" lang="en-US" altLang="zh-CN" sz="2400" dirty="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en-US" altLang="zh-CN" sz="2400" dirty="0">
                <a:latin typeface="Arial" panose="020B0604020202020204" pitchFamily="34" charset="0"/>
                <a:ea typeface="楷体_GB2312" pitchFamily="1" charset="-122"/>
              </a:rPr>
              <a:t>	= 0</a:t>
            </a:r>
          </a:p>
          <a:p>
            <a:pPr marL="0" indent="0">
              <a:lnSpc>
                <a:spcPct val="120000"/>
              </a:lnSpc>
              <a:buNone/>
              <a:tabLst>
                <a:tab pos="1428750" algn="l"/>
                <a:tab pos="1814513" algn="l"/>
              </a:tabLst>
            </a:pPr>
            <a:endParaRPr kumimoji="0" lang="en-US" altLang="zh-CN" sz="2400" dirty="0">
              <a:latin typeface="Arial" panose="020B0604020202020204" pitchFamily="34" charset="0"/>
              <a:ea typeface="楷体_GB2312" pitchFamily="1" charset="-122"/>
            </a:endParaRPr>
          </a:p>
        </p:txBody>
      </p:sp>
      <p:sp>
        <p:nvSpPr>
          <p:cNvPr id="70660" name="矩形 1">
            <a:extLst>
              <a:ext uri="{FF2B5EF4-FFF2-40B4-BE49-F238E27FC236}">
                <a16:creationId xmlns:a16="http://schemas.microsoft.com/office/drawing/2014/main" id="{55477746-0711-D945-8EC9-3CBC405632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152400"/>
            <a:ext cx="4800600" cy="10895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tabLst>
                <a:tab pos="365125" algn="l"/>
              </a:tabLs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tabLst>
                <a:tab pos="365125" algn="l"/>
              </a:tabLs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tabLst>
                <a:tab pos="365125" algn="l"/>
              </a:tabLs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tabLst>
                <a:tab pos="365125" algn="l"/>
              </a:tabLs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tabLst>
                <a:tab pos="365125" algn="l"/>
              </a:tabLs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tabLst>
                <a:tab pos="365125" algn="l"/>
              </a:tabLs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tabLst>
                <a:tab pos="365125" algn="l"/>
              </a:tabLs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tabLst>
                <a:tab pos="365125" algn="l"/>
              </a:tabLs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tabLst>
                <a:tab pos="365125" algn="l"/>
              </a:tabLs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</a:pPr>
            <a:r>
              <a:rPr kumimoji="0" lang="en-US" altLang="zh-CN" u="sng" dirty="0">
                <a:ea typeface="楷体_GB2312" pitchFamily="1" charset="-122"/>
              </a:rPr>
              <a:t>D={2, 3}</a:t>
            </a:r>
            <a:r>
              <a:rPr kumimoji="0" lang="en-US" altLang="zh-CN" dirty="0">
                <a:ea typeface="楷体_GB2312" pitchFamily="1" charset="-122"/>
              </a:rPr>
              <a:t>	</a:t>
            </a:r>
            <a:br>
              <a:rPr kumimoji="0" lang="en-US" altLang="zh-CN" dirty="0">
                <a:ea typeface="楷体_GB2312" pitchFamily="1" charset="-122"/>
              </a:rPr>
            </a:br>
            <a:r>
              <a:rPr kumimoji="0" lang="en-US" altLang="zh-CN" u="sng" dirty="0">
                <a:ea typeface="楷体_GB2312" pitchFamily="1" charset="-122"/>
              </a:rPr>
              <a:t>Q(2, 2)   Q(2, 3)   Q(3, 2)   Q(3, 3)  </a:t>
            </a:r>
            <a:br>
              <a:rPr kumimoji="0" lang="en-US" altLang="zh-CN" u="sng" dirty="0">
                <a:ea typeface="楷体_GB2312" pitchFamily="1" charset="-122"/>
              </a:rPr>
            </a:br>
            <a:r>
              <a:rPr kumimoji="0" lang="en-US" altLang="zh-CN" dirty="0">
                <a:ea typeface="楷体_GB2312" pitchFamily="1" charset="-122"/>
              </a:rPr>
              <a:t>      1           0            0             1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374A1CD-3BC7-4B43-BF98-0E0E7A956C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4865" y="6172200"/>
            <a:ext cx="289053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800" dirty="0"/>
              <a:t>学习通测试题</a:t>
            </a:r>
            <a:r>
              <a:rPr lang="en-US" altLang="zh-CN" sz="1800" dirty="0"/>
              <a:t>3-</a:t>
            </a:r>
            <a:r>
              <a:rPr lang="zh-CN" altLang="en-US" sz="1800" dirty="0"/>
              <a:t>谓词逻辑</a:t>
            </a:r>
            <a:r>
              <a:rPr lang="en-US" altLang="zh-CN" sz="1800" dirty="0"/>
              <a:t>.2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30730A6-37E2-D747-AD03-D9CE6E442B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2800" y="2944997"/>
            <a:ext cx="1930400" cy="1684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817901"/>
      </p:ext>
    </p:extLst>
  </p:cSld>
  <p:clrMapOvr>
    <a:masterClrMapping/>
  </p:clrMapOvr>
  <p:transition>
    <p:blinds dir="vert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Slide Number Placeholder 5">
            <a:extLst>
              <a:ext uri="{FF2B5EF4-FFF2-40B4-BE49-F238E27FC236}">
                <a16:creationId xmlns:a16="http://schemas.microsoft.com/office/drawing/2014/main" id="{E8C8385A-B424-8042-BF6F-134EED3D3E4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75E17C6-9B98-8B47-925D-3B2C3E1E0CA9}" type="slidenum">
              <a:rPr kumimoji="0" lang="en-US" altLang="zh-CN" sz="1200"/>
              <a:pPr/>
              <a:t>42</a:t>
            </a:fld>
            <a:endParaRPr kumimoji="0" lang="en-US" altLang="zh-CN" sz="1200"/>
          </a:p>
        </p:txBody>
      </p:sp>
      <p:sp>
        <p:nvSpPr>
          <p:cNvPr id="57346" name="Rectangle 2">
            <a:extLst>
              <a:ext uri="{FF2B5EF4-FFF2-40B4-BE49-F238E27FC236}">
                <a16:creationId xmlns:a16="http://schemas.microsoft.com/office/drawing/2014/main" id="{6EC1F801-9075-FC4D-8A52-D8DE2F6D91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277813"/>
            <a:ext cx="8229600" cy="1143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Times New Roman" charset="0"/>
                <a:ea typeface="楷体_GB2312" charset="0"/>
                <a:cs typeface="+mj-cs"/>
              </a:rPr>
              <a:t>可满足、恒真、恒假</a:t>
            </a:r>
          </a:p>
        </p:txBody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AED7DE29-C967-0344-B899-FD39EA2E7668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524000"/>
            <a:ext cx="8686800" cy="4495800"/>
          </a:xfrm>
        </p:spPr>
        <p:txBody>
          <a:bodyPr/>
          <a:lstStyle/>
          <a:p>
            <a:pPr marL="365125" indent="-365125">
              <a:lnSpc>
                <a:spcPct val="105000"/>
              </a:lnSpc>
              <a:tabLst>
                <a:tab pos="669925" algn="l"/>
              </a:tabLst>
            </a:pPr>
            <a:r>
              <a:rPr kumimoji="0" lang="zh-CN" altLang="en-US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定义</a:t>
            </a:r>
            <a:r>
              <a:rPr kumimoji="0" lang="en-US" altLang="zh-CN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3.2.10  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公式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称为</a:t>
            </a:r>
            <a:r>
              <a:rPr kumimoji="0" lang="zh-CN" altLang="en-US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可满足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的，如果存在解释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，使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在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下取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值，简称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满足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。若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不满足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，则简称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弄假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。</a:t>
            </a:r>
            <a:b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</a:br>
            <a:endParaRPr kumimoji="0" lang="zh-CN" altLang="en-US" sz="3200">
              <a:latin typeface="Arial" panose="020B0604020202020204" pitchFamily="34" charset="0"/>
              <a:ea typeface="楷体_GB2312" pitchFamily="1" charset="-122"/>
            </a:endParaRPr>
          </a:p>
          <a:p>
            <a:pPr marL="365125" indent="-365125">
              <a:lnSpc>
                <a:spcPct val="105000"/>
              </a:lnSpc>
              <a:tabLst>
                <a:tab pos="669925" algn="l"/>
              </a:tabLst>
            </a:pPr>
            <a:r>
              <a:rPr kumimoji="0" lang="zh-CN" altLang="en-US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定义</a:t>
            </a:r>
            <a:r>
              <a:rPr kumimoji="0" lang="en-US" altLang="zh-CN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3.2.11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  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公式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称为是</a:t>
            </a:r>
            <a:r>
              <a:rPr kumimoji="0" lang="zh-CN" altLang="en-US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恒假的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或不可满足的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)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，如果不存在解释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满足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；公式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称为</a:t>
            </a:r>
            <a:r>
              <a:rPr kumimoji="0" lang="zh-CN" altLang="en-US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恒真的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，如果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的所有解释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都满足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。 </a:t>
            </a:r>
          </a:p>
        </p:txBody>
      </p:sp>
    </p:spTree>
  </p:cSld>
  <p:clrMapOvr>
    <a:masterClrMapping/>
  </p:clrMapOvr>
  <p:transition>
    <p:blinds dir="vert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Slide Number Placeholder 5">
            <a:extLst>
              <a:ext uri="{FF2B5EF4-FFF2-40B4-BE49-F238E27FC236}">
                <a16:creationId xmlns:a16="http://schemas.microsoft.com/office/drawing/2014/main" id="{161CA9AE-FD7D-1848-98BC-189C7FF4BAB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2CA539F-F8DF-E245-A7D1-48B720FA104F}" type="slidenum">
              <a:rPr kumimoji="0" lang="en-US" altLang="zh-CN" sz="1200"/>
              <a:pPr/>
              <a:t>43</a:t>
            </a:fld>
            <a:endParaRPr kumimoji="0" lang="en-US" altLang="zh-CN" sz="1200"/>
          </a:p>
        </p:txBody>
      </p:sp>
      <p:sp>
        <p:nvSpPr>
          <p:cNvPr id="163842" name="Rectangle 2">
            <a:extLst>
              <a:ext uri="{FF2B5EF4-FFF2-40B4-BE49-F238E27FC236}">
                <a16:creationId xmlns:a16="http://schemas.microsoft.com/office/drawing/2014/main" id="{B1B83DE7-7566-6B41-B40E-15925215C9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304800"/>
            <a:ext cx="8985250" cy="1143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谓词公式的判定</a:t>
            </a:r>
          </a:p>
        </p:txBody>
      </p:sp>
      <p:sp>
        <p:nvSpPr>
          <p:cNvPr id="163843" name="Rectangle 3">
            <a:extLst>
              <a:ext uri="{FF2B5EF4-FFF2-40B4-BE49-F238E27FC236}">
                <a16:creationId xmlns:a16="http://schemas.microsoft.com/office/drawing/2014/main" id="{15C271CE-2BA1-7E40-BFA6-2A58DE654851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-76200" y="1371600"/>
            <a:ext cx="9067800" cy="4876800"/>
          </a:xfrm>
        </p:spPr>
        <p:txBody>
          <a:bodyPr/>
          <a:lstStyle/>
          <a:p>
            <a:pPr marL="533400" indent="-533400">
              <a:lnSpc>
                <a:spcPct val="90000"/>
              </a:lnSpc>
              <a:buFont typeface="Wingdings" pitchFamily="2" charset="2"/>
              <a:buAutoNum type="arabicPeriod"/>
            </a:pP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1936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年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Church(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丘奇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)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Turing(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图灵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)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分别独立地证明了：对于谓词逻辑，判定问题是不可解的。 </a:t>
            </a:r>
          </a:p>
          <a:p>
            <a:pPr marL="533400" indent="-533400">
              <a:lnSpc>
                <a:spcPct val="90000"/>
              </a:lnSpc>
              <a:buFont typeface="Wingdings" pitchFamily="2" charset="2"/>
              <a:buNone/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	主要困难在于个体名称集合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D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可以是无穷集。</a:t>
            </a:r>
            <a:endParaRPr kumimoji="0" lang="en-US" altLang="zh-CN" sz="3200">
              <a:latin typeface="Arial" panose="020B0604020202020204" pitchFamily="34" charset="0"/>
              <a:ea typeface="楷体_GB2312" pitchFamily="1" charset="-122"/>
            </a:endParaRPr>
          </a:p>
          <a:p>
            <a:pPr marL="533400" indent="-533400">
              <a:lnSpc>
                <a:spcPct val="90000"/>
              </a:lnSpc>
              <a:buFont typeface="Wingdings" pitchFamily="2" charset="2"/>
              <a:buAutoNum type="arabicPeriod" startAt="2"/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谓词逻辑是半可判定的；</a:t>
            </a:r>
          </a:p>
          <a:p>
            <a:pPr marL="979488" lvl="1" indent="-457200">
              <a:lnSpc>
                <a:spcPct val="90000"/>
              </a:lnSpc>
              <a:buFont typeface="Wingdings" pitchFamily="2" charset="2"/>
              <a:buAutoNum type="circleNumDbPlain"/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命题逻辑是可判定的；</a:t>
            </a:r>
          </a:p>
          <a:p>
            <a:pPr marL="979488" lvl="1" indent="-457200">
              <a:lnSpc>
                <a:spcPct val="90000"/>
              </a:lnSpc>
              <a:buFont typeface="Wingdings" pitchFamily="2" charset="2"/>
              <a:buAutoNum type="circleNumDbPlain"/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有算法在有限步内检验出公式的恒真性，则谓词逻辑中的公式是恒真的；</a:t>
            </a:r>
          </a:p>
          <a:p>
            <a:pPr marL="979488" lvl="1" indent="-457200">
              <a:lnSpc>
                <a:spcPct val="90000"/>
              </a:lnSpc>
              <a:buFont typeface="Wingdings" pitchFamily="2" charset="2"/>
              <a:buAutoNum type="circleNumDbPlain"/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个体名称集合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D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有穷时的谓词公式是可判定的。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163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163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163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163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163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163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1" dur="80"/>
                                        <p:tgtEl>
                                          <p:spTgt spid="163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2" dur="80"/>
                                        <p:tgtEl>
                                          <p:spTgt spid="163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80"/>
                                        <p:tgtEl>
                                          <p:spTgt spid="163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8" dur="80"/>
                                        <p:tgtEl>
                                          <p:spTgt spid="163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9" dur="80"/>
                                        <p:tgtEl>
                                          <p:spTgt spid="163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80"/>
                                        <p:tgtEl>
                                          <p:spTgt spid="163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46">
            <a:extLst>
              <a:ext uri="{FF2B5EF4-FFF2-40B4-BE49-F238E27FC236}">
                <a16:creationId xmlns:a16="http://schemas.microsoft.com/office/drawing/2014/main" id="{DD139C0C-DF00-274B-96C1-197CA8C40BE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C64380D-834A-E042-B8B4-7F91B89AA7AB}" type="slidenum">
              <a:rPr kumimoji="0" lang="en-US" altLang="zh-CN" sz="1200"/>
              <a:pPr/>
              <a:t>44</a:t>
            </a:fld>
            <a:endParaRPr kumimoji="0" lang="en-US" altLang="zh-CN" sz="1200"/>
          </a:p>
        </p:txBody>
      </p:sp>
      <p:sp>
        <p:nvSpPr>
          <p:cNvPr id="59394" name="Rectangle 2">
            <a:extLst>
              <a:ext uri="{FF2B5EF4-FFF2-40B4-BE49-F238E27FC236}">
                <a16:creationId xmlns:a16="http://schemas.microsoft.com/office/drawing/2014/main" id="{1276D961-DCC0-F946-950D-AC0DAF280D0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762000" y="2438400"/>
            <a:ext cx="7391400" cy="1828800"/>
          </a:xfrm>
        </p:spPr>
        <p:txBody>
          <a:bodyPr/>
          <a:lstStyle/>
          <a:p>
            <a:pPr algn="ctr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>
                <a:latin typeface="Arial" charset="0"/>
                <a:ea typeface="楷体_GB2312" charset="0"/>
                <a:cs typeface="+mj-cs"/>
              </a:rPr>
              <a:t>§</a:t>
            </a:r>
            <a:r>
              <a:rPr lang="en-US" altLang="zh-CN">
                <a:latin typeface="Arial" charset="0"/>
                <a:ea typeface="楷体_GB2312" charset="0"/>
                <a:cs typeface="Times New Roman" charset="0"/>
              </a:rPr>
              <a:t>3.2.3 </a:t>
            </a:r>
            <a:r>
              <a:rPr lang="zh-CN" altLang="en-US">
                <a:latin typeface="Arial" charset="0"/>
                <a:ea typeface="楷体_GB2312" charset="0"/>
                <a:cs typeface="+mj-cs"/>
              </a:rPr>
              <a:t>谓词公式的</a:t>
            </a:r>
            <a:br>
              <a:rPr lang="zh-CN" altLang="en-US">
                <a:latin typeface="Arial" charset="0"/>
                <a:ea typeface="楷体_GB2312" charset="0"/>
                <a:cs typeface="+mj-cs"/>
              </a:rPr>
            </a:br>
            <a:r>
              <a:rPr lang="zh-CN" altLang="en-US">
                <a:latin typeface="Arial" charset="0"/>
                <a:ea typeface="楷体_GB2312" charset="0"/>
                <a:cs typeface="+mj-cs"/>
              </a:rPr>
              <a:t>等价关系和蕴涵关系 </a:t>
            </a:r>
          </a:p>
        </p:txBody>
      </p:sp>
    </p:spTree>
  </p:cSld>
  <p:clrMapOvr>
    <a:masterClrMapping/>
  </p:clrMapOvr>
  <p:transition>
    <p:blinds dir="vert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Slide Number Placeholder 5">
            <a:extLst>
              <a:ext uri="{FF2B5EF4-FFF2-40B4-BE49-F238E27FC236}">
                <a16:creationId xmlns:a16="http://schemas.microsoft.com/office/drawing/2014/main" id="{9286901F-3176-EB41-ADA7-A6AABC67C7E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BCC677B-3D72-224E-A5D4-32017179545B}" type="slidenum">
              <a:rPr kumimoji="0" lang="en-US" altLang="zh-CN" sz="1200"/>
              <a:pPr/>
              <a:t>45</a:t>
            </a:fld>
            <a:endParaRPr kumimoji="0" lang="en-US" altLang="zh-CN" sz="1200"/>
          </a:p>
        </p:txBody>
      </p:sp>
      <p:sp>
        <p:nvSpPr>
          <p:cNvPr id="60418" name="Rectangle 2">
            <a:extLst>
              <a:ext uri="{FF2B5EF4-FFF2-40B4-BE49-F238E27FC236}">
                <a16:creationId xmlns:a16="http://schemas.microsoft.com/office/drawing/2014/main" id="{73C8215C-FE97-C544-8E62-AA38117360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228600"/>
            <a:ext cx="8229600" cy="1143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定义</a:t>
            </a:r>
            <a:r>
              <a:rPr lang="en-US" altLang="zh-CN" dirty="0">
                <a:latin typeface="Arial" charset="0"/>
                <a:ea typeface="楷体_GB2312" charset="0"/>
                <a:cs typeface="+mj-cs"/>
              </a:rPr>
              <a:t>3.2.12 </a:t>
            </a: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公式的等价 </a:t>
            </a:r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99098F9B-2149-EA46-A980-5A13458E98AD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52400" y="1447800"/>
            <a:ext cx="8610600" cy="4724400"/>
          </a:xfrm>
        </p:spPr>
        <p:txBody>
          <a:bodyPr/>
          <a:lstStyle/>
          <a:p>
            <a:pPr marL="352425" indent="-352425">
              <a:lnSpc>
                <a:spcPct val="105000"/>
              </a:lnSpc>
              <a:tabLst>
                <a:tab pos="352425" algn="l"/>
              </a:tabLst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公式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H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称为</a:t>
            </a:r>
            <a:r>
              <a:rPr kumimoji="0" lang="zh-CN" altLang="en-US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等价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，记以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G=H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，如果公式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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H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是恒真的。</a:t>
            </a:r>
          </a:p>
          <a:p>
            <a:pPr marL="352425" indent="-352425">
              <a:lnSpc>
                <a:spcPct val="105000"/>
              </a:lnSpc>
              <a:tabLst>
                <a:tab pos="352425" algn="l"/>
              </a:tabLst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由定义显然可以看出：公式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H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等价的充要条件是：对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H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的任意解释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H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在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下的真值相同。</a:t>
            </a:r>
          </a:p>
          <a:p>
            <a:pPr marL="352425" indent="-352425">
              <a:lnSpc>
                <a:spcPct val="105000"/>
              </a:lnSpc>
              <a:tabLst>
                <a:tab pos="352425" algn="l"/>
              </a:tabLst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因为对任意公式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H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，在解释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下，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H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就是两个命题，所以命题逻辑中给出的基本等价式，在谓词逻辑中仍然成立。 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60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60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60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19" grpId="0" build="p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Slide Number Placeholder 5">
            <a:extLst>
              <a:ext uri="{FF2B5EF4-FFF2-40B4-BE49-F238E27FC236}">
                <a16:creationId xmlns:a16="http://schemas.microsoft.com/office/drawing/2014/main" id="{6AF14968-BF8C-6342-B73F-39AB216DF9D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99E86BA-3318-8348-A1A5-78E5A837971C}" type="slidenum">
              <a:rPr kumimoji="0" lang="en-US" altLang="zh-CN" sz="1200"/>
              <a:pPr/>
              <a:t>46</a:t>
            </a:fld>
            <a:endParaRPr kumimoji="0" lang="en-US" altLang="zh-CN" sz="1200"/>
          </a:p>
        </p:txBody>
      </p:sp>
      <p:sp>
        <p:nvSpPr>
          <p:cNvPr id="62466" name="Rectangle 2">
            <a:extLst>
              <a:ext uri="{FF2B5EF4-FFF2-40B4-BE49-F238E27FC236}">
                <a16:creationId xmlns:a16="http://schemas.microsoft.com/office/drawing/2014/main" id="{4954C421-022A-6041-ABA8-296EFBD3AC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304800"/>
            <a:ext cx="8229600" cy="1143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定义</a:t>
            </a:r>
            <a:r>
              <a:rPr lang="en-US" altLang="zh-CN" dirty="0">
                <a:latin typeface="Arial" charset="0"/>
                <a:ea typeface="楷体_GB2312" charset="0"/>
                <a:cs typeface="+mj-cs"/>
              </a:rPr>
              <a:t>3.2.13 </a:t>
            </a: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公式的蕴涵 </a:t>
            </a:r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F8BFC004-4770-334D-9849-3270735D6857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524000"/>
            <a:ext cx="8839200" cy="4419600"/>
          </a:xfrm>
        </p:spPr>
        <p:txBody>
          <a:bodyPr/>
          <a:lstStyle/>
          <a:p>
            <a:pPr marL="352425" indent="-352425">
              <a:lnSpc>
                <a:spcPct val="105000"/>
              </a:lnSpc>
              <a:tabLst>
                <a:tab pos="352425" algn="l"/>
              </a:tabLst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设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H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是公式，称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蕴涵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H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，或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H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是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的逻辑结果，如果公式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H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是恒真的，并记以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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H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。</a:t>
            </a:r>
          </a:p>
          <a:p>
            <a:pPr marL="352425" indent="-352425">
              <a:lnSpc>
                <a:spcPct val="105000"/>
              </a:lnSpc>
              <a:tabLst>
                <a:tab pos="352425" algn="l"/>
              </a:tabLst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显然，对任意两个公式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H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蕴涵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H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的充要条件是：对任意解释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，若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满足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，则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必满足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H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。</a:t>
            </a:r>
          </a:p>
          <a:p>
            <a:pPr marL="352425" indent="-352425">
              <a:lnSpc>
                <a:spcPct val="105000"/>
              </a:lnSpc>
              <a:tabLst>
                <a:tab pos="352425" algn="l"/>
              </a:tabLst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同样，命题逻辑中的基本蕴涵式仍成立。 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62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62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62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62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62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62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7" grpId="0" build="p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Slide Number Placeholder 5">
            <a:extLst>
              <a:ext uri="{FF2B5EF4-FFF2-40B4-BE49-F238E27FC236}">
                <a16:creationId xmlns:a16="http://schemas.microsoft.com/office/drawing/2014/main" id="{F9BD5725-4FE3-B14F-B078-1A881ACC749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87F24AF-A328-004E-B4EE-1C921471F3D2}" type="slidenum">
              <a:rPr kumimoji="0" lang="en-US" altLang="zh-CN" sz="1200"/>
              <a:pPr/>
              <a:t>47</a:t>
            </a:fld>
            <a:endParaRPr kumimoji="0" lang="en-US" altLang="zh-CN" sz="1200"/>
          </a:p>
        </p:txBody>
      </p:sp>
      <p:sp>
        <p:nvSpPr>
          <p:cNvPr id="64514" name="Rectangle 2">
            <a:extLst>
              <a:ext uri="{FF2B5EF4-FFF2-40B4-BE49-F238E27FC236}">
                <a16:creationId xmlns:a16="http://schemas.microsoft.com/office/drawing/2014/main" id="{28598C88-8373-0F46-A35B-001688E388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228600"/>
            <a:ext cx="8229600" cy="1143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三段论的证明 </a:t>
            </a:r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A0EA60F8-1F5A-2A49-942A-13A953C25C68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371600"/>
            <a:ext cx="8915400" cy="4724400"/>
          </a:xfrm>
        </p:spPr>
        <p:txBody>
          <a:bodyPr/>
          <a:lstStyle/>
          <a:p>
            <a:pPr marL="273050" indent="-273050">
              <a:spcBef>
                <a:spcPct val="10000"/>
              </a:spcBef>
              <a:tabLst>
                <a:tab pos="273050" algn="l"/>
              </a:tabLst>
            </a:pP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令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en-US" altLang="zh-CN" sz="2800" baseline="-25000">
                <a:latin typeface="Arial" panose="020B0604020202020204" pitchFamily="34" charset="0"/>
                <a:ea typeface="楷体_GB2312" pitchFamily="1" charset="-122"/>
              </a:rPr>
              <a:t>1 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=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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x(H(x)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M(x))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en-US" altLang="zh-CN" sz="2800" baseline="-25000">
                <a:latin typeface="Arial" panose="020B0604020202020204" pitchFamily="34" charset="0"/>
                <a:ea typeface="楷体_GB2312" pitchFamily="1" charset="-122"/>
              </a:rPr>
              <a:t>2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=H(a)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H=M(a)</a:t>
            </a:r>
            <a:b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证明：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H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是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en-US" altLang="zh-CN" sz="2800" baseline="-250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en-US" altLang="zh-CN" sz="2800" baseline="-25000">
                <a:latin typeface="Arial" panose="020B0604020202020204" pitchFamily="34" charset="0"/>
                <a:ea typeface="楷体_GB2312" pitchFamily="1" charset="-122"/>
              </a:rPr>
              <a:t>2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的逻辑结果。</a:t>
            </a:r>
          </a:p>
          <a:p>
            <a:pPr marL="273050" indent="-273050">
              <a:spcBef>
                <a:spcPct val="10000"/>
              </a:spcBef>
              <a:tabLst>
                <a:tab pos="273050" algn="l"/>
              </a:tabLst>
            </a:pPr>
            <a:r>
              <a:rPr kumimoji="0" lang="zh-CN" altLang="en-US" sz="28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证明：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设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是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en-US" altLang="zh-CN" sz="2800" baseline="-250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,G</a:t>
            </a:r>
            <a:r>
              <a:rPr kumimoji="0" lang="en-US" altLang="zh-CN" sz="2800" baseline="-25000">
                <a:latin typeface="Arial" panose="020B0604020202020204" pitchFamily="34" charset="0"/>
                <a:ea typeface="楷体_GB2312" pitchFamily="1" charset="-122"/>
              </a:rPr>
              <a:t>2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,H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的一个解释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(I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指定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a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为张三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)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，且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满足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en-US" altLang="zh-CN" sz="2800" baseline="-250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en-US" altLang="zh-CN" sz="2800" baseline="-25000">
                <a:latin typeface="Arial" panose="020B0604020202020204" pitchFamily="34" charset="0"/>
                <a:ea typeface="楷体_GB2312" pitchFamily="1" charset="-122"/>
              </a:rPr>
              <a:t>2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，即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满足</a:t>
            </a:r>
            <a:b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		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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x(H(x)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M(x))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H(a)</a:t>
            </a:r>
            <a:b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因为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H(a)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在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下为真，又由于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x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的任意性， 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H(a)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M(a)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在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下应该为真，因此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M(a)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必须</a:t>
            </a:r>
            <a:b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为真。所以，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满足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M(a)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。</a:t>
            </a:r>
          </a:p>
          <a:p>
            <a:pPr marL="273050" indent="-273050">
              <a:spcBef>
                <a:spcPct val="10000"/>
              </a:spcBef>
              <a:buFont typeface="Wingdings" pitchFamily="2" charset="2"/>
              <a:buNone/>
              <a:tabLst>
                <a:tab pos="273050" algn="l"/>
              </a:tabLst>
            </a:pP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	故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M(a)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在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下为真命题，而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指定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a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为 “张三”，故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M(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张三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)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为真命题。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5" grpId="0" build="p" autoUpdateAnimBg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46">
            <a:extLst>
              <a:ext uri="{FF2B5EF4-FFF2-40B4-BE49-F238E27FC236}">
                <a16:creationId xmlns:a16="http://schemas.microsoft.com/office/drawing/2014/main" id="{54BE5109-87BF-5B46-AC5D-2F95DEB7B82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7E23F89-DA02-A64B-9402-0FB60C4E5D43}" type="slidenum">
              <a:rPr kumimoji="0" lang="en-US" altLang="zh-CN" sz="1200"/>
              <a:pPr/>
              <a:t>48</a:t>
            </a:fld>
            <a:endParaRPr kumimoji="0" lang="en-US" altLang="zh-CN" sz="1200"/>
          </a:p>
        </p:txBody>
      </p:sp>
      <p:sp>
        <p:nvSpPr>
          <p:cNvPr id="93186" name="Rectangle 2">
            <a:extLst>
              <a:ext uri="{FF2B5EF4-FFF2-40B4-BE49-F238E27FC236}">
                <a16:creationId xmlns:a16="http://schemas.microsoft.com/office/drawing/2014/main" id="{9F63E7B6-31CE-894E-AE19-EC248E71234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981200" y="2286000"/>
            <a:ext cx="6400800" cy="1828800"/>
          </a:xfrm>
        </p:spPr>
        <p:txBody>
          <a:bodyPr/>
          <a:lstStyle/>
          <a:p>
            <a:pPr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>
                <a:latin typeface="Arial" charset="0"/>
                <a:ea typeface="楷体_GB2312" charset="0"/>
                <a:cs typeface="+mj-cs"/>
              </a:rPr>
              <a:t>§</a:t>
            </a:r>
            <a:r>
              <a:rPr lang="en-US" altLang="zh-CN">
                <a:latin typeface="Arial" charset="0"/>
                <a:ea typeface="楷体_GB2312" charset="0"/>
                <a:cs typeface="Times New Roman" charset="0"/>
              </a:rPr>
              <a:t>3.2.4  </a:t>
            </a:r>
            <a:r>
              <a:rPr lang="zh-CN" altLang="en-US">
                <a:latin typeface="Arial" charset="0"/>
                <a:ea typeface="楷体_GB2312" charset="0"/>
                <a:cs typeface="+mj-cs"/>
              </a:rPr>
              <a:t>范式 </a:t>
            </a:r>
          </a:p>
        </p:txBody>
      </p:sp>
    </p:spTree>
  </p:cSld>
  <p:clrMapOvr>
    <a:masterClrMapping/>
  </p:clrMapOvr>
  <p:transition>
    <p:blinds dir="vert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Slide Number Placeholder 5">
            <a:extLst>
              <a:ext uri="{FF2B5EF4-FFF2-40B4-BE49-F238E27FC236}">
                <a16:creationId xmlns:a16="http://schemas.microsoft.com/office/drawing/2014/main" id="{69389849-A318-294E-B9AD-89B8C9A2C77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2E94898-E290-1E4E-BA45-F39E6D7EF191}" type="slidenum">
              <a:rPr kumimoji="0" lang="en-US" altLang="zh-CN" sz="1200"/>
              <a:pPr/>
              <a:t>49</a:t>
            </a:fld>
            <a:endParaRPr kumimoji="0" lang="en-US" altLang="zh-CN" sz="1200"/>
          </a:p>
        </p:txBody>
      </p:sp>
      <p:sp>
        <p:nvSpPr>
          <p:cNvPr id="94211" name="Rectangle 3">
            <a:extLst>
              <a:ext uri="{FF2B5EF4-FFF2-40B4-BE49-F238E27FC236}">
                <a16:creationId xmlns:a16="http://schemas.microsoft.com/office/drawing/2014/main" id="{263372D1-9772-8945-86C0-834F1FE896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381000"/>
            <a:ext cx="9067800" cy="1143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前束范式 </a:t>
            </a:r>
          </a:p>
        </p:txBody>
      </p:sp>
      <p:sp>
        <p:nvSpPr>
          <p:cNvPr id="94210" name="Rectangle 2">
            <a:extLst>
              <a:ext uri="{FF2B5EF4-FFF2-40B4-BE49-F238E27FC236}">
                <a16:creationId xmlns:a16="http://schemas.microsoft.com/office/drawing/2014/main" id="{DAE857C6-85E8-0C44-9804-2001372385C3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600200"/>
            <a:ext cx="8839200" cy="4724400"/>
          </a:xfrm>
        </p:spPr>
        <p:txBody>
          <a:bodyPr/>
          <a:lstStyle/>
          <a:p>
            <a:pPr marL="352425" indent="-352425">
              <a:tabLst>
                <a:tab pos="1812925" algn="l"/>
              </a:tabLst>
            </a:pPr>
            <a:r>
              <a:rPr kumimoji="0" lang="zh-CN" altLang="en-US" sz="3200" dirty="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定义</a:t>
            </a:r>
            <a:r>
              <a:rPr kumimoji="0" lang="en-US" altLang="zh-CN" sz="3200" dirty="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3.2.14  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谓词逻辑中公式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称为前束范式，如果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有如下形状：</a:t>
            </a:r>
            <a:b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		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en-US" altLang="zh-CN" sz="3200" baseline="-30000" dirty="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x</a:t>
            </a:r>
            <a:r>
              <a:rPr kumimoji="0" lang="en-US" altLang="zh-CN" sz="3200" baseline="-30000" dirty="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…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en-US" altLang="zh-CN" sz="3200" baseline="-30000" dirty="0" err="1">
                <a:latin typeface="Arial" panose="020B0604020202020204" pitchFamily="34" charset="0"/>
                <a:ea typeface="楷体_GB2312" pitchFamily="1" charset="-122"/>
              </a:rPr>
              <a:t>n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x</a:t>
            </a:r>
            <a:r>
              <a:rPr kumimoji="0" lang="en-US" altLang="zh-CN" sz="3200" baseline="-30000" dirty="0" err="1">
                <a:latin typeface="Arial" panose="020B0604020202020204" pitchFamily="34" charset="0"/>
                <a:ea typeface="楷体_GB2312" pitchFamily="1" charset="-122"/>
              </a:rPr>
              <a:t>n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M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   </a:t>
            </a:r>
            <a:b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其中 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en-US" altLang="zh-CN" sz="3200" baseline="-30000" dirty="0" err="1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x</a:t>
            </a:r>
            <a:r>
              <a:rPr kumimoji="0" lang="en-US" altLang="zh-CN" sz="3200" baseline="-30000" dirty="0" err="1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或者是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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x</a:t>
            </a:r>
            <a:r>
              <a:rPr kumimoji="0" lang="en-US" altLang="zh-CN" sz="3200" baseline="-30000" dirty="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，或者是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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x</a:t>
            </a:r>
            <a:r>
              <a:rPr kumimoji="0" lang="en-US" altLang="zh-CN" sz="3200" baseline="-30000" dirty="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=1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…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n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M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是不含量词的公式，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en-US" altLang="zh-CN" sz="3200" baseline="-30000" dirty="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x</a:t>
            </a:r>
            <a:r>
              <a:rPr kumimoji="0" lang="en-US" altLang="zh-CN" sz="3200" baseline="-30000" dirty="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…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en-US" altLang="zh-CN" sz="3200" baseline="-30000" dirty="0" err="1">
                <a:latin typeface="Arial" panose="020B0604020202020204" pitchFamily="34" charset="0"/>
                <a:ea typeface="楷体_GB2312" pitchFamily="1" charset="-122"/>
              </a:rPr>
              <a:t>n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x</a:t>
            </a:r>
            <a:r>
              <a:rPr kumimoji="0" lang="en-US" altLang="zh-CN" sz="3200" baseline="-30000" dirty="0" err="1">
                <a:latin typeface="Arial" panose="020B0604020202020204" pitchFamily="34" charset="0"/>
                <a:ea typeface="楷体_GB2312" pitchFamily="1" charset="-122"/>
              </a:rPr>
              <a:t>n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称为</a:t>
            </a:r>
            <a:r>
              <a:rPr kumimoji="0" lang="zh-CN" altLang="en-US" sz="3200" dirty="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首标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M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称为</a:t>
            </a:r>
            <a:r>
              <a:rPr kumimoji="0" lang="zh-CN" altLang="en-US" sz="3200" dirty="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母式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。</a:t>
            </a:r>
          </a:p>
          <a:p>
            <a:pPr marL="352425" indent="-352425">
              <a:tabLst>
                <a:tab pos="1812925" algn="l"/>
              </a:tabLst>
            </a:pPr>
            <a:r>
              <a:rPr kumimoji="0" lang="zh-CN" altLang="en-US" sz="3200" dirty="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例如：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	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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x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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y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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z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(P(x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y)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Q(x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z))</a:t>
            </a:r>
            <a:b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	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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x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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y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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zP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(x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y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z)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942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942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942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10" grpId="0" build="p" autoUpdateAnimBg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Slide Number Placeholder 5">
            <a:extLst>
              <a:ext uri="{FF2B5EF4-FFF2-40B4-BE49-F238E27FC236}">
                <a16:creationId xmlns:a16="http://schemas.microsoft.com/office/drawing/2014/main" id="{BD7211D0-974B-B24B-97E8-46A34C8E3EB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3B6D7BD-D649-9F4B-BA17-6D7C397A0E9A}" type="slidenum">
              <a:rPr kumimoji="0" lang="en-US" altLang="zh-CN" sz="1200"/>
              <a:pPr/>
              <a:t>50</a:t>
            </a:fld>
            <a:endParaRPr kumimoji="0" lang="en-US" altLang="zh-CN" sz="1200"/>
          </a:p>
        </p:txBody>
      </p:sp>
      <p:sp>
        <p:nvSpPr>
          <p:cNvPr id="96259" name="Rectangle 3">
            <a:extLst>
              <a:ext uri="{FF2B5EF4-FFF2-40B4-BE49-F238E27FC236}">
                <a16:creationId xmlns:a16="http://schemas.microsoft.com/office/drawing/2014/main" id="{5052A25C-06C3-164C-A801-7D1907CB5C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152400"/>
            <a:ext cx="9067800" cy="1143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引理</a:t>
            </a:r>
            <a:r>
              <a:rPr lang="en-US" altLang="zh-CN" dirty="0">
                <a:latin typeface="Arial" charset="0"/>
                <a:ea typeface="楷体_GB2312" charset="0"/>
                <a:cs typeface="+mj-cs"/>
              </a:rPr>
              <a:t>3.2.1</a:t>
            </a:r>
            <a:r>
              <a:rPr lang="en-US" altLang="zh-CN" dirty="0">
                <a:latin typeface="Arial" charset="0"/>
                <a:ea typeface="黑体" charset="0"/>
                <a:cs typeface="黑体" charset="0"/>
              </a:rPr>
              <a:t> </a:t>
            </a:r>
          </a:p>
        </p:txBody>
      </p:sp>
      <p:sp>
        <p:nvSpPr>
          <p:cNvPr id="96258" name="Rectangle 2">
            <a:extLst>
              <a:ext uri="{FF2B5EF4-FFF2-40B4-BE49-F238E27FC236}">
                <a16:creationId xmlns:a16="http://schemas.microsoft.com/office/drawing/2014/main" id="{E8B83966-532B-2E4A-ADA8-17AF8A802855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52400" y="1371600"/>
            <a:ext cx="8839200" cy="4572000"/>
          </a:xfrm>
        </p:spPr>
        <p:txBody>
          <a:bodyPr>
            <a:normAutofit/>
          </a:bodyPr>
          <a:lstStyle/>
          <a:p>
            <a:pPr marL="352425" indent="-352425">
              <a:lnSpc>
                <a:spcPct val="90000"/>
              </a:lnSpc>
              <a:tabLst>
                <a:tab pos="352425" algn="l"/>
              </a:tabLst>
            </a:pPr>
            <a:r>
              <a:rPr kumimoji="0" lang="zh-CN" altLang="en-US" sz="32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设</a:t>
            </a:r>
            <a:r>
              <a:rPr kumimoji="0" lang="en-US" altLang="zh-CN" sz="32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是公式，其中自由变量有且仅有一个</a:t>
            </a:r>
            <a:r>
              <a:rPr kumimoji="0" lang="en-US" altLang="zh-CN" sz="32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x</a:t>
            </a:r>
            <a:r>
              <a:rPr kumimoji="0" lang="zh-CN" altLang="en-US" sz="32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，记以</a:t>
            </a:r>
            <a:r>
              <a:rPr kumimoji="0" lang="en-US" altLang="zh-CN" sz="32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G(x)</a:t>
            </a:r>
            <a:r>
              <a:rPr kumimoji="0" lang="zh-CN" altLang="en-US" sz="32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32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H</a:t>
            </a:r>
            <a:r>
              <a:rPr kumimoji="0" lang="zh-CN" altLang="en-US" sz="32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是不含变量</a:t>
            </a:r>
            <a:r>
              <a:rPr kumimoji="0" lang="en-US" altLang="zh-CN" sz="32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x</a:t>
            </a:r>
            <a:r>
              <a:rPr kumimoji="0" lang="zh-CN" altLang="en-US" sz="32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的公式，于是有：</a:t>
            </a:r>
          </a:p>
          <a:p>
            <a:pPr marL="352425" indent="-352425">
              <a:lnSpc>
                <a:spcPct val="90000"/>
              </a:lnSpc>
              <a:buClr>
                <a:srgbClr val="FFCC00"/>
              </a:buClr>
              <a:buFont typeface="Wingdings" pitchFamily="2" charset="2"/>
              <a:buNone/>
              <a:tabLst>
                <a:tab pos="352425" algn="l"/>
              </a:tabLst>
            </a:pPr>
            <a:r>
              <a:rPr kumimoji="0" lang="en-US" altLang="zh-CN" sz="32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1) 	</a:t>
            </a:r>
            <a:r>
              <a:rPr kumimoji="0" lang="en-US" altLang="zh-CN" sz="32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</a:t>
            </a:r>
            <a:r>
              <a:rPr kumimoji="0" lang="en-US" altLang="zh-CN" sz="32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x(G(x)</a:t>
            </a:r>
            <a:r>
              <a:rPr kumimoji="0" lang="en-US" altLang="zh-CN" sz="32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H)=</a:t>
            </a:r>
            <a:r>
              <a:rPr kumimoji="0" lang="en-US" altLang="zh-CN" sz="32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</a:t>
            </a:r>
            <a:r>
              <a:rPr kumimoji="0" lang="en-US" altLang="zh-CN" sz="3200" dirty="0" err="1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xG</a:t>
            </a:r>
            <a:r>
              <a:rPr kumimoji="0" lang="en-US" altLang="zh-CN" sz="32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(x)</a:t>
            </a:r>
            <a:r>
              <a:rPr kumimoji="0" lang="en-US" altLang="zh-CN" sz="32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H</a:t>
            </a:r>
          </a:p>
          <a:p>
            <a:pPr marL="352425" indent="-352425">
              <a:lnSpc>
                <a:spcPct val="90000"/>
              </a:lnSpc>
              <a:buClr>
                <a:srgbClr val="FFCC00"/>
              </a:buClr>
              <a:buFont typeface="Wingdings" pitchFamily="2" charset="2"/>
              <a:buNone/>
              <a:tabLst>
                <a:tab pos="352425" algn="l"/>
              </a:tabLst>
            </a:pPr>
            <a:r>
              <a:rPr kumimoji="0" lang="en-US" altLang="zh-CN" sz="32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1’) 	</a:t>
            </a:r>
            <a:r>
              <a:rPr kumimoji="0" lang="en-US" altLang="zh-CN" sz="32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</a:t>
            </a:r>
            <a:r>
              <a:rPr kumimoji="0" lang="en-US" altLang="zh-CN" sz="32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x(G(x)</a:t>
            </a:r>
            <a:r>
              <a:rPr kumimoji="0" lang="en-US" altLang="zh-CN" sz="32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H)=</a:t>
            </a:r>
            <a:r>
              <a:rPr kumimoji="0" lang="en-US" altLang="zh-CN" sz="32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</a:t>
            </a:r>
            <a:r>
              <a:rPr kumimoji="0" lang="en-US" altLang="zh-CN" sz="3200" dirty="0" err="1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xG</a:t>
            </a:r>
            <a:r>
              <a:rPr kumimoji="0" lang="en-US" altLang="zh-CN" sz="32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(x)</a:t>
            </a:r>
            <a:r>
              <a:rPr kumimoji="0" lang="en-US" altLang="zh-CN" sz="32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H</a:t>
            </a:r>
          </a:p>
          <a:p>
            <a:pPr marL="352425" indent="-352425">
              <a:lnSpc>
                <a:spcPct val="90000"/>
              </a:lnSpc>
              <a:buClr>
                <a:srgbClr val="FFCC00"/>
              </a:buClr>
              <a:buFont typeface="Wingdings" pitchFamily="2" charset="2"/>
              <a:buNone/>
              <a:tabLst>
                <a:tab pos="352425" algn="l"/>
              </a:tabLst>
            </a:pPr>
            <a:r>
              <a:rPr kumimoji="0" lang="en-US" altLang="zh-CN" sz="32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2) 	</a:t>
            </a:r>
            <a:r>
              <a:rPr kumimoji="0" lang="en-US" altLang="zh-CN" sz="32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</a:t>
            </a:r>
            <a:r>
              <a:rPr kumimoji="0" lang="en-US" altLang="zh-CN" sz="32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x(G(x)</a:t>
            </a:r>
            <a:r>
              <a:rPr kumimoji="0" lang="en-US" altLang="zh-CN" sz="32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H)=</a:t>
            </a:r>
            <a:r>
              <a:rPr kumimoji="0" lang="en-US" altLang="zh-CN" sz="32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</a:t>
            </a:r>
            <a:r>
              <a:rPr kumimoji="0" lang="en-US" altLang="zh-CN" sz="3200" dirty="0" err="1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xG</a:t>
            </a:r>
            <a:r>
              <a:rPr kumimoji="0" lang="en-US" altLang="zh-CN" sz="32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(x)</a:t>
            </a:r>
            <a:r>
              <a:rPr kumimoji="0" lang="en-US" altLang="zh-CN" sz="32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H</a:t>
            </a:r>
          </a:p>
          <a:p>
            <a:pPr marL="352425" indent="-352425">
              <a:lnSpc>
                <a:spcPct val="90000"/>
              </a:lnSpc>
              <a:buClr>
                <a:srgbClr val="FFCC00"/>
              </a:buClr>
              <a:buFont typeface="Wingdings" pitchFamily="2" charset="2"/>
              <a:buNone/>
              <a:tabLst>
                <a:tab pos="352425" algn="l"/>
              </a:tabLst>
            </a:pPr>
            <a:r>
              <a:rPr kumimoji="0" lang="en-US" altLang="zh-CN" sz="32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2’)	</a:t>
            </a:r>
            <a:r>
              <a:rPr kumimoji="0" lang="en-US" altLang="zh-CN" sz="32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</a:t>
            </a:r>
            <a:r>
              <a:rPr kumimoji="0" lang="en-US" altLang="zh-CN" sz="32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x(G(x)</a:t>
            </a:r>
            <a:r>
              <a:rPr kumimoji="0" lang="en-US" altLang="zh-CN" sz="32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H)=</a:t>
            </a:r>
            <a:r>
              <a:rPr kumimoji="0" lang="en-US" altLang="zh-CN" sz="32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</a:t>
            </a:r>
            <a:r>
              <a:rPr kumimoji="0" lang="en-US" altLang="zh-CN" sz="3200" dirty="0" err="1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xG</a:t>
            </a:r>
            <a:r>
              <a:rPr kumimoji="0" lang="en-US" altLang="zh-CN" sz="32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(x)</a:t>
            </a:r>
            <a:r>
              <a:rPr kumimoji="0" lang="en-US" altLang="zh-CN" sz="32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H</a:t>
            </a:r>
          </a:p>
          <a:p>
            <a:pPr marL="352425" indent="-352425">
              <a:lnSpc>
                <a:spcPct val="90000"/>
              </a:lnSpc>
              <a:buClr>
                <a:srgbClr val="FFCC00"/>
              </a:buClr>
              <a:buFont typeface="Wingdings" pitchFamily="2" charset="2"/>
              <a:buNone/>
              <a:tabLst>
                <a:tab pos="352425" algn="l"/>
              </a:tabLst>
            </a:pPr>
            <a:r>
              <a:rPr kumimoji="0" lang="en-US" altLang="zh-CN" sz="32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3) 	</a:t>
            </a:r>
            <a:r>
              <a:rPr kumimoji="0" lang="en-US" altLang="zh-CN" sz="32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(</a:t>
            </a:r>
            <a:r>
              <a:rPr kumimoji="0" lang="en-US" altLang="zh-CN" sz="32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</a:t>
            </a:r>
            <a:r>
              <a:rPr kumimoji="0" lang="en-US" altLang="zh-CN" sz="3200" dirty="0" err="1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xG</a:t>
            </a:r>
            <a:r>
              <a:rPr kumimoji="0" lang="en-US" altLang="zh-CN" sz="32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(x))=</a:t>
            </a:r>
            <a:r>
              <a:rPr kumimoji="0" lang="en-US" altLang="zh-CN" sz="32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</a:t>
            </a:r>
            <a:r>
              <a:rPr kumimoji="0" lang="en-US" altLang="zh-CN" sz="32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x(</a:t>
            </a:r>
            <a:r>
              <a:rPr kumimoji="0" lang="en-US" altLang="zh-CN" sz="32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G(x))</a:t>
            </a:r>
          </a:p>
          <a:p>
            <a:pPr marL="352425" indent="-352425">
              <a:lnSpc>
                <a:spcPct val="90000"/>
              </a:lnSpc>
              <a:buClr>
                <a:srgbClr val="FFCC00"/>
              </a:buClr>
              <a:buFont typeface="Wingdings" pitchFamily="2" charset="2"/>
              <a:buNone/>
              <a:tabLst>
                <a:tab pos="352425" algn="l"/>
              </a:tabLst>
            </a:pPr>
            <a:r>
              <a:rPr kumimoji="0" lang="en-US" altLang="zh-CN" sz="32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4) 	</a:t>
            </a:r>
            <a:r>
              <a:rPr kumimoji="0" lang="en-US" altLang="zh-CN" sz="32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(</a:t>
            </a:r>
            <a:r>
              <a:rPr kumimoji="0" lang="en-US" altLang="zh-CN" sz="32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</a:t>
            </a:r>
            <a:r>
              <a:rPr kumimoji="0" lang="en-US" altLang="zh-CN" sz="3200" dirty="0" err="1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xG</a:t>
            </a:r>
            <a:r>
              <a:rPr kumimoji="0" lang="en-US" altLang="zh-CN" sz="32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(x))=</a:t>
            </a:r>
            <a:r>
              <a:rPr kumimoji="0" lang="en-US" altLang="zh-CN" sz="32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</a:t>
            </a:r>
            <a:r>
              <a:rPr kumimoji="0" lang="en-US" altLang="zh-CN" sz="32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x(</a:t>
            </a:r>
            <a:r>
              <a:rPr kumimoji="0" lang="en-US" altLang="zh-CN" sz="32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G(x)) 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962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962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962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7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2" dur="80"/>
                                        <p:tgtEl>
                                          <p:spTgt spid="962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3" dur="80"/>
                                        <p:tgtEl>
                                          <p:spTgt spid="962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80"/>
                                        <p:tgtEl>
                                          <p:spTgt spid="962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9" dur="80"/>
                                        <p:tgtEl>
                                          <p:spTgt spid="962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0" dur="80"/>
                                        <p:tgtEl>
                                          <p:spTgt spid="962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" dur="80"/>
                                        <p:tgtEl>
                                          <p:spTgt spid="962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27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4" dur="80"/>
                                        <p:tgtEl>
                                          <p:spTgt spid="962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5" dur="80"/>
                                        <p:tgtEl>
                                          <p:spTgt spid="962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80"/>
                                        <p:tgtEl>
                                          <p:spTgt spid="962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1" dur="80"/>
                                        <p:tgtEl>
                                          <p:spTgt spid="962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2" dur="80"/>
                                        <p:tgtEl>
                                          <p:spTgt spid="962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3" dur="80"/>
                                        <p:tgtEl>
                                          <p:spTgt spid="962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27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6" dur="80"/>
                                        <p:tgtEl>
                                          <p:spTgt spid="962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7" dur="80"/>
                                        <p:tgtEl>
                                          <p:spTgt spid="962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80"/>
                                        <p:tgtEl>
                                          <p:spTgt spid="962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Slide Number Placeholder 5">
            <a:extLst>
              <a:ext uri="{FF2B5EF4-FFF2-40B4-BE49-F238E27FC236}">
                <a16:creationId xmlns:a16="http://schemas.microsoft.com/office/drawing/2014/main" id="{3DE1EB28-F6A6-A045-AFF7-2AF414625EE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0C10BB2-B66B-644E-8D8B-D426F292EE64}" type="slidenum">
              <a:rPr kumimoji="0" lang="en-US" altLang="zh-CN" sz="1200"/>
              <a:pPr/>
              <a:t>51</a:t>
            </a:fld>
            <a:endParaRPr kumimoji="0" lang="en-US" altLang="zh-CN" sz="1200"/>
          </a:p>
        </p:txBody>
      </p:sp>
      <p:sp>
        <p:nvSpPr>
          <p:cNvPr id="98307" name="Rectangle 3">
            <a:extLst>
              <a:ext uri="{FF2B5EF4-FFF2-40B4-BE49-F238E27FC236}">
                <a16:creationId xmlns:a16="http://schemas.microsoft.com/office/drawing/2014/main" id="{7535E442-6C44-EC47-AD75-793B20C6E2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152400"/>
            <a:ext cx="9067800" cy="1143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宋体" charset="0"/>
                <a:ea typeface="楷体_GB2312" charset="0"/>
                <a:cs typeface="+mj-cs"/>
              </a:rPr>
              <a:t>证明：</a:t>
            </a:r>
            <a:r>
              <a:rPr lang="zh-CN" altLang="en-US" dirty="0">
                <a:latin typeface="Times New Roman" charset="0"/>
                <a:ea typeface="楷体_GB2312" charset="0"/>
                <a:cs typeface="+mj-cs"/>
              </a:rPr>
              <a:t> </a:t>
            </a:r>
          </a:p>
        </p:txBody>
      </p:sp>
      <p:sp>
        <p:nvSpPr>
          <p:cNvPr id="98306" name="Rectangle 2">
            <a:extLst>
              <a:ext uri="{FF2B5EF4-FFF2-40B4-BE49-F238E27FC236}">
                <a16:creationId xmlns:a16="http://schemas.microsoft.com/office/drawing/2014/main" id="{00EBA42D-6622-DC40-A06A-E8673FFCFF0D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52400" y="1295400"/>
            <a:ext cx="8763000" cy="4800600"/>
          </a:xfrm>
        </p:spPr>
        <p:txBody>
          <a:bodyPr/>
          <a:lstStyle/>
          <a:p>
            <a:pPr marL="449263" indent="-449263">
              <a:buClr>
                <a:srgbClr val="FFCC00"/>
              </a:buClr>
              <a:buFont typeface="Wingdings" pitchFamily="2" charset="2"/>
              <a:buNone/>
              <a:tabLst>
                <a:tab pos="449263" algn="l"/>
              </a:tabLst>
            </a:pPr>
            <a:r>
              <a:rPr kumimoji="0" lang="en-US" altLang="zh-CN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1) </a:t>
            </a:r>
            <a:r>
              <a:rPr kumimoji="0" lang="zh-CN" altLang="en-US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设</a:t>
            </a:r>
            <a:r>
              <a:rPr kumimoji="0" lang="en-US" altLang="zh-CN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是</a:t>
            </a:r>
            <a:r>
              <a:rPr kumimoji="0" lang="en-US" altLang="zh-CN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G(x)</a:t>
            </a:r>
            <a:r>
              <a:rPr kumimoji="0" lang="zh-CN" altLang="en-US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和</a:t>
            </a:r>
            <a:r>
              <a:rPr kumimoji="0" lang="en-US" altLang="zh-CN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H</a:t>
            </a:r>
            <a:r>
              <a:rPr kumimoji="0" lang="zh-CN" altLang="en-US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的一个解释。若</a:t>
            </a:r>
            <a:r>
              <a:rPr kumimoji="0" lang="zh-CN" altLang="en-US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</a:t>
            </a:r>
            <a:r>
              <a:rPr kumimoji="0" lang="en-US" altLang="zh-CN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x(G(x)</a:t>
            </a:r>
            <a:r>
              <a:rPr kumimoji="0" lang="en-US" altLang="zh-CN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H)</a:t>
            </a:r>
            <a:br>
              <a:rPr kumimoji="0" lang="en-US" altLang="zh-CN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zh-CN" altLang="en-US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在</a:t>
            </a:r>
            <a:r>
              <a:rPr kumimoji="0" lang="en-US" altLang="zh-CN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下取</a:t>
            </a:r>
            <a:r>
              <a:rPr kumimoji="0" lang="en-US" altLang="zh-CN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zh-CN" altLang="en-US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值</a:t>
            </a:r>
            <a:r>
              <a:rPr kumimoji="0" lang="en-US" altLang="zh-CN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, </a:t>
            </a:r>
            <a:r>
              <a:rPr kumimoji="0" lang="zh-CN" altLang="en-US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则在</a:t>
            </a:r>
            <a:r>
              <a:rPr kumimoji="0" lang="en-US" altLang="zh-CN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下</a:t>
            </a:r>
            <a:r>
              <a:rPr kumimoji="0" lang="en-US" altLang="zh-CN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, </a:t>
            </a:r>
            <a:r>
              <a:rPr kumimoji="0" lang="zh-CN" altLang="en-US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对任意</a:t>
            </a:r>
            <a:r>
              <a:rPr kumimoji="0" lang="en-US" altLang="zh-CN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x</a:t>
            </a:r>
            <a:r>
              <a:rPr kumimoji="0" lang="en-US" altLang="zh-CN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</a:t>
            </a:r>
            <a:r>
              <a:rPr kumimoji="0" lang="en-US" altLang="zh-CN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D, G(x)</a:t>
            </a:r>
            <a:r>
              <a:rPr kumimoji="0" lang="en-US" altLang="zh-CN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H</a:t>
            </a:r>
            <a:br>
              <a:rPr kumimoji="0" lang="en-US" altLang="zh-CN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zh-CN" altLang="en-US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都是真命题。若</a:t>
            </a:r>
            <a:r>
              <a:rPr kumimoji="0" lang="en-US" altLang="zh-CN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H</a:t>
            </a:r>
            <a:r>
              <a:rPr kumimoji="0" lang="zh-CN" altLang="en-US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是真命题，则</a:t>
            </a:r>
            <a:r>
              <a:rPr kumimoji="0" lang="zh-CN" altLang="en-US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</a:t>
            </a:r>
            <a:r>
              <a:rPr kumimoji="0" lang="en-US" altLang="zh-CN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xG(x)</a:t>
            </a:r>
            <a:r>
              <a:rPr kumimoji="0" lang="en-US" altLang="zh-CN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H</a:t>
            </a:r>
            <a:br>
              <a:rPr kumimoji="0" lang="en-US" altLang="zh-CN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zh-CN" altLang="en-US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是真命题；若</a:t>
            </a:r>
            <a:r>
              <a:rPr kumimoji="0" lang="en-US" altLang="zh-CN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H</a:t>
            </a:r>
            <a:r>
              <a:rPr kumimoji="0" lang="zh-CN" altLang="en-US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是假命题，则必然是对每个</a:t>
            </a:r>
            <a:r>
              <a:rPr kumimoji="0" lang="en-US" altLang="zh-CN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x</a:t>
            </a:r>
            <a:r>
              <a:rPr kumimoji="0" lang="en-US" altLang="zh-CN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</a:t>
            </a:r>
            <a:r>
              <a:rPr kumimoji="0" lang="en-US" altLang="zh-CN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D</a:t>
            </a:r>
            <a:r>
              <a:rPr kumimoji="0" lang="zh-CN" altLang="en-US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G(x)</a:t>
            </a:r>
            <a:r>
              <a:rPr kumimoji="0" lang="zh-CN" altLang="en-US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都是真命题，故</a:t>
            </a:r>
            <a:r>
              <a:rPr kumimoji="0" lang="zh-CN" altLang="en-US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</a:t>
            </a:r>
            <a:r>
              <a:rPr kumimoji="0" lang="en-US" altLang="zh-CN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xG(x)</a:t>
            </a:r>
            <a:r>
              <a:rPr kumimoji="0" lang="zh-CN" altLang="en-US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取</a:t>
            </a:r>
            <a:r>
              <a:rPr kumimoji="0" lang="en-US" altLang="zh-CN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zh-CN" altLang="en-US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值。所以</a:t>
            </a:r>
            <a:r>
              <a:rPr kumimoji="0" lang="zh-CN" altLang="en-US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</a:t>
            </a:r>
            <a:r>
              <a:rPr kumimoji="0" lang="en-US" altLang="zh-CN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xG(x)</a:t>
            </a:r>
            <a:r>
              <a:rPr kumimoji="0" lang="en-US" altLang="zh-CN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H</a:t>
            </a:r>
            <a:r>
              <a:rPr kumimoji="0" lang="zh-CN" altLang="en-US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在</a:t>
            </a:r>
            <a:r>
              <a:rPr kumimoji="0" lang="en-US" altLang="zh-CN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下取</a:t>
            </a:r>
            <a:r>
              <a:rPr kumimoji="0" lang="en-US" altLang="zh-CN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zh-CN" altLang="en-US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值。</a:t>
            </a:r>
          </a:p>
          <a:p>
            <a:pPr marL="449263" indent="-449263">
              <a:buClr>
                <a:srgbClr val="FFCC00"/>
              </a:buClr>
              <a:buFont typeface="Wingdings" pitchFamily="2" charset="2"/>
              <a:buNone/>
              <a:tabLst>
                <a:tab pos="449263" algn="l"/>
              </a:tabLst>
            </a:pPr>
            <a:r>
              <a:rPr kumimoji="0" lang="zh-CN" altLang="en-US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	若</a:t>
            </a:r>
            <a:r>
              <a:rPr kumimoji="0" lang="zh-CN" altLang="en-US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</a:t>
            </a:r>
            <a:r>
              <a:rPr kumimoji="0" lang="en-US" altLang="zh-CN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x(G(x)</a:t>
            </a:r>
            <a:r>
              <a:rPr kumimoji="0" lang="en-US" altLang="zh-CN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H)</a:t>
            </a:r>
            <a:r>
              <a:rPr kumimoji="0" lang="zh-CN" altLang="en-US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在</a:t>
            </a:r>
            <a:r>
              <a:rPr kumimoji="0" lang="en-US" altLang="zh-CN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下取</a:t>
            </a:r>
            <a:r>
              <a:rPr kumimoji="0" lang="en-US" altLang="zh-CN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0</a:t>
            </a:r>
            <a:r>
              <a:rPr kumimoji="0" lang="zh-CN" altLang="en-US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值，则必有一个</a:t>
            </a:r>
            <a:r>
              <a:rPr kumimoji="0" lang="en-US" altLang="zh-CN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x</a:t>
            </a:r>
            <a:r>
              <a:rPr kumimoji="0" lang="en-US" altLang="zh-CN" sz="2800" baseline="-300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0</a:t>
            </a:r>
            <a:r>
              <a:rPr kumimoji="0" lang="en-US" altLang="zh-CN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</a:t>
            </a:r>
            <a:r>
              <a:rPr kumimoji="0" lang="en-US" altLang="zh-CN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D</a:t>
            </a:r>
            <a:r>
              <a:rPr kumimoji="0" lang="zh-CN" altLang="en-US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，使</a:t>
            </a:r>
            <a:r>
              <a:rPr kumimoji="0" lang="en-US" altLang="zh-CN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G(x</a:t>
            </a:r>
            <a:r>
              <a:rPr kumimoji="0" lang="en-US" altLang="zh-CN" sz="2800" baseline="-300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0</a:t>
            </a:r>
            <a:r>
              <a:rPr kumimoji="0" lang="en-US" altLang="zh-CN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)</a:t>
            </a:r>
            <a:r>
              <a:rPr kumimoji="0" lang="en-US" altLang="zh-CN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H</a:t>
            </a:r>
            <a:r>
              <a:rPr kumimoji="0" lang="zh-CN" altLang="en-US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在</a:t>
            </a:r>
            <a:r>
              <a:rPr kumimoji="0" lang="en-US" altLang="zh-CN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下取</a:t>
            </a:r>
            <a:r>
              <a:rPr kumimoji="0" lang="en-US" altLang="zh-CN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0</a:t>
            </a:r>
            <a:r>
              <a:rPr kumimoji="0" lang="zh-CN" altLang="en-US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值。故</a:t>
            </a:r>
            <a:r>
              <a:rPr kumimoji="0" lang="en-US" altLang="zh-CN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G(x</a:t>
            </a:r>
            <a:r>
              <a:rPr kumimoji="0" lang="en-US" altLang="zh-CN" sz="2800" baseline="-300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0</a:t>
            </a:r>
            <a:r>
              <a:rPr kumimoji="0" lang="en-US" altLang="zh-CN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)</a:t>
            </a:r>
            <a:r>
              <a:rPr kumimoji="0" lang="zh-CN" altLang="en-US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为</a:t>
            </a:r>
            <a:br>
              <a:rPr kumimoji="0" lang="zh-CN" altLang="en-US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zh-CN" altLang="en-US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假命题，并且</a:t>
            </a:r>
            <a:r>
              <a:rPr kumimoji="0" lang="en-US" altLang="zh-CN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H</a:t>
            </a:r>
            <a:r>
              <a:rPr kumimoji="0" lang="zh-CN" altLang="en-US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为假命题。所以</a:t>
            </a:r>
            <a:r>
              <a:rPr kumimoji="0" lang="zh-CN" altLang="en-US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</a:t>
            </a:r>
            <a:r>
              <a:rPr kumimoji="0" lang="en-US" altLang="zh-CN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xG(x)</a:t>
            </a:r>
            <a:r>
              <a:rPr kumimoji="0" lang="zh-CN" altLang="en-US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取</a:t>
            </a:r>
            <a:br>
              <a:rPr kumimoji="0" lang="zh-CN" altLang="en-US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en-US" altLang="zh-CN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0</a:t>
            </a:r>
            <a:r>
              <a:rPr kumimoji="0" lang="zh-CN" altLang="en-US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值。从而</a:t>
            </a:r>
            <a:r>
              <a:rPr kumimoji="0" lang="zh-CN" altLang="en-US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</a:t>
            </a:r>
            <a:r>
              <a:rPr kumimoji="0" lang="en-US" altLang="zh-CN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xG(x)</a:t>
            </a:r>
            <a:r>
              <a:rPr kumimoji="0" lang="en-US" altLang="zh-CN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H</a:t>
            </a:r>
            <a:r>
              <a:rPr kumimoji="0" lang="zh-CN" altLang="en-US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在</a:t>
            </a:r>
            <a:r>
              <a:rPr kumimoji="0" lang="en-US" altLang="zh-CN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下取</a:t>
            </a:r>
            <a:r>
              <a:rPr kumimoji="0" lang="en-US" altLang="zh-CN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0</a:t>
            </a:r>
            <a:r>
              <a:rPr kumimoji="0" lang="zh-CN" altLang="en-US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值。 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3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06" grpId="0" build="p" autoUpdateAnimBg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Slide Number Placeholder 5">
            <a:extLst>
              <a:ext uri="{FF2B5EF4-FFF2-40B4-BE49-F238E27FC236}">
                <a16:creationId xmlns:a16="http://schemas.microsoft.com/office/drawing/2014/main" id="{355D6EBE-CF5E-DE46-AA7F-95881AAE975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C7D2B76-8FAA-C546-BBFC-EB09CD0A84B4}" type="slidenum">
              <a:rPr kumimoji="0" lang="en-US" altLang="zh-CN" sz="1200"/>
              <a:pPr/>
              <a:t>52</a:t>
            </a:fld>
            <a:endParaRPr kumimoji="0" lang="en-US" altLang="zh-CN" sz="1200"/>
          </a:p>
        </p:txBody>
      </p:sp>
      <p:sp>
        <p:nvSpPr>
          <p:cNvPr id="100355" name="Rectangle 3">
            <a:extLst>
              <a:ext uri="{FF2B5EF4-FFF2-40B4-BE49-F238E27FC236}">
                <a16:creationId xmlns:a16="http://schemas.microsoft.com/office/drawing/2014/main" id="{C4105B98-BA2D-8E4E-8AFD-C573C49DC9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304800"/>
            <a:ext cx="9067800" cy="1143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宋体" charset="0"/>
                <a:ea typeface="楷体_GB2312" charset="0"/>
                <a:cs typeface="+mj-cs"/>
              </a:rPr>
              <a:t>证明：</a:t>
            </a:r>
            <a:r>
              <a:rPr lang="zh-CN" altLang="en-US" dirty="0">
                <a:latin typeface="Times New Roman" charset="0"/>
                <a:ea typeface="楷体_GB2312" charset="0"/>
                <a:cs typeface="+mj-cs"/>
              </a:rPr>
              <a:t> </a:t>
            </a:r>
          </a:p>
        </p:txBody>
      </p:sp>
      <p:sp>
        <p:nvSpPr>
          <p:cNvPr id="100354" name="Rectangle 2">
            <a:extLst>
              <a:ext uri="{FF2B5EF4-FFF2-40B4-BE49-F238E27FC236}">
                <a16:creationId xmlns:a16="http://schemas.microsoft.com/office/drawing/2014/main" id="{15F64654-129E-424A-BD9D-475BCFDFB3CC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228600" y="1447800"/>
            <a:ext cx="8686800" cy="4495800"/>
          </a:xfrm>
        </p:spPr>
        <p:txBody>
          <a:bodyPr/>
          <a:lstStyle/>
          <a:p>
            <a:pPr marL="0" indent="0">
              <a:lnSpc>
                <a:spcPct val="120000"/>
              </a:lnSpc>
              <a:buClr>
                <a:srgbClr val="FFFF00"/>
              </a:buClr>
              <a:buFont typeface="Georgia" panose="02040502050405020303" pitchFamily="18" charset="0"/>
              <a:buNone/>
              <a:tabLst>
                <a:tab pos="449263" algn="l"/>
              </a:tabLst>
            </a:pPr>
            <a:r>
              <a:rPr kumimoji="0" lang="en-US" altLang="zh-CN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4)</a:t>
            </a:r>
            <a:r>
              <a:rPr kumimoji="0" lang="zh-CN" altLang="en-US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若</a:t>
            </a:r>
            <a:r>
              <a:rPr kumimoji="0" lang="en-US" altLang="zh-CN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满足</a:t>
            </a:r>
            <a:r>
              <a:rPr kumimoji="0" lang="zh-CN" altLang="en-US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(</a:t>
            </a:r>
            <a:r>
              <a:rPr kumimoji="0" lang="en-US" altLang="zh-CN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</a:t>
            </a:r>
            <a:r>
              <a:rPr kumimoji="0" lang="en-US" altLang="zh-CN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xG(x))</a:t>
            </a:r>
            <a:r>
              <a:rPr kumimoji="0" lang="zh-CN" altLang="en-US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，则</a:t>
            </a:r>
            <a:r>
              <a:rPr kumimoji="0" lang="en-US" altLang="zh-CN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弄假</a:t>
            </a:r>
            <a:r>
              <a:rPr kumimoji="0" lang="zh-CN" altLang="en-US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</a:t>
            </a:r>
            <a:r>
              <a:rPr kumimoji="0" lang="en-US" altLang="zh-CN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xG(x)</a:t>
            </a:r>
            <a:r>
              <a:rPr kumimoji="0" lang="zh-CN" altLang="en-US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。</a:t>
            </a:r>
            <a:br>
              <a:rPr kumimoji="0" lang="zh-CN" altLang="en-US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zh-CN" altLang="en-US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故对任意</a:t>
            </a:r>
            <a:r>
              <a:rPr kumimoji="0" lang="en-US" altLang="zh-CN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x</a:t>
            </a:r>
            <a:r>
              <a:rPr kumimoji="0" lang="en-US" altLang="zh-CN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</a:t>
            </a:r>
            <a:r>
              <a:rPr kumimoji="0" lang="en-US" altLang="zh-CN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D</a:t>
            </a:r>
            <a:r>
              <a:rPr kumimoji="0" lang="zh-CN" altLang="en-US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G(x)</a:t>
            </a:r>
            <a:r>
              <a:rPr kumimoji="0" lang="zh-CN" altLang="en-US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都是假命题，从而</a:t>
            </a:r>
            <a:r>
              <a:rPr kumimoji="0" lang="zh-CN" altLang="en-US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G(x)</a:t>
            </a:r>
            <a:r>
              <a:rPr kumimoji="0" lang="zh-CN" altLang="en-US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都是真命题，故</a:t>
            </a:r>
            <a:r>
              <a:rPr kumimoji="0" lang="en-US" altLang="zh-CN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满足</a:t>
            </a:r>
            <a:r>
              <a:rPr kumimoji="0" lang="zh-CN" altLang="en-US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</a:t>
            </a:r>
            <a:r>
              <a:rPr kumimoji="0" lang="en-US" altLang="zh-CN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x(</a:t>
            </a:r>
            <a:r>
              <a:rPr kumimoji="0" lang="en-US" altLang="zh-CN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G(x))</a:t>
            </a:r>
            <a:r>
              <a:rPr kumimoji="0" lang="zh-CN" altLang="en-US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。</a:t>
            </a:r>
          </a:p>
          <a:p>
            <a:pPr marL="0" indent="0">
              <a:lnSpc>
                <a:spcPct val="120000"/>
              </a:lnSpc>
              <a:buClr>
                <a:srgbClr val="FFFF00"/>
              </a:buClr>
              <a:buFont typeface="Georgia" panose="02040502050405020303" pitchFamily="18" charset="0"/>
              <a:buNone/>
              <a:tabLst>
                <a:tab pos="449263" algn="l"/>
              </a:tabLst>
            </a:pPr>
            <a:r>
              <a:rPr kumimoji="0" lang="zh-CN" altLang="en-US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若</a:t>
            </a:r>
            <a:r>
              <a:rPr kumimoji="0" lang="en-US" altLang="zh-CN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弄假</a:t>
            </a:r>
            <a:r>
              <a:rPr kumimoji="0" lang="zh-CN" altLang="en-US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(</a:t>
            </a:r>
            <a:r>
              <a:rPr kumimoji="0" lang="en-US" altLang="zh-CN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</a:t>
            </a:r>
            <a:r>
              <a:rPr kumimoji="0" lang="en-US" altLang="zh-CN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xG(x))</a:t>
            </a:r>
            <a:r>
              <a:rPr kumimoji="0" lang="zh-CN" altLang="en-US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，则</a:t>
            </a:r>
            <a:r>
              <a:rPr kumimoji="0" lang="en-US" altLang="zh-CN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满足</a:t>
            </a:r>
            <a:r>
              <a:rPr kumimoji="0" lang="zh-CN" altLang="en-US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</a:t>
            </a:r>
            <a:r>
              <a:rPr kumimoji="0" lang="en-US" altLang="zh-CN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xG(x)</a:t>
            </a:r>
            <a:r>
              <a:rPr kumimoji="0" lang="zh-CN" altLang="en-US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。故有</a:t>
            </a:r>
            <a:r>
              <a:rPr kumimoji="0" lang="en-US" altLang="zh-CN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x</a:t>
            </a:r>
            <a:r>
              <a:rPr kumimoji="0" lang="en-US" altLang="zh-CN" sz="3200" baseline="-250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0</a:t>
            </a:r>
            <a:r>
              <a:rPr kumimoji="0" lang="en-US" altLang="zh-CN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</a:t>
            </a:r>
            <a:r>
              <a:rPr kumimoji="0" lang="en-US" altLang="zh-CN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D</a:t>
            </a:r>
            <a:r>
              <a:rPr kumimoji="0" lang="zh-CN" altLang="en-US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，使得</a:t>
            </a:r>
            <a:r>
              <a:rPr kumimoji="0" lang="en-US" altLang="zh-CN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G(x</a:t>
            </a:r>
            <a:r>
              <a:rPr kumimoji="0" lang="en-US" altLang="zh-CN" sz="3200" baseline="-250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0</a:t>
            </a:r>
            <a:r>
              <a:rPr kumimoji="0" lang="en-US" altLang="zh-CN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)</a:t>
            </a:r>
            <a:r>
              <a:rPr kumimoji="0" lang="zh-CN" altLang="en-US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是真命题。从而</a:t>
            </a:r>
            <a:r>
              <a:rPr kumimoji="0" lang="zh-CN" altLang="en-US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G(x</a:t>
            </a:r>
            <a:r>
              <a:rPr kumimoji="0" lang="en-US" altLang="zh-CN" sz="3200" baseline="-250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0</a:t>
            </a:r>
            <a:r>
              <a:rPr kumimoji="0" lang="en-US" altLang="zh-CN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)</a:t>
            </a:r>
            <a:r>
              <a:rPr kumimoji="0" lang="zh-CN" altLang="en-US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是假命题，故</a:t>
            </a:r>
            <a:r>
              <a:rPr kumimoji="0" lang="en-US" altLang="zh-CN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弄假</a:t>
            </a:r>
            <a:r>
              <a:rPr kumimoji="0" lang="zh-CN" altLang="en-US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</a:t>
            </a:r>
            <a:r>
              <a:rPr kumimoji="0" lang="en-US" altLang="zh-CN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x(</a:t>
            </a:r>
            <a:r>
              <a:rPr kumimoji="0" lang="en-US" altLang="zh-CN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G(x))</a:t>
            </a:r>
            <a:r>
              <a:rPr kumimoji="0" lang="zh-CN" altLang="en-US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。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3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54" grpId="0" build="p" autoUpdateAnimBg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Slide Number Placeholder 5">
            <a:extLst>
              <a:ext uri="{FF2B5EF4-FFF2-40B4-BE49-F238E27FC236}">
                <a16:creationId xmlns:a16="http://schemas.microsoft.com/office/drawing/2014/main" id="{B66C4A48-AE2E-524D-8C55-57741154625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78AFF8F-3EC8-3048-8F51-55AA046313A0}" type="slidenum">
              <a:rPr kumimoji="0" lang="en-US" altLang="zh-CN" sz="1200"/>
              <a:pPr/>
              <a:t>53</a:t>
            </a:fld>
            <a:endParaRPr kumimoji="0" lang="en-US" altLang="zh-CN" sz="1200"/>
          </a:p>
        </p:txBody>
      </p:sp>
      <p:sp>
        <p:nvSpPr>
          <p:cNvPr id="102403" name="Rectangle 3">
            <a:extLst>
              <a:ext uri="{FF2B5EF4-FFF2-40B4-BE49-F238E27FC236}">
                <a16:creationId xmlns:a16="http://schemas.microsoft.com/office/drawing/2014/main" id="{A7D721AE-C9D6-D04F-9E97-A254D0C686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228600"/>
            <a:ext cx="9067800" cy="1143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引理</a:t>
            </a:r>
            <a:r>
              <a:rPr lang="en-US" altLang="zh-CN" dirty="0">
                <a:latin typeface="Arial" charset="0"/>
                <a:ea typeface="楷体_GB2312" charset="0"/>
                <a:cs typeface="+mj-cs"/>
              </a:rPr>
              <a:t>3.2.2 </a:t>
            </a:r>
          </a:p>
        </p:txBody>
      </p:sp>
      <p:sp>
        <p:nvSpPr>
          <p:cNvPr id="102402" name="Rectangle 2">
            <a:extLst>
              <a:ext uri="{FF2B5EF4-FFF2-40B4-BE49-F238E27FC236}">
                <a16:creationId xmlns:a16="http://schemas.microsoft.com/office/drawing/2014/main" id="{352F58B7-35F9-2D49-ACF2-F4CB4D85BC8F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228600" y="1600200"/>
            <a:ext cx="8763000" cy="4114800"/>
          </a:xfrm>
        </p:spPr>
        <p:txBody>
          <a:bodyPr/>
          <a:lstStyle/>
          <a:p>
            <a:pPr marL="352425" indent="-352425">
              <a:tabLst>
                <a:tab pos="352425" algn="l"/>
              </a:tabLst>
            </a:pPr>
            <a:r>
              <a:rPr kumimoji="0"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设</a:t>
            </a:r>
            <a:r>
              <a:rPr kumimoji="0"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H</a:t>
            </a:r>
            <a:r>
              <a:rPr kumimoji="0"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是两个公式，其中有且只有一个自由变量</a:t>
            </a:r>
            <a:r>
              <a:rPr kumimoji="0"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x</a:t>
            </a:r>
            <a:r>
              <a:rPr kumimoji="0"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，分别记以</a:t>
            </a:r>
            <a:r>
              <a:rPr kumimoji="0"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G(x), H(x),</a:t>
            </a:r>
            <a:r>
              <a:rPr kumimoji="0"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于是有：</a:t>
            </a:r>
          </a:p>
          <a:p>
            <a:pPr marL="352425" indent="-352425">
              <a:buClr>
                <a:srgbClr val="FFCC00"/>
              </a:buClr>
              <a:buFont typeface="Wingdings" pitchFamily="2" charset="2"/>
              <a:buNone/>
              <a:tabLst>
                <a:tab pos="352425" algn="l"/>
              </a:tabLst>
            </a:pPr>
            <a:r>
              <a:rPr kumimoji="0"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1) </a:t>
            </a:r>
            <a:r>
              <a:rPr kumimoji="0"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</a:t>
            </a:r>
            <a:r>
              <a:rPr kumimoji="0" lang="en-US" altLang="zh-CN" sz="3200" dirty="0" err="1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xG</a:t>
            </a:r>
            <a:r>
              <a:rPr kumimoji="0"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(x)</a:t>
            </a:r>
            <a:r>
              <a:rPr kumimoji="0"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</a:t>
            </a:r>
            <a:r>
              <a:rPr kumimoji="0" lang="en-US" altLang="zh-CN" sz="3200" dirty="0" err="1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xH</a:t>
            </a:r>
            <a:r>
              <a:rPr kumimoji="0"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(x)=</a:t>
            </a:r>
            <a:r>
              <a:rPr kumimoji="0"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</a:t>
            </a:r>
            <a:r>
              <a:rPr kumimoji="0"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x(G(x)</a:t>
            </a:r>
            <a:r>
              <a:rPr kumimoji="0"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H(x))</a:t>
            </a:r>
          </a:p>
          <a:p>
            <a:pPr marL="352425" indent="-352425">
              <a:buClr>
                <a:srgbClr val="FFCC00"/>
              </a:buClr>
              <a:buFont typeface="Wingdings" pitchFamily="2" charset="2"/>
              <a:buNone/>
              <a:tabLst>
                <a:tab pos="352425" algn="l"/>
              </a:tabLst>
            </a:pPr>
            <a:r>
              <a:rPr kumimoji="0"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2) </a:t>
            </a:r>
            <a:r>
              <a:rPr kumimoji="0"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</a:t>
            </a:r>
            <a:r>
              <a:rPr kumimoji="0" lang="en-US" altLang="zh-CN" sz="3200" dirty="0" err="1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xG</a:t>
            </a:r>
            <a:r>
              <a:rPr kumimoji="0"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(x)</a:t>
            </a:r>
            <a:r>
              <a:rPr kumimoji="0"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</a:t>
            </a:r>
            <a:r>
              <a:rPr kumimoji="0" lang="en-US" altLang="zh-CN" sz="3200" dirty="0" err="1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xH</a:t>
            </a:r>
            <a:r>
              <a:rPr kumimoji="0"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(x)=</a:t>
            </a:r>
            <a:r>
              <a:rPr kumimoji="0"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</a:t>
            </a:r>
            <a:r>
              <a:rPr kumimoji="0"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x(G(x)</a:t>
            </a:r>
            <a:r>
              <a:rPr kumimoji="0"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H(x))</a:t>
            </a:r>
          </a:p>
          <a:p>
            <a:pPr marL="352425" indent="-352425">
              <a:buClr>
                <a:srgbClr val="FFCC00"/>
              </a:buClr>
              <a:buFont typeface="Wingdings" pitchFamily="2" charset="2"/>
              <a:buNone/>
              <a:tabLst>
                <a:tab pos="352425" algn="l"/>
              </a:tabLst>
            </a:pPr>
            <a:r>
              <a:rPr kumimoji="0"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3) </a:t>
            </a:r>
            <a:r>
              <a:rPr kumimoji="0"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</a:t>
            </a:r>
            <a:r>
              <a:rPr kumimoji="0" lang="en-US" altLang="zh-CN" sz="3200" dirty="0" err="1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xG</a:t>
            </a:r>
            <a:r>
              <a:rPr kumimoji="0"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(x)</a:t>
            </a:r>
            <a:r>
              <a:rPr kumimoji="0"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</a:t>
            </a:r>
            <a:r>
              <a:rPr kumimoji="0" lang="en-US" altLang="zh-CN" sz="3200" dirty="0" err="1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xH</a:t>
            </a:r>
            <a:r>
              <a:rPr kumimoji="0"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(x)=</a:t>
            </a:r>
            <a:r>
              <a:rPr kumimoji="0"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</a:t>
            </a:r>
            <a:r>
              <a:rPr kumimoji="0" lang="en-US" altLang="zh-CN" sz="3200" dirty="0" err="1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x</a:t>
            </a:r>
            <a:r>
              <a:rPr kumimoji="0" lang="en-US" altLang="zh-CN" sz="3200" dirty="0" err="1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</a:t>
            </a:r>
            <a:r>
              <a:rPr kumimoji="0" lang="en-US" altLang="zh-CN" sz="3200" dirty="0" err="1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y</a:t>
            </a:r>
            <a:r>
              <a:rPr kumimoji="0"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(G(x)</a:t>
            </a:r>
            <a:r>
              <a:rPr kumimoji="0"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H(y))</a:t>
            </a:r>
          </a:p>
          <a:p>
            <a:pPr marL="352425" indent="-352425">
              <a:buClr>
                <a:srgbClr val="FFCC00"/>
              </a:buClr>
              <a:buFont typeface="Wingdings" pitchFamily="2" charset="2"/>
              <a:buNone/>
              <a:tabLst>
                <a:tab pos="352425" algn="l"/>
              </a:tabLst>
            </a:pPr>
            <a:r>
              <a:rPr kumimoji="0"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4) </a:t>
            </a:r>
            <a:r>
              <a:rPr kumimoji="0"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</a:t>
            </a:r>
            <a:r>
              <a:rPr kumimoji="0" lang="en-US" altLang="zh-CN" sz="3200" dirty="0" err="1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xG</a:t>
            </a:r>
            <a:r>
              <a:rPr kumimoji="0"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(x)</a:t>
            </a:r>
            <a:r>
              <a:rPr kumimoji="0"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</a:t>
            </a:r>
            <a:r>
              <a:rPr kumimoji="0" lang="en-US" altLang="zh-CN" sz="3200" dirty="0" err="1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xH</a:t>
            </a:r>
            <a:r>
              <a:rPr kumimoji="0"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(x)=</a:t>
            </a:r>
            <a:r>
              <a:rPr kumimoji="0"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</a:t>
            </a:r>
            <a:r>
              <a:rPr kumimoji="0" lang="en-US" altLang="zh-CN" sz="3200" dirty="0" err="1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x</a:t>
            </a:r>
            <a:r>
              <a:rPr kumimoji="0" lang="en-US" altLang="zh-CN" sz="3200" dirty="0" err="1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</a:t>
            </a:r>
            <a:r>
              <a:rPr kumimoji="0" lang="en-US" altLang="zh-CN" sz="3200" dirty="0" err="1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y</a:t>
            </a:r>
            <a:r>
              <a:rPr kumimoji="0"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(G(x)</a:t>
            </a:r>
            <a:r>
              <a:rPr kumimoji="0"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H(y)) 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24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024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5" dur="80"/>
                                        <p:tgtEl>
                                          <p:spTgt spid="1024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6" dur="80"/>
                                        <p:tgtEl>
                                          <p:spTgt spid="1024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" dur="80"/>
                                        <p:tgtEl>
                                          <p:spTgt spid="1024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2" dur="80"/>
                                        <p:tgtEl>
                                          <p:spTgt spid="1024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3" dur="80"/>
                                        <p:tgtEl>
                                          <p:spTgt spid="1024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80"/>
                                        <p:tgtEl>
                                          <p:spTgt spid="1024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Slide Number Placeholder 5">
            <a:extLst>
              <a:ext uri="{FF2B5EF4-FFF2-40B4-BE49-F238E27FC236}">
                <a16:creationId xmlns:a16="http://schemas.microsoft.com/office/drawing/2014/main" id="{5FA281BE-355C-D547-AFC7-F581E9C3152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F2C9D14-45BD-D847-9908-BF3EBCDC2F48}" type="slidenum">
              <a:rPr kumimoji="0" lang="en-US" altLang="zh-CN" sz="1200"/>
              <a:pPr/>
              <a:t>54</a:t>
            </a:fld>
            <a:endParaRPr kumimoji="0" lang="en-US" altLang="zh-CN" sz="1200"/>
          </a:p>
        </p:txBody>
      </p:sp>
      <p:sp>
        <p:nvSpPr>
          <p:cNvPr id="104451" name="Rectangle 3">
            <a:extLst>
              <a:ext uri="{FF2B5EF4-FFF2-40B4-BE49-F238E27FC236}">
                <a16:creationId xmlns:a16="http://schemas.microsoft.com/office/drawing/2014/main" id="{E898E7A6-B005-A249-A42F-3B05E4E7D2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152400"/>
            <a:ext cx="9067800" cy="1143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>
                <a:latin typeface="Arial" charset="0"/>
                <a:ea typeface="楷体_GB2312" charset="0"/>
                <a:cs typeface="+mj-cs"/>
              </a:rPr>
              <a:t>1)  </a:t>
            </a: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证明： </a:t>
            </a:r>
          </a:p>
        </p:txBody>
      </p:sp>
      <p:sp>
        <p:nvSpPr>
          <p:cNvPr id="104450" name="Rectangle 2">
            <a:extLst>
              <a:ext uri="{FF2B5EF4-FFF2-40B4-BE49-F238E27FC236}">
                <a16:creationId xmlns:a16="http://schemas.microsoft.com/office/drawing/2014/main" id="{9B4D5895-7F6B-2D4C-B628-86E076C5118F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143000"/>
            <a:ext cx="8915400" cy="5334000"/>
          </a:xfrm>
        </p:spPr>
        <p:txBody>
          <a:bodyPr/>
          <a:lstStyle/>
          <a:p>
            <a:pPr marL="352425" indent="-352425">
              <a:lnSpc>
                <a:spcPct val="90000"/>
              </a:lnSpc>
              <a:tabLst>
                <a:tab pos="352425" algn="l"/>
              </a:tabLst>
            </a:pP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设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是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G(x)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和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H(x)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的一个解释。若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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xG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(x)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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xH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(x)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在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下取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值，则在解释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下，对任意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x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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D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G(x)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、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H(x)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都是真命题，所以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G(x)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H(x)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是真命题，即对任意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x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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D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， 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G(x)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H(x)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是真命题，所以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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x(G(x)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H(x))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在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下取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值。</a:t>
            </a:r>
          </a:p>
          <a:p>
            <a:pPr marL="352425" indent="-352425">
              <a:lnSpc>
                <a:spcPct val="90000"/>
              </a:lnSpc>
              <a:buClr>
                <a:srgbClr val="FFCC00"/>
              </a:buClr>
              <a:buFont typeface="Wingdings" pitchFamily="2" charset="2"/>
              <a:buNone/>
              <a:tabLst>
                <a:tab pos="352425" algn="l"/>
              </a:tabLst>
            </a:pP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	若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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xG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(x)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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xH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(x)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在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下取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0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值，则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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xG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(x)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为假，或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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xH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(x)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为假。若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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xG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(x)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为假，必有一个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x</a:t>
            </a:r>
            <a:r>
              <a:rPr kumimoji="0" lang="en-US" altLang="zh-CN" sz="3200" baseline="-30000" dirty="0">
                <a:latin typeface="Arial" panose="020B0604020202020204" pitchFamily="34" charset="0"/>
                <a:ea typeface="楷体_GB2312" pitchFamily="1" charset="-122"/>
              </a:rPr>
              <a:t>0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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D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，使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G(x</a:t>
            </a:r>
            <a:r>
              <a:rPr kumimoji="0" lang="en-US" altLang="zh-CN" sz="3200" baseline="-30000" dirty="0">
                <a:latin typeface="Arial" panose="020B0604020202020204" pitchFamily="34" charset="0"/>
                <a:ea typeface="楷体_GB2312" pitchFamily="1" charset="-122"/>
              </a:rPr>
              <a:t>0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) 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在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下取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0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值，所以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G(x</a:t>
            </a:r>
            <a:r>
              <a:rPr kumimoji="0" lang="en-US" altLang="zh-CN" sz="3200" baseline="-30000" dirty="0">
                <a:latin typeface="Arial" panose="020B0604020202020204" pitchFamily="34" charset="0"/>
                <a:ea typeface="楷体_GB2312" pitchFamily="1" charset="-122"/>
              </a:rPr>
              <a:t>0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)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H(x</a:t>
            </a:r>
            <a:r>
              <a:rPr kumimoji="0" lang="en-US" altLang="zh-CN" sz="3200" baseline="-30000" dirty="0">
                <a:latin typeface="Arial" panose="020B0604020202020204" pitchFamily="34" charset="0"/>
                <a:ea typeface="楷体_GB2312" pitchFamily="1" charset="-122"/>
              </a:rPr>
              <a:t>0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)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为假命题，所以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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x(G(x)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H(x))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在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下取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0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值。若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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xH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(x)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为假，同理可证。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4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50" grpId="0" build="p" autoUpdateAnimBg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Slide Number Placeholder 5">
            <a:extLst>
              <a:ext uri="{FF2B5EF4-FFF2-40B4-BE49-F238E27FC236}">
                <a16:creationId xmlns:a16="http://schemas.microsoft.com/office/drawing/2014/main" id="{F4017CAF-2C50-C14C-9A07-A5A7CE59FDF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62E9ECC-BCC8-AF49-BC2D-CD03641AAE52}" type="slidenum">
              <a:rPr kumimoji="0" lang="en-US" altLang="zh-CN" sz="1200"/>
              <a:pPr/>
              <a:t>55</a:t>
            </a:fld>
            <a:endParaRPr kumimoji="0" lang="en-US" altLang="zh-CN" sz="1200"/>
          </a:p>
        </p:txBody>
      </p:sp>
      <p:sp>
        <p:nvSpPr>
          <p:cNvPr id="106499" name="Rectangle 3">
            <a:extLst>
              <a:ext uri="{FF2B5EF4-FFF2-40B4-BE49-F238E27FC236}">
                <a16:creationId xmlns:a16="http://schemas.microsoft.com/office/drawing/2014/main" id="{E98C7A84-D680-A143-ADCB-03936362DD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228600"/>
            <a:ext cx="9067800" cy="1143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>
                <a:latin typeface="Arial" charset="0"/>
                <a:ea typeface="楷体_GB2312" charset="0"/>
                <a:cs typeface="+mj-cs"/>
              </a:rPr>
              <a:t>3) </a:t>
            </a: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证明： </a:t>
            </a:r>
          </a:p>
        </p:txBody>
      </p:sp>
      <p:sp>
        <p:nvSpPr>
          <p:cNvPr id="97283" name="Rectangle 2">
            <a:extLst>
              <a:ext uri="{FF2B5EF4-FFF2-40B4-BE49-F238E27FC236}">
                <a16:creationId xmlns:a16="http://schemas.microsoft.com/office/drawing/2014/main" id="{0EA6420F-1A57-7847-ACD3-3C0A5C82FB47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228600" y="1295400"/>
            <a:ext cx="8610600" cy="3429000"/>
          </a:xfrm>
        </p:spPr>
        <p:txBody>
          <a:bodyPr/>
          <a:lstStyle/>
          <a:p>
            <a:pPr marL="0" indent="0">
              <a:lnSpc>
                <a:spcPct val="150000"/>
              </a:lnSpc>
              <a:buClr>
                <a:srgbClr val="FFCC00"/>
              </a:buClr>
              <a:buFont typeface="Wingdings" pitchFamily="2" charset="2"/>
              <a:buNone/>
            </a:pP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  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xG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(x)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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xH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(x)</a:t>
            </a:r>
            <a:b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=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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xG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(x)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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yH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(y)	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    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 </a:t>
            </a:r>
            <a:r>
              <a:rPr kumimoji="0" lang="zh-CN" altLang="en-US" sz="3200" i="1" dirty="0">
                <a:latin typeface="Arial" panose="020B0604020202020204" pitchFamily="34" charset="0"/>
                <a:ea typeface="楷体_GB2312" pitchFamily="1" charset="-122"/>
              </a:rPr>
              <a:t>改名规则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=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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x(G(x)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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yH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(y)) 	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     </a:t>
            </a:r>
            <a:r>
              <a:rPr kumimoji="0" lang="zh-CN" altLang="en-US" sz="3200" i="1" dirty="0">
                <a:latin typeface="Arial" panose="020B0604020202020204" pitchFamily="34" charset="0"/>
                <a:ea typeface="楷体_GB2312" pitchFamily="1" charset="-122"/>
              </a:rPr>
              <a:t>引理</a:t>
            </a:r>
            <a:r>
              <a:rPr kumimoji="0" lang="en-US" altLang="zh-CN" sz="3200" i="1" dirty="0">
                <a:latin typeface="Arial" panose="020B0604020202020204" pitchFamily="34" charset="0"/>
                <a:ea typeface="楷体_GB2312" pitchFamily="1" charset="-122"/>
              </a:rPr>
              <a:t>3.2.1</a:t>
            </a:r>
            <a:b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=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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x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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y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(G(x)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H(y)) 	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     </a:t>
            </a:r>
            <a:r>
              <a:rPr kumimoji="0" lang="zh-CN" altLang="en-US" sz="3200" i="1" dirty="0">
                <a:latin typeface="Arial" panose="020B0604020202020204" pitchFamily="34" charset="0"/>
                <a:ea typeface="楷体_GB2312" pitchFamily="1" charset="-122"/>
              </a:rPr>
              <a:t>引理</a:t>
            </a:r>
            <a:r>
              <a:rPr kumimoji="0" lang="en-US" altLang="zh-CN" sz="3200" i="1" dirty="0">
                <a:latin typeface="Arial" panose="020B0604020202020204" pitchFamily="34" charset="0"/>
                <a:ea typeface="楷体_GB2312" pitchFamily="1" charset="-122"/>
              </a:rPr>
              <a:t>3.2.1</a:t>
            </a:r>
          </a:p>
        </p:txBody>
      </p:sp>
    </p:spTree>
  </p:cSld>
  <p:clrMapOvr>
    <a:masterClrMapping/>
  </p:clrMapOvr>
  <p:transition>
    <p:blinds dir="vert"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Slide Number Placeholder 5">
            <a:extLst>
              <a:ext uri="{FF2B5EF4-FFF2-40B4-BE49-F238E27FC236}">
                <a16:creationId xmlns:a16="http://schemas.microsoft.com/office/drawing/2014/main" id="{AAB5AE9B-DA09-CC47-9BCA-14E3243854D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7781E58-E5E5-8144-9619-0E4D6078801D}" type="slidenum">
              <a:rPr kumimoji="0" lang="en-US" altLang="zh-CN" sz="1200"/>
              <a:pPr/>
              <a:t>56</a:t>
            </a:fld>
            <a:endParaRPr kumimoji="0" lang="en-US" altLang="zh-CN" sz="1200"/>
          </a:p>
        </p:txBody>
      </p:sp>
      <p:sp>
        <p:nvSpPr>
          <p:cNvPr id="108547" name="Rectangle 3">
            <a:extLst>
              <a:ext uri="{FF2B5EF4-FFF2-40B4-BE49-F238E27FC236}">
                <a16:creationId xmlns:a16="http://schemas.microsoft.com/office/drawing/2014/main" id="{3E7D98FF-BD85-2C4E-8590-0BB5F81110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228600"/>
            <a:ext cx="9067800" cy="1143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定理</a:t>
            </a:r>
            <a:r>
              <a:rPr lang="en-US" altLang="zh-CN" dirty="0">
                <a:latin typeface="Arial" charset="0"/>
                <a:ea typeface="楷体_GB2312" charset="0"/>
                <a:cs typeface="+mj-cs"/>
              </a:rPr>
              <a:t>3.2.1 </a:t>
            </a:r>
          </a:p>
        </p:txBody>
      </p:sp>
      <p:sp>
        <p:nvSpPr>
          <p:cNvPr id="108546" name="Rectangle 2">
            <a:extLst>
              <a:ext uri="{FF2B5EF4-FFF2-40B4-BE49-F238E27FC236}">
                <a16:creationId xmlns:a16="http://schemas.microsoft.com/office/drawing/2014/main" id="{EFEEA6AA-9ACB-B449-BE01-4E45AA1EBC53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524000"/>
            <a:ext cx="8915400" cy="4953000"/>
          </a:xfrm>
        </p:spPr>
        <p:txBody>
          <a:bodyPr/>
          <a:lstStyle/>
          <a:p>
            <a:pPr marL="352425" indent="-352425">
              <a:tabLst>
                <a:tab pos="352425" algn="l"/>
              </a:tabLst>
            </a:pP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对任意公式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，都存在与其等价的前束范式。 </a:t>
            </a:r>
          </a:p>
          <a:p>
            <a:pPr marL="352425" indent="-352425">
              <a:tabLst>
                <a:tab pos="352425" algn="l"/>
              </a:tabLst>
            </a:pPr>
            <a:r>
              <a:rPr kumimoji="0" lang="zh-CN" altLang="en-US" sz="3200" dirty="0">
                <a:solidFill>
                  <a:schemeClr val="accent1"/>
                </a:solidFill>
                <a:latin typeface="Arial" panose="020B0604020202020204" pitchFamily="34" charset="0"/>
                <a:ea typeface="楷体_GB2312" pitchFamily="1" charset="-122"/>
              </a:rPr>
              <a:t>证明：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通过如下算法，可将公式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化成等价的前束范式。</a:t>
            </a:r>
          </a:p>
          <a:p>
            <a:pPr marL="352425" indent="-352425">
              <a:buClr>
                <a:srgbClr val="FFCC00"/>
              </a:buClr>
              <a:buFont typeface="Wingdings" pitchFamily="2" charset="2"/>
              <a:buNone/>
              <a:tabLst>
                <a:tab pos="352425" algn="l"/>
              </a:tabLst>
            </a:pPr>
            <a:r>
              <a:rPr kumimoji="0"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1. 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使用基本等价</a:t>
            </a:r>
            <a:b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	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(K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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H)=(K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H)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(H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K)</a:t>
            </a:r>
            <a:b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	(K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H)=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K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H</a:t>
            </a:r>
            <a:b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  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可将公式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中的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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和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删除。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5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5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546" grpId="0" build="p" autoUpdateAnimBg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Slide Number Placeholder 5">
            <a:extLst>
              <a:ext uri="{FF2B5EF4-FFF2-40B4-BE49-F238E27FC236}">
                <a16:creationId xmlns:a16="http://schemas.microsoft.com/office/drawing/2014/main" id="{D27DF3CA-0E9E-2C4B-BA58-0C4472BCCD8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AB2DE98-5BF8-A241-8F65-72E41C14C57D}" type="slidenum">
              <a:rPr kumimoji="0" lang="en-US" altLang="zh-CN" sz="1200"/>
              <a:pPr/>
              <a:t>57</a:t>
            </a:fld>
            <a:endParaRPr kumimoji="0" lang="en-US" altLang="zh-CN" sz="1200"/>
          </a:p>
        </p:txBody>
      </p:sp>
      <p:sp>
        <p:nvSpPr>
          <p:cNvPr id="110594" name="Rectangle 2">
            <a:extLst>
              <a:ext uri="{FF2B5EF4-FFF2-40B4-BE49-F238E27FC236}">
                <a16:creationId xmlns:a16="http://schemas.microsoft.com/office/drawing/2014/main" id="{0C1D2160-D64F-3E40-8F31-8F5D74A4D5DB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87325" y="914400"/>
            <a:ext cx="8804275" cy="5181600"/>
          </a:xfrm>
        </p:spPr>
        <p:txBody>
          <a:bodyPr/>
          <a:lstStyle/>
          <a:p>
            <a:pPr marL="546100" indent="-546100">
              <a:buClr>
                <a:srgbClr val="FFCC00"/>
              </a:buClr>
              <a:buFont typeface="Wingdings" pitchFamily="2" charset="2"/>
              <a:buNone/>
              <a:tabLst>
                <a:tab pos="546100" algn="l"/>
              </a:tabLst>
            </a:pPr>
            <a:r>
              <a:rPr kumimoji="0" lang="en-US" altLang="zh-CN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2. </a:t>
            </a:r>
            <a:r>
              <a:rPr kumimoji="0" lang="zh-CN" altLang="en-US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使用</a:t>
            </a:r>
            <a:r>
              <a:rPr kumimoji="0" lang="zh-CN" altLang="en-US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(</a:t>
            </a:r>
            <a:r>
              <a:rPr kumimoji="0" lang="en-US" altLang="zh-CN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H)=H</a:t>
            </a:r>
            <a:r>
              <a:rPr kumimoji="0" lang="zh-CN" altLang="en-US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，摩根律，引理</a:t>
            </a:r>
            <a:r>
              <a:rPr kumimoji="0" lang="en-US" altLang="zh-CN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3.2.1</a:t>
            </a:r>
            <a:r>
              <a:rPr kumimoji="0" lang="zh-CN" altLang="en-US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，可将公式中所有否定号</a:t>
            </a:r>
            <a:r>
              <a:rPr kumimoji="0" lang="zh-CN" altLang="en-US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zh-CN" altLang="en-US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放在原子之前。</a:t>
            </a:r>
          </a:p>
          <a:p>
            <a:pPr marL="546100" indent="-546100">
              <a:buClr>
                <a:srgbClr val="FFCC00"/>
              </a:buClr>
              <a:buFont typeface="Wingdings" pitchFamily="2" charset="2"/>
              <a:buNone/>
              <a:tabLst>
                <a:tab pos="546100" algn="l"/>
              </a:tabLst>
            </a:pPr>
            <a:r>
              <a:rPr kumimoji="0" lang="en-US" altLang="zh-CN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3. </a:t>
            </a:r>
            <a:r>
              <a:rPr kumimoji="0" lang="zh-CN" altLang="en-US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如果必要的话，则将约束变量改名。</a:t>
            </a:r>
          </a:p>
          <a:p>
            <a:pPr marL="546100" indent="-546100">
              <a:buClr>
                <a:srgbClr val="FFCC00"/>
              </a:buClr>
              <a:buFont typeface="Wingdings" pitchFamily="2" charset="2"/>
              <a:buNone/>
              <a:tabLst>
                <a:tab pos="546100" algn="l"/>
              </a:tabLst>
            </a:pPr>
            <a:r>
              <a:rPr kumimoji="0" lang="en-US" altLang="zh-CN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4. </a:t>
            </a:r>
            <a:r>
              <a:rPr kumimoji="0" lang="zh-CN" altLang="en-US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使用引理</a:t>
            </a:r>
            <a:r>
              <a:rPr kumimoji="0" lang="en-US" altLang="zh-CN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3.2.1</a:t>
            </a:r>
            <a:r>
              <a:rPr kumimoji="0" lang="zh-CN" altLang="en-US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3.2.2</a:t>
            </a:r>
            <a:r>
              <a:rPr kumimoji="0" lang="zh-CN" altLang="en-US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将所有量词都提到公式的最左边。</a:t>
            </a:r>
          </a:p>
          <a:p>
            <a:pPr marL="546100" indent="-546100">
              <a:buClr>
                <a:srgbClr val="FFCC00"/>
              </a:buClr>
              <a:buFont typeface="Wingdings" pitchFamily="2" charset="2"/>
              <a:buNone/>
              <a:tabLst>
                <a:tab pos="546100" algn="l"/>
              </a:tabLst>
            </a:pPr>
            <a:r>
              <a:rPr kumimoji="0" lang="zh-CN" altLang="en-US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于是，将公式</a:t>
            </a:r>
            <a:r>
              <a:rPr kumimoji="0" lang="en-US" altLang="zh-CN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在等价意义下化成了一个前束范式。 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5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5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5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594" grpId="0" build="p" autoUpdateAnimBg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Slide Number Placeholder 5">
            <a:extLst>
              <a:ext uri="{FF2B5EF4-FFF2-40B4-BE49-F238E27FC236}">
                <a16:creationId xmlns:a16="http://schemas.microsoft.com/office/drawing/2014/main" id="{DDBA8ECD-E14F-CD42-B7EC-07F21A1204C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1B36C58-607A-AF44-9BBC-6E82A51C5D9C}" type="slidenum">
              <a:rPr kumimoji="0" lang="en-US" altLang="zh-CN" sz="1200"/>
              <a:pPr/>
              <a:t>58</a:t>
            </a:fld>
            <a:endParaRPr kumimoji="0" lang="en-US" altLang="zh-CN" sz="1200"/>
          </a:p>
        </p:txBody>
      </p:sp>
      <p:sp>
        <p:nvSpPr>
          <p:cNvPr id="112643" name="Rectangle 3">
            <a:extLst>
              <a:ext uri="{FF2B5EF4-FFF2-40B4-BE49-F238E27FC236}">
                <a16:creationId xmlns:a16="http://schemas.microsoft.com/office/drawing/2014/main" id="{55522792-A67E-C147-9420-F058678118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304800"/>
            <a:ext cx="9067800" cy="1143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例</a:t>
            </a:r>
            <a:r>
              <a:rPr lang="en-US" altLang="zh-CN" dirty="0">
                <a:latin typeface="Arial" charset="0"/>
                <a:ea typeface="楷体_GB2312" charset="0"/>
                <a:cs typeface="+mj-cs"/>
              </a:rPr>
              <a:t>3.2.1 </a:t>
            </a:r>
          </a:p>
        </p:txBody>
      </p:sp>
      <p:sp>
        <p:nvSpPr>
          <p:cNvPr id="112642" name="Rectangle 2">
            <a:extLst>
              <a:ext uri="{FF2B5EF4-FFF2-40B4-BE49-F238E27FC236}">
                <a16:creationId xmlns:a16="http://schemas.microsoft.com/office/drawing/2014/main" id="{D3D7E3B8-3FDC-BE49-88B5-8C5D28F4B0D5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228600" y="1066800"/>
            <a:ext cx="8610600" cy="5105400"/>
          </a:xfrm>
        </p:spPr>
        <p:txBody>
          <a:bodyPr/>
          <a:lstStyle/>
          <a:p>
            <a:pPr marL="0" indent="0">
              <a:lnSpc>
                <a:spcPct val="200000"/>
              </a:lnSpc>
              <a:spcBef>
                <a:spcPct val="0"/>
              </a:spcBef>
              <a:buClr>
                <a:srgbClr val="FFCC00"/>
              </a:buClr>
              <a:buFont typeface="Wingdings" pitchFamily="2" charset="2"/>
              <a:buNone/>
            </a:pP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   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x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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y(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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z(P(x,z)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P(y,z))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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uQ(x,y,u))</a:t>
            </a:r>
          </a:p>
          <a:p>
            <a:pPr marL="0" indent="0">
              <a:lnSpc>
                <a:spcPct val="200000"/>
              </a:lnSpc>
              <a:spcBef>
                <a:spcPct val="0"/>
              </a:spcBef>
              <a:buClr>
                <a:srgbClr val="FFCC00"/>
              </a:buClr>
              <a:buFont typeface="Wingdings" pitchFamily="2" charset="2"/>
              <a:buNone/>
            </a:pP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= 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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x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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y(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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z(P(x,z)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P(y,z)))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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uQ(x,y,u))</a:t>
            </a:r>
          </a:p>
          <a:p>
            <a:pPr marL="0" indent="0">
              <a:lnSpc>
                <a:spcPct val="200000"/>
              </a:lnSpc>
              <a:spcBef>
                <a:spcPct val="0"/>
              </a:spcBef>
              <a:buClr>
                <a:srgbClr val="FFCC00"/>
              </a:buClr>
              <a:buFont typeface="Wingdings" pitchFamily="2" charset="2"/>
              <a:buNone/>
            </a:pP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= 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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x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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y(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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z(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P(x,z)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P(y,z))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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uQ(x,y,u))</a:t>
            </a:r>
          </a:p>
          <a:p>
            <a:pPr marL="0" indent="0">
              <a:lnSpc>
                <a:spcPct val="200000"/>
              </a:lnSpc>
              <a:spcBef>
                <a:spcPct val="0"/>
              </a:spcBef>
              <a:buClr>
                <a:srgbClr val="FFCC00"/>
              </a:buClr>
              <a:buFont typeface="Wingdings" pitchFamily="2" charset="2"/>
              <a:buNone/>
            </a:pP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= 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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x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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y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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z(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P(x,z)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P(y,z)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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uQ(x,y,u))</a:t>
            </a:r>
          </a:p>
          <a:p>
            <a:pPr marL="0" indent="0">
              <a:lnSpc>
                <a:spcPct val="200000"/>
              </a:lnSpc>
              <a:spcBef>
                <a:spcPct val="0"/>
              </a:spcBef>
              <a:buClr>
                <a:srgbClr val="FFCC00"/>
              </a:buClr>
              <a:buFont typeface="Wingdings" pitchFamily="2" charset="2"/>
              <a:buNone/>
            </a:pP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= 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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x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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y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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z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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u(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P(x,z)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P(y,z)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Q(x,y,u)) 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42" grpId="0" build="p" autoUpdateAnimBg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Slide Number Placeholder 5">
            <a:extLst>
              <a:ext uri="{FF2B5EF4-FFF2-40B4-BE49-F238E27FC236}">
                <a16:creationId xmlns:a16="http://schemas.microsoft.com/office/drawing/2014/main" id="{3DC013F4-7367-5D4C-96FF-9B5F09319CE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405D08B-811B-8F49-A8A3-8AE873E9C3F2}" type="slidenum">
              <a:rPr kumimoji="0" lang="en-US" altLang="zh-CN" sz="1200"/>
              <a:pPr/>
              <a:t>59</a:t>
            </a:fld>
            <a:endParaRPr kumimoji="0" lang="en-US" altLang="zh-CN" sz="1200"/>
          </a:p>
        </p:txBody>
      </p:sp>
      <p:sp>
        <p:nvSpPr>
          <p:cNvPr id="194562" name="Rectangle 2">
            <a:extLst>
              <a:ext uri="{FF2B5EF4-FFF2-40B4-BE49-F238E27FC236}">
                <a16:creationId xmlns:a16="http://schemas.microsoft.com/office/drawing/2014/main" id="{A215A944-D62F-224C-BB77-8920765B25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8750" y="152400"/>
            <a:ext cx="8985250" cy="1143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cs typeface="+mj-cs"/>
              </a:rPr>
              <a:t>例：</a:t>
            </a:r>
          </a:p>
        </p:txBody>
      </p:sp>
      <p:sp>
        <p:nvSpPr>
          <p:cNvPr id="194563" name="Rectangle 3">
            <a:extLst>
              <a:ext uri="{FF2B5EF4-FFF2-40B4-BE49-F238E27FC236}">
                <a16:creationId xmlns:a16="http://schemas.microsoft.com/office/drawing/2014/main" id="{DD023C53-7F1B-D640-B440-EFFF14DD5F2F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52400" y="1066800"/>
            <a:ext cx="8763000" cy="5257800"/>
          </a:xfrm>
        </p:spPr>
        <p:txBody>
          <a:bodyPr/>
          <a:lstStyle/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   (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x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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yP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(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a,x,y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)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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x(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(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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yQ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(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y,b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))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R(x)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))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= 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(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(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x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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yP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(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a,x,y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)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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x(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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(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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yQ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(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y,b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)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R(x))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)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= 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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x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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yP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(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a,x,y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)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(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x)((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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yQ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(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y,b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)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R(x))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= 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x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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yP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(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a,x,y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)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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x(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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y(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Q(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y,b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))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R(x))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= 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x(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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yP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(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a,x,y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)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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y(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Q(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y,b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))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R(x))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= </a:t>
            </a:r>
            <a:r>
              <a:rPr kumimoji="0" lang="en-US" altLang="zh-CN" sz="3200" dirty="0">
                <a:solidFill>
                  <a:schemeClr val="accent1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</a:t>
            </a:r>
            <a:r>
              <a:rPr kumimoji="0" lang="en-US" altLang="zh-CN" sz="3200" dirty="0">
                <a:solidFill>
                  <a:schemeClr val="accent1"/>
                </a:solidFill>
                <a:latin typeface="Arial" panose="020B0604020202020204" pitchFamily="34" charset="0"/>
                <a:ea typeface="楷体_GB2312" pitchFamily="1" charset="-122"/>
              </a:rPr>
              <a:t>x(</a:t>
            </a:r>
            <a:r>
              <a:rPr kumimoji="0" lang="en-US" altLang="zh-CN" sz="3200" dirty="0">
                <a:solidFill>
                  <a:schemeClr val="accent1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</a:t>
            </a:r>
            <a:r>
              <a:rPr kumimoji="0" lang="en-US" altLang="zh-CN" sz="3200" dirty="0" err="1">
                <a:solidFill>
                  <a:schemeClr val="accent1"/>
                </a:solidFill>
                <a:latin typeface="Arial" panose="020B0604020202020204" pitchFamily="34" charset="0"/>
                <a:ea typeface="楷体_GB2312" pitchFamily="1" charset="-122"/>
              </a:rPr>
              <a:t>yP</a:t>
            </a:r>
            <a:r>
              <a:rPr kumimoji="0" lang="en-US" altLang="zh-CN" sz="3200" dirty="0">
                <a:solidFill>
                  <a:schemeClr val="accent1"/>
                </a:solidFill>
                <a:latin typeface="Arial" panose="020B0604020202020204" pitchFamily="34" charset="0"/>
                <a:ea typeface="楷体_GB2312" pitchFamily="1" charset="-122"/>
              </a:rPr>
              <a:t>(</a:t>
            </a:r>
            <a:r>
              <a:rPr kumimoji="0" lang="en-US" altLang="zh-CN" sz="3200" dirty="0" err="1">
                <a:solidFill>
                  <a:schemeClr val="accent1"/>
                </a:solidFill>
                <a:latin typeface="Arial" panose="020B0604020202020204" pitchFamily="34" charset="0"/>
                <a:ea typeface="楷体_GB2312" pitchFamily="1" charset="-122"/>
              </a:rPr>
              <a:t>a,x,y</a:t>
            </a:r>
            <a:r>
              <a:rPr kumimoji="0" lang="en-US" altLang="zh-CN" sz="3200" dirty="0">
                <a:solidFill>
                  <a:schemeClr val="accent1"/>
                </a:solidFill>
                <a:latin typeface="Arial" panose="020B0604020202020204" pitchFamily="34" charset="0"/>
                <a:ea typeface="楷体_GB2312" pitchFamily="1" charset="-122"/>
              </a:rPr>
              <a:t>)</a:t>
            </a:r>
            <a:r>
              <a:rPr kumimoji="0" lang="en-US" altLang="zh-CN" sz="3200" dirty="0">
                <a:solidFill>
                  <a:schemeClr val="accent1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</a:t>
            </a:r>
            <a:r>
              <a:rPr kumimoji="0" lang="en-US" altLang="zh-CN" sz="3200" dirty="0">
                <a:solidFill>
                  <a:schemeClr val="accent1"/>
                </a:solidFill>
                <a:latin typeface="Arial" panose="020B0604020202020204" pitchFamily="34" charset="0"/>
                <a:ea typeface="楷体_GB2312" pitchFamily="1" charset="-122"/>
              </a:rPr>
              <a:t>z(</a:t>
            </a:r>
            <a:r>
              <a:rPr kumimoji="0" lang="en-US" altLang="zh-CN" sz="3200" dirty="0">
                <a:solidFill>
                  <a:schemeClr val="accent1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 dirty="0">
                <a:solidFill>
                  <a:schemeClr val="accent1"/>
                </a:solidFill>
                <a:latin typeface="Arial" panose="020B0604020202020204" pitchFamily="34" charset="0"/>
                <a:ea typeface="楷体_GB2312" pitchFamily="1" charset="-122"/>
              </a:rPr>
              <a:t>Q(</a:t>
            </a:r>
            <a:r>
              <a:rPr kumimoji="0" lang="en-US" altLang="zh-CN" sz="3200" dirty="0" err="1">
                <a:solidFill>
                  <a:schemeClr val="accent1"/>
                </a:solidFill>
                <a:latin typeface="Arial" panose="020B0604020202020204" pitchFamily="34" charset="0"/>
                <a:ea typeface="楷体_GB2312" pitchFamily="1" charset="-122"/>
              </a:rPr>
              <a:t>z,b</a:t>
            </a:r>
            <a:r>
              <a:rPr kumimoji="0" lang="en-US" altLang="zh-CN" sz="3200" dirty="0">
                <a:solidFill>
                  <a:schemeClr val="accent1"/>
                </a:solidFill>
                <a:latin typeface="Arial" panose="020B0604020202020204" pitchFamily="34" charset="0"/>
                <a:ea typeface="楷体_GB2312" pitchFamily="1" charset="-122"/>
              </a:rPr>
              <a:t>))</a:t>
            </a:r>
            <a:r>
              <a:rPr kumimoji="0" lang="en-US" altLang="zh-CN" sz="3200" dirty="0">
                <a:solidFill>
                  <a:schemeClr val="accent1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R(x))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= 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x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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y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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z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(P(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a,x,y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)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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Q(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z,b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)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R(x))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194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194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194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194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194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194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1" dur="80"/>
                                        <p:tgtEl>
                                          <p:spTgt spid="194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2" dur="80"/>
                                        <p:tgtEl>
                                          <p:spTgt spid="194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80"/>
                                        <p:tgtEl>
                                          <p:spTgt spid="194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8" dur="80"/>
                                        <p:tgtEl>
                                          <p:spTgt spid="194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9" dur="80"/>
                                        <p:tgtEl>
                                          <p:spTgt spid="194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80"/>
                                        <p:tgtEl>
                                          <p:spTgt spid="194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5" dur="80"/>
                                        <p:tgtEl>
                                          <p:spTgt spid="194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6" dur="80"/>
                                        <p:tgtEl>
                                          <p:spTgt spid="194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80"/>
                                        <p:tgtEl>
                                          <p:spTgt spid="194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2" dur="80"/>
                                        <p:tgtEl>
                                          <p:spTgt spid="1945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3" dur="80"/>
                                        <p:tgtEl>
                                          <p:spTgt spid="1945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80"/>
                                        <p:tgtEl>
                                          <p:spTgt spid="1945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Slide Number Placeholder 5">
            <a:extLst>
              <a:ext uri="{FF2B5EF4-FFF2-40B4-BE49-F238E27FC236}">
                <a16:creationId xmlns:a16="http://schemas.microsoft.com/office/drawing/2014/main" id="{2B5811B8-F4EE-8A42-A9E1-91C080B0D6F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6E2F089-5D74-D741-9C08-64CB6D23219D}" type="slidenum">
              <a:rPr kumimoji="0" lang="en-US" altLang="zh-CN" sz="1200"/>
              <a:pPr/>
              <a:t>60</a:t>
            </a:fld>
            <a:endParaRPr kumimoji="0" lang="en-US" altLang="zh-CN" sz="1200"/>
          </a:p>
        </p:txBody>
      </p:sp>
      <p:sp>
        <p:nvSpPr>
          <p:cNvPr id="114691" name="Rectangle 3">
            <a:extLst>
              <a:ext uri="{FF2B5EF4-FFF2-40B4-BE49-F238E27FC236}">
                <a16:creationId xmlns:a16="http://schemas.microsoft.com/office/drawing/2014/main" id="{595465CE-3071-A24B-8389-4F7DA44118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304800"/>
            <a:ext cx="9067800" cy="1143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 err="1">
                <a:latin typeface="Arial" charset="0"/>
                <a:ea typeface="楷体_GB2312" charset="0"/>
                <a:cs typeface="+mj-cs"/>
              </a:rPr>
              <a:t>Skolem</a:t>
            </a: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范式 </a:t>
            </a:r>
          </a:p>
        </p:txBody>
      </p:sp>
      <p:sp>
        <p:nvSpPr>
          <p:cNvPr id="114690" name="Rectangle 2">
            <a:extLst>
              <a:ext uri="{FF2B5EF4-FFF2-40B4-BE49-F238E27FC236}">
                <a16:creationId xmlns:a16="http://schemas.microsoft.com/office/drawing/2014/main" id="{C0E2BAB3-66F1-3F43-AB4C-E29CFB0E823E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52400" y="1524000"/>
            <a:ext cx="8839200" cy="4724400"/>
          </a:xfrm>
        </p:spPr>
        <p:txBody>
          <a:bodyPr/>
          <a:lstStyle/>
          <a:p>
            <a:pPr marL="352425" indent="-352425">
              <a:lnSpc>
                <a:spcPct val="120000"/>
              </a:lnSpc>
              <a:tabLst>
                <a:tab pos="352425" algn="l"/>
              </a:tabLst>
            </a:pPr>
            <a:r>
              <a:rPr kumimoji="0" lang="zh-CN" altLang="en-US" sz="3200" dirty="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定义</a:t>
            </a:r>
            <a:r>
              <a:rPr kumimoji="0" lang="en-US" altLang="zh-CN" sz="3200" dirty="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3.2.15</a:t>
            </a:r>
            <a:r>
              <a:rPr kumimoji="0" lang="en-US" altLang="zh-CN" sz="3200" dirty="0">
                <a:solidFill>
                  <a:srgbClr val="4E67C8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</a:t>
            </a:r>
            <a:r>
              <a:rPr kumimoji="0" lang="en-US" altLang="zh-CN" sz="3200" dirty="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 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设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是一个公式，</a:t>
            </a:r>
            <a:endParaRPr kumimoji="0" lang="en-US" altLang="zh-CN" sz="3200" dirty="0">
              <a:latin typeface="Arial" panose="020B0604020202020204" pitchFamily="34" charset="0"/>
              <a:ea typeface="楷体_GB2312" pitchFamily="1" charset="-122"/>
            </a:endParaRPr>
          </a:p>
          <a:p>
            <a:pPr marL="352425" indent="-352425" algn="ctr">
              <a:lnSpc>
                <a:spcPct val="120000"/>
              </a:lnSpc>
              <a:buFont typeface="Georgia" panose="02040502050405020303" pitchFamily="18" charset="0"/>
              <a:buNone/>
              <a:tabLst>
                <a:tab pos="352425" algn="l"/>
              </a:tabLst>
            </a:pP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en-US" altLang="zh-CN" sz="3200" baseline="-30000" dirty="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x</a:t>
            </a:r>
            <a:r>
              <a:rPr kumimoji="0" lang="en-US" altLang="zh-CN" sz="3200" baseline="-30000" dirty="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…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en-US" altLang="zh-CN" sz="3200" baseline="-30000" dirty="0" err="1">
                <a:latin typeface="Arial" panose="020B0604020202020204" pitchFamily="34" charset="0"/>
                <a:ea typeface="楷体_GB2312" pitchFamily="1" charset="-122"/>
              </a:rPr>
              <a:t>n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x</a:t>
            </a:r>
            <a:r>
              <a:rPr kumimoji="0" lang="en-US" altLang="zh-CN" sz="3200" baseline="-30000" dirty="0" err="1">
                <a:latin typeface="Arial" panose="020B0604020202020204" pitchFamily="34" charset="0"/>
                <a:ea typeface="楷体_GB2312" pitchFamily="1" charset="-122"/>
              </a:rPr>
              <a:t>n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M</a:t>
            </a:r>
            <a:endParaRPr kumimoji="0" lang="en-US" altLang="zh-CN" sz="3200" dirty="0">
              <a:latin typeface="Arial" panose="020B0604020202020204" pitchFamily="34" charset="0"/>
              <a:ea typeface="楷体_GB2312" pitchFamily="1" charset="-122"/>
            </a:endParaRPr>
          </a:p>
          <a:p>
            <a:pPr marL="352425" indent="-352425">
              <a:lnSpc>
                <a:spcPct val="120000"/>
              </a:lnSpc>
              <a:buFont typeface="Georgia" panose="02040502050405020303" pitchFamily="18" charset="0"/>
              <a:buNone/>
              <a:tabLst>
                <a:tab pos="352425" algn="l"/>
              </a:tabLst>
            </a:pP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是与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等价的前束范式，其中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M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为</a:t>
            </a:r>
            <a:r>
              <a:rPr kumimoji="0" lang="zh-CN" altLang="en-US" sz="3200" dirty="0">
                <a:solidFill>
                  <a:schemeClr val="accent1"/>
                </a:solidFill>
                <a:latin typeface="Arial" panose="020B0604020202020204" pitchFamily="34" charset="0"/>
                <a:ea typeface="楷体_GB2312" pitchFamily="1" charset="-122"/>
              </a:rPr>
              <a:t>合取范式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形式。若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en-US" altLang="zh-CN" sz="3200" baseline="-30000" dirty="0" err="1">
                <a:latin typeface="Arial" panose="020B0604020202020204" pitchFamily="34" charset="0"/>
                <a:ea typeface="楷体_GB2312" pitchFamily="1" charset="-122"/>
              </a:rPr>
              <a:t>r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是存在量词，并且它左边没有全称量词，则取异于出现在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M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中所有常量符号的常量符号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c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，并用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c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代替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M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中所有的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x</a:t>
            </a:r>
            <a:r>
              <a:rPr kumimoji="0" lang="en-US" altLang="zh-CN" sz="3200" baseline="-30000" dirty="0" err="1">
                <a:latin typeface="Arial" panose="020B0604020202020204" pitchFamily="34" charset="0"/>
                <a:ea typeface="楷体_GB2312" pitchFamily="1" charset="-122"/>
              </a:rPr>
              <a:t>r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，然后在首标中删除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en-US" altLang="zh-CN" sz="3200" baseline="-30000" dirty="0" err="1">
                <a:latin typeface="Arial" panose="020B0604020202020204" pitchFamily="34" charset="0"/>
                <a:ea typeface="楷体_GB2312" pitchFamily="1" charset="-122"/>
              </a:rPr>
              <a:t>r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x</a:t>
            </a:r>
            <a:r>
              <a:rPr kumimoji="0" lang="en-US" altLang="zh-CN" sz="3200" baseline="-30000" dirty="0" err="1">
                <a:latin typeface="Arial" panose="020B0604020202020204" pitchFamily="34" charset="0"/>
                <a:ea typeface="楷体_GB2312" pitchFamily="1" charset="-122"/>
              </a:rPr>
              <a:t>r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。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6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6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6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690" grpId="0" build="p" autoUpdateAnimBg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69" name="Slide Number Placeholder 5">
            <a:extLst>
              <a:ext uri="{FF2B5EF4-FFF2-40B4-BE49-F238E27FC236}">
                <a16:creationId xmlns:a16="http://schemas.microsoft.com/office/drawing/2014/main" id="{5D4FC5BF-C31D-B34A-BB80-EF7C4C35568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E14259C-8E97-7D4E-93F2-74D0E227C1B3}" type="slidenum">
              <a:rPr kumimoji="0" lang="en-US" altLang="zh-CN" sz="1200"/>
              <a:pPr/>
              <a:t>61</a:t>
            </a:fld>
            <a:endParaRPr kumimoji="0" lang="en-US" altLang="zh-CN" sz="1200"/>
          </a:p>
        </p:txBody>
      </p:sp>
      <p:sp>
        <p:nvSpPr>
          <p:cNvPr id="116739" name="Rectangle 3">
            <a:extLst>
              <a:ext uri="{FF2B5EF4-FFF2-40B4-BE49-F238E27FC236}">
                <a16:creationId xmlns:a16="http://schemas.microsoft.com/office/drawing/2014/main" id="{39A5EAD2-A800-C64B-A97C-6A761144BA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228600"/>
            <a:ext cx="9067800" cy="1143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 err="1">
                <a:latin typeface="Arial" charset="0"/>
                <a:ea typeface="楷体_GB2312" charset="0"/>
                <a:cs typeface="+mj-cs"/>
              </a:rPr>
              <a:t>Skolem</a:t>
            </a: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范式 </a:t>
            </a:r>
          </a:p>
        </p:txBody>
      </p:sp>
      <p:sp>
        <p:nvSpPr>
          <p:cNvPr id="116738" name="Rectangle 2">
            <a:extLst>
              <a:ext uri="{FF2B5EF4-FFF2-40B4-BE49-F238E27FC236}">
                <a16:creationId xmlns:a16="http://schemas.microsoft.com/office/drawing/2014/main" id="{68A52137-6F3E-FD41-992A-D98ACBA14BDE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219200"/>
            <a:ext cx="8915400" cy="4876800"/>
          </a:xfrm>
        </p:spPr>
        <p:txBody>
          <a:bodyPr/>
          <a:lstStyle/>
          <a:p>
            <a:pPr marL="352425" indent="-352425">
              <a:tabLst>
                <a:tab pos="352425" algn="l"/>
              </a:tabLst>
            </a:pP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若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en-US" altLang="zh-CN" sz="3200" baseline="-30000" dirty="0">
                <a:latin typeface="Arial" panose="020B0604020202020204" pitchFamily="34" charset="0"/>
                <a:ea typeface="楷体_GB2312" pitchFamily="1" charset="-122"/>
              </a:rPr>
              <a:t>s1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, …, 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en-US" altLang="zh-CN" sz="3200" baseline="-30000" dirty="0" err="1">
                <a:latin typeface="Arial" panose="020B0604020202020204" pitchFamily="34" charset="0"/>
                <a:ea typeface="楷体_GB2312" pitchFamily="1" charset="-122"/>
              </a:rPr>
              <a:t>sm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是所有出现在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en-US" altLang="zh-CN" sz="3200" baseline="-30000" dirty="0" err="1">
                <a:latin typeface="Arial" panose="020B0604020202020204" pitchFamily="34" charset="0"/>
                <a:ea typeface="楷体_GB2312" pitchFamily="1" charset="-122"/>
              </a:rPr>
              <a:t>r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x</a:t>
            </a:r>
            <a:r>
              <a:rPr kumimoji="0" lang="en-US" altLang="zh-CN" sz="3200" baseline="-30000" dirty="0" err="1">
                <a:latin typeface="Arial" panose="020B0604020202020204" pitchFamily="34" charset="0"/>
                <a:ea typeface="楷体_GB2312" pitchFamily="1" charset="-122"/>
              </a:rPr>
              <a:t>r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左边的全称量词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(m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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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s</a:t>
            </a:r>
            <a:r>
              <a:rPr kumimoji="0" lang="en-US" altLang="zh-CN" sz="3200" baseline="-25000" dirty="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&lt;s</a:t>
            </a:r>
            <a:r>
              <a:rPr kumimoji="0" lang="en-US" altLang="zh-CN" sz="3200" baseline="-25000" dirty="0">
                <a:latin typeface="Arial" panose="020B0604020202020204" pitchFamily="34" charset="0"/>
                <a:ea typeface="楷体_GB2312" pitchFamily="1" charset="-122"/>
              </a:rPr>
              <a:t>2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&lt;…&lt;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s</a:t>
            </a:r>
            <a:r>
              <a:rPr kumimoji="0" lang="en-US" altLang="zh-CN" sz="3200" baseline="-25000" dirty="0" err="1">
                <a:latin typeface="Arial" panose="020B0604020202020204" pitchFamily="34" charset="0"/>
                <a:ea typeface="楷体_GB2312" pitchFamily="1" charset="-122"/>
              </a:rPr>
              <a:t>m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&lt;r)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，则取异于出现在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M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中所有函数符号的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m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元函数符号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f(x</a:t>
            </a:r>
            <a:r>
              <a:rPr kumimoji="0" lang="en-US" altLang="zh-CN" sz="3200" baseline="-30000" dirty="0">
                <a:latin typeface="Arial" panose="020B0604020202020204" pitchFamily="34" charset="0"/>
                <a:ea typeface="楷体_GB2312" pitchFamily="1" charset="-122"/>
              </a:rPr>
              <a:t>s1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,…,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x</a:t>
            </a:r>
            <a:r>
              <a:rPr kumimoji="0" lang="en-US" altLang="zh-CN" sz="3200" baseline="-30000" dirty="0" err="1">
                <a:latin typeface="Arial" panose="020B0604020202020204" pitchFamily="34" charset="0"/>
                <a:ea typeface="楷体_GB2312" pitchFamily="1" charset="-122"/>
              </a:rPr>
              <a:t>sm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 )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，用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f(x</a:t>
            </a:r>
            <a:r>
              <a:rPr kumimoji="0" lang="en-US" altLang="zh-CN" sz="3200" baseline="-30000" dirty="0">
                <a:latin typeface="Arial" panose="020B0604020202020204" pitchFamily="34" charset="0"/>
                <a:ea typeface="楷体_GB2312" pitchFamily="1" charset="-122"/>
              </a:rPr>
              <a:t>s1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,…,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x</a:t>
            </a:r>
            <a:r>
              <a:rPr kumimoji="0" lang="en-US" altLang="zh-CN" sz="3200" baseline="-30000" dirty="0" err="1">
                <a:latin typeface="Arial" panose="020B0604020202020204" pitchFamily="34" charset="0"/>
                <a:ea typeface="楷体_GB2312" pitchFamily="1" charset="-122"/>
              </a:rPr>
              <a:t>sm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 )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代替出现在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M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中的所有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x</a:t>
            </a:r>
            <a:r>
              <a:rPr kumimoji="0" lang="en-US" altLang="zh-CN" sz="3200" baseline="-30000" dirty="0" err="1">
                <a:latin typeface="Arial" panose="020B0604020202020204" pitchFamily="34" charset="0"/>
                <a:ea typeface="楷体_GB2312" pitchFamily="1" charset="-122"/>
              </a:rPr>
              <a:t>r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，然后在首标中删除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en-US" altLang="zh-CN" sz="3200" baseline="-30000" dirty="0" err="1">
                <a:latin typeface="Arial" panose="020B0604020202020204" pitchFamily="34" charset="0"/>
                <a:ea typeface="楷体_GB2312" pitchFamily="1" charset="-122"/>
              </a:rPr>
              <a:t>r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x</a:t>
            </a:r>
            <a:r>
              <a:rPr kumimoji="0" lang="en-US" altLang="zh-CN" sz="3200" baseline="-30000" dirty="0" err="1">
                <a:latin typeface="Arial" panose="020B0604020202020204" pitchFamily="34" charset="0"/>
                <a:ea typeface="楷体_GB2312" pitchFamily="1" charset="-122"/>
              </a:rPr>
              <a:t>r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。</a:t>
            </a:r>
          </a:p>
          <a:p>
            <a:pPr marL="352425" indent="-352425">
              <a:tabLst>
                <a:tab pos="352425" algn="l"/>
              </a:tabLst>
            </a:pP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对首标中的所有存在量词做上述处理后，得到一个在首标中没有存在量词的前束范式，这个前束范式就称为公式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的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Skolem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范式。其中用来代替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x</a:t>
            </a:r>
            <a:r>
              <a:rPr kumimoji="0" lang="en-US" altLang="zh-CN" sz="3200" baseline="-30000" dirty="0" err="1">
                <a:latin typeface="Arial" panose="020B0604020202020204" pitchFamily="34" charset="0"/>
                <a:ea typeface="楷体_GB2312" pitchFamily="1" charset="-122"/>
              </a:rPr>
              <a:t>r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的那些常量符号和函数符号称为公式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的</a:t>
            </a:r>
            <a:r>
              <a:rPr kumimoji="0" lang="en-US" altLang="zh-CN" sz="3200" dirty="0" err="1">
                <a:latin typeface="Arial" panose="020B0604020202020204" pitchFamily="34" charset="0"/>
                <a:ea typeface="黑体" panose="02010609060101010101" pitchFamily="49" charset="-122"/>
              </a:rPr>
              <a:t>Skolem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函数。 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38" grpId="0" build="p" autoUpdateAnimBg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Slide Number Placeholder 5">
            <a:extLst>
              <a:ext uri="{FF2B5EF4-FFF2-40B4-BE49-F238E27FC236}">
                <a16:creationId xmlns:a16="http://schemas.microsoft.com/office/drawing/2014/main" id="{712C54A3-CC8F-4748-BE60-3BEA9D0CC85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DB5CFE6-88CD-544A-9667-8FCABA014090}" type="slidenum">
              <a:rPr kumimoji="0" lang="en-US" altLang="zh-CN" sz="1200"/>
              <a:pPr/>
              <a:t>62</a:t>
            </a:fld>
            <a:endParaRPr kumimoji="0" lang="en-US" altLang="zh-CN" sz="1200"/>
          </a:p>
        </p:txBody>
      </p:sp>
      <p:sp>
        <p:nvSpPr>
          <p:cNvPr id="118787" name="Rectangle 3">
            <a:extLst>
              <a:ext uri="{FF2B5EF4-FFF2-40B4-BE49-F238E27FC236}">
                <a16:creationId xmlns:a16="http://schemas.microsoft.com/office/drawing/2014/main" id="{21E3EAAF-0231-4047-8CFC-AE095F0FC6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228600"/>
            <a:ext cx="9067800" cy="1143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例</a:t>
            </a:r>
            <a:r>
              <a:rPr lang="en-US" altLang="zh-CN" dirty="0">
                <a:latin typeface="Arial" charset="0"/>
                <a:ea typeface="楷体_GB2312" charset="0"/>
                <a:cs typeface="+mj-cs"/>
              </a:rPr>
              <a:t>3.2.2</a:t>
            </a:r>
          </a:p>
        </p:txBody>
      </p:sp>
      <p:sp>
        <p:nvSpPr>
          <p:cNvPr id="118786" name="Rectangle 2">
            <a:extLst>
              <a:ext uri="{FF2B5EF4-FFF2-40B4-BE49-F238E27FC236}">
                <a16:creationId xmlns:a16="http://schemas.microsoft.com/office/drawing/2014/main" id="{FAFBD30D-93B6-254D-9B32-31368098268A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371600"/>
            <a:ext cx="8839200" cy="5029200"/>
          </a:xfrm>
        </p:spPr>
        <p:txBody>
          <a:bodyPr>
            <a:normAutofit/>
          </a:bodyPr>
          <a:lstStyle/>
          <a:p>
            <a:pPr marL="352425" indent="-352425">
              <a:lnSpc>
                <a:spcPct val="110000"/>
              </a:lnSpc>
              <a:tabLst>
                <a:tab pos="352425" algn="l"/>
              </a:tabLst>
            </a:pP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G=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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x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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y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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z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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u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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v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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wP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(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x,y,z,u,v,w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)</a:t>
            </a:r>
          </a:p>
          <a:p>
            <a:pPr marL="352425" indent="-352425">
              <a:lnSpc>
                <a:spcPct val="110000"/>
              </a:lnSpc>
              <a:tabLst>
                <a:tab pos="352425" algn="l"/>
              </a:tabLst>
            </a:pPr>
            <a:endParaRPr kumimoji="0" lang="en-US" altLang="zh-CN" sz="3200" dirty="0">
              <a:latin typeface="Arial" panose="020B0604020202020204" pitchFamily="34" charset="0"/>
              <a:ea typeface="楷体_GB2312" pitchFamily="1" charset="-122"/>
            </a:endParaRPr>
          </a:p>
          <a:p>
            <a:pPr marL="352425" indent="-352425">
              <a:lnSpc>
                <a:spcPct val="110000"/>
              </a:lnSpc>
              <a:buFont typeface="Wingdings" pitchFamily="2" charset="2"/>
              <a:buNone/>
              <a:tabLst>
                <a:tab pos="352425" algn="l"/>
              </a:tabLst>
            </a:pP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	</a:t>
            </a:r>
            <a:r>
              <a:rPr kumimoji="0" lang="zh-CN" altLang="en-US" sz="3400" dirty="0">
                <a:latin typeface="楷体" panose="02010609060101010101" pitchFamily="49" charset="-122"/>
                <a:ea typeface="楷体" panose="02010609060101010101" pitchFamily="49" charset="-122"/>
              </a:rPr>
              <a:t>用</a:t>
            </a:r>
            <a:r>
              <a:rPr kumimoji="0" lang="en-US" altLang="zh-CN" sz="3400" dirty="0">
                <a:latin typeface="Cascadia Code" panose="020B0609020000020004" pitchFamily="49" charset="0"/>
                <a:ea typeface="楷体" panose="02010609060101010101" pitchFamily="49" charset="-122"/>
                <a:cs typeface="Cascadia Code" panose="020B0609020000020004" pitchFamily="49" charset="0"/>
              </a:rPr>
              <a:t>a</a:t>
            </a:r>
            <a:r>
              <a:rPr kumimoji="0" lang="zh-CN" altLang="en-US" sz="3400" dirty="0">
                <a:latin typeface="楷体" panose="02010609060101010101" pitchFamily="49" charset="-122"/>
                <a:ea typeface="楷体" panose="02010609060101010101" pitchFamily="49" charset="-122"/>
              </a:rPr>
              <a:t>代替</a:t>
            </a:r>
            <a:r>
              <a:rPr kumimoji="0" lang="en-US" altLang="zh-CN" sz="3400" dirty="0">
                <a:latin typeface="楷体" panose="02010609060101010101" pitchFamily="49" charset="-122"/>
                <a:ea typeface="楷体" panose="02010609060101010101" pitchFamily="49" charset="-122"/>
              </a:rPr>
              <a:t>x</a:t>
            </a:r>
            <a:r>
              <a:rPr kumimoji="0" lang="zh-CN" altLang="en-US" sz="340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</a:p>
          <a:p>
            <a:pPr marL="352425" indent="-352425">
              <a:lnSpc>
                <a:spcPct val="110000"/>
              </a:lnSpc>
              <a:buFont typeface="Wingdings" pitchFamily="2" charset="2"/>
              <a:buNone/>
              <a:tabLst>
                <a:tab pos="352425" algn="l"/>
              </a:tabLst>
            </a:pPr>
            <a:r>
              <a:rPr kumimoji="0" lang="zh-CN" altLang="en-US" sz="3400" dirty="0">
                <a:latin typeface="楷体" panose="02010609060101010101" pitchFamily="49" charset="-122"/>
                <a:ea typeface="楷体" panose="02010609060101010101" pitchFamily="49" charset="-122"/>
              </a:rPr>
              <a:t>	用</a:t>
            </a:r>
            <a:r>
              <a:rPr kumimoji="0" lang="en-US" altLang="zh-CN" sz="3400" dirty="0">
                <a:latin typeface="Cascadia Code" panose="020B0609020000020004" pitchFamily="49" charset="0"/>
                <a:ea typeface="楷体" panose="02010609060101010101" pitchFamily="49" charset="-122"/>
                <a:cs typeface="Cascadia Code" panose="020B0609020000020004" pitchFamily="49" charset="0"/>
              </a:rPr>
              <a:t>f(y</a:t>
            </a:r>
            <a:r>
              <a:rPr kumimoji="0" lang="zh-CN" altLang="en-US" sz="3400" dirty="0">
                <a:latin typeface="Cascadia Code" panose="020B0609020000020004" pitchFamily="49" charset="0"/>
                <a:ea typeface="楷体" panose="02010609060101010101" pitchFamily="49" charset="-122"/>
                <a:cs typeface="Cascadia Code" panose="020B0609020000020004" pitchFamily="49" charset="0"/>
              </a:rPr>
              <a:t>，</a:t>
            </a:r>
            <a:r>
              <a:rPr kumimoji="0" lang="en-US" altLang="zh-CN" sz="3400" dirty="0">
                <a:latin typeface="Cascadia Code" panose="020B0609020000020004" pitchFamily="49" charset="0"/>
                <a:ea typeface="楷体" panose="02010609060101010101" pitchFamily="49" charset="-122"/>
                <a:cs typeface="Cascadia Code" panose="020B0609020000020004" pitchFamily="49" charset="0"/>
              </a:rPr>
              <a:t>z)</a:t>
            </a:r>
            <a:r>
              <a:rPr kumimoji="0" lang="zh-CN" altLang="en-US" sz="3400" dirty="0">
                <a:latin typeface="楷体" panose="02010609060101010101" pitchFamily="49" charset="-122"/>
                <a:ea typeface="楷体" panose="02010609060101010101" pitchFamily="49" charset="-122"/>
              </a:rPr>
              <a:t>代替</a:t>
            </a:r>
            <a:r>
              <a:rPr kumimoji="0" lang="en-US" altLang="zh-CN" sz="3400" dirty="0">
                <a:latin typeface="楷体" panose="02010609060101010101" pitchFamily="49" charset="-122"/>
                <a:ea typeface="楷体" panose="02010609060101010101" pitchFamily="49" charset="-122"/>
              </a:rPr>
              <a:t>u</a:t>
            </a:r>
            <a:r>
              <a:rPr kumimoji="0" lang="zh-CN" altLang="en-US" sz="340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</a:p>
          <a:p>
            <a:pPr marL="352425" indent="-352425">
              <a:lnSpc>
                <a:spcPct val="110000"/>
              </a:lnSpc>
              <a:buFont typeface="Wingdings" pitchFamily="2" charset="2"/>
              <a:buNone/>
              <a:tabLst>
                <a:tab pos="352425" algn="l"/>
              </a:tabLst>
            </a:pPr>
            <a:r>
              <a:rPr kumimoji="0" lang="zh-CN" altLang="en-US" sz="3400" dirty="0">
                <a:latin typeface="楷体" panose="02010609060101010101" pitchFamily="49" charset="-122"/>
                <a:ea typeface="楷体" panose="02010609060101010101" pitchFamily="49" charset="-122"/>
              </a:rPr>
              <a:t>	用</a:t>
            </a:r>
            <a:r>
              <a:rPr kumimoji="0" lang="en-US" altLang="zh-CN" sz="3400" dirty="0">
                <a:latin typeface="Cascadia Code" panose="020B0609020000020004" pitchFamily="49" charset="0"/>
                <a:ea typeface="楷体" panose="02010609060101010101" pitchFamily="49" charset="-122"/>
                <a:cs typeface="Cascadia Code" panose="020B0609020000020004" pitchFamily="49" charset="0"/>
              </a:rPr>
              <a:t>g(y</a:t>
            </a:r>
            <a:r>
              <a:rPr kumimoji="0" lang="zh-CN" altLang="en-US" sz="3400" dirty="0">
                <a:latin typeface="Cascadia Code" panose="020B0609020000020004" pitchFamily="49" charset="0"/>
                <a:ea typeface="楷体" panose="02010609060101010101" pitchFamily="49" charset="-122"/>
                <a:cs typeface="Cascadia Code" panose="020B0609020000020004" pitchFamily="49" charset="0"/>
              </a:rPr>
              <a:t>，</a:t>
            </a:r>
            <a:r>
              <a:rPr kumimoji="0" lang="en-US" altLang="zh-CN" sz="3400" dirty="0">
                <a:latin typeface="Cascadia Code" panose="020B0609020000020004" pitchFamily="49" charset="0"/>
                <a:ea typeface="楷体" panose="02010609060101010101" pitchFamily="49" charset="-122"/>
                <a:cs typeface="Cascadia Code" panose="020B0609020000020004" pitchFamily="49" charset="0"/>
              </a:rPr>
              <a:t>z</a:t>
            </a:r>
            <a:r>
              <a:rPr kumimoji="0" lang="zh-CN" altLang="en-US" sz="3400" dirty="0">
                <a:latin typeface="Cascadia Code" panose="020B0609020000020004" pitchFamily="49" charset="0"/>
                <a:ea typeface="楷体" panose="02010609060101010101" pitchFamily="49" charset="-122"/>
                <a:cs typeface="Cascadia Code" panose="020B0609020000020004" pitchFamily="49" charset="0"/>
              </a:rPr>
              <a:t>，</a:t>
            </a:r>
            <a:r>
              <a:rPr kumimoji="0" lang="en-US" altLang="zh-CN" sz="3400" dirty="0">
                <a:latin typeface="Cascadia Code" panose="020B0609020000020004" pitchFamily="49" charset="0"/>
                <a:ea typeface="楷体" panose="02010609060101010101" pitchFamily="49" charset="-122"/>
                <a:cs typeface="Cascadia Code" panose="020B0609020000020004" pitchFamily="49" charset="0"/>
              </a:rPr>
              <a:t>v)</a:t>
            </a:r>
            <a:r>
              <a:rPr kumimoji="0" lang="zh-CN" altLang="en-US" sz="3400" dirty="0">
                <a:latin typeface="楷体" panose="02010609060101010101" pitchFamily="49" charset="-122"/>
                <a:ea typeface="楷体" panose="02010609060101010101" pitchFamily="49" charset="-122"/>
              </a:rPr>
              <a:t>代替</a:t>
            </a:r>
            <a:r>
              <a:rPr kumimoji="0" lang="en-US" altLang="zh-CN" sz="3400" dirty="0">
                <a:latin typeface="楷体" panose="02010609060101010101" pitchFamily="49" charset="-122"/>
                <a:ea typeface="楷体" panose="02010609060101010101" pitchFamily="49" charset="-122"/>
              </a:rPr>
              <a:t>w</a:t>
            </a:r>
            <a:r>
              <a:rPr kumimoji="0" lang="zh-CN" altLang="en-US" sz="340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</a:p>
          <a:p>
            <a:pPr marL="352425" indent="-352425">
              <a:lnSpc>
                <a:spcPct val="110000"/>
              </a:lnSpc>
              <a:buFont typeface="Wingdings" pitchFamily="2" charset="2"/>
              <a:buNone/>
              <a:tabLst>
                <a:tab pos="352425" algn="l"/>
              </a:tabLst>
            </a:pPr>
            <a:r>
              <a:rPr kumimoji="0" lang="zh-CN" altLang="en-US" sz="3400" dirty="0">
                <a:latin typeface="楷体" panose="02010609060101010101" pitchFamily="49" charset="-122"/>
                <a:ea typeface="楷体" panose="02010609060101010101" pitchFamily="49" charset="-122"/>
              </a:rPr>
              <a:t>	得公式</a:t>
            </a:r>
            <a:r>
              <a:rPr kumimoji="0" lang="en-US" altLang="zh-CN" sz="3400" dirty="0"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  <a:r>
              <a:rPr kumimoji="0" lang="zh-CN" altLang="en-US" sz="3400" dirty="0">
                <a:latin typeface="楷体" panose="02010609060101010101" pitchFamily="49" charset="-122"/>
                <a:ea typeface="楷体" panose="02010609060101010101" pitchFamily="49" charset="-122"/>
              </a:rPr>
              <a:t>的</a:t>
            </a:r>
            <a:r>
              <a:rPr kumimoji="0" lang="en-US" altLang="zh-CN" sz="3400" dirty="0" err="1">
                <a:latin typeface="楷体" panose="02010609060101010101" pitchFamily="49" charset="-122"/>
                <a:ea typeface="楷体" panose="02010609060101010101" pitchFamily="49" charset="-122"/>
              </a:rPr>
              <a:t>Skolem</a:t>
            </a:r>
            <a:r>
              <a:rPr kumimoji="0" lang="zh-CN" altLang="en-US" sz="3400" dirty="0">
                <a:latin typeface="楷体" panose="02010609060101010101" pitchFamily="49" charset="-122"/>
                <a:ea typeface="楷体" panose="02010609060101010101" pitchFamily="49" charset="-122"/>
              </a:rPr>
              <a:t>范式：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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y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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z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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vP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(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a,y,z,f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(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y,z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),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v,g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(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y,z,v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)) 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3B1F945-6B7B-D447-8FA2-F340D59EFB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2600" y="6019800"/>
            <a:ext cx="2082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800"/>
              <a:t>练习：书</a:t>
            </a:r>
            <a:r>
              <a:rPr lang="en-US" altLang="zh-CN" sz="1800"/>
              <a:t>P89-8</a:t>
            </a:r>
            <a:r>
              <a:rPr lang="zh-CN" altLang="en-US" sz="1800"/>
              <a:t>，</a:t>
            </a:r>
            <a:r>
              <a:rPr lang="en-US" altLang="zh-CN" sz="1800"/>
              <a:t>9</a:t>
            </a:r>
            <a:endParaRPr lang="zh-CN" altLang="en-US" sz="1800"/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1187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1187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1187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1187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1187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1187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1" dur="80"/>
                                        <p:tgtEl>
                                          <p:spTgt spid="1187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2" dur="80"/>
                                        <p:tgtEl>
                                          <p:spTgt spid="1187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80"/>
                                        <p:tgtEl>
                                          <p:spTgt spid="1187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8" dur="80"/>
                                        <p:tgtEl>
                                          <p:spTgt spid="1187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9" dur="80"/>
                                        <p:tgtEl>
                                          <p:spTgt spid="1187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80"/>
                                        <p:tgtEl>
                                          <p:spTgt spid="1187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5" name="Slide Number Placeholder 5">
            <a:extLst>
              <a:ext uri="{FF2B5EF4-FFF2-40B4-BE49-F238E27FC236}">
                <a16:creationId xmlns:a16="http://schemas.microsoft.com/office/drawing/2014/main" id="{94BDBA9B-B9D9-BA4B-A5AF-8446E41845A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BEA4068-41E8-DE49-AC80-BD66F1580D1B}" type="slidenum">
              <a:rPr kumimoji="0" lang="en-US" altLang="zh-CN" sz="1200"/>
              <a:pPr/>
              <a:t>63</a:t>
            </a:fld>
            <a:endParaRPr kumimoji="0" lang="en-US" altLang="zh-CN" sz="1200"/>
          </a:p>
        </p:txBody>
      </p:sp>
      <p:sp>
        <p:nvSpPr>
          <p:cNvPr id="120835" name="Rectangle 3">
            <a:extLst>
              <a:ext uri="{FF2B5EF4-FFF2-40B4-BE49-F238E27FC236}">
                <a16:creationId xmlns:a16="http://schemas.microsoft.com/office/drawing/2014/main" id="{777DE912-9B5D-7945-9A98-F5FB775DB5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152400"/>
            <a:ext cx="9067800" cy="1143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>
                <a:latin typeface="Arial" charset="0"/>
                <a:ea typeface="楷体_GB2312" charset="0"/>
                <a:cs typeface="+mj-cs"/>
              </a:rPr>
              <a:t>1.G</a:t>
            </a: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与</a:t>
            </a:r>
            <a:r>
              <a:rPr lang="en-US" altLang="zh-CN" dirty="0">
                <a:latin typeface="Arial" charset="0"/>
                <a:ea typeface="楷体_GB2312" charset="0"/>
                <a:cs typeface="+mj-cs"/>
              </a:rPr>
              <a:t>S</a:t>
            </a: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的可满足性是等价的。 </a:t>
            </a:r>
          </a:p>
        </p:txBody>
      </p:sp>
      <p:sp>
        <p:nvSpPr>
          <p:cNvPr id="120834" name="Rectangle 2">
            <a:extLst>
              <a:ext uri="{FF2B5EF4-FFF2-40B4-BE49-F238E27FC236}">
                <a16:creationId xmlns:a16="http://schemas.microsoft.com/office/drawing/2014/main" id="{ABC3B3C9-A729-BD4D-9331-0403D1BC766F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219200"/>
            <a:ext cx="8839200" cy="5029200"/>
          </a:xfrm>
        </p:spPr>
        <p:txBody>
          <a:bodyPr/>
          <a:lstStyle/>
          <a:p>
            <a:pPr marL="0" indent="0">
              <a:buFont typeface="Wingdings" pitchFamily="2" charset="2"/>
              <a:buNone/>
              <a:tabLst>
                <a:tab pos="898525" algn="l"/>
              </a:tabLst>
            </a:pPr>
            <a:r>
              <a:rPr kumimoji="0" lang="zh-CN" altLang="en-US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证明：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设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是前束范式：</a:t>
            </a:r>
            <a:b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	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G= Q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x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…Q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n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x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n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M(x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,…,x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n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) </a:t>
            </a:r>
          </a:p>
          <a:p>
            <a:pPr marL="0" indent="0">
              <a:buFont typeface="Wingdings" pitchFamily="2" charset="2"/>
              <a:buNone/>
              <a:tabLst>
                <a:tab pos="898525" algn="l"/>
              </a:tabLst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设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r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是从左往右看第一个存在量词。令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= 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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x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…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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x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r-1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r+1 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x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r+1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…Q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n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x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n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M(x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,…,</a:t>
            </a:r>
            <a:b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	x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r-1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,f(x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,…,x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r-1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),x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r+1</a:t>
            </a:r>
            <a:r>
              <a:rPr kumimoji="0" lang="zh-CN" altLang="en-US" sz="3200" baseline="-30000"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,…,x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n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)</a:t>
            </a:r>
            <a:b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其中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f(x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,…,x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r-1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)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是代替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x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r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的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Skolem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函数。</a:t>
            </a:r>
          </a:p>
          <a:p>
            <a:pPr marL="0" indent="0">
              <a:buFont typeface="Wingdings" pitchFamily="2" charset="2"/>
              <a:buNone/>
              <a:tabLst>
                <a:tab pos="898525" algn="l"/>
              </a:tabLst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下面证明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: </a:t>
            </a:r>
          </a:p>
          <a:p>
            <a:pPr marL="0" indent="0">
              <a:buFont typeface="Wingdings" pitchFamily="2" charset="2"/>
              <a:buNone/>
              <a:tabLst>
                <a:tab pos="898525" algn="l"/>
              </a:tabLst>
            </a:pP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1)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满足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的解释满足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；</a:t>
            </a:r>
            <a:endParaRPr kumimoji="0" lang="en-US" altLang="zh-CN" sz="3200">
              <a:latin typeface="Arial" panose="020B0604020202020204" pitchFamily="34" charset="0"/>
              <a:ea typeface="楷体_GB2312" pitchFamily="1" charset="-122"/>
            </a:endParaRPr>
          </a:p>
          <a:p>
            <a:pPr marL="0" indent="0">
              <a:buFont typeface="Wingdings" pitchFamily="2" charset="2"/>
              <a:buNone/>
              <a:tabLst>
                <a:tab pos="898525" algn="l"/>
              </a:tabLst>
            </a:pP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2)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满足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的解释，适当扩充后可满足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。  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8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8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8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8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8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834" grpId="0" build="p" autoUpdateAnimBg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3" name="Slide Number Placeholder 5">
            <a:extLst>
              <a:ext uri="{FF2B5EF4-FFF2-40B4-BE49-F238E27FC236}">
                <a16:creationId xmlns:a16="http://schemas.microsoft.com/office/drawing/2014/main" id="{2CDEFE16-A86E-204F-8843-F75DFC0A90B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8F72200-55E0-4546-8958-1918F438709E}" type="slidenum">
              <a:rPr kumimoji="0" lang="en-US" altLang="zh-CN" sz="1200"/>
              <a:pPr/>
              <a:t>64</a:t>
            </a:fld>
            <a:endParaRPr kumimoji="0" lang="en-US" altLang="zh-CN" sz="1200"/>
          </a:p>
        </p:txBody>
      </p:sp>
      <p:sp>
        <p:nvSpPr>
          <p:cNvPr id="122882" name="Rectangle 2">
            <a:extLst>
              <a:ext uri="{FF2B5EF4-FFF2-40B4-BE49-F238E27FC236}">
                <a16:creationId xmlns:a16="http://schemas.microsoft.com/office/drawing/2014/main" id="{0E2B4914-7F90-F347-93FE-5A2545EBDB33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52400" y="838200"/>
            <a:ext cx="8839200" cy="5334000"/>
          </a:xfrm>
        </p:spPr>
        <p:txBody>
          <a:bodyPr>
            <a:normAutofit/>
          </a:bodyPr>
          <a:lstStyle/>
          <a:p>
            <a:pPr marL="0" indent="0">
              <a:buFont typeface="Wingdings" pitchFamily="2" charset="2"/>
              <a:buNone/>
              <a:tabLst>
                <a:tab pos="1336675" algn="l"/>
              </a:tabLst>
            </a:pP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    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设个体域为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D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，取一个满足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的解释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，于是，对每一组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(x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’,…,x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r-1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’)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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D</a:t>
            </a:r>
            <a:r>
              <a:rPr kumimoji="0" lang="en-US" altLang="zh-CN" sz="3200" baseline="30000">
                <a:latin typeface="Arial" panose="020B0604020202020204" pitchFamily="34" charset="0"/>
                <a:ea typeface="楷体_GB2312" pitchFamily="1" charset="-122"/>
              </a:rPr>
              <a:t>r-1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，都有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f(x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’,…,x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r-1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’)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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D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，使得</a:t>
            </a:r>
            <a:b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r+1 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x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r+1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…Q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n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x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n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M(x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’,…,x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r-1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’,f(x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’,…,x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r-1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’), x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r+1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,…,x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n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)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在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下取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值。所以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:</a:t>
            </a:r>
            <a:b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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x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…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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x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r-1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 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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x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r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r+1 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x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r+1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…Q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n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x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n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M(x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,…,x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n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)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为真，即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满足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。 </a:t>
            </a:r>
          </a:p>
          <a:p>
            <a:pPr marL="0" indent="0">
              <a:buFont typeface="Wingdings" pitchFamily="2" charset="2"/>
              <a:buNone/>
              <a:tabLst>
                <a:tab pos="1336675" algn="l"/>
              </a:tabLst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反之，取一个满足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的解释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。于是，对每一组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(x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’,…,x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r-1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’)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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D</a:t>
            </a:r>
            <a:r>
              <a:rPr kumimoji="0" lang="en-US" altLang="zh-CN" sz="3200" baseline="30000">
                <a:latin typeface="Arial" panose="020B0604020202020204" pitchFamily="34" charset="0"/>
                <a:ea typeface="楷体_GB2312" pitchFamily="1" charset="-122"/>
              </a:rPr>
              <a:t>r-1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，都存在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x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r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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D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，使得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: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8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82" grpId="0" build="p" autoUpdateAnimBg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1" name="Slide Number Placeholder 5">
            <a:extLst>
              <a:ext uri="{FF2B5EF4-FFF2-40B4-BE49-F238E27FC236}">
                <a16:creationId xmlns:a16="http://schemas.microsoft.com/office/drawing/2014/main" id="{70FB2F32-B26E-9740-9AC1-A38EE0259E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E5913F9-69A0-4947-919C-10FB37729831}" type="slidenum">
              <a:rPr kumimoji="0" lang="en-US" altLang="zh-CN" sz="1200"/>
              <a:pPr/>
              <a:t>65</a:t>
            </a:fld>
            <a:endParaRPr kumimoji="0" lang="en-US" altLang="zh-CN" sz="1200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281CD879-D529-1241-9815-1A81BFBA3385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52400" y="381000"/>
            <a:ext cx="8763000" cy="5715000"/>
          </a:xfrm>
        </p:spPr>
        <p:txBody>
          <a:bodyPr/>
          <a:lstStyle/>
          <a:p>
            <a:pPr marL="0" indent="0">
              <a:lnSpc>
                <a:spcPct val="110000"/>
              </a:lnSpc>
              <a:buFont typeface="Wingdings" pitchFamily="2" charset="2"/>
              <a:buNone/>
              <a:tabLst>
                <a:tab pos="1336675" algn="l"/>
              </a:tabLst>
            </a:pP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r+1 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x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r+1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…Q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n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x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n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M(x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’,…,x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r-1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’, x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r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’, x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r+1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,…,x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n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)</a:t>
            </a:r>
          </a:p>
          <a:p>
            <a:pPr marL="0" indent="0">
              <a:lnSpc>
                <a:spcPct val="110000"/>
              </a:lnSpc>
              <a:buFont typeface="Wingdings" pitchFamily="2" charset="2"/>
              <a:buNone/>
              <a:tabLst>
                <a:tab pos="1336675" algn="l"/>
              </a:tabLst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在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下取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值。现在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还不是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的解释，因为有函数没有指定。</a:t>
            </a:r>
            <a:b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扩充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为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I’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，使其包含对函数符号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f(x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,…,x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r-1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)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的如下指定：</a:t>
            </a:r>
          </a:p>
          <a:p>
            <a:pPr marL="0" indent="0">
              <a:lnSpc>
                <a:spcPct val="110000"/>
              </a:lnSpc>
              <a:buFont typeface="Wingdings" pitchFamily="2" charset="2"/>
              <a:buNone/>
              <a:tabLst>
                <a:tab pos="1336675" algn="l"/>
              </a:tabLst>
            </a:pP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f(x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’,…,x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r-1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’)= x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r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’, 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对每一组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(x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’,…,x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r-1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’)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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D</a:t>
            </a:r>
            <a:r>
              <a:rPr kumimoji="0" lang="en-US" altLang="zh-CN" sz="3200" baseline="30000">
                <a:latin typeface="Arial" panose="020B0604020202020204" pitchFamily="34" charset="0"/>
                <a:ea typeface="楷体_GB2312" pitchFamily="1" charset="-122"/>
              </a:rPr>
              <a:t>r-1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。于是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I’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满足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。</a:t>
            </a:r>
          </a:p>
          <a:p>
            <a:pPr marL="0" indent="0">
              <a:lnSpc>
                <a:spcPct val="110000"/>
              </a:lnSpc>
              <a:buFont typeface="Wingdings" pitchFamily="2" charset="2"/>
              <a:buNone/>
              <a:tabLst>
                <a:tab pos="1336675" algn="l"/>
              </a:tabLst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同理，对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往右找下一个存在量词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, 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用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Skolem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函数代替得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2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, 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与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2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的可满足性是等价的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,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依此类推，可知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与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S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的可满足性是等价的。 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9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9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9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30" grpId="0" build="p" autoUpdateAnimBg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09" name="Slide Number Placeholder 5">
            <a:extLst>
              <a:ext uri="{FF2B5EF4-FFF2-40B4-BE49-F238E27FC236}">
                <a16:creationId xmlns:a16="http://schemas.microsoft.com/office/drawing/2014/main" id="{0DB826FE-EE18-9B46-BE9E-C6ADC0B41CE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465C755-93BA-9F4E-B050-33B5B57974FC}" type="slidenum">
              <a:rPr kumimoji="0" lang="en-US" altLang="zh-CN" sz="1200"/>
              <a:pPr/>
              <a:t>66</a:t>
            </a:fld>
            <a:endParaRPr kumimoji="0" lang="en-US" altLang="zh-CN" sz="1200"/>
          </a:p>
        </p:txBody>
      </p:sp>
      <p:sp>
        <p:nvSpPr>
          <p:cNvPr id="126979" name="Rectangle 3">
            <a:extLst>
              <a:ext uri="{FF2B5EF4-FFF2-40B4-BE49-F238E27FC236}">
                <a16:creationId xmlns:a16="http://schemas.microsoft.com/office/drawing/2014/main" id="{307DD113-A8DC-204C-B6A4-06710C0C9B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228600"/>
            <a:ext cx="9067800" cy="1143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例</a:t>
            </a:r>
            <a:r>
              <a:rPr lang="en-US" altLang="zh-CN" dirty="0">
                <a:latin typeface="Arial" charset="0"/>
                <a:ea typeface="楷体_GB2312" charset="0"/>
                <a:cs typeface="+mj-cs"/>
              </a:rPr>
              <a:t>3.2.3</a:t>
            </a:r>
          </a:p>
        </p:txBody>
      </p:sp>
      <p:sp>
        <p:nvSpPr>
          <p:cNvPr id="126978" name="Rectangle 2">
            <a:extLst>
              <a:ext uri="{FF2B5EF4-FFF2-40B4-BE49-F238E27FC236}">
                <a16:creationId xmlns:a16="http://schemas.microsoft.com/office/drawing/2014/main" id="{57C12A27-CEEF-6B4B-A501-37377859375A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52400" y="1371600"/>
            <a:ext cx="8839200" cy="4876800"/>
          </a:xfrm>
        </p:spPr>
        <p:txBody>
          <a:bodyPr>
            <a:normAutofit/>
          </a:bodyPr>
          <a:lstStyle/>
          <a:p>
            <a:pPr marL="0" indent="0">
              <a:buFont typeface="Wingdings" pitchFamily="2" charset="2"/>
              <a:buNone/>
              <a:tabLst>
                <a:tab pos="1336675" algn="l"/>
              </a:tabLst>
            </a:pP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设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G=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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x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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yP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(x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y)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，则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的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Skolem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范式为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S=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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xP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(x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f(x))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；</a:t>
            </a:r>
            <a:endParaRPr kumimoji="0" lang="en-US" altLang="zh-CN" sz="3200" dirty="0">
              <a:latin typeface="Arial" panose="020B0604020202020204" pitchFamily="34" charset="0"/>
              <a:ea typeface="楷体_GB2312" pitchFamily="1" charset="-122"/>
            </a:endParaRPr>
          </a:p>
          <a:p>
            <a:pPr marL="0" indent="0">
              <a:buFont typeface="Wingdings" pitchFamily="2" charset="2"/>
              <a:buNone/>
              <a:tabLst>
                <a:tab pos="1336675" algn="l"/>
              </a:tabLst>
            </a:pP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设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D={1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2}</a:t>
            </a:r>
          </a:p>
          <a:p>
            <a:pPr marL="0" indent="0">
              <a:buFont typeface="Wingdings" pitchFamily="2" charset="2"/>
              <a:buNone/>
              <a:tabLst>
                <a:tab pos="1336675" algn="l"/>
              </a:tabLst>
            </a:pP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取满足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S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的解释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如下： </a:t>
            </a:r>
            <a:b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 </a:t>
            </a:r>
            <a:r>
              <a:rPr kumimoji="0" lang="zh-CN" altLang="en-US" sz="3200" u="sng" dirty="0">
                <a:latin typeface="Arial" panose="020B0604020202020204" pitchFamily="34" charset="0"/>
                <a:ea typeface="楷体_GB2312" pitchFamily="1" charset="-122"/>
              </a:rPr>
              <a:t>    </a:t>
            </a:r>
            <a:r>
              <a:rPr kumimoji="0" lang="en-US" altLang="zh-CN" sz="3200" u="sng" dirty="0">
                <a:latin typeface="Arial" panose="020B0604020202020204" pitchFamily="34" charset="0"/>
                <a:ea typeface="楷体_GB2312" pitchFamily="1" charset="-122"/>
              </a:rPr>
              <a:t>f(1)  f(2)  P(1,1)  P(1,2)  P(2,1)  P(2,2) 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 </a:t>
            </a:r>
            <a:b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    2      1      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任意      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1          1       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任意</a:t>
            </a:r>
          </a:p>
          <a:p>
            <a:pPr marL="0" indent="0">
              <a:buFont typeface="Wingdings" pitchFamily="2" charset="2"/>
              <a:buNone/>
              <a:tabLst>
                <a:tab pos="1336675" algn="l"/>
              </a:tabLst>
            </a:pP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则对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不看对函数的解释，也是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的解释，且满足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。 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9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9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9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978" grpId="0" build="p" autoUpdateAnimBg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7" name="Slide Number Placeholder 5">
            <a:extLst>
              <a:ext uri="{FF2B5EF4-FFF2-40B4-BE49-F238E27FC236}">
                <a16:creationId xmlns:a16="http://schemas.microsoft.com/office/drawing/2014/main" id="{BE1FD575-73F2-7F43-B642-5CD7DFB3608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3CA142E-927D-C24F-9A9E-DB58729813D7}" type="slidenum">
              <a:rPr kumimoji="0" lang="en-US" altLang="zh-CN" sz="1200"/>
              <a:pPr/>
              <a:t>67</a:t>
            </a:fld>
            <a:endParaRPr kumimoji="0" lang="en-US" altLang="zh-CN" sz="1200"/>
          </a:p>
        </p:txBody>
      </p:sp>
      <p:sp>
        <p:nvSpPr>
          <p:cNvPr id="129027" name="Rectangle 3">
            <a:extLst>
              <a:ext uri="{FF2B5EF4-FFF2-40B4-BE49-F238E27FC236}">
                <a16:creationId xmlns:a16="http://schemas.microsoft.com/office/drawing/2014/main" id="{9A09252C-0279-F34C-BACE-D2CD13E31A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228600"/>
            <a:ext cx="9067800" cy="1143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例</a:t>
            </a:r>
            <a:r>
              <a:rPr lang="en-US" altLang="zh-CN" dirty="0">
                <a:latin typeface="Arial" charset="0"/>
                <a:ea typeface="楷体_GB2312" charset="0"/>
                <a:cs typeface="+mj-cs"/>
              </a:rPr>
              <a:t>3.2.3</a:t>
            </a:r>
          </a:p>
        </p:txBody>
      </p:sp>
      <p:sp>
        <p:nvSpPr>
          <p:cNvPr id="129026" name="Rectangle 2">
            <a:extLst>
              <a:ext uri="{FF2B5EF4-FFF2-40B4-BE49-F238E27FC236}">
                <a16:creationId xmlns:a16="http://schemas.microsoft.com/office/drawing/2014/main" id="{2A67E4F0-AB16-1C47-AA50-1B2827221DD8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52400" y="1295400"/>
            <a:ext cx="8839200" cy="5029200"/>
          </a:xfrm>
        </p:spPr>
        <p:txBody>
          <a:bodyPr>
            <a:normAutofit/>
          </a:bodyPr>
          <a:lstStyle/>
          <a:p>
            <a:pPr marL="0" indent="0">
              <a:lnSpc>
                <a:spcPct val="80000"/>
              </a:lnSpc>
              <a:buFont typeface="Wingdings" pitchFamily="2" charset="2"/>
              <a:buNone/>
              <a:tabLst>
                <a:tab pos="1336675" algn="l"/>
              </a:tabLst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反之，取满足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的解释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如下：</a:t>
            </a:r>
            <a:b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</a:br>
            <a:endParaRPr kumimoji="0" lang="en-US" altLang="zh-CN" sz="3200">
              <a:latin typeface="Arial" panose="020B0604020202020204" pitchFamily="34" charset="0"/>
              <a:ea typeface="楷体_GB2312" pitchFamily="1" charset="-122"/>
            </a:endParaRPr>
          </a:p>
          <a:p>
            <a:pPr marL="0" indent="0">
              <a:lnSpc>
                <a:spcPct val="80000"/>
              </a:lnSpc>
              <a:buFont typeface="Wingdings" pitchFamily="2" charset="2"/>
              <a:buNone/>
              <a:tabLst>
                <a:tab pos="1336675" algn="l"/>
              </a:tabLst>
            </a:pPr>
            <a:r>
              <a:rPr kumimoji="0" lang="zh-CN" altLang="en-US" sz="3200" u="sng">
                <a:latin typeface="Arial" panose="020B0604020202020204" pitchFamily="34" charset="0"/>
                <a:ea typeface="楷体_GB2312" pitchFamily="1" charset="-122"/>
              </a:rPr>
              <a:t> </a:t>
            </a:r>
            <a:r>
              <a:rPr kumimoji="0" lang="en-US" altLang="zh-CN" sz="3200" u="sng">
                <a:latin typeface="Arial" panose="020B0604020202020204" pitchFamily="34" charset="0"/>
                <a:ea typeface="楷体_GB2312" pitchFamily="1" charset="-122"/>
              </a:rPr>
              <a:t>P(1</a:t>
            </a:r>
            <a:r>
              <a:rPr kumimoji="0" lang="zh-CN" altLang="en-US" sz="3200" u="sng"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3200" u="sng">
                <a:latin typeface="Arial" panose="020B0604020202020204" pitchFamily="34" charset="0"/>
                <a:ea typeface="楷体_GB2312" pitchFamily="1" charset="-122"/>
              </a:rPr>
              <a:t>1)   P(1</a:t>
            </a:r>
            <a:r>
              <a:rPr kumimoji="0" lang="zh-CN" altLang="en-US" sz="3200" u="sng"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3200" u="sng">
                <a:latin typeface="Arial" panose="020B0604020202020204" pitchFamily="34" charset="0"/>
                <a:ea typeface="楷体_GB2312" pitchFamily="1" charset="-122"/>
              </a:rPr>
              <a:t>2)   P(2</a:t>
            </a:r>
            <a:r>
              <a:rPr kumimoji="0" lang="zh-CN" altLang="en-US" sz="3200" u="sng"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3200" u="sng">
                <a:latin typeface="Arial" panose="020B0604020202020204" pitchFamily="34" charset="0"/>
                <a:ea typeface="楷体_GB2312" pitchFamily="1" charset="-122"/>
              </a:rPr>
              <a:t>1)   P(2</a:t>
            </a:r>
            <a:r>
              <a:rPr kumimoji="0" lang="zh-CN" altLang="en-US" sz="3200" u="sng"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3200" u="sng">
                <a:latin typeface="Arial" panose="020B0604020202020204" pitchFamily="34" charset="0"/>
                <a:ea typeface="楷体_GB2312" pitchFamily="1" charset="-122"/>
              </a:rPr>
              <a:t>2) </a:t>
            </a:r>
            <a:endParaRPr kumimoji="0" lang="en-US" altLang="zh-CN" sz="3200">
              <a:latin typeface="Arial" panose="020B0604020202020204" pitchFamily="34" charset="0"/>
              <a:ea typeface="楷体_GB2312" pitchFamily="1" charset="-122"/>
            </a:endParaRPr>
          </a:p>
          <a:p>
            <a:pPr marL="0" indent="0">
              <a:lnSpc>
                <a:spcPct val="80000"/>
              </a:lnSpc>
              <a:buFont typeface="Wingdings" pitchFamily="2" charset="2"/>
              <a:buNone/>
              <a:tabLst>
                <a:tab pos="1336675" algn="l"/>
              </a:tabLst>
            </a:pP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    1           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任意             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1          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任意</a:t>
            </a:r>
          </a:p>
          <a:p>
            <a:pPr marL="0" indent="0">
              <a:buFont typeface="Wingdings" pitchFamily="2" charset="2"/>
              <a:buNone/>
              <a:tabLst>
                <a:tab pos="1336675" algn="l"/>
              </a:tabLst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现在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还不是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S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的解释，因为有函数没有指定，扩充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为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I’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，使其包括对函数的指定 </a:t>
            </a:r>
          </a:p>
          <a:p>
            <a:pPr marL="0" indent="0">
              <a:buFont typeface="Wingdings" pitchFamily="2" charset="2"/>
              <a:buNone/>
              <a:tabLst>
                <a:tab pos="1336675" algn="l"/>
              </a:tabLst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              </a:t>
            </a:r>
            <a:r>
              <a:rPr kumimoji="0" lang="zh-CN" altLang="en-US" sz="3200" u="sng">
                <a:latin typeface="Arial" panose="020B0604020202020204" pitchFamily="34" charset="0"/>
                <a:ea typeface="楷体_GB2312" pitchFamily="1" charset="-122"/>
              </a:rPr>
              <a:t> </a:t>
            </a:r>
            <a:r>
              <a:rPr kumimoji="0" lang="en-US" altLang="zh-CN" sz="3200" u="sng">
                <a:latin typeface="Arial" panose="020B0604020202020204" pitchFamily="34" charset="0"/>
                <a:ea typeface="楷体_GB2312" pitchFamily="1" charset="-122"/>
              </a:rPr>
              <a:t>f(1)   f(2)</a:t>
            </a:r>
            <a:endParaRPr kumimoji="0" lang="en-US" altLang="zh-CN" sz="3200">
              <a:latin typeface="Arial" panose="020B0604020202020204" pitchFamily="34" charset="0"/>
              <a:ea typeface="楷体_GB2312" pitchFamily="1" charset="-122"/>
            </a:endParaRPr>
          </a:p>
          <a:p>
            <a:pPr marL="0" indent="0">
              <a:buFont typeface="Wingdings" pitchFamily="2" charset="2"/>
              <a:buNone/>
              <a:tabLst>
                <a:tab pos="1336675" algn="l"/>
              </a:tabLst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　　　　 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1     1</a:t>
            </a:r>
          </a:p>
          <a:p>
            <a:pPr marL="0" indent="0">
              <a:buFont typeface="Wingdings" pitchFamily="2" charset="2"/>
              <a:buNone/>
              <a:tabLst>
                <a:tab pos="1336675" algn="l"/>
              </a:tabLst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I’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满足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S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。 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90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90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90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90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90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90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90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026" grpId="0" build="p" autoUpdateAnimBg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5" name="Slide Number Placeholder 5">
            <a:extLst>
              <a:ext uri="{FF2B5EF4-FFF2-40B4-BE49-F238E27FC236}">
                <a16:creationId xmlns:a16="http://schemas.microsoft.com/office/drawing/2014/main" id="{F282424C-0ACF-574F-A65C-BB0C7642EDE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DC1C6F9-7189-9F4D-BA69-1751834F8C42}" type="slidenum">
              <a:rPr kumimoji="0" lang="en-US" altLang="zh-CN" sz="1200"/>
              <a:pPr/>
              <a:t>68</a:t>
            </a:fld>
            <a:endParaRPr kumimoji="0" lang="en-US" altLang="zh-CN" sz="1200"/>
          </a:p>
        </p:txBody>
      </p:sp>
      <p:sp>
        <p:nvSpPr>
          <p:cNvPr id="131075" name="Rectangle 3">
            <a:extLst>
              <a:ext uri="{FF2B5EF4-FFF2-40B4-BE49-F238E27FC236}">
                <a16:creationId xmlns:a16="http://schemas.microsoft.com/office/drawing/2014/main" id="{ECC32BFF-6E11-114C-A133-74CB853819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228600"/>
            <a:ext cx="9067800" cy="1143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>
                <a:latin typeface="Arial" charset="0"/>
                <a:ea typeface="楷体_GB2312" charset="0"/>
                <a:cs typeface="+mj-cs"/>
              </a:rPr>
              <a:t>2. G</a:t>
            </a: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与</a:t>
            </a:r>
            <a:r>
              <a:rPr lang="en-US" altLang="zh-CN" dirty="0">
                <a:latin typeface="Arial" charset="0"/>
                <a:ea typeface="楷体_GB2312" charset="0"/>
                <a:cs typeface="+mj-cs"/>
              </a:rPr>
              <a:t>S</a:t>
            </a: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不等价 </a:t>
            </a:r>
          </a:p>
        </p:txBody>
      </p:sp>
      <p:sp>
        <p:nvSpPr>
          <p:cNvPr id="131074" name="Rectangle 2">
            <a:extLst>
              <a:ext uri="{FF2B5EF4-FFF2-40B4-BE49-F238E27FC236}">
                <a16:creationId xmlns:a16="http://schemas.microsoft.com/office/drawing/2014/main" id="{9703766A-2770-9B43-ADD2-744EBD0EBF91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295400"/>
            <a:ext cx="8839200" cy="4800600"/>
          </a:xfrm>
        </p:spPr>
        <p:txBody>
          <a:bodyPr/>
          <a:lstStyle/>
          <a:p>
            <a:pPr marL="352425" indent="-352425">
              <a:lnSpc>
                <a:spcPct val="90000"/>
              </a:lnSpc>
              <a:tabLst>
                <a:tab pos="352425" algn="l"/>
              </a:tabLst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由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可知，满足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的解释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，不一定满足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S,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因为在扩充时，可随意指定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Skolem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函数的值。</a:t>
            </a:r>
          </a:p>
          <a:p>
            <a:pPr marL="352425" indent="-352425">
              <a:lnSpc>
                <a:spcPct val="90000"/>
              </a:lnSpc>
              <a:buFont typeface="Wingdings" pitchFamily="2" charset="2"/>
              <a:buNone/>
              <a:tabLst>
                <a:tab pos="352425" algn="l"/>
              </a:tabLst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	</a:t>
            </a:r>
            <a:r>
              <a:rPr kumimoji="0" lang="zh-CN" altLang="en-US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例如</a:t>
            </a:r>
            <a:r>
              <a:rPr kumimoji="0" lang="en-US" altLang="zh-CN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: 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G=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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xP(x)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S=P(a)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。令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S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的解释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如下：</a:t>
            </a:r>
          </a:p>
          <a:p>
            <a:pPr marL="352425" indent="-352425">
              <a:lnSpc>
                <a:spcPct val="90000"/>
              </a:lnSpc>
              <a:buFont typeface="Wingdings" pitchFamily="2" charset="2"/>
              <a:buNone/>
              <a:tabLst>
                <a:tab pos="352425" algn="l"/>
              </a:tabLst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   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D={2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3}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，</a:t>
            </a:r>
          </a:p>
          <a:p>
            <a:pPr marL="352425" indent="-352425">
              <a:lnSpc>
                <a:spcPct val="90000"/>
              </a:lnSpc>
              <a:buFont typeface="Wingdings" pitchFamily="2" charset="2"/>
              <a:buNone/>
              <a:tabLst>
                <a:tab pos="352425" algn="l"/>
              </a:tabLst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    </a:t>
            </a:r>
            <a:r>
              <a:rPr kumimoji="0" lang="en-US" altLang="zh-CN" sz="3200" u="sng">
                <a:latin typeface="Arial" panose="020B0604020202020204" pitchFamily="34" charset="0"/>
                <a:ea typeface="楷体_GB2312" pitchFamily="1" charset="-122"/>
              </a:rPr>
              <a:t>a    P(2)   P(3) </a:t>
            </a:r>
            <a:endParaRPr kumimoji="0" lang="en-US" altLang="zh-CN" sz="3200">
              <a:latin typeface="Arial" panose="020B0604020202020204" pitchFamily="34" charset="0"/>
              <a:ea typeface="楷体_GB2312" pitchFamily="1" charset="-122"/>
            </a:endParaRPr>
          </a:p>
          <a:p>
            <a:pPr marL="352425" indent="-352425">
              <a:lnSpc>
                <a:spcPct val="90000"/>
              </a:lnSpc>
              <a:buFont typeface="Wingdings" pitchFamily="2" charset="2"/>
              <a:buNone/>
              <a:tabLst>
                <a:tab pos="352425" algn="l"/>
              </a:tabLst>
            </a:pP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    2      0       1</a:t>
            </a:r>
          </a:p>
          <a:p>
            <a:pPr marL="352425" indent="-352425">
              <a:lnSpc>
                <a:spcPct val="90000"/>
              </a:lnSpc>
              <a:buFont typeface="Wingdings" pitchFamily="2" charset="2"/>
              <a:buNone/>
              <a:tabLst>
                <a:tab pos="352425" algn="l"/>
              </a:tabLst>
            </a:pP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	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满足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，但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弄假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S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。 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10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10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10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10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10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10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074" grpId="0" build="p" autoUpdateAnimBg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3" name="Slide Number Placeholder 5">
            <a:extLst>
              <a:ext uri="{FF2B5EF4-FFF2-40B4-BE49-F238E27FC236}">
                <a16:creationId xmlns:a16="http://schemas.microsoft.com/office/drawing/2014/main" id="{EC97953D-F254-3F48-BA8D-6BF2AC7268F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97D08BE-3A4E-2C4E-BDD4-56665376282B}" type="slidenum">
              <a:rPr kumimoji="0" lang="en-US" altLang="zh-CN" sz="1200"/>
              <a:pPr/>
              <a:t>69</a:t>
            </a:fld>
            <a:endParaRPr kumimoji="0" lang="en-US" altLang="zh-CN" sz="1200"/>
          </a:p>
        </p:txBody>
      </p:sp>
      <p:sp>
        <p:nvSpPr>
          <p:cNvPr id="133123" name="Rectangle 3">
            <a:extLst>
              <a:ext uri="{FF2B5EF4-FFF2-40B4-BE49-F238E27FC236}">
                <a16:creationId xmlns:a16="http://schemas.microsoft.com/office/drawing/2014/main" id="{CAF0CE37-9CFC-B541-A041-3097531350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304800"/>
            <a:ext cx="9067800" cy="1143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>
                <a:latin typeface="Arial" charset="0"/>
                <a:ea typeface="楷体_GB2312" charset="0"/>
                <a:cs typeface="+mj-cs"/>
              </a:rPr>
              <a:t>3. G</a:t>
            </a: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与</a:t>
            </a:r>
            <a:r>
              <a:rPr lang="en-US" altLang="zh-CN" dirty="0">
                <a:latin typeface="Arial" charset="0"/>
                <a:ea typeface="楷体_GB2312" charset="0"/>
                <a:cs typeface="+mj-cs"/>
              </a:rPr>
              <a:t>S</a:t>
            </a: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的恒假性等价 </a:t>
            </a:r>
          </a:p>
        </p:txBody>
      </p:sp>
      <p:sp>
        <p:nvSpPr>
          <p:cNvPr id="125955" name="Rectangle 2">
            <a:extLst>
              <a:ext uri="{FF2B5EF4-FFF2-40B4-BE49-F238E27FC236}">
                <a16:creationId xmlns:a16="http://schemas.microsoft.com/office/drawing/2014/main" id="{02A32B80-F19F-7B47-934E-976B54D2FDFE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52400" y="1600200"/>
            <a:ext cx="8839200" cy="3124200"/>
          </a:xfrm>
        </p:spPr>
        <p:txBody>
          <a:bodyPr/>
          <a:lstStyle/>
          <a:p>
            <a:pPr marL="352425" indent="-352425">
              <a:lnSpc>
                <a:spcPct val="120000"/>
              </a:lnSpc>
              <a:buFont typeface="Wingdings" pitchFamily="2" charset="2"/>
              <a:buChar char="Ø"/>
              <a:tabLst>
                <a:tab pos="1336675" algn="l"/>
              </a:tabLst>
            </a:pPr>
            <a:r>
              <a:rPr kumimoji="0" lang="zh-CN" altLang="en-US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定理</a:t>
            </a:r>
            <a:r>
              <a:rPr kumimoji="0" lang="en-US" altLang="zh-CN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3.2.2  </a:t>
            </a:r>
            <a:b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设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S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是公式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的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Skolem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范式，于是，公式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是恒假的充要条件是公式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S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是恒假的。</a:t>
            </a:r>
          </a:p>
        </p:txBody>
      </p:sp>
    </p:spTree>
  </p:cSld>
  <p:clrMapOvr>
    <a:masterClrMapping/>
  </p:clrMapOvr>
  <p:transition>
    <p:blinds dir="vert"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1" name="Slide Number Placeholder 5">
            <a:extLst>
              <a:ext uri="{FF2B5EF4-FFF2-40B4-BE49-F238E27FC236}">
                <a16:creationId xmlns:a16="http://schemas.microsoft.com/office/drawing/2014/main" id="{7C64A734-8FBA-1C42-A4EB-9C46683CD1D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1237B50-CEEE-3247-B0D1-2B292B9FD7B4}" type="slidenum">
              <a:rPr kumimoji="0" lang="en-US" altLang="zh-CN" sz="1200"/>
              <a:pPr/>
              <a:t>70</a:t>
            </a:fld>
            <a:endParaRPr kumimoji="0" lang="en-US" altLang="zh-CN" sz="1200"/>
          </a:p>
        </p:txBody>
      </p:sp>
      <p:sp>
        <p:nvSpPr>
          <p:cNvPr id="135170" name="Rectangle 2">
            <a:extLst>
              <a:ext uri="{FF2B5EF4-FFF2-40B4-BE49-F238E27FC236}">
                <a16:creationId xmlns:a16="http://schemas.microsoft.com/office/drawing/2014/main" id="{4E51C096-4D85-0E47-A5F5-6A8E13E5520E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066800"/>
            <a:ext cx="8763000" cy="4800600"/>
          </a:xfrm>
        </p:spPr>
        <p:txBody>
          <a:bodyPr/>
          <a:lstStyle/>
          <a:p>
            <a:pPr marL="352425" indent="-352425">
              <a:lnSpc>
                <a:spcPct val="120000"/>
              </a:lnSpc>
              <a:tabLst>
                <a:tab pos="352425" algn="l"/>
              </a:tabLst>
            </a:pPr>
            <a:r>
              <a:rPr kumimoji="0" lang="zh-CN" altLang="en-US" sz="3200" dirty="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证明：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若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恒假，而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S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可满足，由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知，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是可满足的，矛盾。</a:t>
            </a:r>
          </a:p>
          <a:p>
            <a:pPr marL="352425" indent="-352425">
              <a:lnSpc>
                <a:spcPct val="120000"/>
              </a:lnSpc>
              <a:buFont typeface="Wingdings" pitchFamily="2" charset="2"/>
              <a:buNone/>
              <a:tabLst>
                <a:tab pos="352425" algn="l"/>
              </a:tabLst>
            </a:pP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	若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S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恒假，而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可满足，由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知，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S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是可满足的，矛盾。</a:t>
            </a:r>
          </a:p>
          <a:p>
            <a:pPr marL="352425" indent="-352425">
              <a:lnSpc>
                <a:spcPct val="120000"/>
              </a:lnSpc>
              <a:buFont typeface="Wingdings" pitchFamily="2" charset="2"/>
              <a:buNone/>
              <a:tabLst>
                <a:tab pos="352425" algn="l"/>
              </a:tabLst>
            </a:pP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	故定理成立。</a:t>
            </a:r>
          </a:p>
          <a:p>
            <a:pPr marL="352425" indent="-352425">
              <a:lnSpc>
                <a:spcPct val="120000"/>
              </a:lnSpc>
              <a:tabLst>
                <a:tab pos="352425" algn="l"/>
              </a:tabLst>
            </a:pP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考虑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与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S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的恒真性是否等价。 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5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51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51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170" grpId="0" build="p" autoUpdateAnimBg="0"/>
    </p:bldLst>
  </p:timing>
</p:sld>
</file>

<file path=ppt/theme/theme1.xml><?xml version="1.0" encoding="utf-8"?>
<a:theme xmlns:a="http://schemas.openxmlformats.org/drawingml/2006/main" name="气流">
  <a:themeElements>
    <a:clrScheme name="气流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气流">
      <a:majorFont>
        <a:latin typeface="Trebuchet MS"/>
        <a:ea typeface=""/>
        <a:cs typeface=""/>
        <a:font script="Jpan" typeface="ＭＳ ゴシック"/>
        <a:font script="Hang" typeface="HY그래픽B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ＭＳ ゴシック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气流">
      <a:fillStyleLst>
        <a:solidFill>
          <a:schemeClr val="phClr"/>
        </a:solidFill>
        <a:gradFill rotWithShape="1">
          <a:gsLst>
            <a:gs pos="28000">
              <a:schemeClr val="phClr">
                <a:tint val="18000"/>
                <a:satMod val="120000"/>
                <a:lumMod val="88000"/>
              </a:schemeClr>
            </a:gs>
            <a:gs pos="100000">
              <a:schemeClr val="phClr">
                <a:tint val="40000"/>
                <a:satMod val="100000"/>
                <a:lumMod val="7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95000"/>
              </a:schemeClr>
            </a:gs>
            <a:gs pos="100000">
              <a:schemeClr val="phClr">
                <a:shade val="82000"/>
                <a:satMod val="125000"/>
                <a:lumMod val="74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satMod val="125000"/>
              <a:lumMod val="7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50800" dir="5400000" sx="98000" sy="98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40005" dist="22984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r"/>
          </a:scene3d>
          <a:sp3d prstMaterial="matte">
            <a:bevelT w="19050" h="38100"/>
          </a:sp3d>
        </a:effectStyle>
        <a:effectStyle>
          <a:effectLst>
            <a:reflection blurRad="38100" stA="26000" endPos="23000" dist="25400" dir="5400000" sy="-100000" rotWithShape="0"/>
          </a:effectLst>
          <a:scene3d>
            <a:camera prst="orthographicFront">
              <a:rot lat="0" lon="0" rev="0"/>
            </a:camera>
            <a:lightRig rig="balanced" dir="tr"/>
          </a:scene3d>
          <a:sp3d contourW="14605" prstMaterial="plastic">
            <a:bevelT w="50800"/>
            <a:contourClr>
              <a:schemeClr val="phClr">
                <a:shade val="30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气流.thmx</Template>
  <TotalTime>3545</TotalTime>
  <Words>7832</Words>
  <Application>Microsoft Office PowerPoint</Application>
  <PresentationFormat>全屏显示(4:3)</PresentationFormat>
  <Paragraphs>448</Paragraphs>
  <Slides>70</Slides>
  <Notes>45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70</vt:i4>
      </vt:variant>
    </vt:vector>
  </HeadingPairs>
  <TitlesOfParts>
    <vt:vector size="81" baseType="lpstr">
      <vt:lpstr>楷体</vt:lpstr>
      <vt:lpstr>楷体_GB2312</vt:lpstr>
      <vt:lpstr>宋体</vt:lpstr>
      <vt:lpstr>Arial</vt:lpstr>
      <vt:lpstr>Cascadia Code</vt:lpstr>
      <vt:lpstr>Georgia</vt:lpstr>
      <vt:lpstr>Symbol</vt:lpstr>
      <vt:lpstr>Times New Roman</vt:lpstr>
      <vt:lpstr>Trebuchet MS</vt:lpstr>
      <vt:lpstr>Wingdings</vt:lpstr>
      <vt:lpstr>气流</vt:lpstr>
      <vt:lpstr>§3.2   谓词逻辑</vt:lpstr>
      <vt:lpstr>§3.2 谓词逻辑</vt:lpstr>
      <vt:lpstr>§3.2.1 谓词逻辑的基本概念</vt:lpstr>
      <vt:lpstr>谓词和量词</vt:lpstr>
      <vt:lpstr>谓词和量词</vt:lpstr>
      <vt:lpstr>定义3.2.1 个体</vt:lpstr>
      <vt:lpstr>定义3.2.2 谓词</vt:lpstr>
      <vt:lpstr>例：</vt:lpstr>
      <vt:lpstr>例：</vt:lpstr>
      <vt:lpstr>谓词和量词</vt:lpstr>
      <vt:lpstr>谓词和量词</vt:lpstr>
      <vt:lpstr>谓词和量词</vt:lpstr>
      <vt:lpstr>定义3.2.3 量词</vt:lpstr>
      <vt:lpstr>谓词和量词</vt:lpstr>
      <vt:lpstr>例1：</vt:lpstr>
      <vt:lpstr>例2：</vt:lpstr>
      <vt:lpstr>例3：</vt:lpstr>
      <vt:lpstr>命题真值的规定</vt:lpstr>
      <vt:lpstr>命题真值的规定</vt:lpstr>
      <vt:lpstr>命题真值的规定</vt:lpstr>
      <vt:lpstr>谓词和量词</vt:lpstr>
      <vt:lpstr>例：</vt:lpstr>
      <vt:lpstr>改名规则 </vt:lpstr>
      <vt:lpstr>定义3.2.5 约束变量和自由变量 </vt:lpstr>
      <vt:lpstr>改名规则 </vt:lpstr>
      <vt:lpstr>改名规则 </vt:lpstr>
      <vt:lpstr>例:</vt:lpstr>
      <vt:lpstr>PowerPoint 演示文稿</vt:lpstr>
      <vt:lpstr>§3.2.2  谓词公式 </vt:lpstr>
      <vt:lpstr>公式 </vt:lpstr>
      <vt:lpstr>公式 </vt:lpstr>
      <vt:lpstr>定义3.2.6 项</vt:lpstr>
      <vt:lpstr>例：</vt:lpstr>
      <vt:lpstr>定义3.2.7 原子</vt:lpstr>
      <vt:lpstr>定义3.2.8  公式 </vt:lpstr>
      <vt:lpstr>例：</vt:lpstr>
      <vt:lpstr>解释 </vt:lpstr>
      <vt:lpstr>规定： </vt:lpstr>
      <vt:lpstr>例:</vt:lpstr>
      <vt:lpstr>例:</vt:lpstr>
      <vt:lpstr>例:</vt:lpstr>
      <vt:lpstr>可满足、恒真、恒假</vt:lpstr>
      <vt:lpstr>谓词公式的判定</vt:lpstr>
      <vt:lpstr>§3.2.3 谓词公式的 等价关系和蕴涵关系 </vt:lpstr>
      <vt:lpstr>定义3.2.12 公式的等价 </vt:lpstr>
      <vt:lpstr>定义3.2.13 公式的蕴涵 </vt:lpstr>
      <vt:lpstr>三段论的证明 </vt:lpstr>
      <vt:lpstr>§3.2.4  范式 </vt:lpstr>
      <vt:lpstr>前束范式 </vt:lpstr>
      <vt:lpstr>引理3.2.1 </vt:lpstr>
      <vt:lpstr>证明： </vt:lpstr>
      <vt:lpstr>证明： </vt:lpstr>
      <vt:lpstr>引理3.2.2 </vt:lpstr>
      <vt:lpstr>1)  证明： </vt:lpstr>
      <vt:lpstr>3) 证明： </vt:lpstr>
      <vt:lpstr>定理3.2.1 </vt:lpstr>
      <vt:lpstr>PowerPoint 演示文稿</vt:lpstr>
      <vt:lpstr>例3.2.1 </vt:lpstr>
      <vt:lpstr>例：</vt:lpstr>
      <vt:lpstr>Skolem范式 </vt:lpstr>
      <vt:lpstr>Skolem范式 </vt:lpstr>
      <vt:lpstr>例3.2.2</vt:lpstr>
      <vt:lpstr>1.G与S的可满足性是等价的。 </vt:lpstr>
      <vt:lpstr>PowerPoint 演示文稿</vt:lpstr>
      <vt:lpstr>PowerPoint 演示文稿</vt:lpstr>
      <vt:lpstr>例3.2.3</vt:lpstr>
      <vt:lpstr>例3.2.3</vt:lpstr>
      <vt:lpstr>2. G与S不等价 </vt:lpstr>
      <vt:lpstr>3. G与S的恒假性等价 </vt:lpstr>
      <vt:lpstr>PowerPoint 演示文稿</vt:lpstr>
    </vt:vector>
  </TitlesOfParts>
  <Company>JlU DSS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第三章   谓词逻辑</dc:title>
  <dc:creator>yuhh</dc:creator>
  <cp:lastModifiedBy>chuanbo Gao</cp:lastModifiedBy>
  <cp:revision>287</cp:revision>
  <dcterms:created xsi:type="dcterms:W3CDTF">2002-08-26T15:34:01Z</dcterms:created>
  <dcterms:modified xsi:type="dcterms:W3CDTF">2026-05-03T07:04:36Z</dcterms:modified>
</cp:coreProperties>
</file>