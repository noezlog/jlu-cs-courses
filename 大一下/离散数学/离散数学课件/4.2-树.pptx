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35"/>
  </p:notesMasterIdLst>
  <p:sldIdLst>
    <p:sldId id="259" r:id="rId2"/>
    <p:sldId id="258" r:id="rId3"/>
    <p:sldId id="322" r:id="rId4"/>
    <p:sldId id="260" r:id="rId5"/>
    <p:sldId id="261" r:id="rId6"/>
    <p:sldId id="262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05" r:id="rId15"/>
    <p:sldId id="306" r:id="rId16"/>
    <p:sldId id="265" r:id="rId17"/>
    <p:sldId id="318" r:id="rId18"/>
    <p:sldId id="272" r:id="rId19"/>
    <p:sldId id="317" r:id="rId20"/>
    <p:sldId id="307" r:id="rId21"/>
    <p:sldId id="319" r:id="rId22"/>
    <p:sldId id="308" r:id="rId23"/>
    <p:sldId id="309" r:id="rId24"/>
    <p:sldId id="310" r:id="rId25"/>
    <p:sldId id="320" r:id="rId26"/>
    <p:sldId id="313" r:id="rId27"/>
    <p:sldId id="321" r:id="rId28"/>
    <p:sldId id="314" r:id="rId29"/>
    <p:sldId id="279" r:id="rId30"/>
    <p:sldId id="280" r:id="rId31"/>
    <p:sldId id="315" r:id="rId32"/>
    <p:sldId id="278" r:id="rId33"/>
    <p:sldId id="323" r:id="rId3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95" autoAdjust="0"/>
    <p:restoredTop sz="96233" autoAdjust="0"/>
  </p:normalViewPr>
  <p:slideViewPr>
    <p:cSldViewPr>
      <p:cViewPr varScale="1">
        <p:scale>
          <a:sx n="110" d="100"/>
          <a:sy n="110" d="100"/>
        </p:scale>
        <p:origin x="84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78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117723EE-241F-0F42-B729-3F18F13FACE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A79B9CE7-59E3-F046-A35F-CA932B82860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>
            <a:extLst>
              <a:ext uri="{FF2B5EF4-FFF2-40B4-BE49-F238E27FC236}">
                <a16:creationId xmlns:a16="http://schemas.microsoft.com/office/drawing/2014/main" id="{23200FA2-D76C-8F46-861E-7C045A93D794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xmlns="" val="1"/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2BA14318-5A6F-8A46-9FD4-651FE68B74C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7110" name="Rectangle 6">
            <a:extLst>
              <a:ext uri="{FF2B5EF4-FFF2-40B4-BE49-F238E27FC236}">
                <a16:creationId xmlns:a16="http://schemas.microsoft.com/office/drawing/2014/main" id="{23764138-56D8-B049-827E-7F26BE3FC85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kumimoji="1" sz="12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2D2D20BE-E9FE-1A43-8D03-04CA63BF48F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>
                <a:latin typeface="Times New Roman" panose="02020603050405020304" pitchFamily="18" charset="0"/>
              </a:defRPr>
            </a:lvl1pPr>
          </a:lstStyle>
          <a:p>
            <a:fld id="{298A35DA-E8D0-0745-9C2C-E94CD9267AA4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A8ECBBCC-6929-4B48-83F1-64F32BA7A73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F2F93CB-8A95-C946-B40D-28DD264B8513}" type="slidenum">
              <a:rPr lang="zh-CN" altLang="en-US" sz="1200">
                <a:latin typeface="Times New Roman" panose="02020603050405020304" pitchFamily="18" charset="0"/>
              </a:rPr>
              <a:pPr/>
              <a:t>2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44FB86A-5681-564E-B16A-60F806B864D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06879307-552B-4241-BD36-CCDBFBE8A4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宋体" charset="0"/>
              </a:rPr>
              <a:t>由本例可以看出，树中不能再多任何一条边，否则就会有回路；也不能少任何一条边，否则就不连通。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>
            <a:extLst>
              <a:ext uri="{FF2B5EF4-FFF2-40B4-BE49-F238E27FC236}">
                <a16:creationId xmlns:a16="http://schemas.microsoft.com/office/drawing/2014/main" id="{C9284086-882B-0E45-B142-DDC036A558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48FBCD8-7D63-014C-810A-7F3DCC08A58F}" type="slidenum">
              <a:rPr lang="zh-CN" altLang="en-US" sz="1200">
                <a:latin typeface="Times New Roman" panose="02020603050405020304" pitchFamily="18" charset="0"/>
              </a:rPr>
              <a:pPr/>
              <a:t>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697AEC6B-E812-CA4E-97A1-99C185B6D1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42738F20-5509-8342-85A6-106C29764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 dirty="0">
                <a:ea typeface="宋体" charset="0"/>
              </a:rPr>
              <a:t>下面给出无回路的图的一个性质。</a:t>
            </a:r>
          </a:p>
          <a:p>
            <a:pPr eaLnBrk="1" hangingPunct="1">
              <a:defRPr/>
            </a:pPr>
            <a:r>
              <a:rPr lang="zh-CN" altLang="en-US" dirty="0">
                <a:ea typeface="宋体" charset="0"/>
              </a:rPr>
              <a:t>证明思路：既然说至少有一个点度数为</a:t>
            </a:r>
            <a:r>
              <a:rPr lang="en-US" altLang="zh-CN" dirty="0">
                <a:ea typeface="宋体" charset="0"/>
              </a:rPr>
              <a:t>1</a:t>
            </a:r>
            <a:r>
              <a:rPr lang="zh-CN" altLang="en-US" dirty="0">
                <a:ea typeface="宋体" charset="0"/>
              </a:rPr>
              <a:t>，即至少有一个点只有一条边。如上例。那我们就想办法找到这样的点。</a:t>
            </a:r>
            <a:br>
              <a:rPr lang="zh-CN" altLang="en-US" dirty="0">
                <a:ea typeface="宋体" charset="0"/>
              </a:rPr>
            </a:br>
            <a:r>
              <a:rPr lang="zh-CN" altLang="en-US" dirty="0">
                <a:ea typeface="宋体" charset="0"/>
              </a:rPr>
              <a:t>我们发现，从任一个点出发，沿着路找，路的另一个端点一定是度数为</a:t>
            </a:r>
            <a:r>
              <a:rPr lang="en-US" altLang="zh-CN" dirty="0">
                <a:ea typeface="宋体" charset="0"/>
              </a:rPr>
              <a:t>1</a:t>
            </a:r>
            <a:r>
              <a:rPr lang="zh-CN" altLang="en-US" dirty="0">
                <a:ea typeface="宋体" charset="0"/>
              </a:rPr>
              <a:t>的点。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8B59E513-4848-4540-8FB8-AD9A23E682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5942659-1D68-FC48-8D49-2C7A37528063}" type="slidenum">
              <a:rPr lang="zh-CN" altLang="en-US" sz="1200">
                <a:latin typeface="Times New Roman" panose="02020603050405020304" pitchFamily="18" charset="0"/>
              </a:rPr>
              <a:pPr/>
              <a:t>5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4D83FE0A-0C09-5145-91A7-AA3BC3FADBA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BFDE1DC3-107A-5446-B588-3C423B5B80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我们接着来讨论树的性质。</a:t>
            </a:r>
          </a:p>
          <a:p>
            <a:pPr eaLnBrk="1" hangingPunct="1"/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……</a:t>
            </a:r>
            <a:endParaRPr lang="en-US" altLang="zh-CN">
              <a:solidFill>
                <a:schemeClr val="tx2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证明这些命题都等价，我们用循环证明法。</a:t>
            </a:r>
            <a:r>
              <a:rPr lang="en-US" altLang="zh-CN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</a:rPr>
              <a:t>1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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，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2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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3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，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3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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，则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123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等价；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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4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，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4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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5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，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5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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，则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145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等价；则</a:t>
            </a:r>
            <a:r>
              <a:rPr lang="en-US" altLang="zh-CN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12345</a:t>
            </a:r>
            <a:r>
              <a:rPr lang="zh-CN" altLang="en-US" sz="1400">
                <a:solidFill>
                  <a:schemeClr val="tx2"/>
                </a:solidFill>
                <a:latin typeface="Times New Roman" panose="02020603050405020304" pitchFamily="18" charset="0"/>
                <a:sym typeface="Symbol" pitchFamily="2" charset="2"/>
              </a:rPr>
              <a:t>等价。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>
            <a:extLst>
              <a:ext uri="{FF2B5EF4-FFF2-40B4-BE49-F238E27FC236}">
                <a16:creationId xmlns:a16="http://schemas.microsoft.com/office/drawing/2014/main" id="{0ABE4B97-A56E-F540-87A3-48ECF86FB1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FD6B692-F79C-4948-9237-DEAC8B23CBEA}" type="slidenum">
              <a:rPr lang="zh-CN" altLang="en-US" sz="1200">
                <a:latin typeface="Times New Roman" panose="02020603050405020304" pitchFamily="18" charset="0"/>
              </a:rPr>
              <a:pPr/>
              <a:t>6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278935C9-B567-BD4F-9B0D-368E18B6CA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>
            <a:extLst>
              <a:ext uri="{FF2B5EF4-FFF2-40B4-BE49-F238E27FC236}">
                <a16:creationId xmlns:a16="http://schemas.microsoft.com/office/drawing/2014/main" id="{2A38BB4A-9099-AD40-B098-4A93E5334F2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>
              <a:ea typeface="宋体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A105FE27-2B8D-CD4F-B987-5521E2D71E9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2114716A-C345-9944-A39C-16D20EF3BCF9}" type="slidenum">
              <a:rPr lang="zh-CN" altLang="en-US" sz="1200">
                <a:latin typeface="Times New Roman" panose="02020603050405020304" pitchFamily="18" charset="0"/>
              </a:rPr>
              <a:pPr/>
              <a:t>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4EFFCFE5-6CE7-1449-BDD2-42E79C4714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DE853B2F-D851-CC43-BA07-669D8B59D8D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宋体" charset="0"/>
              </a:rPr>
              <a:t>证明思路：要证</a:t>
            </a:r>
            <a:r>
              <a:rPr lang="en-US" altLang="zh-CN">
                <a:ea typeface="宋体" charset="0"/>
              </a:rPr>
              <a:t>G</a:t>
            </a:r>
            <a:r>
              <a:rPr lang="zh-CN" altLang="en-US">
                <a:ea typeface="宋体" charset="0"/>
              </a:rPr>
              <a:t>中任意两点之间只有一条路，用反证法，假设任意两点之间偏偏有两条路，得出与已知</a:t>
            </a:r>
            <a:r>
              <a:rPr lang="en-US" altLang="zh-CN">
                <a:ea typeface="宋体" charset="0"/>
              </a:rPr>
              <a:t>2)</a:t>
            </a:r>
            <a:r>
              <a:rPr lang="zh-CN" altLang="en-US">
                <a:ea typeface="宋体" charset="0"/>
              </a:rPr>
              <a:t>矛盾即可。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88491A74-6D6A-7445-81D8-7931FE1F71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646C011-2947-C246-BF63-C118A7DF0297}" type="slidenum">
              <a:rPr lang="zh-CN" altLang="en-US" sz="1200">
                <a:latin typeface="Times New Roman" panose="02020603050405020304" pitchFamily="18" charset="0"/>
              </a:rPr>
              <a:pPr/>
              <a:t>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4FB1224C-D340-CD43-86BF-DB5727EFC4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F1F0A04D-1D0D-B24A-A93C-245FFB5BA9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宋体" charset="0"/>
              </a:rPr>
              <a:t>证明思路：要证</a:t>
            </a:r>
            <a:r>
              <a:rPr lang="en-US" altLang="zh-CN">
                <a:ea typeface="宋体" charset="0"/>
              </a:rPr>
              <a:t>G</a:t>
            </a:r>
            <a:r>
              <a:rPr lang="zh-CN" altLang="en-US">
                <a:ea typeface="宋体" charset="0"/>
              </a:rPr>
              <a:t>是树，则需要证明</a:t>
            </a:r>
            <a:r>
              <a:rPr lang="en-US" altLang="zh-CN">
                <a:ea typeface="宋体" charset="0"/>
              </a:rPr>
              <a:t>G</a:t>
            </a:r>
            <a:r>
              <a:rPr lang="zh-CN" altLang="en-US">
                <a:ea typeface="宋体" charset="0"/>
              </a:rPr>
              <a:t>是连通的，且无回路。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F90CED7B-FF68-9A46-B3B8-B0D1073ADE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9D0C3E3-C2E5-2C4B-AB9E-833FA2A69342}" type="slidenum">
              <a:rPr lang="zh-CN" altLang="en-US" sz="1200">
                <a:latin typeface="Times New Roman" panose="02020603050405020304" pitchFamily="18" charset="0"/>
              </a:rPr>
              <a:pPr/>
              <a:t>9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2A7593D6-BB6F-BC44-8C4B-5B37E1F5BCF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E92885E9-991C-E04E-9153-36F9FC252D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 dirty="0">
              <a:ea typeface="宋体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>
            <a:extLst>
              <a:ext uri="{FF2B5EF4-FFF2-40B4-BE49-F238E27FC236}">
                <a16:creationId xmlns:a16="http://schemas.microsoft.com/office/drawing/2014/main" id="{9AF331F8-A375-A44C-83FD-A64F8BA4766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89DA4F4-7152-6B42-906D-4E520E988388}" type="slidenum">
              <a:rPr lang="zh-CN" altLang="en-US" sz="1200">
                <a:latin typeface="Times New Roman" panose="02020603050405020304" pitchFamily="18" charset="0"/>
              </a:rPr>
              <a:pPr/>
              <a:t>10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3011" name="Rectangle 2">
            <a:extLst>
              <a:ext uri="{FF2B5EF4-FFF2-40B4-BE49-F238E27FC236}">
                <a16:creationId xmlns:a16="http://schemas.microsoft.com/office/drawing/2014/main" id="{605C1286-43ED-5E47-B558-7C63229CBB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>
            <a:extLst>
              <a:ext uri="{FF2B5EF4-FFF2-40B4-BE49-F238E27FC236}">
                <a16:creationId xmlns:a16="http://schemas.microsoft.com/office/drawing/2014/main" id="{9F571E9F-2D74-3D41-990C-992F710A928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 dirty="0">
              <a:ea typeface="宋体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7753C161-28C0-1F4C-A01B-752F0384DF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3DD65FF-AC98-DC43-BC01-50A9C5472F35}" type="slidenum">
              <a:rPr lang="zh-CN" altLang="en-US" sz="1200">
                <a:latin typeface="Times New Roman" panose="02020603050405020304" pitchFamily="18" charset="0"/>
              </a:rPr>
              <a:pPr/>
              <a:t>11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71AE7C8B-8B9F-9343-9DB9-52906BE3D5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99FA87C-4372-CF46-AA6D-FD8A3260BC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 dirty="0">
              <a:ea typeface="宋体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>
            <a:extLst>
              <a:ext uri="{FF2B5EF4-FFF2-40B4-BE49-F238E27FC236}">
                <a16:creationId xmlns:a16="http://schemas.microsoft.com/office/drawing/2014/main" id="{59B690B1-1B39-8146-AB7F-F3AFA8EC15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A2B0A74-D912-BC4D-A487-244B2B0072FD}" type="slidenum">
              <a:rPr lang="zh-CN" altLang="en-US" sz="1200">
                <a:latin typeface="Times New Roman" panose="02020603050405020304" pitchFamily="18" charset="0"/>
              </a:rPr>
              <a:pPr/>
              <a:t>14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875E2E4B-4891-5A4A-B6CD-84F6D8BABC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>
            <a:extLst>
              <a:ext uri="{FF2B5EF4-FFF2-40B4-BE49-F238E27FC236}">
                <a16:creationId xmlns:a16="http://schemas.microsoft.com/office/drawing/2014/main" id="{59D07FCE-4028-1240-B0AA-83802D9170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zh-CN" altLang="en-US" dirty="0">
              <a:ea typeface="宋体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85B8B6D-36EB-6A47-9C91-B004407CF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41986" name="备注占位符 2">
            <a:extLst>
              <a:ext uri="{FF2B5EF4-FFF2-40B4-BE49-F238E27FC236}">
                <a16:creationId xmlns:a16="http://schemas.microsoft.com/office/drawing/2014/main" id="{2F3FA57D-3970-B541-B1D7-96D9610F33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1987" name="幻灯片编号占位符 3">
            <a:extLst>
              <a:ext uri="{FF2B5EF4-FFF2-40B4-BE49-F238E27FC236}">
                <a16:creationId xmlns:a16="http://schemas.microsoft.com/office/drawing/2014/main" id="{B702B178-5F58-B448-9F31-2B03A1EB5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106308C-F613-7C4B-97E6-4D4BCA1B13BF}" type="slidenum">
              <a:rPr lang="zh-CN" altLang="en-US" sz="1200">
                <a:latin typeface="Times New Roman" panose="02020603050405020304" pitchFamily="18" charset="0"/>
              </a:rPr>
              <a:pPr/>
              <a:t>17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7438FF58-511B-A94F-8964-E8670713D0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7E26A47-D970-184C-90F5-40B6F95F06EB}" type="slidenum">
              <a:rPr lang="zh-CN" altLang="en-US" sz="1200">
                <a:latin typeface="Times New Roman" panose="02020603050405020304" pitchFamily="18" charset="0"/>
              </a:rPr>
              <a:pPr/>
              <a:t>18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FB7E7A69-8DAF-524A-85A2-406200CFA9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114151BC-E8B7-204B-8E4B-3200A84EC9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zh-CN" altLang="en-US">
                <a:ea typeface="宋体" charset="0"/>
              </a:rPr>
              <a:t>证明思路：根据最优树的定义：带有最小权的支撑树。所以先证是支撑子图；再证明是树；最后证明最优。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>
            <a:extLst>
              <a:ext uri="{FF2B5EF4-FFF2-40B4-BE49-F238E27FC236}">
                <a16:creationId xmlns:a16="http://schemas.microsoft.com/office/drawing/2014/main" id="{0BCB1815-7E0A-8E49-8687-F648396881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A3F1499-5293-B440-9056-9885307478D7}" type="slidenum">
              <a:rPr lang="zh-CN" altLang="en-US" sz="1200">
                <a:latin typeface="Times New Roman" panose="02020603050405020304" pitchFamily="18" charset="0"/>
              </a:rPr>
              <a:pPr/>
              <a:t>23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  <p:sp>
        <p:nvSpPr>
          <p:cNvPr id="47107" name="Rectangle 2">
            <a:extLst>
              <a:ext uri="{FF2B5EF4-FFF2-40B4-BE49-F238E27FC236}">
                <a16:creationId xmlns:a16="http://schemas.microsoft.com/office/drawing/2014/main" id="{2EA47A7B-6338-5B47-A2A8-F823A988636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>
            <a:extLst>
              <a:ext uri="{FF2B5EF4-FFF2-40B4-BE49-F238E27FC236}">
                <a16:creationId xmlns:a16="http://schemas.microsoft.com/office/drawing/2014/main" id="{8A60AA4E-C636-0F48-8342-D93C9770D4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7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algn="just" eaLnBrk="1" hangingPunct="1">
              <a:defRPr/>
            </a:pPr>
            <a:r>
              <a:rPr lang="zh-CN" altLang="en-US">
                <a:ea typeface="宋体" charset="0"/>
              </a:rPr>
              <a:t>证明思路：拿来一个最优支撑树</a:t>
            </a:r>
            <a:r>
              <a:rPr lang="en-US" altLang="zh-CN">
                <a:ea typeface="宋体" charset="0"/>
              </a:rPr>
              <a:t>T*</a:t>
            </a:r>
            <a:r>
              <a:rPr lang="zh-CN" altLang="en-US">
                <a:ea typeface="宋体" charset="0"/>
              </a:rPr>
              <a:t> ，把</a:t>
            </a:r>
            <a:r>
              <a:rPr lang="en-US" altLang="zh-CN">
                <a:ea typeface="宋体" charset="0"/>
              </a:rPr>
              <a:t>T</a:t>
            </a:r>
            <a:r>
              <a:rPr lang="zh-CN" altLang="en-US">
                <a:ea typeface="宋体" charset="0"/>
              </a:rPr>
              <a:t>中的第一条边（权最小的）与</a:t>
            </a:r>
            <a:r>
              <a:rPr lang="en-US" altLang="zh-CN">
                <a:ea typeface="宋体" charset="0"/>
              </a:rPr>
              <a:t>T*</a:t>
            </a:r>
            <a:r>
              <a:rPr lang="zh-CN" altLang="en-US">
                <a:ea typeface="宋体" charset="0"/>
              </a:rPr>
              <a:t>中的一条边（加第一条边后构成回路中的边）互换（这回没有回路了），则把最优支撑树中的一条边换成了权值更小或相等的，所以新得到的支撑树仍然最优。这样循环下去，把权第二小的再与</a:t>
            </a:r>
            <a:r>
              <a:rPr lang="en-US" altLang="zh-CN">
                <a:ea typeface="宋体" charset="0"/>
              </a:rPr>
              <a:t>T*</a:t>
            </a:r>
            <a:r>
              <a:rPr lang="zh-CN" altLang="en-US">
                <a:ea typeface="宋体" charset="0"/>
              </a:rPr>
              <a:t>中的一条边互换，直到所有的</a:t>
            </a:r>
            <a:r>
              <a:rPr lang="en-US" altLang="zh-CN">
                <a:ea typeface="宋体" charset="0"/>
              </a:rPr>
              <a:t>T*</a:t>
            </a:r>
            <a:r>
              <a:rPr lang="zh-CN" altLang="en-US">
                <a:ea typeface="宋体" charset="0"/>
              </a:rPr>
              <a:t>中的边都被</a:t>
            </a:r>
            <a:r>
              <a:rPr lang="en-US" altLang="zh-CN">
                <a:ea typeface="宋体" charset="0"/>
              </a:rPr>
              <a:t>T</a:t>
            </a:r>
            <a:r>
              <a:rPr lang="zh-CN" altLang="en-US">
                <a:ea typeface="宋体" charset="0"/>
              </a:rPr>
              <a:t>中的边换掉，则</a:t>
            </a:r>
            <a:r>
              <a:rPr lang="en-US" altLang="zh-CN">
                <a:ea typeface="宋体" charset="0"/>
              </a:rPr>
              <a:t>T</a:t>
            </a:r>
            <a:r>
              <a:rPr lang="zh-CN" altLang="en-US">
                <a:ea typeface="宋体" charset="0"/>
              </a:rPr>
              <a:t>就是最优的。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34D6846-B3A2-3644-BD8F-31AB5E9B01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55298" name="备注占位符 2">
            <a:extLst>
              <a:ext uri="{FF2B5EF4-FFF2-40B4-BE49-F238E27FC236}">
                <a16:creationId xmlns:a16="http://schemas.microsoft.com/office/drawing/2014/main" id="{AEA0E0A6-8273-A44C-BEC0-BEE40BE10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latin typeface="Arial" panose="020B0604020202020204" pitchFamily="34" charset="0"/>
              </a:rPr>
              <a:t>证明：从树的定义出发，</a:t>
            </a:r>
            <a:endParaRPr lang="zh-CN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1</a:t>
            </a:r>
            <a:r>
              <a:rPr lang="zh-CN" altLang="en-US">
                <a:latin typeface="Arial" panose="020B0604020202020204" pitchFamily="34" charset="0"/>
              </a:rPr>
              <a:t>）由已知有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中无回路。</a:t>
            </a:r>
            <a:endParaRPr lang="zh-CN" altLang="zh-CN">
              <a:latin typeface="Arial" panose="020B0604020202020204" pitchFamily="34" charset="0"/>
            </a:endParaRPr>
          </a:p>
          <a:p>
            <a:r>
              <a:rPr lang="en-US" altLang="zh-CN">
                <a:latin typeface="Arial" panose="020B0604020202020204" pitchFamily="34" charset="0"/>
              </a:rPr>
              <a:t>2</a:t>
            </a:r>
            <a:r>
              <a:rPr lang="zh-CN" altLang="en-US">
                <a:latin typeface="Arial" panose="020B0604020202020204" pitchFamily="34" charset="0"/>
              </a:rPr>
              <a:t>）要证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连通，反证法，假设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不连通，则一定存在点</a:t>
            </a:r>
            <a:r>
              <a:rPr lang="en-US" altLang="zh-CN">
                <a:latin typeface="Arial" panose="020B0604020202020204" pitchFamily="34" charset="0"/>
              </a:rPr>
              <a:t>u</a:t>
            </a:r>
            <a:r>
              <a:rPr lang="zh-CN" altLang="en-US">
                <a:latin typeface="Arial" panose="020B0604020202020204" pitchFamily="34" charset="0"/>
              </a:rPr>
              <a:t>和</a:t>
            </a:r>
            <a:r>
              <a:rPr lang="en-US" altLang="zh-CN">
                <a:latin typeface="Arial" panose="020B0604020202020204" pitchFamily="34" charset="0"/>
              </a:rPr>
              <a:t>v</a:t>
            </a:r>
            <a:r>
              <a:rPr lang="zh-CN" altLang="en-US">
                <a:latin typeface="Arial" panose="020B0604020202020204" pitchFamily="34" charset="0"/>
              </a:rPr>
              <a:t>，满足在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中没有从</a:t>
            </a:r>
            <a:r>
              <a:rPr lang="en-US" altLang="zh-CN">
                <a:latin typeface="Arial" panose="020B0604020202020204" pitchFamily="34" charset="0"/>
              </a:rPr>
              <a:t>u</a:t>
            </a:r>
            <a:r>
              <a:rPr lang="zh-CN" altLang="en-US">
                <a:latin typeface="Arial" panose="020B0604020202020204" pitchFamily="34" charset="0"/>
              </a:rPr>
              <a:t>到</a:t>
            </a:r>
            <a:r>
              <a:rPr lang="en-US" altLang="zh-CN">
                <a:latin typeface="Arial" panose="020B0604020202020204" pitchFamily="34" charset="0"/>
              </a:rPr>
              <a:t>v</a:t>
            </a:r>
            <a:r>
              <a:rPr lang="zh-CN" altLang="en-US">
                <a:latin typeface="Arial" panose="020B0604020202020204" pitchFamily="34" charset="0"/>
              </a:rPr>
              <a:t>的路，现在连接</a:t>
            </a:r>
            <a:r>
              <a:rPr lang="en-US" altLang="zh-CN">
                <a:latin typeface="Arial" panose="020B0604020202020204" pitchFamily="34" charset="0"/>
              </a:rPr>
              <a:t>u</a:t>
            </a:r>
            <a:r>
              <a:rPr lang="zh-CN" altLang="en-US">
                <a:latin typeface="Arial" panose="020B0604020202020204" pitchFamily="34" charset="0"/>
              </a:rPr>
              <a:t>、</a:t>
            </a:r>
            <a:r>
              <a:rPr lang="en-US" altLang="zh-CN">
                <a:latin typeface="Arial" panose="020B0604020202020204" pitchFamily="34" charset="0"/>
              </a:rPr>
              <a:t>v</a:t>
            </a:r>
            <a:r>
              <a:rPr lang="zh-CN" altLang="en-US">
                <a:latin typeface="Arial" panose="020B0604020202020204" pitchFamily="34" charset="0"/>
              </a:rPr>
              <a:t>，即在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中添加一条边</a:t>
            </a:r>
            <a:r>
              <a:rPr lang="en-US" altLang="zh-CN">
                <a:latin typeface="Arial" panose="020B0604020202020204" pitchFamily="34" charset="0"/>
              </a:rPr>
              <a:t>uv</a:t>
            </a:r>
            <a:r>
              <a:rPr lang="zh-CN" altLang="en-US">
                <a:latin typeface="Arial" panose="020B0604020202020204" pitchFamily="34" charset="0"/>
              </a:rPr>
              <a:t>，由已知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中加一条边后形成一回路可知，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中</a:t>
            </a:r>
            <a:r>
              <a:rPr lang="en-US" altLang="zh-CN">
                <a:latin typeface="Arial" panose="020B0604020202020204" pitchFamily="34" charset="0"/>
              </a:rPr>
              <a:t>u</a:t>
            </a:r>
            <a:r>
              <a:rPr lang="zh-CN" altLang="en-US">
                <a:latin typeface="Arial" panose="020B0604020202020204" pitchFamily="34" charset="0"/>
              </a:rPr>
              <a:t>、</a:t>
            </a:r>
            <a:r>
              <a:rPr lang="en-US" altLang="zh-CN">
                <a:latin typeface="Arial" panose="020B0604020202020204" pitchFamily="34" charset="0"/>
              </a:rPr>
              <a:t>v</a:t>
            </a:r>
            <a:r>
              <a:rPr lang="zh-CN" altLang="en-US">
                <a:latin typeface="Arial" panose="020B0604020202020204" pitchFamily="34" charset="0"/>
              </a:rPr>
              <a:t>两点间有一回路，即若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中删除边</a:t>
            </a:r>
            <a:r>
              <a:rPr lang="en-US" altLang="zh-CN">
                <a:latin typeface="Arial" panose="020B0604020202020204" pitchFamily="34" charset="0"/>
              </a:rPr>
              <a:t>uv</a:t>
            </a:r>
            <a:r>
              <a:rPr lang="zh-CN" altLang="en-US">
                <a:latin typeface="Arial" panose="020B0604020202020204" pitchFamily="34" charset="0"/>
              </a:rPr>
              <a:t>后，点</a:t>
            </a:r>
            <a:r>
              <a:rPr lang="en-US" altLang="zh-CN">
                <a:latin typeface="Arial" panose="020B0604020202020204" pitchFamily="34" charset="0"/>
              </a:rPr>
              <a:t>u</a:t>
            </a:r>
            <a:r>
              <a:rPr lang="zh-CN" altLang="en-US">
                <a:latin typeface="Arial" panose="020B0604020202020204" pitchFamily="34" charset="0"/>
              </a:rPr>
              <a:t>、</a:t>
            </a:r>
            <a:r>
              <a:rPr lang="en-US" altLang="zh-CN">
                <a:latin typeface="Arial" panose="020B0604020202020204" pitchFamily="34" charset="0"/>
              </a:rPr>
              <a:t>v</a:t>
            </a:r>
            <a:r>
              <a:rPr lang="zh-CN" altLang="en-US">
                <a:latin typeface="Arial" panose="020B0604020202020204" pitchFamily="34" charset="0"/>
              </a:rPr>
              <a:t>仍然连通，矛盾。所以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连通。</a:t>
            </a:r>
            <a:endParaRPr lang="zh-CN" altLang="zh-CN">
              <a:latin typeface="Arial" panose="020B0604020202020204" pitchFamily="34" charset="0"/>
            </a:endParaRPr>
          </a:p>
          <a:p>
            <a:r>
              <a:rPr lang="zh-CN" altLang="en-US">
                <a:latin typeface="Arial" panose="020B0604020202020204" pitchFamily="34" charset="0"/>
              </a:rPr>
              <a:t>因此，</a:t>
            </a:r>
            <a:r>
              <a:rPr lang="en-US" altLang="zh-CN">
                <a:latin typeface="Arial" panose="020B0604020202020204" pitchFamily="34" charset="0"/>
              </a:rPr>
              <a:t>G</a:t>
            </a:r>
            <a:r>
              <a:rPr lang="zh-CN" altLang="en-US">
                <a:latin typeface="Arial" panose="020B0604020202020204" pitchFamily="34" charset="0"/>
              </a:rPr>
              <a:t>必为树。</a:t>
            </a:r>
            <a:endParaRPr lang="zh-CN" altLang="zh-CN">
              <a:latin typeface="Arial" panose="020B0604020202020204" pitchFamily="34" charset="0"/>
            </a:endParaRPr>
          </a:p>
        </p:txBody>
      </p:sp>
      <p:sp>
        <p:nvSpPr>
          <p:cNvPr id="55299" name="幻灯片编号占位符 3">
            <a:extLst>
              <a:ext uri="{FF2B5EF4-FFF2-40B4-BE49-F238E27FC236}">
                <a16:creationId xmlns:a16="http://schemas.microsoft.com/office/drawing/2014/main" id="{14C56A55-D4B0-3142-94E0-BC62618C4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52A3FEA-B779-084D-B6BE-1363A7366FAC}" type="slidenum">
              <a:rPr lang="zh-CN" altLang="en-US" sz="1200">
                <a:latin typeface="Times New Roman" panose="02020603050405020304" pitchFamily="18" charset="0"/>
              </a:rPr>
              <a:pPr/>
              <a:t>27</a:t>
            </a:fld>
            <a:endParaRPr lang="en-US" altLang="zh-CN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8A35DA-E8D0-0745-9C2C-E94CD9267AA4}" type="slidenum">
              <a:rPr lang="zh-CN" altLang="en-US" smtClean="0"/>
              <a:pPr/>
              <a:t>33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69116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>
            <a:extLst>
              <a:ext uri="{FF2B5EF4-FFF2-40B4-BE49-F238E27FC236}">
                <a16:creationId xmlns:a16="http://schemas.microsoft.com/office/drawing/2014/main" id="{711A6A30-E634-9240-9E68-6B1F88226187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CCE64DF5-6442-D747-95B5-B2F8AC558B38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12">
            <a:extLst>
              <a:ext uri="{FF2B5EF4-FFF2-40B4-BE49-F238E27FC236}">
                <a16:creationId xmlns:a16="http://schemas.microsoft.com/office/drawing/2014/main" id="{BDCDAEA2-C7F2-0143-B778-D95F42B60460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13">
            <a:extLst>
              <a:ext uri="{FF2B5EF4-FFF2-40B4-BE49-F238E27FC236}">
                <a16:creationId xmlns:a16="http://schemas.microsoft.com/office/drawing/2014/main" id="{2514ACDF-B693-3143-A91E-257624544182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3860D5C5-C0DE-004A-B185-D898D1AEE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690AA91A-B465-E64D-8546-760CA8985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0E210B2-0619-B54D-9D81-1007F8511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F3ABD5-527A-244E-99BA-1E263CDAA45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5858820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45033-D184-DD47-A48A-AA080ED14A2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7CEC40-0CB3-154F-8931-2BDEFCA0917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AD105-3D33-AE4E-9C08-7C7B10FA542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8A052B4-F4DB-A34B-A5D6-1F8FBA8C063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2912332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>
            <a:extLst>
              <a:ext uri="{FF2B5EF4-FFF2-40B4-BE49-F238E27FC236}">
                <a16:creationId xmlns:a16="http://schemas.microsoft.com/office/drawing/2014/main" id="{15B68553-DBAF-D84C-9291-D96B26D17EB7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EB6727A-0467-0946-BF78-32ED1AB4C765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6B87C4F1-37D9-2D46-914F-9F34E90BE74E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9">
            <a:extLst>
              <a:ext uri="{FF2B5EF4-FFF2-40B4-BE49-F238E27FC236}">
                <a16:creationId xmlns:a16="http://schemas.microsoft.com/office/drawing/2014/main" id="{32C04EF7-7E25-F348-A835-89EF0AAA400E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C50EE2E-E57F-A846-BD5A-4074E3D30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E6BC1BBD-BF0D-A54B-9EB4-D701C8DD1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B465900-14DD-794A-B65B-2FA90E99C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7ED8B1-7EA8-5245-8C4C-C9B1EFA9819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0540291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4C9B75C-10EB-A04D-8DB4-0D3A1F3A34C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0688ABD-937C-0B42-8F76-4B0CC90675B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D6BB9DD-1B6E-AE4A-B3BB-7A9C45228B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02B93DFB-BC79-FF43-9F8F-B8AD376A492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8382401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7143E23E-7D65-044F-B647-06D70268C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62B49A4-27D6-6F4D-B790-A2371858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45E15EB-7261-2140-BB8E-F5BF5F433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9E04476-552E-F745-B2B4-9602448CE5F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03070995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2BC7D1FE-9E87-A245-8029-B05580587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0ED3E05-0CF2-2641-A163-6466EF5D0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FF09C791-8619-CC4F-B227-76631DAD5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C1F348-54E3-ED41-87DE-B7682103118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3055138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048F57FA-7DC6-C74B-84F5-F7A411782E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81280B5-F451-EC47-BA45-47D775F4B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2C4425C-F175-9B47-953D-D07FA0FC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44D436-E29D-ED46-BAB3-B2AC8C288E1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382933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1E2CA0A4-3B69-8649-97AE-9E2A8D25E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17F0E0-C65B-B846-A619-C75F31667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41817D9-BF6F-974B-A4A5-390CE1B7C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90AAE0-4D7A-304C-8729-C46CA1C7DE9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3987879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221D501-D393-834E-8B33-0077AC3A53AA}"/>
              </a:ext>
            </a:extLst>
          </p:cNvPr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1F945D06-3466-5C45-8E5E-2949936D5EA3}"/>
              </a:ext>
            </a:extLst>
          </p:cNvPr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90EDF7F6-2D8C-9847-9A35-9F10EA34A51F}"/>
              </a:ext>
            </a:extLst>
          </p:cNvPr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Oval 10">
            <a:extLst>
              <a:ext uri="{FF2B5EF4-FFF2-40B4-BE49-F238E27FC236}">
                <a16:creationId xmlns:a16="http://schemas.microsoft.com/office/drawing/2014/main" id="{FB8F4CFA-6533-914B-8904-CDE2F567C5D9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将图片拖动到占位符，或单击添加图标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90ED0809-6E16-2F40-BFB9-F5E8D2B550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" name="Footer Placeholder 5">
            <a:extLst>
              <a:ext uri="{FF2B5EF4-FFF2-40B4-BE49-F238E27FC236}">
                <a16:creationId xmlns:a16="http://schemas.microsoft.com/office/drawing/2014/main" id="{06F1551F-A21D-2B40-9641-B2064F8DE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98D4AC90-94A8-AE45-A061-6CDD3E905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5AA58A-2D84-A54E-85EF-8A7EBD47E11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0909205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6F3EE-B635-2E4A-873F-1D9A2155D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67DC4-FAB3-664E-8886-DD09F05123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57B32-04FE-1440-AEEE-9062EE2D4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FF31AF-B1CE-5D4D-A398-FDB6C88BDB2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5528493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5C36C-D709-C84E-B27B-7B5D5DC6D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3765E-BEC4-C84E-A792-492BB3FBA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CA04E-60E8-734F-A6FB-63DE1F9D1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62C59-B31D-5C4A-83E1-4B2AE7DFAE0A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8395158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3BFA6A6-EC92-2442-9734-3BDB2A21A01C}"/>
              </a:ext>
            </a:extLst>
          </p:cNvPr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7D442B-FCC2-E04B-851F-5E5DD3D0018C}"/>
              </a:ext>
            </a:extLst>
          </p:cNvPr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3031B2-C4BB-1744-81EB-7FA564FAD1B8}"/>
              </a:ext>
            </a:extLst>
          </p:cNvPr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78FD8F2-F6D8-A241-B967-3AFE7EB09E28}"/>
              </a:ext>
            </a:extLst>
          </p:cNvPr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36CD07-5389-5A47-9146-52FDD96BD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37" name="Text Placeholder 2">
            <a:extLst>
              <a:ext uri="{FF2B5EF4-FFF2-40B4-BE49-F238E27FC236}">
                <a16:creationId xmlns:a16="http://schemas.microsoft.com/office/drawing/2014/main" id="{E9B330E5-BD2E-9B44-8D69-B1FF975E6A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0490E-029B-D746-BB70-107AA2558E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D826F-774C-DC4A-AAF9-37946E3DE1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  <a:latin typeface="Arial" charset="0"/>
                <a:ea typeface="宋体" charset="0"/>
                <a:cs typeface="宋体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563B9-0026-2448-9A48-1AF6357AC9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 b="1">
                <a:solidFill>
                  <a:srgbClr val="7F7F7F"/>
                </a:solidFill>
              </a:defRPr>
            </a:lvl1pPr>
          </a:lstStyle>
          <a:p>
            <a:fld id="{CCF4B0DD-6D1A-E74B-80AC-CB661C263700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39" r:id="rId2"/>
    <p:sldLayoutId id="2147483748" r:id="rId3"/>
    <p:sldLayoutId id="2147483740" r:id="rId4"/>
    <p:sldLayoutId id="2147483741" r:id="rId5"/>
    <p:sldLayoutId id="2147483742" r:id="rId6"/>
    <p:sldLayoutId id="2147483743" r:id="rId7"/>
    <p:sldLayoutId id="2147483744" r:id="rId8"/>
    <p:sldLayoutId id="2147483749" r:id="rId9"/>
    <p:sldLayoutId id="2147483745" r:id="rId10"/>
    <p:sldLayoutId id="2147483746" r:id="rId11"/>
  </p:sldLayoutIdLst>
  <p:transition>
    <p:blinds dir="vert"/>
  </p:transition>
  <p:hf hdr="0" ftr="0" dt="0"/>
  <p:txStyles>
    <p:titleStyle>
      <a:lvl1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宋体" charset="0"/>
          <a:cs typeface="宋体" charset="0"/>
        </a:defRPr>
      </a:lvl1pPr>
      <a:lvl2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2pPr>
      <a:lvl3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3pPr>
      <a:lvl4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4pPr>
      <a:lvl5pPr marL="319088" indent="-319088" algn="r" rtl="0" fontAlgn="base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anose="02040502050405020303" pitchFamily="18" charset="0"/>
        <a:buChar char="*"/>
        <a:defRPr sz="4600" b="1">
          <a:solidFill>
            <a:schemeClr val="tx1"/>
          </a:solidFill>
          <a:latin typeface="Trebuchet MS" charset="0"/>
          <a:ea typeface="宋体" charset="0"/>
          <a:cs typeface="宋体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200" kern="1200">
          <a:solidFill>
            <a:srgbClr val="404040"/>
          </a:solidFill>
          <a:latin typeface="+mn-lt"/>
          <a:ea typeface="宋体" charset="0"/>
          <a:cs typeface="宋体" charset="0"/>
        </a:defRPr>
      </a:lvl1pPr>
      <a:lvl2pPr marL="547688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2000" kern="1200">
          <a:solidFill>
            <a:srgbClr val="404040"/>
          </a:solidFill>
          <a:latin typeface="+mn-lt"/>
          <a:ea typeface="宋体" charset="0"/>
          <a:cs typeface="+mn-cs"/>
        </a:defRPr>
      </a:lvl2pPr>
      <a:lvl3pPr marL="822325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kern="1200">
          <a:solidFill>
            <a:srgbClr val="404040"/>
          </a:solidFill>
          <a:latin typeface="+mn-lt"/>
          <a:ea typeface="宋体" charset="0"/>
          <a:cs typeface="+mn-cs"/>
        </a:defRPr>
      </a:lvl3pPr>
      <a:lvl4pPr marL="10969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600" kern="1200">
          <a:solidFill>
            <a:srgbClr val="404040"/>
          </a:solidFill>
          <a:latin typeface="+mn-lt"/>
          <a:ea typeface="宋体" charset="0"/>
          <a:cs typeface="+mn-cs"/>
        </a:defRPr>
      </a:lvl4pPr>
      <a:lvl5pPr marL="1389063" indent="-182563" algn="l" rtl="0" fontAlgn="base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anose="02040502050405020303" pitchFamily="18" charset="0"/>
        <a:buChar char="*"/>
        <a:defRPr kumimoji="1" sz="1400" kern="1200">
          <a:solidFill>
            <a:srgbClr val="404040"/>
          </a:solidFill>
          <a:latin typeface="+mn-lt"/>
          <a:ea typeface="宋体" charset="0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46">
            <a:extLst>
              <a:ext uri="{FF2B5EF4-FFF2-40B4-BE49-F238E27FC236}">
                <a16:creationId xmlns:a16="http://schemas.microsoft.com/office/drawing/2014/main" id="{8DC41B41-72FC-B04C-84A6-9B35A7DAED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8FA6558-C8A9-3740-B633-1BFB3A0C730F}" type="slidenum">
              <a:rPr kumimoji="0" lang="zh-CN" altLang="en-US" sz="1200"/>
              <a:pPr/>
              <a:t>1</a:t>
            </a:fld>
            <a:endParaRPr kumimoji="0" lang="en-US" altLang="zh-CN" sz="1200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1A5A9F25-EE35-AA49-80FE-41E22F5FBDF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676400" y="2286000"/>
            <a:ext cx="6477000" cy="1905000"/>
          </a:xfrm>
        </p:spPr>
        <p:txBody>
          <a:bodyPr/>
          <a:lstStyle/>
          <a:p>
            <a:pPr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>
                <a:latin typeface="Times New Roman" charset="0"/>
                <a:ea typeface="楷体_GB2312" charset="0"/>
                <a:cs typeface="+mj-cs"/>
              </a:rPr>
              <a:t>§4.2  树</a:t>
            </a:r>
            <a:r>
              <a:rPr lang="zh-CN" altLang="en-US">
                <a:latin typeface="Times New Roman" charset="0"/>
              </a:rPr>
              <a:t>(</a:t>
            </a:r>
            <a:r>
              <a:rPr lang="en-US" altLang="zh-CN">
                <a:latin typeface="Times New Roman" charset="0"/>
              </a:rPr>
              <a:t>Trees) </a:t>
            </a:r>
            <a:endParaRPr lang="zh-CN" altLang="en-US">
              <a:latin typeface="Times New Roman" charset="0"/>
            </a:endParaRPr>
          </a:p>
        </p:txBody>
      </p:sp>
    </p:spTree>
  </p:cSld>
  <p:clrMapOvr>
    <a:masterClrMapping/>
  </p:clrMapOvr>
  <p:transition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ide Number Placeholder 5">
            <a:extLst>
              <a:ext uri="{FF2B5EF4-FFF2-40B4-BE49-F238E27FC236}">
                <a16:creationId xmlns:a16="http://schemas.microsoft.com/office/drawing/2014/main" id="{C2F648D0-216C-4A44-BB49-25E3A6FABE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FD7B13B-D3AD-014C-A562-1B59348FC17F}" type="slidenum">
              <a:rPr kumimoji="0" lang="zh-CN" altLang="en-US" sz="1200"/>
              <a:pPr/>
              <a:t>2</a:t>
            </a:fld>
            <a:endParaRPr kumimoji="0" lang="en-US" altLang="zh-CN" sz="1200"/>
          </a:p>
        </p:txBody>
      </p:sp>
      <p:sp>
        <p:nvSpPr>
          <p:cNvPr id="43010" name="Rectangle 1026">
            <a:extLst>
              <a:ext uri="{FF2B5EF4-FFF2-40B4-BE49-F238E27FC236}">
                <a16:creationId xmlns:a16="http://schemas.microsoft.com/office/drawing/2014/main" id="{ACCD1D8D-BFD3-F24A-BE60-9BAFCB902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§4.2.1  树及其等价命题 </a:t>
            </a:r>
          </a:p>
        </p:txBody>
      </p:sp>
      <p:sp>
        <p:nvSpPr>
          <p:cNvPr id="43011" name="Rectangle 1027">
            <a:extLst>
              <a:ext uri="{FF2B5EF4-FFF2-40B4-BE49-F238E27FC236}">
                <a16:creationId xmlns:a16="http://schemas.microsoft.com/office/drawing/2014/main" id="{BA6B374D-571D-FA45-B0E9-86A427FE239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763000" cy="22098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kumimoji="0" lang="zh-CN" altLang="en-US" sz="3300">
                <a:solidFill>
                  <a:schemeClr val="accent1"/>
                </a:solidFill>
                <a:latin typeface="宋体" panose="02010600030101010101" pitchFamily="2" charset="-122"/>
                <a:ea typeface="楷体_GB2312" pitchFamily="49" charset="-122"/>
              </a:rPr>
              <a:t>定义</a:t>
            </a:r>
            <a:r>
              <a:rPr kumimoji="0" lang="zh-CN" altLang="en-US" sz="3300">
                <a:solidFill>
                  <a:schemeClr val="accent1"/>
                </a:solidFill>
                <a:latin typeface="Times New Roman" panose="02020603050405020304" pitchFamily="18" charset="0"/>
                <a:ea typeface="楷体_GB2312" pitchFamily="49" charset="-122"/>
              </a:rPr>
              <a:t>4.2.1</a:t>
            </a:r>
            <a:r>
              <a:rPr kumimoji="0" lang="zh-CN" altLang="en-US" sz="3300"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0" lang="zh-CN" altLang="en-US" sz="3300">
                <a:latin typeface="宋体" panose="02010600030101010101" pitchFamily="2" charset="-122"/>
                <a:ea typeface="楷体_GB2312" pitchFamily="49" charset="-122"/>
              </a:rPr>
              <a:t>设</a:t>
            </a:r>
            <a:r>
              <a:rPr kumimoji="0" lang="en-US" altLang="zh-CN" sz="3300">
                <a:latin typeface="Times New Roman" panose="02020603050405020304" pitchFamily="18" charset="0"/>
                <a:ea typeface="楷体_GB2312" pitchFamily="49" charset="-122"/>
              </a:rPr>
              <a:t>G=</a:t>
            </a:r>
            <a:r>
              <a:rPr kumimoji="0" lang="en-US" altLang="zh-CN" sz="3300">
                <a:latin typeface="宋体" panose="02010600030101010101" pitchFamily="2" charset="-122"/>
                <a:ea typeface="楷体_GB2312" pitchFamily="49" charset="-122"/>
              </a:rPr>
              <a:t>(</a:t>
            </a:r>
            <a:r>
              <a:rPr kumimoji="0" lang="en-US" altLang="zh-CN" sz="3300"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kumimoji="0" lang="en-US" altLang="zh-CN" sz="33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3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300"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zh-CN" altLang="en-US" sz="3300">
                <a:latin typeface="宋体" panose="02010600030101010101" pitchFamily="2" charset="-122"/>
                <a:ea typeface="楷体_GB2312" pitchFamily="49" charset="-122"/>
              </a:rPr>
              <a:t>是图。如果</a:t>
            </a:r>
            <a:r>
              <a:rPr kumimoji="0" lang="en-US" altLang="zh-CN" sz="33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300">
                <a:latin typeface="宋体" panose="02010600030101010101" pitchFamily="2" charset="-122"/>
                <a:ea typeface="楷体_GB2312" pitchFamily="49" charset="-122"/>
              </a:rPr>
              <a:t>是连通的，并且无回路，则称</a:t>
            </a:r>
            <a:r>
              <a:rPr kumimoji="0" lang="en-US" altLang="zh-CN" sz="33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300">
                <a:latin typeface="宋体" panose="02010600030101010101" pitchFamily="2" charset="-122"/>
                <a:ea typeface="楷体_GB2312" pitchFamily="49" charset="-122"/>
              </a:rPr>
              <a:t>为</a:t>
            </a:r>
            <a:r>
              <a:rPr kumimoji="0" lang="zh-CN" altLang="en-US" sz="33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树</a:t>
            </a:r>
            <a:r>
              <a:rPr kumimoji="0" lang="zh-CN" altLang="en-US" sz="3300">
                <a:latin typeface="宋体" panose="02010600030101010101" pitchFamily="2" charset="-122"/>
                <a:ea typeface="楷体_GB2312" pitchFamily="49" charset="-122"/>
              </a:rPr>
              <a:t>。无回路的图(可能不连通)也称为森林。</a:t>
            </a:r>
            <a:r>
              <a:rPr kumimoji="0" lang="zh-CN" altLang="en-US" sz="33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>
              <a:lnSpc>
                <a:spcPct val="90000"/>
              </a:lnSpc>
            </a:pPr>
            <a:r>
              <a:rPr kumimoji="0" lang="zh-CN" altLang="en-US" sz="33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例：</a:t>
            </a:r>
          </a:p>
        </p:txBody>
      </p:sp>
      <p:sp>
        <p:nvSpPr>
          <p:cNvPr id="43086" name="Line 1102">
            <a:extLst>
              <a:ext uri="{FF2B5EF4-FFF2-40B4-BE49-F238E27FC236}">
                <a16:creationId xmlns:a16="http://schemas.microsoft.com/office/drawing/2014/main" id="{9E268BA1-0559-9B41-816A-9A00D81B53E1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3962400"/>
            <a:ext cx="15240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3087" name="Line 1103">
            <a:extLst>
              <a:ext uri="{FF2B5EF4-FFF2-40B4-BE49-F238E27FC236}">
                <a16:creationId xmlns:a16="http://schemas.microsoft.com/office/drawing/2014/main" id="{1A1CF91F-A11A-3841-8E84-F03653549365}"/>
              </a:ext>
            </a:extLst>
          </p:cNvPr>
          <p:cNvSpPr>
            <a:spLocks noChangeShapeType="1"/>
          </p:cNvSpPr>
          <p:nvPr/>
        </p:nvSpPr>
        <p:spPr bwMode="auto">
          <a:xfrm>
            <a:off x="4267200" y="5410200"/>
            <a:ext cx="6858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3088" name="Line 1104">
            <a:extLst>
              <a:ext uri="{FF2B5EF4-FFF2-40B4-BE49-F238E27FC236}">
                <a16:creationId xmlns:a16="http://schemas.microsoft.com/office/drawing/2014/main" id="{4135D75A-3677-C544-B195-CFB5371F28E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5600" y="5410200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3089" name="Line 1105">
            <a:extLst>
              <a:ext uri="{FF2B5EF4-FFF2-40B4-BE49-F238E27FC236}">
                <a16:creationId xmlns:a16="http://schemas.microsoft.com/office/drawing/2014/main" id="{AC13C05E-248A-EA4D-B939-11DA8DEFD3F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71800" y="3962400"/>
            <a:ext cx="2057400" cy="762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43037" name="Group 1053">
            <a:extLst>
              <a:ext uri="{FF2B5EF4-FFF2-40B4-BE49-F238E27FC236}">
                <a16:creationId xmlns:a16="http://schemas.microsoft.com/office/drawing/2014/main" id="{4B9DBF08-790F-1142-B8BD-E067689B51D9}"/>
              </a:ext>
            </a:extLst>
          </p:cNvPr>
          <p:cNvGrpSpPr>
            <a:grpSpLocks/>
          </p:cNvGrpSpPr>
          <p:nvPr/>
        </p:nvGrpSpPr>
        <p:grpSpPr bwMode="auto">
          <a:xfrm>
            <a:off x="2819400" y="3886200"/>
            <a:ext cx="3048000" cy="2362200"/>
            <a:chOff x="528" y="2304"/>
            <a:chExt cx="1920" cy="1488"/>
          </a:xfrm>
        </p:grpSpPr>
        <p:sp>
          <p:nvSpPr>
            <p:cNvPr id="4110" name="Line 1049">
              <a:extLst>
                <a:ext uri="{FF2B5EF4-FFF2-40B4-BE49-F238E27FC236}">
                  <a16:creationId xmlns:a16="http://schemas.microsoft.com/office/drawing/2014/main" id="{310C3E5D-FE95-3B47-845A-48BB2BF4AE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2352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11" name="Line 1045">
              <a:extLst>
                <a:ext uri="{FF2B5EF4-FFF2-40B4-BE49-F238E27FC236}">
                  <a16:creationId xmlns:a16="http://schemas.microsoft.com/office/drawing/2014/main" id="{7ED6DAE1-DB63-5C46-AC87-17C053F995C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8" y="2352"/>
              <a:ext cx="4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12" name="Line 1044">
              <a:extLst>
                <a:ext uri="{FF2B5EF4-FFF2-40B4-BE49-F238E27FC236}">
                  <a16:creationId xmlns:a16="http://schemas.microsoft.com/office/drawing/2014/main" id="{2FB4E625-A7DE-7B41-8F48-9FC108A151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76" y="2832"/>
              <a:ext cx="17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13" name="Line 1034">
              <a:extLst>
                <a:ext uri="{FF2B5EF4-FFF2-40B4-BE49-F238E27FC236}">
                  <a16:creationId xmlns:a16="http://schemas.microsoft.com/office/drawing/2014/main" id="{96721CF5-A9AC-994D-9B1D-C9C781A10B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2" y="2840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14" name="Line 1042">
              <a:extLst>
                <a:ext uri="{FF2B5EF4-FFF2-40B4-BE49-F238E27FC236}">
                  <a16:creationId xmlns:a16="http://schemas.microsoft.com/office/drawing/2014/main" id="{5F70CB88-01B3-5E4E-AB1E-BDF39299E1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40" y="3264"/>
              <a:ext cx="9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15" name="Line 1029">
              <a:extLst>
                <a:ext uri="{FF2B5EF4-FFF2-40B4-BE49-F238E27FC236}">
                  <a16:creationId xmlns:a16="http://schemas.microsoft.com/office/drawing/2014/main" id="{1B2A1751-F67B-574A-B00E-561F782C72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08" y="2352"/>
              <a:ext cx="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16" name="Oval 1030">
              <a:extLst>
                <a:ext uri="{FF2B5EF4-FFF2-40B4-BE49-F238E27FC236}">
                  <a16:creationId xmlns:a16="http://schemas.microsoft.com/office/drawing/2014/main" id="{054FB6BF-8134-974D-B649-E818D5D1C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7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17" name="Oval 1031">
              <a:extLst>
                <a:ext uri="{FF2B5EF4-FFF2-40B4-BE49-F238E27FC236}">
                  <a16:creationId xmlns:a16="http://schemas.microsoft.com/office/drawing/2014/main" id="{CA6D17C9-FAB2-1A40-8781-644D242F52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18" name="Oval 1032">
              <a:extLst>
                <a:ext uri="{FF2B5EF4-FFF2-40B4-BE49-F238E27FC236}">
                  <a16:creationId xmlns:a16="http://schemas.microsoft.com/office/drawing/2014/main" id="{EED0CECF-52CC-FA46-8094-C6B43DFE7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54" y="27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19" name="Oval 1033">
              <a:extLst>
                <a:ext uri="{FF2B5EF4-FFF2-40B4-BE49-F238E27FC236}">
                  <a16:creationId xmlns:a16="http://schemas.microsoft.com/office/drawing/2014/main" id="{26355C65-C3D8-A348-8335-17494827D1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8" y="320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20" name="Oval 1038">
              <a:extLst>
                <a:ext uri="{FF2B5EF4-FFF2-40B4-BE49-F238E27FC236}">
                  <a16:creationId xmlns:a16="http://schemas.microsoft.com/office/drawing/2014/main" id="{B51BA791-9955-3F42-8500-5733984CBC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7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21" name="Oval 1039">
              <a:extLst>
                <a:ext uri="{FF2B5EF4-FFF2-40B4-BE49-F238E27FC236}">
                  <a16:creationId xmlns:a16="http://schemas.microsoft.com/office/drawing/2014/main" id="{32F91E32-B81B-7E45-B3D7-47BC778DE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22" name="Oval 1040">
              <a:extLst>
                <a:ext uri="{FF2B5EF4-FFF2-40B4-BE49-F238E27FC236}">
                  <a16:creationId xmlns:a16="http://schemas.microsoft.com/office/drawing/2014/main" id="{F844D79C-78DB-CA4D-971D-9A67D07BEC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23" name="Oval 1041">
              <a:extLst>
                <a:ext uri="{FF2B5EF4-FFF2-40B4-BE49-F238E27FC236}">
                  <a16:creationId xmlns:a16="http://schemas.microsoft.com/office/drawing/2014/main" id="{977B93BF-3AAF-9F4A-A127-6929720ED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8" y="369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24" name="Oval 1043">
              <a:extLst>
                <a:ext uri="{FF2B5EF4-FFF2-40B4-BE49-F238E27FC236}">
                  <a16:creationId xmlns:a16="http://schemas.microsoft.com/office/drawing/2014/main" id="{881DC302-5D67-9547-8EAE-7A41558254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60" y="230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25" name="Oval 1046">
              <a:extLst>
                <a:ext uri="{FF2B5EF4-FFF2-40B4-BE49-F238E27FC236}">
                  <a16:creationId xmlns:a16="http://schemas.microsoft.com/office/drawing/2014/main" id="{ECE492EE-3871-FC4E-8EE4-B16D70D222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27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26" name="Oval 1047">
              <a:extLst>
                <a:ext uri="{FF2B5EF4-FFF2-40B4-BE49-F238E27FC236}">
                  <a16:creationId xmlns:a16="http://schemas.microsoft.com/office/drawing/2014/main" id="{C662D323-12A0-9147-B740-4AB0129364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230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27" name="Oval 1048">
              <a:extLst>
                <a:ext uri="{FF2B5EF4-FFF2-40B4-BE49-F238E27FC236}">
                  <a16:creationId xmlns:a16="http://schemas.microsoft.com/office/drawing/2014/main" id="{C07CA3B5-EC33-784B-8832-1E2CEAF25C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78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28" name="Oval 1051">
              <a:extLst>
                <a:ext uri="{FF2B5EF4-FFF2-40B4-BE49-F238E27FC236}">
                  <a16:creationId xmlns:a16="http://schemas.microsoft.com/office/drawing/2014/main" id="{5A119067-8D5F-9740-87C3-B45B6CE2CD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321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129" name="Oval 1052">
              <a:extLst>
                <a:ext uri="{FF2B5EF4-FFF2-40B4-BE49-F238E27FC236}">
                  <a16:creationId xmlns:a16="http://schemas.microsoft.com/office/drawing/2014/main" id="{6721CC79-4DAB-7D45-B6A6-34AB1969EA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" y="230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43090" name="Line 1106">
            <a:extLst>
              <a:ext uri="{FF2B5EF4-FFF2-40B4-BE49-F238E27FC236}">
                <a16:creationId xmlns:a16="http://schemas.microsoft.com/office/drawing/2014/main" id="{EC538548-C008-7F4A-B431-9E2EDCDD27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670300" y="4724400"/>
            <a:ext cx="520700" cy="0"/>
          </a:xfrm>
          <a:prstGeom prst="line">
            <a:avLst/>
          </a:prstGeom>
          <a:noFill/>
          <a:ln w="508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3091" name="Line 1107">
            <a:extLst>
              <a:ext uri="{FF2B5EF4-FFF2-40B4-BE49-F238E27FC236}">
                <a16:creationId xmlns:a16="http://schemas.microsoft.com/office/drawing/2014/main" id="{734CE2EA-1315-974C-A767-4749CD0670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03800" y="4813300"/>
            <a:ext cx="0" cy="508000"/>
          </a:xfrm>
          <a:prstGeom prst="line">
            <a:avLst/>
          </a:prstGeom>
          <a:noFill/>
          <a:ln w="5715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3092" name="Line 1108">
            <a:extLst>
              <a:ext uri="{FF2B5EF4-FFF2-40B4-BE49-F238E27FC236}">
                <a16:creationId xmlns:a16="http://schemas.microsoft.com/office/drawing/2014/main" id="{8B481B32-E3EB-9D43-8813-93517687CBA1}"/>
              </a:ext>
            </a:extLst>
          </p:cNvPr>
          <p:cNvSpPr>
            <a:spLocks noChangeShapeType="1"/>
          </p:cNvSpPr>
          <p:nvPr/>
        </p:nvSpPr>
        <p:spPr bwMode="auto">
          <a:xfrm>
            <a:off x="2971800" y="4724400"/>
            <a:ext cx="533400" cy="0"/>
          </a:xfrm>
          <a:prstGeom prst="line">
            <a:avLst/>
          </a:prstGeom>
          <a:noFill/>
          <a:ln w="508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43093" name="Line 1109">
            <a:extLst>
              <a:ext uri="{FF2B5EF4-FFF2-40B4-BE49-F238E27FC236}">
                <a16:creationId xmlns:a16="http://schemas.microsoft.com/office/drawing/2014/main" id="{CC3B5903-9E72-0541-9FD4-41AD037865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80000" y="5410200"/>
            <a:ext cx="558800" cy="0"/>
          </a:xfrm>
          <a:prstGeom prst="line">
            <a:avLst/>
          </a:prstGeom>
          <a:noFill/>
          <a:ln w="508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3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30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308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30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308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0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4309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309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430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编号占位符 1">
            <a:extLst>
              <a:ext uri="{FF2B5EF4-FFF2-40B4-BE49-F238E27FC236}">
                <a16:creationId xmlns:a16="http://schemas.microsoft.com/office/drawing/2014/main" id="{A4932726-4751-B84D-A5C0-86147D8C1A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473614E-22AE-4A4C-8D48-D66D8246DED1}" type="slidenum">
              <a:rPr kumimoji="0" lang="zh-CN" altLang="en-US" sz="1200">
                <a:solidFill>
                  <a:srgbClr val="7F7F7F"/>
                </a:solidFill>
              </a:rPr>
              <a:pPr/>
              <a:t>3</a:t>
            </a:fld>
            <a:endParaRPr kumimoji="0" lang="en-US" altLang="zh-CN" sz="1200">
              <a:solidFill>
                <a:srgbClr val="7F7F7F"/>
              </a:solidFill>
            </a:endParaRPr>
          </a:p>
        </p:txBody>
      </p:sp>
      <p:pic>
        <p:nvPicPr>
          <p:cNvPr id="5" name="图片 4" descr="src=http---up.moxiu.me-pic_source-fa-3b-ba-fa3bbadaee0fdd64d8b61cd0ab2fe34b.jpg&amp;refer=http---up.moxiu.me&amp;app=2002&amp;size=f9999,10000&amp;q=a80&amp;n=0&amp;g=0n&amp;fmt=auto.jpeg">
            <a:extLst>
              <a:ext uri="{FF2B5EF4-FFF2-40B4-BE49-F238E27FC236}">
                <a16:creationId xmlns:a16="http://schemas.microsoft.com/office/drawing/2014/main" id="{8221363E-7DC1-4847-964D-B8E62B216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3900" y="0"/>
            <a:ext cx="51435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图片 5" descr="src=http---s.fanyitong.cn-contents-1092-original_1423146682483_rz5cksp2e29.jpeg&amp;refer=http---s.fanyitong.cn&amp;app=2002&amp;size=f9999,10000&amp;q=a80&amp;n=0&amp;g=0n&amp;fmt=auto.jpeg">
            <a:extLst>
              <a:ext uri="{FF2B5EF4-FFF2-40B4-BE49-F238E27FC236}">
                <a16:creationId xmlns:a16="http://schemas.microsoft.com/office/drawing/2014/main" id="{1956672D-84F8-044F-8FBF-1E619B33A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04888"/>
            <a:ext cx="7499350" cy="486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B742637-B935-CC4B-AE3D-54B14F0D06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24400" y="5105400"/>
            <a:ext cx="35194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/>
            <a:r>
              <a:rPr lang="zh-CN" altLang="en-US" sz="2000" b="1">
                <a:solidFill>
                  <a:schemeClr val="bg1"/>
                </a:solidFill>
              </a:rPr>
              <a:t>渡头杨柳青青，枝枝叶叶离情</a:t>
            </a:r>
            <a:endParaRPr lang="en-US" altLang="zh-CN" sz="2000" b="1">
              <a:solidFill>
                <a:schemeClr val="bg1"/>
              </a:solidFill>
            </a:endParaRPr>
          </a:p>
          <a:p>
            <a:pPr algn="ctr"/>
            <a:r>
              <a:rPr lang="zh-CN" altLang="en-US" sz="2000" b="1">
                <a:solidFill>
                  <a:schemeClr val="bg1"/>
                </a:solidFill>
              </a:rPr>
              <a:t>晏几道</a:t>
            </a:r>
            <a:r>
              <a:rPr lang="en-US" altLang="zh-CN" sz="2000" b="1">
                <a:solidFill>
                  <a:schemeClr val="bg1"/>
                </a:solidFill>
              </a:rPr>
              <a:t>《</a:t>
            </a:r>
            <a:r>
              <a:rPr lang="zh-CN" altLang="en-US" sz="2000" b="1">
                <a:solidFill>
                  <a:schemeClr val="bg1"/>
                </a:solidFill>
              </a:rPr>
              <a:t>清平乐</a:t>
            </a:r>
            <a:r>
              <a:rPr lang="en-US" altLang="zh-CN" sz="2000" b="1">
                <a:solidFill>
                  <a:schemeClr val="bg1"/>
                </a:solidFill>
              </a:rPr>
              <a:t>》</a:t>
            </a:r>
            <a:endParaRPr lang="zh-CN" altLang="en-US" sz="2000" b="1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Number Placeholder 5">
            <a:extLst>
              <a:ext uri="{FF2B5EF4-FFF2-40B4-BE49-F238E27FC236}">
                <a16:creationId xmlns:a16="http://schemas.microsoft.com/office/drawing/2014/main" id="{28E70626-78BF-DA44-8AAD-CDFABF4963B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BD3CF54-BB79-044C-9A91-C2A235258A75}" type="slidenum">
              <a:rPr kumimoji="0" lang="zh-CN" altLang="en-US" sz="1200"/>
              <a:pPr/>
              <a:t>4</a:t>
            </a:fld>
            <a:endParaRPr kumimoji="0" lang="en-US" altLang="zh-CN" sz="1200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E7573DA7-ACBA-2E4B-B38A-08F9AC2D64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引理</a:t>
            </a:r>
            <a:r>
              <a:rPr lang="en-US" altLang="zh-CN" dirty="0">
                <a:latin typeface="Times New Roman" charset="0"/>
                <a:ea typeface="楷体_GB2312" charset="0"/>
                <a:cs typeface="+mj-cs"/>
              </a:rPr>
              <a:t>4.2.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1 </a:t>
            </a:r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0F76F8E5-9366-5F48-A2FC-18CB98D3231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2286000"/>
            <a:ext cx="8839200" cy="4191000"/>
          </a:xfrm>
        </p:spPr>
        <p:txBody>
          <a:bodyPr/>
          <a:lstStyle/>
          <a:p>
            <a:pPr marL="274638" indent="-274638">
              <a:spcBef>
                <a:spcPct val="0"/>
              </a:spcBef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是至少有一条边的有限图，且无回路，则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至少有一个点只相邻于另一个点，即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至少有一个点度数为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  <a:p>
            <a:pPr marL="274638" indent="-274638" algn="just">
              <a:spcBef>
                <a:spcPct val="0"/>
              </a:spcBef>
            </a:pPr>
            <a:r>
              <a:rPr kumimoji="0" lang="zh-CN" altLang="en-US" sz="28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至少有一条边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所以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有一点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有相邻点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即为所求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则引理得证。</a:t>
            </a:r>
          </a:p>
          <a:p>
            <a:pPr marL="274638" indent="-274638">
              <a:spcBef>
                <a:spcPct val="0"/>
              </a:spcBef>
              <a:buFont typeface="Wingdings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 否则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 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令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的不同于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相邻点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 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以此类推。即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>
                <a:latin typeface="Times New Roman" panose="02020603050405020304" pitchFamily="18" charset="0"/>
                <a:ea typeface="宋体" panose="02010600030101010101" pitchFamily="2" charset="-122"/>
                <a:sym typeface="Symbol" pitchFamily="2" charset="2"/>
              </a:rPr>
              <a:t>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2, 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或者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只与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相邻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 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从而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即为所求；或者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又相邻于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于是得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k+1,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 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无回路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 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故这一串点不能有重复。又因为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有限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 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故上述过程必在有限步内停止。从而引理得证。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3" name="组 2">
            <a:extLst>
              <a:ext uri="{FF2B5EF4-FFF2-40B4-BE49-F238E27FC236}">
                <a16:creationId xmlns:a16="http://schemas.microsoft.com/office/drawing/2014/main" id="{42A89AE5-538F-C04A-85D3-1F3FB691BE93}"/>
              </a:ext>
            </a:extLst>
          </p:cNvPr>
          <p:cNvGrpSpPr>
            <a:grpSpLocks/>
          </p:cNvGrpSpPr>
          <p:nvPr/>
        </p:nvGrpSpPr>
        <p:grpSpPr bwMode="auto">
          <a:xfrm>
            <a:off x="4543425" y="76200"/>
            <a:ext cx="1704975" cy="2408238"/>
            <a:chOff x="4543425" y="76200"/>
            <a:chExt cx="1704975" cy="2408238"/>
          </a:xfrm>
        </p:grpSpPr>
        <p:grpSp>
          <p:nvGrpSpPr>
            <p:cNvPr id="18437" name="Group 73">
              <a:extLst>
                <a:ext uri="{FF2B5EF4-FFF2-40B4-BE49-F238E27FC236}">
                  <a16:creationId xmlns:a16="http://schemas.microsoft.com/office/drawing/2014/main" id="{354FC78A-E6FC-924A-AA30-720A0455BA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72000" y="427038"/>
              <a:ext cx="685800" cy="685800"/>
              <a:chOff x="2880" y="269"/>
              <a:chExt cx="432" cy="432"/>
            </a:xfrm>
          </p:grpSpPr>
          <p:sp>
            <p:nvSpPr>
              <p:cNvPr id="5142" name="Line 64">
                <a:extLst>
                  <a:ext uri="{FF2B5EF4-FFF2-40B4-BE49-F238E27FC236}">
                    <a16:creationId xmlns:a16="http://schemas.microsoft.com/office/drawing/2014/main" id="{184E3BB7-FC8A-C843-B0A3-6B21964076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69"/>
                <a:ext cx="0" cy="43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5143" name="Line 65">
                <a:extLst>
                  <a:ext uri="{FF2B5EF4-FFF2-40B4-BE49-F238E27FC236}">
                    <a16:creationId xmlns:a16="http://schemas.microsoft.com/office/drawing/2014/main" id="{3F55C4D1-92D5-B54F-9229-7F6C27F80F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880" y="269"/>
                <a:ext cx="288" cy="3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5144" name="Line 66">
                <a:extLst>
                  <a:ext uri="{FF2B5EF4-FFF2-40B4-BE49-F238E27FC236}">
                    <a16:creationId xmlns:a16="http://schemas.microsoft.com/office/drawing/2014/main" id="{16E7E074-882D-BB44-9170-9668470699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68" y="269"/>
                <a:ext cx="144" cy="38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</p:grpSp>
        <p:grpSp>
          <p:nvGrpSpPr>
            <p:cNvPr id="18438" name="Group 71">
              <a:extLst>
                <a:ext uri="{FF2B5EF4-FFF2-40B4-BE49-F238E27FC236}">
                  <a16:creationId xmlns:a16="http://schemas.microsoft.com/office/drawing/2014/main" id="{B208481A-D0EC-4644-85CC-5A66933314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3425" y="76200"/>
              <a:ext cx="1628775" cy="427038"/>
              <a:chOff x="2862" y="-29"/>
              <a:chExt cx="1026" cy="269"/>
            </a:xfrm>
          </p:grpSpPr>
          <p:sp>
            <p:nvSpPr>
              <p:cNvPr id="5137" name="Line 45">
                <a:extLst>
                  <a:ext uri="{FF2B5EF4-FFF2-40B4-BE49-F238E27FC236}">
                    <a16:creationId xmlns:a16="http://schemas.microsoft.com/office/drawing/2014/main" id="{90FB31C0-240C-5040-9C36-B45742B31A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168" y="192"/>
                <a:ext cx="4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5138" name="Oval 58">
                <a:extLst>
                  <a:ext uri="{FF2B5EF4-FFF2-40B4-BE49-F238E27FC236}">
                    <a16:creationId xmlns:a16="http://schemas.microsoft.com/office/drawing/2014/main" id="{E0051FCA-C150-AA49-8881-F887686433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20" y="1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5139" name="Oval 60">
                <a:extLst>
                  <a:ext uri="{FF2B5EF4-FFF2-40B4-BE49-F238E27FC236}">
                    <a16:creationId xmlns:a16="http://schemas.microsoft.com/office/drawing/2014/main" id="{31E9FC57-92D7-2F48-8623-CA553513F3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2" y="144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45123" name="Text Box 67">
                <a:extLst>
                  <a:ext uri="{FF2B5EF4-FFF2-40B4-BE49-F238E27FC236}">
                    <a16:creationId xmlns:a16="http://schemas.microsoft.com/office/drawing/2014/main" id="{849E28C0-3665-CB4B-97A1-9C54C7DEC39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62" y="-29"/>
                <a:ext cx="21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v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1</a:t>
                </a:r>
              </a:p>
            </p:txBody>
          </p:sp>
          <p:sp>
            <p:nvSpPr>
              <p:cNvPr id="45124" name="Text Box 68">
                <a:extLst>
                  <a:ext uri="{FF2B5EF4-FFF2-40B4-BE49-F238E27FC236}">
                    <a16:creationId xmlns:a16="http://schemas.microsoft.com/office/drawing/2014/main" id="{BD140F7D-ABD8-C04E-AEE1-6348BF61D91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78" y="-29"/>
                <a:ext cx="21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v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2</a:t>
                </a:r>
              </a:p>
            </p:txBody>
          </p:sp>
        </p:grpSp>
        <p:grpSp>
          <p:nvGrpSpPr>
            <p:cNvPr id="18439" name="Group 75">
              <a:extLst>
                <a:ext uri="{FF2B5EF4-FFF2-40B4-BE49-F238E27FC236}">
                  <a16:creationId xmlns:a16="http://schemas.microsoft.com/office/drawing/2014/main" id="{A873E2FA-D72E-A848-96A2-0F444D25F9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38800" y="427038"/>
              <a:ext cx="609600" cy="2057400"/>
              <a:chOff x="3552" y="269"/>
              <a:chExt cx="384" cy="1296"/>
            </a:xfrm>
          </p:grpSpPr>
          <p:sp>
            <p:nvSpPr>
              <p:cNvPr id="45125" name="Text Box 69">
                <a:extLst>
                  <a:ext uri="{FF2B5EF4-FFF2-40B4-BE49-F238E27FC236}">
                    <a16:creationId xmlns:a16="http://schemas.microsoft.com/office/drawing/2014/main" id="{B1B2AE09-A9FE-9142-8E16-4A18882D73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624"/>
                <a:ext cx="210" cy="26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kumimoji="0"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v</a:t>
                </a:r>
                <a:r>
                  <a:rPr kumimoji="0" lang="en-US" altLang="zh-CN" sz="2800" b="1" baseline="-25000">
                    <a:effectLst>
                      <a:outerShdw blurRad="38100" dist="38100" dir="2700000" algn="tl">
                        <a:srgbClr val="C0C0C0"/>
                      </a:outerShdw>
                    </a:effectLst>
                  </a:rPr>
                  <a:t>3</a:t>
                </a:r>
              </a:p>
            </p:txBody>
          </p:sp>
          <p:grpSp>
            <p:nvGrpSpPr>
              <p:cNvPr id="18441" name="Group 74">
                <a:extLst>
                  <a:ext uri="{FF2B5EF4-FFF2-40B4-BE49-F238E27FC236}">
                    <a16:creationId xmlns:a16="http://schemas.microsoft.com/office/drawing/2014/main" id="{C4366F1E-8DBF-8640-B962-8FABA4EBE4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2" y="269"/>
                <a:ext cx="384" cy="1296"/>
                <a:chOff x="3552" y="269"/>
                <a:chExt cx="384" cy="1296"/>
              </a:xfrm>
            </p:grpSpPr>
            <p:sp>
              <p:nvSpPr>
                <p:cNvPr id="5130" name="Line 49">
                  <a:extLst>
                    <a:ext uri="{FF2B5EF4-FFF2-40B4-BE49-F238E27FC236}">
                      <a16:creationId xmlns:a16="http://schemas.microsoft.com/office/drawing/2014/main" id="{374C2B66-DC78-E84D-8AA9-BDB00C26B2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00" y="269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/>
                <a:lstStyle/>
                <a:p>
                  <a:pPr>
                    <a:defRPr/>
                  </a:pPr>
                  <a:endParaRPr lang="zh-CN" altLang="en-US">
                    <a:latin typeface="Arial" charset="0"/>
                    <a:ea typeface="宋体" charset="0"/>
                    <a:cs typeface="宋体" charset="0"/>
                  </a:endParaRPr>
                </a:p>
              </p:txBody>
            </p:sp>
            <p:sp>
              <p:nvSpPr>
                <p:cNvPr id="5131" name="Oval 54">
                  <a:extLst>
                    <a:ext uri="{FF2B5EF4-FFF2-40B4-BE49-F238E27FC236}">
                      <a16:creationId xmlns:a16="http://schemas.microsoft.com/office/drawing/2014/main" id="{6A60BAF5-E610-A842-9CF0-15D2703024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52" y="701"/>
                  <a:ext cx="96" cy="96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Arial" charset="0"/>
                    <a:ea typeface="宋体" charset="0"/>
                    <a:cs typeface="宋体" charset="0"/>
                  </a:endParaRPr>
                </a:p>
              </p:txBody>
            </p:sp>
            <p:grpSp>
              <p:nvGrpSpPr>
                <p:cNvPr id="18444" name="Group 72">
                  <a:extLst>
                    <a:ext uri="{FF2B5EF4-FFF2-40B4-BE49-F238E27FC236}">
                      <a16:creationId xmlns:a16="http://schemas.microsoft.com/office/drawing/2014/main" id="{503707D1-3636-7844-B79C-0B582CF1815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552" y="757"/>
                  <a:ext cx="384" cy="808"/>
                  <a:chOff x="3552" y="757"/>
                  <a:chExt cx="384" cy="808"/>
                </a:xfrm>
              </p:grpSpPr>
              <p:sp>
                <p:nvSpPr>
                  <p:cNvPr id="5133" name="Line 47">
                    <a:extLst>
                      <a:ext uri="{FF2B5EF4-FFF2-40B4-BE49-F238E27FC236}">
                        <a16:creationId xmlns:a16="http://schemas.microsoft.com/office/drawing/2014/main" id="{8086402E-4627-8A41-90AB-9010B04EA59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3600" y="757"/>
                    <a:ext cx="0" cy="376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zh-CN" altLang="en-US">
                      <a:latin typeface="Arial" charset="0"/>
                      <a:ea typeface="宋体" charset="0"/>
                      <a:cs typeface="宋体" charset="0"/>
                    </a:endParaRPr>
                  </a:p>
                </p:txBody>
              </p:sp>
              <p:sp>
                <p:nvSpPr>
                  <p:cNvPr id="5134" name="Line 48">
                    <a:extLst>
                      <a:ext uri="{FF2B5EF4-FFF2-40B4-BE49-F238E27FC236}">
                        <a16:creationId xmlns:a16="http://schemas.microsoft.com/office/drawing/2014/main" id="{9B55530D-5C8D-5941-BB6A-76D522F1FA7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3600" y="1181"/>
                    <a:ext cx="336" cy="384"/>
                  </a:xfrm>
                  <a:prstGeom prst="line">
                    <a:avLst/>
                  </a:prstGeom>
                  <a:noFill/>
                  <a:ln w="38100">
                    <a:solidFill>
                      <a:schemeClr val="tx1"/>
                    </a:solidFill>
                    <a:prstDash val="sysDot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/>
                  <a:lstStyle/>
                  <a:p>
                    <a:pPr>
                      <a:defRPr/>
                    </a:pPr>
                    <a:endParaRPr lang="zh-CN" altLang="en-US">
                      <a:latin typeface="Arial" charset="0"/>
                      <a:ea typeface="宋体" charset="0"/>
                      <a:cs typeface="宋体" charset="0"/>
                    </a:endParaRPr>
                  </a:p>
                </p:txBody>
              </p:sp>
              <p:sp>
                <p:nvSpPr>
                  <p:cNvPr id="5135" name="Oval 55">
                    <a:extLst>
                      <a:ext uri="{FF2B5EF4-FFF2-40B4-BE49-F238E27FC236}">
                        <a16:creationId xmlns:a16="http://schemas.microsoft.com/office/drawing/2014/main" id="{D5D6ECD0-9AAE-504F-A48A-9F8E67A532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52" y="1133"/>
                    <a:ext cx="96" cy="96"/>
                  </a:xfrm>
                  <a:prstGeom prst="ellipse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>
                      <a:defRPr/>
                    </a:pPr>
                    <a:endParaRPr lang="zh-CN" altLang="en-US">
                      <a:latin typeface="Arial" charset="0"/>
                      <a:ea typeface="宋体" charset="0"/>
                      <a:cs typeface="宋体" charset="0"/>
                    </a:endParaRPr>
                  </a:p>
                </p:txBody>
              </p:sp>
              <p:sp>
                <p:nvSpPr>
                  <p:cNvPr id="45126" name="Text Box 70">
                    <a:extLst>
                      <a:ext uri="{FF2B5EF4-FFF2-40B4-BE49-F238E27FC236}">
                        <a16:creationId xmlns:a16="http://schemas.microsoft.com/office/drawing/2014/main" id="{F370F41F-4E00-9E4C-8E95-8340DE12C8D5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3696" y="1008"/>
                    <a:ext cx="210" cy="269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wrap="none" lIns="0" tIns="0" rIns="0" bIns="0">
                    <a:spAutoFit/>
                  </a:bodyPr>
                  <a:lstStyle>
                    <a:lvl1pPr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5pPr>
                    <a:lvl6pPr marL="25146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6pPr>
                    <a:lvl7pPr marL="29718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7pPr>
                    <a:lvl8pPr marL="34290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8pPr>
                    <a:lvl9pPr marL="3886200" indent="-228600" fontAlgn="base">
                      <a:spcBef>
                        <a:spcPct val="0"/>
                      </a:spcBef>
                      <a:spcAft>
                        <a:spcPct val="0"/>
                      </a:spcAft>
                      <a:defRPr kumimoji="1"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宋体" panose="02010600030101010101" pitchFamily="2" charset="-122"/>
                      </a:defRPr>
                    </a:lvl9pPr>
                  </a:lstStyle>
                  <a:p>
                    <a:r>
                      <a:rPr kumimoji="0" lang="en-US" altLang="zh-CN" sz="2800" b="1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</a:rPr>
                      <a:t>v</a:t>
                    </a:r>
                    <a:r>
                      <a:rPr kumimoji="0" lang="en-US" altLang="zh-CN" sz="2800" b="1" baseline="-25000"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</a:rPr>
                      <a:t>k</a:t>
                    </a:r>
                  </a:p>
                </p:txBody>
              </p:sp>
            </p:grpSp>
          </p:grpSp>
        </p:grp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059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Number Placeholder 5">
            <a:extLst>
              <a:ext uri="{FF2B5EF4-FFF2-40B4-BE49-F238E27FC236}">
                <a16:creationId xmlns:a16="http://schemas.microsoft.com/office/drawing/2014/main" id="{60E917B5-03B6-D945-827F-4C965EA1A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BD94FE20-426A-C245-AF3D-324E3E9B8CAD}" type="slidenum">
              <a:rPr kumimoji="0" lang="zh-CN" altLang="en-US" sz="1200"/>
              <a:pPr/>
              <a:t>5</a:t>
            </a:fld>
            <a:endParaRPr kumimoji="0" lang="en-US" altLang="zh-CN" sz="1200"/>
          </a:p>
        </p:txBody>
      </p:sp>
      <p:sp>
        <p:nvSpPr>
          <p:cNvPr id="46082" name="Rectangle 2">
            <a:extLst>
              <a:ext uri="{FF2B5EF4-FFF2-40B4-BE49-F238E27FC236}">
                <a16:creationId xmlns:a16="http://schemas.microsoft.com/office/drawing/2014/main" id="{5A8FF55B-DBE9-5F4B-A5EA-A2AA8B209B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定理4.2.1 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89EE9CBB-FE59-0B49-A6BD-6E7EAC3398A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839200" cy="5257800"/>
          </a:xfrm>
        </p:spPr>
        <p:txBody>
          <a:bodyPr/>
          <a:lstStyle/>
          <a:p>
            <a:pPr marL="352425" indent="-352425"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	如果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是图，则下列诸命题等价：</a:t>
            </a:r>
          </a:p>
          <a:p>
            <a:pPr marL="352425" indent="-352425" algn="just">
              <a:lnSpc>
                <a:spcPct val="90000"/>
              </a:lnSpc>
              <a:buFont typeface="Wingdings" pitchFamily="2" charset="2"/>
              <a:buAutoNum type="arabicParenR"/>
            </a:pP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是树。</a:t>
            </a:r>
          </a:p>
          <a:p>
            <a:pPr marL="352425" indent="-352425" algn="just">
              <a:lnSpc>
                <a:spcPct val="90000"/>
              </a:lnSpc>
              <a:buFont typeface="Wingdings" pitchFamily="2" charset="2"/>
              <a:buAutoNum type="arabicParenR"/>
            </a:pP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连通并且删去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的任意一边，所得之图都不连通。</a:t>
            </a:r>
          </a:p>
          <a:p>
            <a:pPr marL="352425" indent="-352425" algn="just">
              <a:lnSpc>
                <a:spcPct val="90000"/>
              </a:lnSpc>
              <a:buFont typeface="Wingdings" pitchFamily="2" charset="2"/>
              <a:buAutoNum type="arabicParenR"/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中任意两点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v,v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3200" dirty="0" err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)，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恰有一条从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的简单路。</a:t>
            </a:r>
          </a:p>
          <a:p>
            <a:pPr marL="352425" indent="-352425" algn="just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	如果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还是有限图，设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P(G)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元数为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n，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则下列命题也与上面命题等价：</a:t>
            </a:r>
          </a:p>
          <a:p>
            <a:pPr marL="352425" indent="-352425" algn="just">
              <a:lnSpc>
                <a:spcPct val="90000"/>
              </a:lnSpc>
              <a:buFont typeface="Wingdings" pitchFamily="2" charset="2"/>
              <a:buAutoNum type="arabicParenR" startAt="4"/>
            </a:pP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不含回路，并且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有(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n-1)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条边。</a:t>
            </a:r>
          </a:p>
          <a:p>
            <a:pPr marL="352425" indent="-352425" algn="just">
              <a:lnSpc>
                <a:spcPct val="90000"/>
              </a:lnSpc>
              <a:buFont typeface="Wingdings" pitchFamily="2" charset="2"/>
              <a:buAutoNum type="arabicParenR" startAt="4"/>
            </a:pP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连通，并且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有(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n-1)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条边。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"/>
                                        <p:tgtEl>
                                          <p:spTgt spid="460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46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46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75"/>
                                        <p:tgtEl>
                                          <p:spTgt spid="4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3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Number Placeholder 5">
            <a:extLst>
              <a:ext uri="{FF2B5EF4-FFF2-40B4-BE49-F238E27FC236}">
                <a16:creationId xmlns:a16="http://schemas.microsoft.com/office/drawing/2014/main" id="{D8D56A60-D6C9-C34A-A8E6-DD87123CB0C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4552DB4-2690-BF46-9AEF-BBB75EE6D438}" type="slidenum">
              <a:rPr kumimoji="0" lang="zh-CN" altLang="en-US" sz="1200"/>
              <a:pPr/>
              <a:t>6</a:t>
            </a:fld>
            <a:endParaRPr kumimoji="0" lang="en-US" altLang="zh-CN" sz="1200"/>
          </a:p>
        </p:txBody>
      </p:sp>
      <p:sp>
        <p:nvSpPr>
          <p:cNvPr id="49154" name="Rectangle 2">
            <a:extLst>
              <a:ext uri="{FF2B5EF4-FFF2-40B4-BE49-F238E27FC236}">
                <a16:creationId xmlns:a16="http://schemas.microsoft.com/office/drawing/2014/main" id="{79340467-1C9E-4E44-AFE4-319EB4CDE1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904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黑体" charset="0"/>
                <a:ea typeface="楷体_GB2312" charset="0"/>
                <a:cs typeface="+mj-cs"/>
              </a:rPr>
              <a:t>证明：</a:t>
            </a:r>
            <a:endParaRPr lang="en-US" altLang="zh-CN" sz="6000" dirty="0">
              <a:latin typeface="黑体" charset="0"/>
              <a:ea typeface="楷体_GB2312" charset="0"/>
              <a:cs typeface="+mj-cs"/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3A2CC9E6-8A7C-0045-9AE5-B5ECADA6D1C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990600"/>
            <a:ext cx="8915400" cy="3810000"/>
          </a:xfrm>
        </p:spPr>
        <p:txBody>
          <a:bodyPr/>
          <a:lstStyle/>
          <a:p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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)：</a:t>
            </a:r>
          </a:p>
          <a:p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删去边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后是连通的，则有从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的路(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</a:p>
          <a:p>
            <a:pPr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	不妨设这是从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的所有路中最短者，于是，这是一条简单路。显然，此路长度不小于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，于是这条路再加上边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vv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就是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中一条回路，矛盾。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49159" name="Line 7">
            <a:extLst>
              <a:ext uri="{FF2B5EF4-FFF2-40B4-BE49-F238E27FC236}">
                <a16:creationId xmlns:a16="http://schemas.microsoft.com/office/drawing/2014/main" id="{282EF5E3-509D-A045-B22D-8DC39005C56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79838" y="5029200"/>
            <a:ext cx="1219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49172" name="Group 20">
            <a:extLst>
              <a:ext uri="{FF2B5EF4-FFF2-40B4-BE49-F238E27FC236}">
                <a16:creationId xmlns:a16="http://schemas.microsoft.com/office/drawing/2014/main" id="{BFD268AC-FB61-0040-96EF-74EFDFA4B620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4724400"/>
            <a:ext cx="2132013" cy="1447800"/>
            <a:chOff x="2160" y="2976"/>
            <a:chExt cx="1343" cy="912"/>
          </a:xfrm>
        </p:grpSpPr>
        <p:sp>
          <p:nvSpPr>
            <p:cNvPr id="49157" name="Text Box 5">
              <a:extLst>
                <a:ext uri="{FF2B5EF4-FFF2-40B4-BE49-F238E27FC236}">
                  <a16:creationId xmlns:a16="http://schemas.microsoft.com/office/drawing/2014/main" id="{CB4CC7F3-3EAB-1D46-A595-5E5705E0C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8" y="2995"/>
              <a:ext cx="18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v’</a:t>
              </a:r>
            </a:p>
          </p:txBody>
        </p:sp>
        <p:sp>
          <p:nvSpPr>
            <p:cNvPr id="7176" name="Oval 8">
              <a:extLst>
                <a:ext uri="{FF2B5EF4-FFF2-40B4-BE49-F238E27FC236}">
                  <a16:creationId xmlns:a16="http://schemas.microsoft.com/office/drawing/2014/main" id="{F33997FB-1B5F-1840-AFA3-C1D57A1D91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" y="31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7177" name="Line 10">
              <a:extLst>
                <a:ext uri="{FF2B5EF4-FFF2-40B4-BE49-F238E27FC236}">
                  <a16:creationId xmlns:a16="http://schemas.microsoft.com/office/drawing/2014/main" id="{C50B18FC-9B15-404E-9096-F5FC5CE193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7" y="3176"/>
              <a:ext cx="0" cy="37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7178" name="Oval 12">
              <a:extLst>
                <a:ext uri="{FF2B5EF4-FFF2-40B4-BE49-F238E27FC236}">
                  <a16:creationId xmlns:a16="http://schemas.microsoft.com/office/drawing/2014/main" id="{67A2A731-BD7B-5743-8A67-4E4619488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9" y="355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9165" name="Text Box 13">
              <a:extLst>
                <a:ext uri="{FF2B5EF4-FFF2-40B4-BE49-F238E27FC236}">
                  <a16:creationId xmlns:a16="http://schemas.microsoft.com/office/drawing/2014/main" id="{E846EA95-9C96-134B-8D54-A6CB92FC4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93" y="3456"/>
              <a:ext cx="21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</a:p>
          </p:txBody>
        </p:sp>
        <p:sp>
          <p:nvSpPr>
            <p:cNvPr id="7180" name="Oval 14">
              <a:extLst>
                <a:ext uri="{FF2B5EF4-FFF2-40B4-BE49-F238E27FC236}">
                  <a16:creationId xmlns:a16="http://schemas.microsoft.com/office/drawing/2014/main" id="{0D0C2420-9E2F-6D41-AD1C-7C30AF364F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3" y="3120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7181" name="Oval 15">
              <a:extLst>
                <a:ext uri="{FF2B5EF4-FFF2-40B4-BE49-F238E27FC236}">
                  <a16:creationId xmlns:a16="http://schemas.microsoft.com/office/drawing/2014/main" id="{03E2FF1C-F87A-1A40-870A-34F802112B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73" y="3744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7182" name="Line 16">
              <a:extLst>
                <a:ext uri="{FF2B5EF4-FFF2-40B4-BE49-F238E27FC236}">
                  <a16:creationId xmlns:a16="http://schemas.microsoft.com/office/drawing/2014/main" id="{2BF7C558-08C4-2943-BBEA-BE2B0FEAD6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1" y="3168"/>
              <a:ext cx="24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7183" name="Line 17">
              <a:extLst>
                <a:ext uri="{FF2B5EF4-FFF2-40B4-BE49-F238E27FC236}">
                  <a16:creationId xmlns:a16="http://schemas.microsoft.com/office/drawing/2014/main" id="{77E81916-DE46-F549-8728-96FCDEAC3D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21" y="3600"/>
              <a:ext cx="576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49170" name="Text Box 18">
              <a:extLst>
                <a:ext uri="{FF2B5EF4-FFF2-40B4-BE49-F238E27FC236}">
                  <a16:creationId xmlns:a16="http://schemas.microsoft.com/office/drawing/2014/main" id="{00388CB6-D72A-7A4F-BCDB-8FF43C8F84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2976"/>
              <a:ext cx="12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endPara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49171" name="Text Box 19">
              <a:extLst>
                <a:ext uri="{FF2B5EF4-FFF2-40B4-BE49-F238E27FC236}">
                  <a16:creationId xmlns:a16="http://schemas.microsoft.com/office/drawing/2014/main" id="{2EA9CBD0-7E00-134B-AEF6-C0BAAE4410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3" y="3619"/>
              <a:ext cx="21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123D481-9A39-8D42-B1E8-14840A75DF29}"/>
              </a:ext>
            </a:extLst>
          </p:cNvPr>
          <p:cNvSpPr txBox="1"/>
          <p:nvPr/>
        </p:nvSpPr>
        <p:spPr>
          <a:xfrm>
            <a:off x="4403036" y="228600"/>
            <a:ext cx="4740964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2425" indent="-352425" algn="just">
              <a:lnSpc>
                <a:spcPct val="90000"/>
              </a:lnSpc>
              <a:buFont typeface="Wingdings" pitchFamily="2" charset="2"/>
              <a:buAutoNum type="arabicParenR"/>
            </a:pP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是树。</a:t>
            </a:r>
          </a:p>
          <a:p>
            <a:pPr marL="352425" indent="-352425" algn="just">
              <a:lnSpc>
                <a:spcPct val="90000"/>
              </a:lnSpc>
              <a:buFont typeface="Wingdings" pitchFamily="2" charset="2"/>
              <a:buAutoNum type="arabicParenR"/>
            </a:pP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连通并且删去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的任意一边，所得之图都不连通。</a:t>
            </a:r>
            <a:endParaRPr lang="zh-CN" altLang="en-US" dirty="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9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Number Placeholder 5">
            <a:extLst>
              <a:ext uri="{FF2B5EF4-FFF2-40B4-BE49-F238E27FC236}">
                <a16:creationId xmlns:a16="http://schemas.microsoft.com/office/drawing/2014/main" id="{36647836-FC38-2F44-B0AB-A71F09FBAFA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63948F9-6147-674A-8CEE-2996D134D25E}" type="slidenum">
              <a:rPr kumimoji="0" lang="zh-CN" altLang="en-US" sz="1200"/>
              <a:pPr/>
              <a:t>7</a:t>
            </a:fld>
            <a:endParaRPr kumimoji="0" lang="en-US" altLang="zh-CN" sz="1200"/>
          </a:p>
        </p:txBody>
      </p:sp>
      <p:sp>
        <p:nvSpPr>
          <p:cNvPr id="100354" name="Rectangle 2">
            <a:extLst>
              <a:ext uri="{FF2B5EF4-FFF2-40B4-BE49-F238E27FC236}">
                <a16:creationId xmlns:a16="http://schemas.microsoft.com/office/drawing/2014/main" id="{A412E9CB-A1FD-0D44-BA47-3B22FF58578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28956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黑体" charset="0"/>
                <a:ea typeface="楷体_GB2312" charset="0"/>
                <a:cs typeface="+mj-cs"/>
              </a:rPr>
              <a:t>证明：</a:t>
            </a:r>
            <a:endParaRPr lang="en-US" altLang="zh-CN" sz="6000" dirty="0">
              <a:latin typeface="黑体" charset="0"/>
              <a:ea typeface="楷体_GB2312" charset="0"/>
              <a:cs typeface="+mj-cs"/>
            </a:endParaRPr>
          </a:p>
        </p:txBody>
      </p:sp>
      <p:sp>
        <p:nvSpPr>
          <p:cNvPr id="100355" name="Rectangle 3">
            <a:extLst>
              <a:ext uri="{FF2B5EF4-FFF2-40B4-BE49-F238E27FC236}">
                <a16:creationId xmlns:a16="http://schemas.microsoft.com/office/drawing/2014/main" id="{ED6B4167-43AD-A348-87FF-3AC513E70C9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2362200"/>
            <a:ext cx="8534400" cy="4191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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28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)</a:t>
            </a:r>
          </a:p>
          <a:p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连通，所以对于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有从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的路，取其最短者，得从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的简单路。若有两条这样的路，设为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(v</a:t>
            </a:r>
            <a:r>
              <a:rPr kumimoji="0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m+1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其中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</a:t>
            </a:r>
            <a:r>
              <a:rPr kumimoji="0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2500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=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v，v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m+1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=v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从左向右看可找到最小的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使得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	于是，从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删去边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还有路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(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m+1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28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故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删去边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k-1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zh-CN" altLang="en-US" sz="2800">
                <a:latin typeface="宋体" panose="02010600030101010101" pitchFamily="2" charset="-122"/>
                <a:ea typeface="楷体_GB2312" pitchFamily="49" charset="-122"/>
              </a:rPr>
              <a:t>后，所得之图仍连通，矛盾。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24580" name="Group 24">
            <a:extLst>
              <a:ext uri="{FF2B5EF4-FFF2-40B4-BE49-F238E27FC236}">
                <a16:creationId xmlns:a16="http://schemas.microsoft.com/office/drawing/2014/main" id="{D9E3A85B-D637-7E47-BE84-14F0D95A9138}"/>
              </a:ext>
            </a:extLst>
          </p:cNvPr>
          <p:cNvGrpSpPr>
            <a:grpSpLocks/>
          </p:cNvGrpSpPr>
          <p:nvPr/>
        </p:nvGrpSpPr>
        <p:grpSpPr bwMode="auto">
          <a:xfrm>
            <a:off x="4579938" y="182563"/>
            <a:ext cx="3878262" cy="2484437"/>
            <a:chOff x="2592" y="-29"/>
            <a:chExt cx="2443" cy="1565"/>
          </a:xfrm>
        </p:grpSpPr>
        <p:sp>
          <p:nvSpPr>
            <p:cNvPr id="100357" name="Text Box 5">
              <a:extLst>
                <a:ext uri="{FF2B5EF4-FFF2-40B4-BE49-F238E27FC236}">
                  <a16:creationId xmlns:a16="http://schemas.microsoft.com/office/drawing/2014/main" id="{8E3090DC-7170-5A4F-84C3-57B8FAF257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8" y="662"/>
              <a:ext cx="187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v’</a:t>
              </a:r>
            </a:p>
          </p:txBody>
        </p:sp>
        <p:sp>
          <p:nvSpPr>
            <p:cNvPr id="8200" name="Oval 6">
              <a:extLst>
                <a:ext uri="{FF2B5EF4-FFF2-40B4-BE49-F238E27FC236}">
                  <a16:creationId xmlns:a16="http://schemas.microsoft.com/office/drawing/2014/main" id="{174F0CE1-A7F3-2540-ADD6-681A5DC125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78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8201" name="Oval 8">
              <a:extLst>
                <a:ext uri="{FF2B5EF4-FFF2-40B4-BE49-F238E27FC236}">
                  <a16:creationId xmlns:a16="http://schemas.microsoft.com/office/drawing/2014/main" id="{45CBC64E-E6F6-E542-A460-534FEFF5D4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1" y="451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0361" name="Text Box 9">
              <a:extLst>
                <a:ext uri="{FF2B5EF4-FFF2-40B4-BE49-F238E27FC236}">
                  <a16:creationId xmlns:a16="http://schemas.microsoft.com/office/drawing/2014/main" id="{0775B844-B27C-9744-ABEC-359FB3DAD9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92"/>
              <a:ext cx="21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k</a:t>
              </a:r>
            </a:p>
          </p:txBody>
        </p:sp>
        <p:sp>
          <p:nvSpPr>
            <p:cNvPr id="8203" name="Oval 10">
              <a:extLst>
                <a:ext uri="{FF2B5EF4-FFF2-40B4-BE49-F238E27FC236}">
                  <a16:creationId xmlns:a16="http://schemas.microsoft.com/office/drawing/2014/main" id="{924972AB-FB3A-F740-92E4-B1EA8AA0CB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5" y="78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8204" name="Oval 11">
              <a:extLst>
                <a:ext uri="{FF2B5EF4-FFF2-40B4-BE49-F238E27FC236}">
                  <a16:creationId xmlns:a16="http://schemas.microsoft.com/office/drawing/2014/main" id="{BE1F7DA3-6049-4C4D-848A-935FC5CA36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78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8205" name="Line 12">
              <a:extLst>
                <a:ext uri="{FF2B5EF4-FFF2-40B4-BE49-F238E27FC236}">
                  <a16:creationId xmlns:a16="http://schemas.microsoft.com/office/drawing/2014/main" id="{241EACFE-3EFF-3B41-B4A2-A9ABBC5E16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3" y="835"/>
              <a:ext cx="88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0366" name="Text Box 14">
              <a:extLst>
                <a:ext uri="{FF2B5EF4-FFF2-40B4-BE49-F238E27FC236}">
                  <a16:creationId xmlns:a16="http://schemas.microsoft.com/office/drawing/2014/main" id="{D894AC83-AA6F-CE4D-B69C-FC3F38FEE3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643"/>
              <a:ext cx="12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endPara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0367" name="Text Box 15">
              <a:extLst>
                <a:ext uri="{FF2B5EF4-FFF2-40B4-BE49-F238E27FC236}">
                  <a16:creationId xmlns:a16="http://schemas.microsoft.com/office/drawing/2014/main" id="{85B61569-2D09-BE4B-B9C2-F837639459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0" y="787"/>
              <a:ext cx="346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k-1</a:t>
              </a:r>
              <a:endParaRPr kumimoji="0" lang="zh-CN" altLang="en-US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0368" name="Text Box 16">
              <a:extLst>
                <a:ext uri="{FF2B5EF4-FFF2-40B4-BE49-F238E27FC236}">
                  <a16:creationId xmlns:a16="http://schemas.microsoft.com/office/drawing/2014/main" id="{7D327C86-A83F-8D47-8ABE-4E70BF66ED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00" y="1267"/>
              <a:ext cx="27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k</a:t>
              </a:r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’</a:t>
              </a:r>
            </a:p>
          </p:txBody>
        </p:sp>
        <p:sp>
          <p:nvSpPr>
            <p:cNvPr id="100369" name="Text Box 17">
              <a:extLst>
                <a:ext uri="{FF2B5EF4-FFF2-40B4-BE49-F238E27FC236}">
                  <a16:creationId xmlns:a16="http://schemas.microsoft.com/office/drawing/2014/main" id="{7DA31EA6-B7B8-1D4D-8ECA-CAB6C04AD4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4" y="307"/>
              <a:ext cx="21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</a:t>
              </a:r>
            </a:p>
          </p:txBody>
        </p:sp>
        <p:sp>
          <p:nvSpPr>
            <p:cNvPr id="100370" name="Text Box 18">
              <a:extLst>
                <a:ext uri="{FF2B5EF4-FFF2-40B4-BE49-F238E27FC236}">
                  <a16:creationId xmlns:a16="http://schemas.microsoft.com/office/drawing/2014/main" id="{3FA58FD0-63CB-7D41-8321-555876DA94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4" y="-29"/>
              <a:ext cx="354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n-1</a:t>
              </a:r>
            </a:p>
          </p:txBody>
        </p:sp>
        <p:sp>
          <p:nvSpPr>
            <p:cNvPr id="8211" name="Oval 19">
              <a:extLst>
                <a:ext uri="{FF2B5EF4-FFF2-40B4-BE49-F238E27FC236}">
                  <a16:creationId xmlns:a16="http://schemas.microsoft.com/office/drawing/2014/main" id="{FE569A6A-20F4-B44B-9CAB-54405E65A9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307"/>
              <a:ext cx="1056" cy="105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8212" name="Oval 20">
              <a:extLst>
                <a:ext uri="{FF2B5EF4-FFF2-40B4-BE49-F238E27FC236}">
                  <a16:creationId xmlns:a16="http://schemas.microsoft.com/office/drawing/2014/main" id="{F048D56F-005F-D846-B325-3DE0C2639E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259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8213" name="Oval 22">
              <a:extLst>
                <a:ext uri="{FF2B5EF4-FFF2-40B4-BE49-F238E27FC236}">
                  <a16:creationId xmlns:a16="http://schemas.microsoft.com/office/drawing/2014/main" id="{CFFAFC8B-3B6F-3E40-BC57-2224EFD45E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43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8214" name="Oval 23">
              <a:extLst>
                <a:ext uri="{FF2B5EF4-FFF2-40B4-BE49-F238E27FC236}">
                  <a16:creationId xmlns:a16="http://schemas.microsoft.com/office/drawing/2014/main" id="{00578A48-4ADF-D14C-9B02-9B0F8349C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2" y="115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00378" name="Freeform 26">
            <a:extLst>
              <a:ext uri="{FF2B5EF4-FFF2-40B4-BE49-F238E27FC236}">
                <a16:creationId xmlns:a16="http://schemas.microsoft.com/office/drawing/2014/main" id="{2D548DF1-7916-3B4C-867D-982B9F190D77}"/>
              </a:ext>
            </a:extLst>
          </p:cNvPr>
          <p:cNvSpPr>
            <a:spLocks/>
          </p:cNvSpPr>
          <p:nvPr/>
        </p:nvSpPr>
        <p:spPr bwMode="auto">
          <a:xfrm>
            <a:off x="6324600" y="1066800"/>
            <a:ext cx="152400" cy="420688"/>
          </a:xfrm>
          <a:custGeom>
            <a:avLst/>
            <a:gdLst>
              <a:gd name="T0" fmla="*/ 0 w 144"/>
              <a:gd name="T1" fmla="*/ 2147483647 h 384"/>
              <a:gd name="T2" fmla="*/ 2147483647 w 144"/>
              <a:gd name="T3" fmla="*/ 2147483647 h 384"/>
              <a:gd name="T4" fmla="*/ 2147483647 w 144"/>
              <a:gd name="T5" fmla="*/ 0 h 38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44" h="384">
                <a:moveTo>
                  <a:pt x="0" y="384"/>
                </a:moveTo>
                <a:cubicBezTo>
                  <a:pt x="12" y="296"/>
                  <a:pt x="24" y="208"/>
                  <a:pt x="48" y="144"/>
                </a:cubicBezTo>
                <a:cubicBezTo>
                  <a:pt x="72" y="80"/>
                  <a:pt x="128" y="24"/>
                  <a:pt x="144" y="0"/>
                </a:cubicBezTo>
              </a:path>
            </a:pathLst>
          </a:custGeom>
          <a:noFill/>
          <a:ln w="69850" cap="flat" cmpd="sng">
            <a:solidFill>
              <a:schemeClr val="bg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ABA4250-5B8B-5848-AD34-38F2A3A7C647}"/>
              </a:ext>
            </a:extLst>
          </p:cNvPr>
          <p:cNvSpPr txBox="1"/>
          <p:nvPr/>
        </p:nvSpPr>
        <p:spPr>
          <a:xfrm>
            <a:off x="0" y="1120271"/>
            <a:ext cx="4327525" cy="108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连通并且删去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的任意一边，所得之图都不连通。</a:t>
            </a:r>
          </a:p>
          <a:p>
            <a:pPr algn="just">
              <a:lnSpc>
                <a:spcPct val="90000"/>
              </a:lnSpc>
            </a:pP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3) 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中任意两点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楷体_GB2312" pitchFamily="49" charset="-122"/>
              </a:rPr>
              <a:t>v,v</a:t>
            </a:r>
            <a:r>
              <a:rPr kumimoji="0" lang="en-US" altLang="zh-CN" sz="1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1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)，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恰有一条从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1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的简单路。</a:t>
            </a:r>
            <a:endParaRPr lang="zh-CN" altLang="en-US" dirty="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03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0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Number Placeholder 5">
            <a:extLst>
              <a:ext uri="{FF2B5EF4-FFF2-40B4-BE49-F238E27FC236}">
                <a16:creationId xmlns:a16="http://schemas.microsoft.com/office/drawing/2014/main" id="{B2BA31A5-FDB2-0E4C-B245-9677AB7FFC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C95A6B2-8C6F-2741-B94D-E932D948C3EE}" type="slidenum">
              <a:rPr kumimoji="0" lang="zh-CN" altLang="en-US" sz="1200"/>
              <a:pPr/>
              <a:t>8</a:t>
            </a:fld>
            <a:endParaRPr kumimoji="0" lang="en-US" altLang="zh-CN" sz="1200"/>
          </a:p>
        </p:txBody>
      </p:sp>
      <p:sp>
        <p:nvSpPr>
          <p:cNvPr id="101378" name="Rectangle 2">
            <a:extLst>
              <a:ext uri="{FF2B5EF4-FFF2-40B4-BE49-F238E27FC236}">
                <a16:creationId xmlns:a16="http://schemas.microsoft.com/office/drawing/2014/main" id="{59B5A21E-F25E-2241-A825-8A280B794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90488"/>
            <a:ext cx="7772400" cy="823912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黑体" charset="0"/>
                <a:ea typeface="楷体_GB2312" charset="0"/>
                <a:cs typeface="+mj-cs"/>
              </a:rPr>
              <a:t>证明：</a:t>
            </a:r>
            <a:endParaRPr lang="en-US" altLang="zh-CN" sz="6000" dirty="0">
              <a:latin typeface="黑体" charset="0"/>
              <a:ea typeface="楷体_GB2312" charset="0"/>
              <a:cs typeface="+mj-cs"/>
            </a:endParaRP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2C5EFD03-6123-A44A-B40B-AED8ED7B26C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066800"/>
            <a:ext cx="8839200" cy="3276600"/>
          </a:xfrm>
        </p:spPr>
        <p:txBody>
          <a:bodyPr/>
          <a:lstStyle/>
          <a:p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3</a:t>
            </a: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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)：</a:t>
            </a:r>
          </a:p>
          <a:p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由已知条件知，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是连通的。若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有回路(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v, 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)，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则从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将有</a:t>
            </a:r>
            <a:b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</a:b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两条简单路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  <a:sym typeface="Wingdings" pitchFamily="2" charset="2"/>
              </a:rPr>
              <a:t>:(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v, 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和(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),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矛盾。故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中无回路，所以，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是树。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101391" name="Group 15">
            <a:extLst>
              <a:ext uri="{FF2B5EF4-FFF2-40B4-BE49-F238E27FC236}">
                <a16:creationId xmlns:a16="http://schemas.microsoft.com/office/drawing/2014/main" id="{3707A425-854C-8E4E-9D87-0540FDD5137E}"/>
              </a:ext>
            </a:extLst>
          </p:cNvPr>
          <p:cNvGrpSpPr>
            <a:grpSpLocks/>
          </p:cNvGrpSpPr>
          <p:nvPr/>
        </p:nvGrpSpPr>
        <p:grpSpPr bwMode="auto">
          <a:xfrm>
            <a:off x="3078163" y="3886200"/>
            <a:ext cx="2484437" cy="2590800"/>
            <a:chOff x="1843" y="2448"/>
            <a:chExt cx="1565" cy="1632"/>
          </a:xfrm>
        </p:grpSpPr>
        <p:sp>
          <p:nvSpPr>
            <p:cNvPr id="9222" name="Oval 4">
              <a:extLst>
                <a:ext uri="{FF2B5EF4-FFF2-40B4-BE49-F238E27FC236}">
                  <a16:creationId xmlns:a16="http://schemas.microsoft.com/office/drawing/2014/main" id="{929B4594-ADE3-5143-82AA-8638F71A44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688"/>
              <a:ext cx="1344" cy="134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9223" name="Oval 7">
              <a:extLst>
                <a:ext uri="{FF2B5EF4-FFF2-40B4-BE49-F238E27FC236}">
                  <a16:creationId xmlns:a16="http://schemas.microsoft.com/office/drawing/2014/main" id="{E6535B0B-BB01-E64B-BA33-79DA266B02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12" y="2976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9224" name="Oval 8">
              <a:extLst>
                <a:ext uri="{FF2B5EF4-FFF2-40B4-BE49-F238E27FC236}">
                  <a16:creationId xmlns:a16="http://schemas.microsoft.com/office/drawing/2014/main" id="{D66CB64D-BA4E-B443-88B9-FA176CE175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48" y="268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1385" name="Text Box 9">
              <a:extLst>
                <a:ext uri="{FF2B5EF4-FFF2-40B4-BE49-F238E27FC236}">
                  <a16:creationId xmlns:a16="http://schemas.microsoft.com/office/drawing/2014/main" id="{43271826-2A6B-4547-AA00-61FB1962F4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43" y="3264"/>
              <a:ext cx="125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endPara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endParaRPr>
            </a:p>
          </p:txBody>
        </p:sp>
        <p:sp>
          <p:nvSpPr>
            <p:cNvPr id="101386" name="Text Box 10">
              <a:extLst>
                <a:ext uri="{FF2B5EF4-FFF2-40B4-BE49-F238E27FC236}">
                  <a16:creationId xmlns:a16="http://schemas.microsoft.com/office/drawing/2014/main" id="{68487063-C3C6-BF4D-96DA-169B38614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0" y="2448"/>
              <a:ext cx="21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2</a:t>
              </a:r>
            </a:p>
          </p:txBody>
        </p:sp>
        <p:sp>
          <p:nvSpPr>
            <p:cNvPr id="9227" name="Oval 11">
              <a:extLst>
                <a:ext uri="{FF2B5EF4-FFF2-40B4-BE49-F238E27FC236}">
                  <a16:creationId xmlns:a16="http://schemas.microsoft.com/office/drawing/2014/main" id="{4A773CA9-6675-6143-9FD3-C7D225C5E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37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9228" name="Oval 12">
              <a:extLst>
                <a:ext uri="{FF2B5EF4-FFF2-40B4-BE49-F238E27FC236}">
                  <a16:creationId xmlns:a16="http://schemas.microsoft.com/office/drawing/2014/main" id="{707266BC-02AF-C542-A261-AF3BCCDBA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16" y="3408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1389" name="Text Box 13">
              <a:extLst>
                <a:ext uri="{FF2B5EF4-FFF2-40B4-BE49-F238E27FC236}">
                  <a16:creationId xmlns:a16="http://schemas.microsoft.com/office/drawing/2014/main" id="{6DBFB9C5-8E4D-CF4A-8D07-89ACC2902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2784"/>
              <a:ext cx="21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1</a:t>
              </a:r>
            </a:p>
          </p:txBody>
        </p:sp>
        <p:sp>
          <p:nvSpPr>
            <p:cNvPr id="101390" name="Text Box 14">
              <a:extLst>
                <a:ext uri="{FF2B5EF4-FFF2-40B4-BE49-F238E27FC236}">
                  <a16:creationId xmlns:a16="http://schemas.microsoft.com/office/drawing/2014/main" id="{8D456C2D-A125-BE43-90BF-484FF71F60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6" y="3811"/>
              <a:ext cx="210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k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0A30556F-EC31-794A-A2A0-B497EC1A2EF2}"/>
              </a:ext>
            </a:extLst>
          </p:cNvPr>
          <p:cNvSpPr txBox="1"/>
          <p:nvPr/>
        </p:nvSpPr>
        <p:spPr>
          <a:xfrm>
            <a:off x="4336774" y="378970"/>
            <a:ext cx="4731026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1) 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是树。</a:t>
            </a:r>
          </a:p>
          <a:p>
            <a:pPr algn="just">
              <a:lnSpc>
                <a:spcPct val="90000"/>
              </a:lnSpc>
            </a:pP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3) 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中任意两点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楷体_GB2312" pitchFamily="49" charset="-122"/>
              </a:rPr>
              <a:t>v,v</a:t>
            </a:r>
            <a:r>
              <a:rPr kumimoji="0" lang="en-US" altLang="zh-CN" sz="1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</a:t>
            </a:r>
            <a:r>
              <a:rPr kumimoji="0" lang="en-US" altLang="zh-CN" sz="1800" dirty="0" err="1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1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)，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恰有一条从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到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1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的简单路。</a:t>
            </a:r>
            <a:endParaRPr lang="zh-CN" altLang="en-US" dirty="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139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1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Number Placeholder 5">
            <a:extLst>
              <a:ext uri="{FF2B5EF4-FFF2-40B4-BE49-F238E27FC236}">
                <a16:creationId xmlns:a16="http://schemas.microsoft.com/office/drawing/2014/main" id="{51AC190F-31B9-8F47-8D89-3BC3A614110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3ABA87F-9EF2-B14A-AB3F-318B3D978670}" type="slidenum">
              <a:rPr kumimoji="0" lang="zh-CN" altLang="en-US" sz="1200"/>
              <a:pPr/>
              <a:t>9</a:t>
            </a:fld>
            <a:endParaRPr kumimoji="0" lang="en-US" altLang="zh-CN" sz="1200"/>
          </a:p>
        </p:txBody>
      </p:sp>
      <p:sp>
        <p:nvSpPr>
          <p:cNvPr id="102402" name="Rectangle 2">
            <a:extLst>
              <a:ext uri="{FF2B5EF4-FFF2-40B4-BE49-F238E27FC236}">
                <a16:creationId xmlns:a16="http://schemas.microsoft.com/office/drawing/2014/main" id="{40B5DBAD-14B4-CC4C-A23A-3A4089F6B5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黑体" charset="0"/>
                <a:ea typeface="楷体_GB2312" charset="0"/>
                <a:cs typeface="+mj-cs"/>
              </a:rPr>
              <a:t>证明：</a:t>
            </a:r>
            <a:endParaRPr lang="en-US" altLang="zh-CN" sz="6000" dirty="0">
              <a:latin typeface="黑体" charset="0"/>
              <a:ea typeface="楷体_GB2312" charset="0"/>
              <a:cs typeface="+mj-cs"/>
            </a:endParaRPr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94CBB045-8488-F14E-B8E1-A4336F67F668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066800"/>
            <a:ext cx="5867400" cy="5791200"/>
          </a:xfrm>
        </p:spPr>
        <p:txBody>
          <a:bodyPr/>
          <a:lstStyle/>
          <a:p>
            <a:pPr marL="360363" indent="-360363"/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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)：</a:t>
            </a:r>
          </a:p>
          <a:p>
            <a:pPr marL="360363" indent="-360363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是树，所以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中无回路。往证：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n-1)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条边。对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用归纳法。</a:t>
            </a:r>
          </a:p>
          <a:p>
            <a:pPr marL="901700" lvl="1" indent="-361950" algn="just">
              <a:buFont typeface="Wingdings" pitchFamily="2" charset="2"/>
              <a:buChar char="v"/>
            </a:pP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n=1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时，命题显然。</a:t>
            </a:r>
          </a:p>
          <a:p>
            <a:pPr marL="901700" lvl="1" indent="-361950" algn="just">
              <a:buFont typeface="Wingdings" pitchFamily="2" charset="2"/>
              <a:buChar char="v"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假如对于(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n-1)，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命题成立。</a:t>
            </a:r>
          </a:p>
          <a:p>
            <a:pPr marL="901700" lvl="1" indent="-361950">
              <a:buFont typeface="Wingdings" pitchFamily="2" charset="2"/>
              <a:buChar char="v"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个点，由引理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4.2.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1知，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有点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恰有一个相邻点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删去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得一图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102443" name="Group 43">
            <a:extLst>
              <a:ext uri="{FF2B5EF4-FFF2-40B4-BE49-F238E27FC236}">
                <a16:creationId xmlns:a16="http://schemas.microsoft.com/office/drawing/2014/main" id="{96950B2B-AA3C-864F-A3D0-D57811D82E49}"/>
              </a:ext>
            </a:extLst>
          </p:cNvPr>
          <p:cNvGrpSpPr>
            <a:grpSpLocks/>
          </p:cNvGrpSpPr>
          <p:nvPr/>
        </p:nvGrpSpPr>
        <p:grpSpPr bwMode="auto">
          <a:xfrm>
            <a:off x="7672388" y="3886200"/>
            <a:ext cx="522287" cy="1036638"/>
            <a:chOff x="4833" y="2448"/>
            <a:chExt cx="329" cy="653"/>
          </a:xfrm>
        </p:grpSpPr>
        <p:sp>
          <p:nvSpPr>
            <p:cNvPr id="10267" name="Line 8">
              <a:extLst>
                <a:ext uri="{FF2B5EF4-FFF2-40B4-BE49-F238E27FC236}">
                  <a16:creationId xmlns:a16="http://schemas.microsoft.com/office/drawing/2014/main" id="{A6F05194-07B7-4242-A9A6-8AC6AC1C7D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8" y="2448"/>
              <a:ext cx="0" cy="4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68" name="Oval 18">
              <a:extLst>
                <a:ext uri="{FF2B5EF4-FFF2-40B4-BE49-F238E27FC236}">
                  <a16:creationId xmlns:a16="http://schemas.microsoft.com/office/drawing/2014/main" id="{540A4F0E-352B-AF44-9698-0142CC119E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2844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439" name="Text Box 39">
              <a:extLst>
                <a:ext uri="{FF2B5EF4-FFF2-40B4-BE49-F238E27FC236}">
                  <a16:creationId xmlns:a16="http://schemas.microsoft.com/office/drawing/2014/main" id="{3276DDE9-436A-E34B-9862-083E5183AE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2832"/>
              <a:ext cx="21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</a:t>
              </a:r>
            </a:p>
          </p:txBody>
        </p:sp>
      </p:grpSp>
      <p:sp>
        <p:nvSpPr>
          <p:cNvPr id="102440" name="Text Box 40">
            <a:extLst>
              <a:ext uri="{FF2B5EF4-FFF2-40B4-BE49-F238E27FC236}">
                <a16:creationId xmlns:a16="http://schemas.microsoft.com/office/drawing/2014/main" id="{4BE3CB15-2B73-EA40-8ABC-6776B69059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0025" y="3840163"/>
            <a:ext cx="5619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n-1</a:t>
            </a:r>
          </a:p>
        </p:txBody>
      </p:sp>
      <p:grpSp>
        <p:nvGrpSpPr>
          <p:cNvPr id="28678" name="Group 44">
            <a:extLst>
              <a:ext uri="{FF2B5EF4-FFF2-40B4-BE49-F238E27FC236}">
                <a16:creationId xmlns:a16="http://schemas.microsoft.com/office/drawing/2014/main" id="{B40F7085-FC08-AC4C-AF4A-07E1B4E776EF}"/>
              </a:ext>
            </a:extLst>
          </p:cNvPr>
          <p:cNvGrpSpPr>
            <a:grpSpLocks/>
          </p:cNvGrpSpPr>
          <p:nvPr/>
        </p:nvGrpSpPr>
        <p:grpSpPr bwMode="auto">
          <a:xfrm>
            <a:off x="5943600" y="2590800"/>
            <a:ext cx="2514600" cy="1393825"/>
            <a:chOff x="3744" y="1632"/>
            <a:chExt cx="1584" cy="878"/>
          </a:xfrm>
        </p:grpSpPr>
        <p:sp>
          <p:nvSpPr>
            <p:cNvPr id="10248" name="Line 5">
              <a:extLst>
                <a:ext uri="{FF2B5EF4-FFF2-40B4-BE49-F238E27FC236}">
                  <a16:creationId xmlns:a16="http://schemas.microsoft.com/office/drawing/2014/main" id="{75A87ED0-57AD-F043-B101-C03FCA8050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1674"/>
              <a:ext cx="0" cy="7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49" name="Line 6">
              <a:extLst>
                <a:ext uri="{FF2B5EF4-FFF2-40B4-BE49-F238E27FC236}">
                  <a16:creationId xmlns:a16="http://schemas.microsoft.com/office/drawing/2014/main" id="{74BE5E61-3C75-4B45-B7AF-49370B5766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0" y="1674"/>
              <a:ext cx="3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50" name="Line 7">
              <a:extLst>
                <a:ext uri="{FF2B5EF4-FFF2-40B4-BE49-F238E27FC236}">
                  <a16:creationId xmlns:a16="http://schemas.microsoft.com/office/drawing/2014/main" id="{DB5F793A-1707-364A-8955-ACA9B0CC328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4" y="2092"/>
              <a:ext cx="14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51" name="Line 9">
              <a:extLst>
                <a:ext uri="{FF2B5EF4-FFF2-40B4-BE49-F238E27FC236}">
                  <a16:creationId xmlns:a16="http://schemas.microsoft.com/office/drawing/2014/main" id="{14EA149D-B5AE-F947-BEB6-24FC667808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6" y="2468"/>
              <a:ext cx="7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52" name="Line 10">
              <a:extLst>
                <a:ext uri="{FF2B5EF4-FFF2-40B4-BE49-F238E27FC236}">
                  <a16:creationId xmlns:a16="http://schemas.microsoft.com/office/drawing/2014/main" id="{8B6C2DBF-FBF3-F843-84AD-4A6A38394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1674"/>
              <a:ext cx="0" cy="7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53" name="Oval 11">
              <a:extLst>
                <a:ext uri="{FF2B5EF4-FFF2-40B4-BE49-F238E27FC236}">
                  <a16:creationId xmlns:a16="http://schemas.microsoft.com/office/drawing/2014/main" id="{1F167601-AF4D-E141-A613-E79265EC1E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0" y="2050"/>
              <a:ext cx="80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54" name="Oval 12">
              <a:extLst>
                <a:ext uri="{FF2B5EF4-FFF2-40B4-BE49-F238E27FC236}">
                  <a16:creationId xmlns:a16="http://schemas.microsoft.com/office/drawing/2014/main" id="{B7883C2D-20F4-1446-A90F-BD0833EB8C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0" y="2426"/>
              <a:ext cx="80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55" name="Oval 13">
              <a:extLst>
                <a:ext uri="{FF2B5EF4-FFF2-40B4-BE49-F238E27FC236}">
                  <a16:creationId xmlns:a16="http://schemas.microsoft.com/office/drawing/2014/main" id="{352316F8-37DB-FB49-A192-B114E858CB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8" y="2050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56" name="Oval 14">
              <a:extLst>
                <a:ext uri="{FF2B5EF4-FFF2-40B4-BE49-F238E27FC236}">
                  <a16:creationId xmlns:a16="http://schemas.microsoft.com/office/drawing/2014/main" id="{20697D03-D55F-A945-A6DE-0490D5E25C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2416"/>
              <a:ext cx="79" cy="8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57" name="Oval 15">
              <a:extLst>
                <a:ext uri="{FF2B5EF4-FFF2-40B4-BE49-F238E27FC236}">
                  <a16:creationId xmlns:a16="http://schemas.microsoft.com/office/drawing/2014/main" id="{B8CD94AC-8FDC-384D-BA68-50C739CA9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2050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58" name="Oval 16">
              <a:extLst>
                <a:ext uri="{FF2B5EF4-FFF2-40B4-BE49-F238E27FC236}">
                  <a16:creationId xmlns:a16="http://schemas.microsoft.com/office/drawing/2014/main" id="{B2F6D5E4-74C7-7543-ACD4-73D29E821C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2426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59" name="Oval 17">
              <a:extLst>
                <a:ext uri="{FF2B5EF4-FFF2-40B4-BE49-F238E27FC236}">
                  <a16:creationId xmlns:a16="http://schemas.microsoft.com/office/drawing/2014/main" id="{2F32E277-CD38-4347-9F35-0C5CCC4FA3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9" y="2426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60" name="Oval 19">
              <a:extLst>
                <a:ext uri="{FF2B5EF4-FFF2-40B4-BE49-F238E27FC236}">
                  <a16:creationId xmlns:a16="http://schemas.microsoft.com/office/drawing/2014/main" id="{D1A0D808-EA82-624C-87BF-80DFB98550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0" y="1632"/>
              <a:ext cx="80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61" name="Oval 20">
              <a:extLst>
                <a:ext uri="{FF2B5EF4-FFF2-40B4-BE49-F238E27FC236}">
                  <a16:creationId xmlns:a16="http://schemas.microsoft.com/office/drawing/2014/main" id="{3FFC76B2-8F02-6847-BFCA-14C2E4EA1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2050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62" name="Oval 21">
              <a:extLst>
                <a:ext uri="{FF2B5EF4-FFF2-40B4-BE49-F238E27FC236}">
                  <a16:creationId xmlns:a16="http://schemas.microsoft.com/office/drawing/2014/main" id="{22085FF9-DA19-204F-8108-B89635BB48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1632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63" name="Oval 22">
              <a:extLst>
                <a:ext uri="{FF2B5EF4-FFF2-40B4-BE49-F238E27FC236}">
                  <a16:creationId xmlns:a16="http://schemas.microsoft.com/office/drawing/2014/main" id="{6ECDFAC1-0A22-8642-A583-07F9351C21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050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64" name="Oval 23">
              <a:extLst>
                <a:ext uri="{FF2B5EF4-FFF2-40B4-BE49-F238E27FC236}">
                  <a16:creationId xmlns:a16="http://schemas.microsoft.com/office/drawing/2014/main" id="{EC4BDD4C-7274-9C4A-8B6A-A737426D45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426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65" name="Oval 24">
              <a:extLst>
                <a:ext uri="{FF2B5EF4-FFF2-40B4-BE49-F238E27FC236}">
                  <a16:creationId xmlns:a16="http://schemas.microsoft.com/office/drawing/2014/main" id="{9F2FAE99-7E1A-A744-B540-3015038C87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632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266" name="Line 42">
              <a:extLst>
                <a:ext uri="{FF2B5EF4-FFF2-40B4-BE49-F238E27FC236}">
                  <a16:creationId xmlns:a16="http://schemas.microsoft.com/office/drawing/2014/main" id="{4CA0C78A-72B1-D343-85B5-AEFB590159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4" y="21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9F5831C0-90BE-5148-86B2-CE74E0CF6C4E}"/>
              </a:ext>
            </a:extLst>
          </p:cNvPr>
          <p:cNvSpPr txBox="1"/>
          <p:nvPr/>
        </p:nvSpPr>
        <p:spPr>
          <a:xfrm>
            <a:off x="4870173" y="247269"/>
            <a:ext cx="3969027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1) G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是树。</a:t>
            </a:r>
            <a:endParaRPr kumimoji="0" lang="en-US" altLang="zh-CN" sz="18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90000"/>
              </a:lnSpc>
            </a:pP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4) 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不含回路，并且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有(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n-1)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条边。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Number Placeholder 5">
            <a:extLst>
              <a:ext uri="{FF2B5EF4-FFF2-40B4-BE49-F238E27FC236}">
                <a16:creationId xmlns:a16="http://schemas.microsoft.com/office/drawing/2014/main" id="{84FE415C-FCA2-4C44-BD07-252223ECDA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8E7EF71-4E93-F845-85DC-522952C7E72F}" type="slidenum">
              <a:rPr kumimoji="0" lang="zh-CN" altLang="en-US" sz="1200"/>
              <a:pPr/>
              <a:t>10</a:t>
            </a:fld>
            <a:endParaRPr kumimoji="0" lang="en-US" altLang="zh-CN" sz="1200"/>
          </a:p>
        </p:txBody>
      </p:sp>
      <p:sp>
        <p:nvSpPr>
          <p:cNvPr id="103426" name="Rectangle 2">
            <a:extLst>
              <a:ext uri="{FF2B5EF4-FFF2-40B4-BE49-F238E27FC236}">
                <a16:creationId xmlns:a16="http://schemas.microsoft.com/office/drawing/2014/main" id="{A4289ACA-8874-C146-A471-30B3CAED22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黑体" charset="0"/>
                <a:ea typeface="楷体_GB2312" charset="0"/>
                <a:cs typeface="+mj-cs"/>
              </a:rPr>
              <a:t>证明：</a:t>
            </a:r>
            <a:endParaRPr lang="en-US" altLang="zh-CN" sz="6000" dirty="0">
              <a:latin typeface="黑体" charset="0"/>
              <a:ea typeface="楷体_GB2312" charset="0"/>
              <a:cs typeface="+mj-cs"/>
            </a:endParaRP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0A88A087-45A2-A444-81B1-78C88D430C0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2057400"/>
            <a:ext cx="8915400" cy="4114800"/>
          </a:xfrm>
        </p:spPr>
        <p:txBody>
          <a:bodyPr/>
          <a:lstStyle/>
          <a:p>
            <a:pPr marL="452438" indent="-452438"/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无回路，所以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无回路。</a:t>
            </a:r>
          </a:p>
          <a:p>
            <a:pPr marL="452438" indent="-452438"/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连通，所以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中任意两点间有路连接。</a:t>
            </a:r>
          </a:p>
          <a:p>
            <a:pPr marL="452438" indent="-452438"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因为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恰有一相邻点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故点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只能出现在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中任意一条路的两端，而不能出现在中间。所以边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只能出现在任何一条路的两端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所以删去点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和边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剩下的图中任意两点间仍有路，故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连通。</a:t>
            </a:r>
          </a:p>
          <a:p>
            <a:pPr marL="452438" indent="-452438"/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因此，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是树。由归纳假设，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有(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n-1)-1 = (n-2)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条边。故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有(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n-2)+1=(n-1)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条边。 </a:t>
            </a:r>
          </a:p>
        </p:txBody>
      </p:sp>
      <p:grpSp>
        <p:nvGrpSpPr>
          <p:cNvPr id="103428" name="Group 4">
            <a:extLst>
              <a:ext uri="{FF2B5EF4-FFF2-40B4-BE49-F238E27FC236}">
                <a16:creationId xmlns:a16="http://schemas.microsoft.com/office/drawing/2014/main" id="{A8A0DE69-12C5-E844-91D8-A368F8D3A18F}"/>
              </a:ext>
            </a:extLst>
          </p:cNvPr>
          <p:cNvGrpSpPr>
            <a:grpSpLocks/>
          </p:cNvGrpSpPr>
          <p:nvPr/>
        </p:nvGrpSpPr>
        <p:grpSpPr bwMode="auto">
          <a:xfrm>
            <a:off x="7443788" y="1447800"/>
            <a:ext cx="522287" cy="1036638"/>
            <a:chOff x="4833" y="2448"/>
            <a:chExt cx="329" cy="653"/>
          </a:xfrm>
        </p:grpSpPr>
        <p:sp>
          <p:nvSpPr>
            <p:cNvPr id="11292" name="Line 5">
              <a:extLst>
                <a:ext uri="{FF2B5EF4-FFF2-40B4-BE49-F238E27FC236}">
                  <a16:creationId xmlns:a16="http://schemas.microsoft.com/office/drawing/2014/main" id="{710DD01D-5E2A-7840-B73E-CF997BEF5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8" y="2448"/>
              <a:ext cx="0" cy="4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1293" name="Oval 6">
              <a:extLst>
                <a:ext uri="{FF2B5EF4-FFF2-40B4-BE49-F238E27FC236}">
                  <a16:creationId xmlns:a16="http://schemas.microsoft.com/office/drawing/2014/main" id="{A8511F10-CE49-7F4D-97E6-14A585DF75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2844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3431" name="Text Box 7">
              <a:extLst>
                <a:ext uri="{FF2B5EF4-FFF2-40B4-BE49-F238E27FC236}">
                  <a16:creationId xmlns:a16="http://schemas.microsoft.com/office/drawing/2014/main" id="{A34F3490-3F47-D144-B563-88C5335154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2832"/>
              <a:ext cx="21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</a:t>
              </a:r>
            </a:p>
          </p:txBody>
        </p:sp>
      </p:grpSp>
      <p:sp>
        <p:nvSpPr>
          <p:cNvPr id="103432" name="Text Box 8">
            <a:extLst>
              <a:ext uri="{FF2B5EF4-FFF2-40B4-BE49-F238E27FC236}">
                <a16:creationId xmlns:a16="http://schemas.microsoft.com/office/drawing/2014/main" id="{DAC49D01-A42F-5440-BB3B-06B56D0CB4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1425" y="1401763"/>
            <a:ext cx="561975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n-1</a:t>
            </a:r>
          </a:p>
        </p:txBody>
      </p:sp>
      <p:sp>
        <p:nvSpPr>
          <p:cNvPr id="11271" name="Line 10">
            <a:extLst>
              <a:ext uri="{FF2B5EF4-FFF2-40B4-BE49-F238E27FC236}">
                <a16:creationId xmlns:a16="http://schemas.microsoft.com/office/drawing/2014/main" id="{9340523B-FD90-274F-96B8-D48BAEFA2A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778500" y="219075"/>
            <a:ext cx="0" cy="1193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72" name="Line 11">
            <a:extLst>
              <a:ext uri="{FF2B5EF4-FFF2-40B4-BE49-F238E27FC236}">
                <a16:creationId xmlns:a16="http://schemas.microsoft.com/office/drawing/2014/main" id="{6186FEFF-19F4-C54D-AC55-11E2A3C9FB2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3650" y="219075"/>
            <a:ext cx="5651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73" name="Line 12">
            <a:extLst>
              <a:ext uri="{FF2B5EF4-FFF2-40B4-BE49-F238E27FC236}">
                <a16:creationId xmlns:a16="http://schemas.microsoft.com/office/drawing/2014/main" id="{BC7BDB22-0B23-214C-A0FB-D22D83180F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78500" y="882650"/>
            <a:ext cx="1155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74" name="Line 13">
            <a:extLst>
              <a:ext uri="{FF2B5EF4-FFF2-40B4-BE49-F238E27FC236}">
                <a16:creationId xmlns:a16="http://schemas.microsoft.com/office/drawing/2014/main" id="{10016D81-92D1-5A42-A78D-9A708EF4CC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8800" y="1479550"/>
            <a:ext cx="1195388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75" name="Line 14">
            <a:extLst>
              <a:ext uri="{FF2B5EF4-FFF2-40B4-BE49-F238E27FC236}">
                <a16:creationId xmlns:a16="http://schemas.microsoft.com/office/drawing/2014/main" id="{BB9FB6D2-2424-A94D-9CDF-983F03B9FC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343650" y="219075"/>
            <a:ext cx="0" cy="1193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76" name="Oval 15">
            <a:extLst>
              <a:ext uri="{FF2B5EF4-FFF2-40B4-BE49-F238E27FC236}">
                <a16:creationId xmlns:a16="http://schemas.microsoft.com/office/drawing/2014/main" id="{1C07525B-1019-9343-A693-D9A1A37800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150" y="815975"/>
            <a:ext cx="127000" cy="1333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77" name="Oval 16">
            <a:extLst>
              <a:ext uri="{FF2B5EF4-FFF2-40B4-BE49-F238E27FC236}">
                <a16:creationId xmlns:a16="http://schemas.microsoft.com/office/drawing/2014/main" id="{D5FC23EC-ED90-E548-BD52-7FF5CE5481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150" y="1412875"/>
            <a:ext cx="127000" cy="1333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78" name="Oval 17">
            <a:extLst>
              <a:ext uri="{FF2B5EF4-FFF2-40B4-BE49-F238E27FC236}">
                <a16:creationId xmlns:a16="http://schemas.microsoft.com/office/drawing/2014/main" id="{B02A92EE-7DC4-4346-8346-97E696593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1725" y="815975"/>
            <a:ext cx="125413" cy="1333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79" name="Oval 18">
            <a:extLst>
              <a:ext uri="{FF2B5EF4-FFF2-40B4-BE49-F238E27FC236}">
                <a16:creationId xmlns:a16="http://schemas.microsoft.com/office/drawing/2014/main" id="{93700E56-0885-E744-B548-72DE94163D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43788" y="1397000"/>
            <a:ext cx="125412" cy="1317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80" name="Oval 19">
            <a:extLst>
              <a:ext uri="{FF2B5EF4-FFF2-40B4-BE49-F238E27FC236}">
                <a16:creationId xmlns:a16="http://schemas.microsoft.com/office/drawing/2014/main" id="{2E04AF19-F6D5-3D45-955E-B1D26D0D1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6888" y="815975"/>
            <a:ext cx="125412" cy="1333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81" name="Oval 20">
            <a:extLst>
              <a:ext uri="{FF2B5EF4-FFF2-40B4-BE49-F238E27FC236}">
                <a16:creationId xmlns:a16="http://schemas.microsoft.com/office/drawing/2014/main" id="{930583F4-AAAA-004F-862A-ECB1599748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6888" y="1412875"/>
            <a:ext cx="125412" cy="1333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82" name="Oval 21">
            <a:extLst>
              <a:ext uri="{FF2B5EF4-FFF2-40B4-BE49-F238E27FC236}">
                <a16:creationId xmlns:a16="http://schemas.microsoft.com/office/drawing/2014/main" id="{A003CE0F-B949-EC40-B509-F06BE875F6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0688" y="1412875"/>
            <a:ext cx="125412" cy="1333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83" name="Oval 22">
            <a:extLst>
              <a:ext uri="{FF2B5EF4-FFF2-40B4-BE49-F238E27FC236}">
                <a16:creationId xmlns:a16="http://schemas.microsoft.com/office/drawing/2014/main" id="{2D628AB0-B19B-D54E-8DD2-19DBDB18F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80150" y="152400"/>
            <a:ext cx="127000" cy="1333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84" name="Oval 23">
            <a:extLst>
              <a:ext uri="{FF2B5EF4-FFF2-40B4-BE49-F238E27FC236}">
                <a16:creationId xmlns:a16="http://schemas.microsoft.com/office/drawing/2014/main" id="{E96ECDB7-1582-ED4B-9379-4109F76445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04188" y="815975"/>
            <a:ext cx="125412" cy="1333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85" name="Oval 24">
            <a:extLst>
              <a:ext uri="{FF2B5EF4-FFF2-40B4-BE49-F238E27FC236}">
                <a16:creationId xmlns:a16="http://schemas.microsoft.com/office/drawing/2014/main" id="{C81988DD-F157-1744-965D-2C9AF26AE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46888" y="152400"/>
            <a:ext cx="125412" cy="1333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86" name="Oval 25">
            <a:extLst>
              <a:ext uri="{FF2B5EF4-FFF2-40B4-BE49-F238E27FC236}">
                <a16:creationId xmlns:a16="http://schemas.microsoft.com/office/drawing/2014/main" id="{77EC70DE-BF4F-AC47-81D7-437FCFEA1A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815975"/>
            <a:ext cx="125413" cy="1333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87" name="Oval 26">
            <a:extLst>
              <a:ext uri="{FF2B5EF4-FFF2-40B4-BE49-F238E27FC236}">
                <a16:creationId xmlns:a16="http://schemas.microsoft.com/office/drawing/2014/main" id="{3065462E-E1A6-6B42-BF5E-3A50AE133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412875"/>
            <a:ext cx="125413" cy="1333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88" name="Oval 27">
            <a:extLst>
              <a:ext uri="{FF2B5EF4-FFF2-40B4-BE49-F238E27FC236}">
                <a16:creationId xmlns:a16="http://schemas.microsoft.com/office/drawing/2014/main" id="{424A7595-5F11-D546-A136-BAD26EE364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52400"/>
            <a:ext cx="125413" cy="1333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89" name="Line 28">
            <a:extLst>
              <a:ext uri="{FF2B5EF4-FFF2-40B4-BE49-F238E27FC236}">
                <a16:creationId xmlns:a16="http://schemas.microsoft.com/office/drawing/2014/main" id="{376DCD7D-48A5-7747-B2F1-BC6C255055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508875" y="914400"/>
            <a:ext cx="0" cy="533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03453" name="Line 29">
            <a:extLst>
              <a:ext uri="{FF2B5EF4-FFF2-40B4-BE49-F238E27FC236}">
                <a16:creationId xmlns:a16="http://schemas.microsoft.com/office/drawing/2014/main" id="{BE64EB83-5CAE-D54E-AC37-5DCC7F1075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934200" y="877888"/>
            <a:ext cx="609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1291" name="Line 30">
            <a:extLst>
              <a:ext uri="{FF2B5EF4-FFF2-40B4-BE49-F238E27FC236}">
                <a16:creationId xmlns:a16="http://schemas.microsoft.com/office/drawing/2014/main" id="{C3981A75-AE0F-9344-8729-4F87FE50525D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877888"/>
            <a:ext cx="685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34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34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34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Number Placeholder 5">
            <a:extLst>
              <a:ext uri="{FF2B5EF4-FFF2-40B4-BE49-F238E27FC236}">
                <a16:creationId xmlns:a16="http://schemas.microsoft.com/office/drawing/2014/main" id="{EE5A0668-7607-9945-9214-45D2CBA8BE9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86057EA-6FC1-4743-B6DC-16FAAB01070D}" type="slidenum">
              <a:rPr kumimoji="0" lang="zh-CN" altLang="en-US" sz="1200"/>
              <a:pPr/>
              <a:t>11</a:t>
            </a:fld>
            <a:endParaRPr kumimoji="0" lang="en-US" altLang="zh-CN" sz="1200"/>
          </a:p>
        </p:txBody>
      </p:sp>
      <p:sp>
        <p:nvSpPr>
          <p:cNvPr id="104450" name="Rectangle 2">
            <a:extLst>
              <a:ext uri="{FF2B5EF4-FFF2-40B4-BE49-F238E27FC236}">
                <a16:creationId xmlns:a16="http://schemas.microsoft.com/office/drawing/2014/main" id="{714EE72F-7F94-094E-BDA2-2F36D29306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黑体" charset="0"/>
                <a:ea typeface="楷体_GB2312" charset="0"/>
                <a:cs typeface="+mj-cs"/>
              </a:rPr>
              <a:t>证明：</a:t>
            </a:r>
            <a:endParaRPr lang="en-US" altLang="zh-CN" sz="6000" dirty="0">
              <a:latin typeface="黑体" charset="0"/>
              <a:ea typeface="楷体_GB2312" charset="0"/>
              <a:cs typeface="+mj-cs"/>
            </a:endParaRPr>
          </a:p>
        </p:txBody>
      </p:sp>
      <p:sp>
        <p:nvSpPr>
          <p:cNvPr id="104451" name="Rectangle 3">
            <a:extLst>
              <a:ext uri="{FF2B5EF4-FFF2-40B4-BE49-F238E27FC236}">
                <a16:creationId xmlns:a16="http://schemas.microsoft.com/office/drawing/2014/main" id="{C79A24E2-1485-A34F-AF25-072A34F9632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066800"/>
            <a:ext cx="8839200" cy="5486400"/>
          </a:xfrm>
        </p:spPr>
        <p:txBody>
          <a:bodyPr/>
          <a:lstStyle/>
          <a:p>
            <a:pPr marL="269875" indent="-269875"/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4)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</a:t>
            </a:r>
            <a:r>
              <a:rPr kumimoji="0" lang="zh-CN" altLang="en-US" sz="28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5)：</a:t>
            </a:r>
          </a:p>
          <a:p>
            <a:pPr marL="269875" indent="-269875"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已知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中无回路，有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个点，</a:t>
            </a:r>
            <a:b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n-1)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条边，往证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连通。</a:t>
            </a:r>
            <a:b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用归纳法。</a:t>
            </a:r>
          </a:p>
          <a:p>
            <a:pPr marL="809625" lvl="1" indent="-360363" algn="just">
              <a:buFont typeface="Wingdings" pitchFamily="2" charset="2"/>
              <a:buChar char="v"/>
            </a:pP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n=2，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命题显然。</a:t>
            </a:r>
          </a:p>
          <a:p>
            <a:pPr marL="809625" lvl="1" indent="-360363" algn="just">
              <a:buFont typeface="Wingdings" pitchFamily="2" charset="2"/>
              <a:buChar char="v"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假设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时, 命题成立。</a:t>
            </a:r>
          </a:p>
          <a:p>
            <a:pPr marL="809625" lvl="1" indent="-360363" algn="just">
              <a:buFont typeface="Wingdings" pitchFamily="2" charset="2"/>
              <a:buChar char="v"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个点。由引理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4.2.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1知，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中有点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恰有一相邻点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删去点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和边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得图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显然，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中仍无回路。但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有(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n-1)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个点，由归纳假设，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连通。因此，将点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和边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添入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得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G，G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仍连通。 </a:t>
            </a:r>
          </a:p>
        </p:txBody>
      </p:sp>
      <p:grpSp>
        <p:nvGrpSpPr>
          <p:cNvPr id="104452" name="Group 4">
            <a:extLst>
              <a:ext uri="{FF2B5EF4-FFF2-40B4-BE49-F238E27FC236}">
                <a16:creationId xmlns:a16="http://schemas.microsoft.com/office/drawing/2014/main" id="{7F483410-EBA5-E04D-836B-3506C7205EED}"/>
              </a:ext>
            </a:extLst>
          </p:cNvPr>
          <p:cNvGrpSpPr>
            <a:grpSpLocks/>
          </p:cNvGrpSpPr>
          <p:nvPr/>
        </p:nvGrpSpPr>
        <p:grpSpPr bwMode="auto">
          <a:xfrm>
            <a:off x="7367588" y="2925763"/>
            <a:ext cx="522287" cy="1036637"/>
            <a:chOff x="4833" y="2448"/>
            <a:chExt cx="329" cy="653"/>
          </a:xfrm>
        </p:grpSpPr>
        <p:sp>
          <p:nvSpPr>
            <p:cNvPr id="12315" name="Line 5">
              <a:extLst>
                <a:ext uri="{FF2B5EF4-FFF2-40B4-BE49-F238E27FC236}">
                  <a16:creationId xmlns:a16="http://schemas.microsoft.com/office/drawing/2014/main" id="{0D515202-05AB-F642-8DAE-1186F8E2B9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8" y="2448"/>
              <a:ext cx="0" cy="40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16" name="Oval 6">
              <a:extLst>
                <a:ext uri="{FF2B5EF4-FFF2-40B4-BE49-F238E27FC236}">
                  <a16:creationId xmlns:a16="http://schemas.microsoft.com/office/drawing/2014/main" id="{6B5F7315-9881-5D4F-8566-CE94B68DB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2844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4455" name="Text Box 7">
              <a:extLst>
                <a:ext uri="{FF2B5EF4-FFF2-40B4-BE49-F238E27FC236}">
                  <a16:creationId xmlns:a16="http://schemas.microsoft.com/office/drawing/2014/main" id="{F08949C6-6AA6-A440-A01C-EC9A3AA68B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4" y="2832"/>
              <a:ext cx="218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kumimoji="0"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v</a:t>
              </a:r>
              <a:r>
                <a:rPr kumimoji="0"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</a:rPr>
                <a:t>n</a:t>
              </a:r>
            </a:p>
          </p:txBody>
        </p:sp>
      </p:grpSp>
      <p:sp>
        <p:nvSpPr>
          <p:cNvPr id="104456" name="Text Box 8">
            <a:extLst>
              <a:ext uri="{FF2B5EF4-FFF2-40B4-BE49-F238E27FC236}">
                <a16:creationId xmlns:a16="http://schemas.microsoft.com/office/drawing/2014/main" id="{E2E5D983-338C-AE4D-9AB4-1C15FA966B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2879725"/>
            <a:ext cx="561975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</a:rPr>
              <a:t>v</a:t>
            </a:r>
            <a:r>
              <a:rPr kumimoji="0"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</a:rPr>
              <a:t>n-1</a:t>
            </a:r>
          </a:p>
        </p:txBody>
      </p:sp>
      <p:grpSp>
        <p:nvGrpSpPr>
          <p:cNvPr id="104457" name="Group 9">
            <a:extLst>
              <a:ext uri="{FF2B5EF4-FFF2-40B4-BE49-F238E27FC236}">
                <a16:creationId xmlns:a16="http://schemas.microsoft.com/office/drawing/2014/main" id="{A54BAE26-E755-A64F-AB2D-555204154D58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1630363"/>
            <a:ext cx="2514600" cy="1393825"/>
            <a:chOff x="3744" y="1632"/>
            <a:chExt cx="1584" cy="878"/>
          </a:xfrm>
        </p:grpSpPr>
        <p:sp>
          <p:nvSpPr>
            <p:cNvPr id="12296" name="Line 10">
              <a:extLst>
                <a:ext uri="{FF2B5EF4-FFF2-40B4-BE49-F238E27FC236}">
                  <a16:creationId xmlns:a16="http://schemas.microsoft.com/office/drawing/2014/main" id="{B374954C-657B-9045-B3F5-872B470846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4" y="1674"/>
              <a:ext cx="0" cy="7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297" name="Line 11">
              <a:extLst>
                <a:ext uri="{FF2B5EF4-FFF2-40B4-BE49-F238E27FC236}">
                  <a16:creationId xmlns:a16="http://schemas.microsoft.com/office/drawing/2014/main" id="{6121E7E9-7400-D040-A558-E084A3F7F6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40" y="1674"/>
              <a:ext cx="35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298" name="Line 12">
              <a:extLst>
                <a:ext uri="{FF2B5EF4-FFF2-40B4-BE49-F238E27FC236}">
                  <a16:creationId xmlns:a16="http://schemas.microsoft.com/office/drawing/2014/main" id="{DB2A2EC2-B987-DB45-8D2F-31D4DC756C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84" y="2092"/>
              <a:ext cx="146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299" name="Line 13">
              <a:extLst>
                <a:ext uri="{FF2B5EF4-FFF2-40B4-BE49-F238E27FC236}">
                  <a16:creationId xmlns:a16="http://schemas.microsoft.com/office/drawing/2014/main" id="{82EAA291-0628-1849-9A5C-75C7CCE28B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496" y="2468"/>
              <a:ext cx="75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00" name="Line 14">
              <a:extLst>
                <a:ext uri="{FF2B5EF4-FFF2-40B4-BE49-F238E27FC236}">
                  <a16:creationId xmlns:a16="http://schemas.microsoft.com/office/drawing/2014/main" id="{FC6EEF4B-5EC9-3547-AD20-705272133F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40" y="1674"/>
              <a:ext cx="0" cy="7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01" name="Oval 15">
              <a:extLst>
                <a:ext uri="{FF2B5EF4-FFF2-40B4-BE49-F238E27FC236}">
                  <a16:creationId xmlns:a16="http://schemas.microsoft.com/office/drawing/2014/main" id="{63D2101D-D558-8B4F-BFA8-F150FE406C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0" y="2050"/>
              <a:ext cx="80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02" name="Oval 16">
              <a:extLst>
                <a:ext uri="{FF2B5EF4-FFF2-40B4-BE49-F238E27FC236}">
                  <a16:creationId xmlns:a16="http://schemas.microsoft.com/office/drawing/2014/main" id="{CB8ECFAE-8401-CB40-9FF8-B0DEBA9EAF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0" y="2426"/>
              <a:ext cx="80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03" name="Oval 17">
              <a:extLst>
                <a:ext uri="{FF2B5EF4-FFF2-40B4-BE49-F238E27FC236}">
                  <a16:creationId xmlns:a16="http://schemas.microsoft.com/office/drawing/2014/main" id="{722782A4-D590-BD41-A8F1-0917ECA1BC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8" y="2050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04" name="Oval 18">
              <a:extLst>
                <a:ext uri="{FF2B5EF4-FFF2-40B4-BE49-F238E27FC236}">
                  <a16:creationId xmlns:a16="http://schemas.microsoft.com/office/drawing/2014/main" id="{3017C9F0-E45F-0645-A3A2-EEA266E882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3" y="2416"/>
              <a:ext cx="79" cy="8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05" name="Oval 19">
              <a:extLst>
                <a:ext uri="{FF2B5EF4-FFF2-40B4-BE49-F238E27FC236}">
                  <a16:creationId xmlns:a16="http://schemas.microsoft.com/office/drawing/2014/main" id="{454075E3-09A1-5D47-A19A-0ED4BB53E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2050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06" name="Oval 20">
              <a:extLst>
                <a:ext uri="{FF2B5EF4-FFF2-40B4-BE49-F238E27FC236}">
                  <a16:creationId xmlns:a16="http://schemas.microsoft.com/office/drawing/2014/main" id="{F5A120D6-4D6E-694B-B9A3-5A88E944C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2426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07" name="Oval 21">
              <a:extLst>
                <a:ext uri="{FF2B5EF4-FFF2-40B4-BE49-F238E27FC236}">
                  <a16:creationId xmlns:a16="http://schemas.microsoft.com/office/drawing/2014/main" id="{5F6086FD-ED06-4A47-AB8E-C9DAAF81A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09" y="2426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08" name="Oval 22">
              <a:extLst>
                <a:ext uri="{FF2B5EF4-FFF2-40B4-BE49-F238E27FC236}">
                  <a16:creationId xmlns:a16="http://schemas.microsoft.com/office/drawing/2014/main" id="{97EAFE57-FD91-4E42-A3CC-8A664ACA5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0" y="1632"/>
              <a:ext cx="80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09" name="Oval 23">
              <a:extLst>
                <a:ext uri="{FF2B5EF4-FFF2-40B4-BE49-F238E27FC236}">
                  <a16:creationId xmlns:a16="http://schemas.microsoft.com/office/drawing/2014/main" id="{2A6B9754-8331-2B45-B87D-6A9855FF98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2050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10" name="Oval 24">
              <a:extLst>
                <a:ext uri="{FF2B5EF4-FFF2-40B4-BE49-F238E27FC236}">
                  <a16:creationId xmlns:a16="http://schemas.microsoft.com/office/drawing/2014/main" id="{F2FD7039-DE30-7B4C-8A69-7F419894C3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7" y="1632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11" name="Oval 25">
              <a:extLst>
                <a:ext uri="{FF2B5EF4-FFF2-40B4-BE49-F238E27FC236}">
                  <a16:creationId xmlns:a16="http://schemas.microsoft.com/office/drawing/2014/main" id="{53D7ED1C-3664-0947-A41B-D7BFA074C1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050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12" name="Oval 26">
              <a:extLst>
                <a:ext uri="{FF2B5EF4-FFF2-40B4-BE49-F238E27FC236}">
                  <a16:creationId xmlns:a16="http://schemas.microsoft.com/office/drawing/2014/main" id="{3DBC3AB5-25BD-CB47-BC2F-8BF56CE073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2426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13" name="Oval 27">
              <a:extLst>
                <a:ext uri="{FF2B5EF4-FFF2-40B4-BE49-F238E27FC236}">
                  <a16:creationId xmlns:a16="http://schemas.microsoft.com/office/drawing/2014/main" id="{8E7A17D3-1A0F-FF4D-B486-21A4FDF132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4" y="1632"/>
              <a:ext cx="79" cy="84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2314" name="Line 28">
              <a:extLst>
                <a:ext uri="{FF2B5EF4-FFF2-40B4-BE49-F238E27FC236}">
                  <a16:creationId xmlns:a16="http://schemas.microsoft.com/office/drawing/2014/main" id="{A33E4724-4AB1-8B4E-ADBA-7802FE5A07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4" y="2112"/>
              <a:ext cx="0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31" name="文本框 30">
            <a:extLst>
              <a:ext uri="{FF2B5EF4-FFF2-40B4-BE49-F238E27FC236}">
                <a16:creationId xmlns:a16="http://schemas.microsoft.com/office/drawing/2014/main" id="{086D3787-DC1B-FD46-8C9C-CC248F7694CD}"/>
              </a:ext>
            </a:extLst>
          </p:cNvPr>
          <p:cNvSpPr txBox="1"/>
          <p:nvPr/>
        </p:nvSpPr>
        <p:spPr>
          <a:xfrm>
            <a:off x="4724400" y="152400"/>
            <a:ext cx="4070625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2425" indent="-352425" algn="just">
              <a:lnSpc>
                <a:spcPct val="90000"/>
              </a:lnSpc>
              <a:buFont typeface="Wingdings" pitchFamily="2" charset="2"/>
              <a:buAutoNum type="arabicParenR" startAt="4"/>
            </a:pP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不含回路，并且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有(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n-1)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条边。</a:t>
            </a:r>
          </a:p>
          <a:p>
            <a:pPr marL="352425" indent="-352425" algn="just">
              <a:lnSpc>
                <a:spcPct val="90000"/>
              </a:lnSpc>
              <a:buFont typeface="Wingdings" pitchFamily="2" charset="2"/>
              <a:buAutoNum type="arabicParenR" startAt="4"/>
            </a:pP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连通，并且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有(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n-1)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条边。 </a:t>
            </a:r>
            <a:endParaRPr lang="zh-CN" altLang="en-US" dirty="0"/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4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44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44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445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4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1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445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4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xit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Number Placeholder 5">
            <a:extLst>
              <a:ext uri="{FF2B5EF4-FFF2-40B4-BE49-F238E27FC236}">
                <a16:creationId xmlns:a16="http://schemas.microsoft.com/office/drawing/2014/main" id="{FEE83487-F463-7B42-B50A-84705B112E6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C42D95A-CD81-5343-AD5E-8AD3BFC06C0C}" type="slidenum">
              <a:rPr kumimoji="0" lang="zh-CN" altLang="en-US" sz="1200"/>
              <a:pPr/>
              <a:t>12</a:t>
            </a:fld>
            <a:endParaRPr kumimoji="0" lang="en-US" altLang="zh-CN" sz="1200"/>
          </a:p>
        </p:txBody>
      </p:sp>
      <p:sp>
        <p:nvSpPr>
          <p:cNvPr id="105474" name="Rectangle 2">
            <a:extLst>
              <a:ext uri="{FF2B5EF4-FFF2-40B4-BE49-F238E27FC236}">
                <a16:creationId xmlns:a16="http://schemas.microsoft.com/office/drawing/2014/main" id="{5AE0998F-753B-7744-81E4-10D3301F8F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823913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sz="6000" dirty="0">
                <a:latin typeface="黑体" charset="0"/>
                <a:ea typeface="楷体_GB2312" charset="0"/>
                <a:cs typeface="+mj-cs"/>
              </a:rPr>
              <a:t>证明：</a:t>
            </a:r>
            <a:endParaRPr lang="en-US" altLang="zh-CN" sz="6000" dirty="0">
              <a:latin typeface="黑体" charset="0"/>
              <a:ea typeface="楷体_GB2312" charset="0"/>
              <a:cs typeface="+mj-cs"/>
            </a:endParaRP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D4D372DD-9DF4-E043-B5AA-AA912A9A2F7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143000"/>
            <a:ext cx="8839200" cy="5257800"/>
          </a:xfrm>
        </p:spPr>
        <p:txBody>
          <a:bodyPr/>
          <a:lstStyle/>
          <a:p>
            <a:pPr marL="360363" indent="-360363">
              <a:lnSpc>
                <a:spcPct val="90000"/>
              </a:lnSpc>
            </a:pPr>
            <a:r>
              <a:rPr kumimoji="0"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5)</a:t>
            </a:r>
            <a:r>
              <a:rPr kumimoji="0"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</a:t>
            </a:r>
            <a:r>
              <a:rPr kumimoji="0" lang="zh-CN" altLang="en-US" sz="3200" dirty="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1)：</a:t>
            </a:r>
          </a:p>
          <a:p>
            <a:pPr marL="360363" indent="-360363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	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有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个点，(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n-1)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条边，并且连通，往证：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是树。显然，只需证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无回路即可。</a:t>
            </a:r>
          </a:p>
          <a:p>
            <a:pPr marL="360363" indent="-360363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	若不然，设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有一条回路，则删去回路中任一条边，所得之图仍连通。对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中每一条回路，都用此方法删去一边，最后得一个无回路但仍然连通的图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所以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是树。而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是由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删去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k(k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0)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条边所得，故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仍有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个点，所以由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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4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)知，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有</a:t>
            </a:r>
            <a:r>
              <a:rPr kumimoji="0" lang="en-US" altLang="zh-CN" sz="3200" dirty="0">
                <a:latin typeface="KaiTi" panose="02010609060101010101" pitchFamily="49" charset="-122"/>
                <a:ea typeface="KaiTi" panose="02010609060101010101" pitchFamily="49" charset="-122"/>
              </a:rPr>
              <a:t>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)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条边，但是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有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n-1-k)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条边，而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n-1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n-1-k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(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因为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</a:t>
            </a:r>
            <a:r>
              <a:rPr kumimoji="0" lang="en-US" altLang="zh-CN" sz="3200" dirty="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 dirty="0">
                <a:latin typeface="宋体" panose="02010600030101010101" pitchFamily="2" charset="-122"/>
                <a:ea typeface="楷体_GB2312" pitchFamily="49" charset="-122"/>
              </a:rPr>
              <a:t>)，</a:t>
            </a: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矛盾。</a:t>
            </a:r>
          </a:p>
          <a:p>
            <a:pPr marL="360363" indent="-360363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 dirty="0">
                <a:latin typeface="宋体" panose="02010600030101010101" pitchFamily="2" charset="-122"/>
                <a:ea typeface="楷体_GB2312" pitchFamily="49" charset="-122"/>
              </a:rPr>
              <a:t>	定理证毕。</a:t>
            </a:r>
            <a:r>
              <a:rPr kumimoji="0" lang="zh-CN" altLang="en-US" sz="3200" dirty="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0358B35-AFFD-3A41-A204-5D83C90A89A1}"/>
              </a:ext>
            </a:extLst>
          </p:cNvPr>
          <p:cNvSpPr txBox="1"/>
          <p:nvPr/>
        </p:nvSpPr>
        <p:spPr>
          <a:xfrm>
            <a:off x="4724400" y="152400"/>
            <a:ext cx="4070625" cy="59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90000"/>
              </a:lnSpc>
            </a:pP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1) G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是树。</a:t>
            </a:r>
            <a:endParaRPr kumimoji="0" lang="zh-CN" altLang="en-US" sz="18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algn="just">
              <a:lnSpc>
                <a:spcPct val="90000"/>
              </a:lnSpc>
            </a:pP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5</a:t>
            </a:r>
            <a:r>
              <a:rPr lang="en-US" altLang="zh-CN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连通，并且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有(</a:t>
            </a:r>
            <a:r>
              <a:rPr kumimoji="0" lang="en-US" altLang="zh-CN" sz="1800" dirty="0">
                <a:latin typeface="Times New Roman" panose="02020603050405020304" pitchFamily="18" charset="0"/>
                <a:ea typeface="楷体_GB2312" pitchFamily="49" charset="-122"/>
              </a:rPr>
              <a:t>n-1)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</a:rPr>
              <a:t>条边。 </a:t>
            </a:r>
            <a:endParaRPr lang="zh-CN" altLang="en-US" dirty="0"/>
          </a:p>
        </p:txBody>
      </p:sp>
    </p:spTree>
  </p:cSld>
  <p:clrMapOvr>
    <a:masterClrMapping/>
  </p:clrMapOvr>
  <p:transition>
    <p:blinds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Number Placeholder 5">
            <a:extLst>
              <a:ext uri="{FF2B5EF4-FFF2-40B4-BE49-F238E27FC236}">
                <a16:creationId xmlns:a16="http://schemas.microsoft.com/office/drawing/2014/main" id="{911357F7-442B-3440-BE1C-2A568C75459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B32B47A-EC75-0F48-840F-B04B38EE0E98}" type="slidenum">
              <a:rPr kumimoji="0" lang="zh-CN" altLang="en-US" sz="1200"/>
              <a:pPr/>
              <a:t>13</a:t>
            </a:fld>
            <a:endParaRPr kumimoji="0" lang="en-US" altLang="zh-CN" sz="1200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DC6BD904-0085-4C47-9399-9681CECDA32B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52400" y="1143000"/>
            <a:ext cx="8839200" cy="4724400"/>
          </a:xfrm>
        </p:spPr>
        <p:txBody>
          <a:bodyPr/>
          <a:lstStyle/>
          <a:p>
            <a:pPr marL="0" indent="0">
              <a:buFont typeface="Wingdings" pitchFamily="2" charset="2"/>
              <a:buNone/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推论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4.2.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 任意有限连通图必有一支撑子图是树。</a:t>
            </a:r>
          </a:p>
          <a:p>
            <a:pPr marL="0" indent="0"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今后，此支撑子图称为母图的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支撑树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0" indent="0">
              <a:buFont typeface="Wingdings" pitchFamily="2" charset="2"/>
              <a:buNone/>
            </a:pP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推论</a:t>
            </a:r>
            <a:r>
              <a:rPr kumimoji="0" lang="en-US" altLang="zh-CN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4.2.2</a:t>
            </a:r>
            <a:r>
              <a:rPr kumimoji="0" lang="zh-CN" altLang="en-US" sz="3200">
                <a:solidFill>
                  <a:srgbClr val="FFFF00"/>
                </a:solidFill>
                <a:latin typeface="Times New Roman" panose="02020603050405020304" pitchFamily="18" charset="0"/>
                <a:ea typeface="楷体_GB2312" pitchFamily="49" charset="-122"/>
              </a:rPr>
              <a:t>  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是有限图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的支撑树，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vv’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中一边，且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vv’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不在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中，则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添上边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vv’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后必有回路。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0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0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Number Placeholder 5">
            <a:extLst>
              <a:ext uri="{FF2B5EF4-FFF2-40B4-BE49-F238E27FC236}">
                <a16:creationId xmlns:a16="http://schemas.microsoft.com/office/drawing/2014/main" id="{C1AD0E43-CF32-0648-BD8A-356340FFC4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2BC52F0-7840-D241-AB8E-F1542DEDD542}" type="slidenum">
              <a:rPr kumimoji="0" lang="zh-CN" altLang="en-US" sz="1200"/>
              <a:pPr/>
              <a:t>14</a:t>
            </a:fld>
            <a:endParaRPr kumimoji="0" lang="en-US" altLang="zh-CN" sz="1200"/>
          </a:p>
        </p:txBody>
      </p:sp>
      <p:sp>
        <p:nvSpPr>
          <p:cNvPr id="107522" name="Rectangle 2">
            <a:extLst>
              <a:ext uri="{FF2B5EF4-FFF2-40B4-BE49-F238E27FC236}">
                <a16:creationId xmlns:a16="http://schemas.microsoft.com/office/drawing/2014/main" id="{ED51FE89-6C87-9648-82D8-23FDE10543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200" y="381000"/>
            <a:ext cx="89916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§4.2.</a:t>
            </a:r>
            <a:r>
              <a:rPr lang="zh-CN" altLang="en-US" dirty="0">
                <a:latin typeface="Times New Roman" charset="0"/>
                <a:ea typeface="楷体_GB2312" charset="0"/>
                <a:cs typeface="Times New Roman" charset="0"/>
              </a:rPr>
              <a:t>2 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最优树 </a:t>
            </a:r>
            <a:r>
              <a:rPr lang="en-US" altLang="zh-CN" dirty="0" err="1">
                <a:latin typeface="Times New Roman" charset="0"/>
                <a:ea typeface="楷体_GB2312" charset="0"/>
                <a:cs typeface="Times New Roman" charset="0"/>
              </a:rPr>
              <a:t>Kruskal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算法</a:t>
            </a:r>
            <a:endParaRPr lang="zh-CN" altLang="en-US" dirty="0">
              <a:latin typeface="Times New Roman" charset="0"/>
              <a:ea typeface="楷体_GB2312" charset="0"/>
              <a:cs typeface="Times New Roman" charset="0"/>
            </a:endParaRP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A6F84627-FD89-D243-924F-AAFE28D5D3D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447800"/>
            <a:ext cx="8382000" cy="5105400"/>
          </a:xfrm>
        </p:spPr>
        <p:txBody>
          <a:bodyPr/>
          <a:lstStyle/>
          <a:p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例：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铺设一个连接各个城市的光纤通信网络。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36868" name="Group 89">
            <a:extLst>
              <a:ext uri="{FF2B5EF4-FFF2-40B4-BE49-F238E27FC236}">
                <a16:creationId xmlns:a16="http://schemas.microsoft.com/office/drawing/2014/main" id="{26EF1AB0-DE8D-6542-A53B-FE47591E12B7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286000"/>
            <a:ext cx="7058025" cy="4040188"/>
            <a:chOff x="576" y="1296"/>
            <a:chExt cx="4446" cy="2545"/>
          </a:xfrm>
        </p:grpSpPr>
        <p:sp>
          <p:nvSpPr>
            <p:cNvPr id="107554" name="Text Box 34">
              <a:extLst>
                <a:ext uri="{FF2B5EF4-FFF2-40B4-BE49-F238E27FC236}">
                  <a16:creationId xmlns:a16="http://schemas.microsoft.com/office/drawing/2014/main" id="{CCD03D3E-BAEB-6146-B004-4C8952168A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436"/>
              <a:ext cx="27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b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5384" name="Line 35">
              <a:extLst>
                <a:ext uri="{FF2B5EF4-FFF2-40B4-BE49-F238E27FC236}">
                  <a16:creationId xmlns:a16="http://schemas.microsoft.com/office/drawing/2014/main" id="{8F6FCE9B-0F98-CD45-ADE6-5E187909F60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0" y="2523"/>
              <a:ext cx="1670" cy="9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85" name="Line 36">
              <a:extLst>
                <a:ext uri="{FF2B5EF4-FFF2-40B4-BE49-F238E27FC236}">
                  <a16:creationId xmlns:a16="http://schemas.microsoft.com/office/drawing/2014/main" id="{EF082F39-B8F1-E541-A4CE-D2C998AD176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0" y="1687"/>
              <a:ext cx="1670" cy="9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86" name="Line 37">
              <a:extLst>
                <a:ext uri="{FF2B5EF4-FFF2-40B4-BE49-F238E27FC236}">
                  <a16:creationId xmlns:a16="http://schemas.microsoft.com/office/drawing/2014/main" id="{61B021CE-F794-E543-BF3C-03F9006F0B4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39" y="2526"/>
              <a:ext cx="2563" cy="9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87" name="Line 38">
              <a:extLst>
                <a:ext uri="{FF2B5EF4-FFF2-40B4-BE49-F238E27FC236}">
                  <a16:creationId xmlns:a16="http://schemas.microsoft.com/office/drawing/2014/main" id="{BB36641A-7220-5A48-B266-08515F01066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931" y="1731"/>
              <a:ext cx="2719" cy="7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88" name="Line 39">
              <a:extLst>
                <a:ext uri="{FF2B5EF4-FFF2-40B4-BE49-F238E27FC236}">
                  <a16:creationId xmlns:a16="http://schemas.microsoft.com/office/drawing/2014/main" id="{DA4B67AA-B9C4-5A4D-A20E-5EE8D984759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05" y="1757"/>
              <a:ext cx="0" cy="1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89" name="Line 40">
              <a:extLst>
                <a:ext uri="{FF2B5EF4-FFF2-40B4-BE49-F238E27FC236}">
                  <a16:creationId xmlns:a16="http://schemas.microsoft.com/office/drawing/2014/main" id="{F50598B0-6BDB-4E4B-B81B-DC48B1D9C6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14" y="1757"/>
              <a:ext cx="0" cy="1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7561" name="Text Box 41">
              <a:extLst>
                <a:ext uri="{FF2B5EF4-FFF2-40B4-BE49-F238E27FC236}">
                  <a16:creationId xmlns:a16="http://schemas.microsoft.com/office/drawing/2014/main" id="{D84A6136-943B-6544-93A3-B63EA5167D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216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62" name="Text Box 42">
              <a:extLst>
                <a:ext uri="{FF2B5EF4-FFF2-40B4-BE49-F238E27FC236}">
                  <a16:creationId xmlns:a16="http://schemas.microsoft.com/office/drawing/2014/main" id="{CD650F6A-198B-0944-8E5F-4A6569615B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08" y="3437"/>
              <a:ext cx="24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63" name="Text Box 43">
              <a:extLst>
                <a:ext uri="{FF2B5EF4-FFF2-40B4-BE49-F238E27FC236}">
                  <a16:creationId xmlns:a16="http://schemas.microsoft.com/office/drawing/2014/main" id="{ED1EEC99-F7A9-8540-BFAB-49BA71D17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6" y="2331"/>
              <a:ext cx="27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d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64" name="Text Box 44">
              <a:extLst>
                <a:ext uri="{FF2B5EF4-FFF2-40B4-BE49-F238E27FC236}">
                  <a16:creationId xmlns:a16="http://schemas.microsoft.com/office/drawing/2014/main" id="{6ADA585A-67B0-8748-8DA3-A1A254BBA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1" y="1929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65" name="Text Box 45">
              <a:extLst>
                <a:ext uri="{FF2B5EF4-FFF2-40B4-BE49-F238E27FC236}">
                  <a16:creationId xmlns:a16="http://schemas.microsoft.com/office/drawing/2014/main" id="{D45FAB51-E443-6744-BFB6-81EA0D1022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00" y="336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66" name="Text Box 46">
              <a:extLst>
                <a:ext uri="{FF2B5EF4-FFF2-40B4-BE49-F238E27FC236}">
                  <a16:creationId xmlns:a16="http://schemas.microsoft.com/office/drawing/2014/main" id="{63A087DF-5F38-5B41-AEBB-0048E6DA5C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" y="287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5396" name="Line 47">
              <a:extLst>
                <a:ext uri="{FF2B5EF4-FFF2-40B4-BE49-F238E27FC236}">
                  <a16:creationId xmlns:a16="http://schemas.microsoft.com/office/drawing/2014/main" id="{057ADDD0-546E-1B40-9169-FD3D986338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9" y="2564"/>
              <a:ext cx="966" cy="9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97" name="Line 48">
              <a:extLst>
                <a:ext uri="{FF2B5EF4-FFF2-40B4-BE49-F238E27FC236}">
                  <a16:creationId xmlns:a16="http://schemas.microsoft.com/office/drawing/2014/main" id="{18BA2DB1-62B8-7549-9AAB-0B2DD6968D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3428"/>
              <a:ext cx="16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98" name="Line 49">
              <a:extLst>
                <a:ext uri="{FF2B5EF4-FFF2-40B4-BE49-F238E27FC236}">
                  <a16:creationId xmlns:a16="http://schemas.microsoft.com/office/drawing/2014/main" id="{F693B174-DCF6-954C-8426-3A4A243CE0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37" y="2549"/>
              <a:ext cx="1148" cy="9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99" name="Line 50">
              <a:extLst>
                <a:ext uri="{FF2B5EF4-FFF2-40B4-BE49-F238E27FC236}">
                  <a16:creationId xmlns:a16="http://schemas.microsoft.com/office/drawing/2014/main" id="{7FE4D0F3-CFC6-4645-A4B9-98F1DAEA1C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9" y="2564"/>
              <a:ext cx="37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400" name="Line 51">
              <a:extLst>
                <a:ext uri="{FF2B5EF4-FFF2-40B4-BE49-F238E27FC236}">
                  <a16:creationId xmlns:a16="http://schemas.microsoft.com/office/drawing/2014/main" id="{F27AF305-1989-C244-AAD0-4979F93B56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39" y="1728"/>
              <a:ext cx="966" cy="8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401" name="Line 52">
              <a:extLst>
                <a:ext uri="{FF2B5EF4-FFF2-40B4-BE49-F238E27FC236}">
                  <a16:creationId xmlns:a16="http://schemas.microsoft.com/office/drawing/2014/main" id="{7DF1C8B7-6032-6149-AFE6-5B12221462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5" y="1728"/>
              <a:ext cx="16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402" name="Line 53">
              <a:extLst>
                <a:ext uri="{FF2B5EF4-FFF2-40B4-BE49-F238E27FC236}">
                  <a16:creationId xmlns:a16="http://schemas.microsoft.com/office/drawing/2014/main" id="{285ADB8C-AB18-7546-B51C-8F051D794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7" y="1728"/>
              <a:ext cx="1148" cy="8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7580" name="Text Box 60">
              <a:extLst>
                <a:ext uri="{FF2B5EF4-FFF2-40B4-BE49-F238E27FC236}">
                  <a16:creationId xmlns:a16="http://schemas.microsoft.com/office/drawing/2014/main" id="{4744FC3C-5B77-EA4A-A5D6-CD14BDD86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296"/>
              <a:ext cx="237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f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81" name="Text Box 61">
              <a:extLst>
                <a:ext uri="{FF2B5EF4-FFF2-40B4-BE49-F238E27FC236}">
                  <a16:creationId xmlns:a16="http://schemas.microsoft.com/office/drawing/2014/main" id="{C75F5651-90DF-1540-88AB-0CDA85527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77" y="1296"/>
              <a:ext cx="244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84" name="Text Box 64">
              <a:extLst>
                <a:ext uri="{FF2B5EF4-FFF2-40B4-BE49-F238E27FC236}">
                  <a16:creationId xmlns:a16="http://schemas.microsoft.com/office/drawing/2014/main" id="{8C3C1D60-9FA9-E543-BA77-3E6ECEFFC5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14" y="2273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85" name="Text Box 65">
              <a:extLst>
                <a:ext uri="{FF2B5EF4-FFF2-40B4-BE49-F238E27FC236}">
                  <a16:creationId xmlns:a16="http://schemas.microsoft.com/office/drawing/2014/main" id="{F10258B2-D8A1-354A-B168-F304DFEA5E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0" y="201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86" name="Text Box 66">
              <a:extLst>
                <a:ext uri="{FF2B5EF4-FFF2-40B4-BE49-F238E27FC236}">
                  <a16:creationId xmlns:a16="http://schemas.microsoft.com/office/drawing/2014/main" id="{D0EF447F-AF22-4743-98E0-675C6D75F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2" y="293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87" name="Text Box 67">
              <a:extLst>
                <a:ext uri="{FF2B5EF4-FFF2-40B4-BE49-F238E27FC236}">
                  <a16:creationId xmlns:a16="http://schemas.microsoft.com/office/drawing/2014/main" id="{7D13C54D-ABC9-DD4F-998C-C9AD35D9EF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0" y="273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88" name="Text Box 68">
              <a:extLst>
                <a:ext uri="{FF2B5EF4-FFF2-40B4-BE49-F238E27FC236}">
                  <a16:creationId xmlns:a16="http://schemas.microsoft.com/office/drawing/2014/main" id="{F11CEB04-2864-F942-A526-ADF2108933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278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89" name="Text Box 69">
              <a:extLst>
                <a:ext uri="{FF2B5EF4-FFF2-40B4-BE49-F238E27FC236}">
                  <a16:creationId xmlns:a16="http://schemas.microsoft.com/office/drawing/2014/main" id="{94E087D8-496D-1943-BACF-8407BE367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6" y="283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90" name="Text Box 70">
              <a:extLst>
                <a:ext uri="{FF2B5EF4-FFF2-40B4-BE49-F238E27FC236}">
                  <a16:creationId xmlns:a16="http://schemas.microsoft.com/office/drawing/2014/main" id="{38A5879B-C9E9-144B-A8C2-738722D74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28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91" name="Text Box 71">
              <a:extLst>
                <a:ext uri="{FF2B5EF4-FFF2-40B4-BE49-F238E27FC236}">
                  <a16:creationId xmlns:a16="http://schemas.microsoft.com/office/drawing/2014/main" id="{83BCDE9A-AF08-814B-8AE2-8CDCC1DB54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01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92" name="Text Box 72">
              <a:extLst>
                <a:ext uri="{FF2B5EF4-FFF2-40B4-BE49-F238E27FC236}">
                  <a16:creationId xmlns:a16="http://schemas.microsoft.com/office/drawing/2014/main" id="{3CE6DF5D-5A0C-3145-8DA2-C8762E8514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72" y="201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93" name="Text Box 73">
              <a:extLst>
                <a:ext uri="{FF2B5EF4-FFF2-40B4-BE49-F238E27FC236}">
                  <a16:creationId xmlns:a16="http://schemas.microsoft.com/office/drawing/2014/main" id="{35ABB04E-8816-3C42-9565-A05BFC1952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192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94" name="Text Box 74">
              <a:extLst>
                <a:ext uri="{FF2B5EF4-FFF2-40B4-BE49-F238E27FC236}">
                  <a16:creationId xmlns:a16="http://schemas.microsoft.com/office/drawing/2014/main" id="{46B22578-4364-804B-804B-D02C856D2D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44" y="292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95" name="Text Box 75">
              <a:extLst>
                <a:ext uri="{FF2B5EF4-FFF2-40B4-BE49-F238E27FC236}">
                  <a16:creationId xmlns:a16="http://schemas.microsoft.com/office/drawing/2014/main" id="{278D42AB-278A-DC4D-83EC-4C4C15C077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48" y="249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96" name="Text Box 76">
              <a:extLst>
                <a:ext uri="{FF2B5EF4-FFF2-40B4-BE49-F238E27FC236}">
                  <a16:creationId xmlns:a16="http://schemas.microsoft.com/office/drawing/2014/main" id="{98E44E21-5C9C-9E47-95B7-640C52125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144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97" name="Text Box 77">
              <a:extLst>
                <a:ext uri="{FF2B5EF4-FFF2-40B4-BE49-F238E27FC236}">
                  <a16:creationId xmlns:a16="http://schemas.microsoft.com/office/drawing/2014/main" id="{0BE90358-0411-0D49-800F-A1955794D3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32" y="187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98" name="Text Box 78">
              <a:extLst>
                <a:ext uri="{FF2B5EF4-FFF2-40B4-BE49-F238E27FC236}">
                  <a16:creationId xmlns:a16="http://schemas.microsoft.com/office/drawing/2014/main" id="{4A15DAFA-6883-774A-88C5-AF72D1E396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0" y="2476"/>
              <a:ext cx="27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h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7599" name="Text Box 79">
              <a:extLst>
                <a:ext uri="{FF2B5EF4-FFF2-40B4-BE49-F238E27FC236}">
                  <a16:creationId xmlns:a16="http://schemas.microsoft.com/office/drawing/2014/main" id="{F2951440-C590-4648-B763-23676C844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4" y="2427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g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107611" name="Group 91">
            <a:extLst>
              <a:ext uri="{FF2B5EF4-FFF2-40B4-BE49-F238E27FC236}">
                <a16:creationId xmlns:a16="http://schemas.microsoft.com/office/drawing/2014/main" id="{C8D83A5B-909C-7040-AA23-88136160CB45}"/>
              </a:ext>
            </a:extLst>
          </p:cNvPr>
          <p:cNvGrpSpPr>
            <a:grpSpLocks/>
          </p:cNvGrpSpPr>
          <p:nvPr/>
        </p:nvGrpSpPr>
        <p:grpSpPr bwMode="auto">
          <a:xfrm>
            <a:off x="1282700" y="2971800"/>
            <a:ext cx="5930900" cy="2755900"/>
            <a:chOff x="952" y="1728"/>
            <a:chExt cx="3736" cy="1736"/>
          </a:xfrm>
        </p:grpSpPr>
        <p:sp>
          <p:nvSpPr>
            <p:cNvPr id="15376" name="Line 80">
              <a:extLst>
                <a:ext uri="{FF2B5EF4-FFF2-40B4-BE49-F238E27FC236}">
                  <a16:creationId xmlns:a16="http://schemas.microsoft.com/office/drawing/2014/main" id="{EE570572-83CD-A648-A75D-7FC1010517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04" y="1776"/>
              <a:ext cx="0" cy="768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7" name="Line 81">
              <a:extLst>
                <a:ext uri="{FF2B5EF4-FFF2-40B4-BE49-F238E27FC236}">
                  <a16:creationId xmlns:a16="http://schemas.microsoft.com/office/drawing/2014/main" id="{1C666596-3394-A544-854D-77E0E6C8A1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728"/>
              <a:ext cx="1104" cy="816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8" name="Line 82">
              <a:extLst>
                <a:ext uri="{FF2B5EF4-FFF2-40B4-BE49-F238E27FC236}">
                  <a16:creationId xmlns:a16="http://schemas.microsoft.com/office/drawing/2014/main" id="{B13CB7E3-17E5-AF45-B3F7-B6EA00CEE6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728"/>
              <a:ext cx="1584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9" name="Line 84">
              <a:extLst>
                <a:ext uri="{FF2B5EF4-FFF2-40B4-BE49-F238E27FC236}">
                  <a16:creationId xmlns:a16="http://schemas.microsoft.com/office/drawing/2014/main" id="{080BE0F4-45B3-4F4F-8350-C6431D0278B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2544"/>
              <a:ext cx="1584" cy="864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80" name="Line 85">
              <a:extLst>
                <a:ext uri="{FF2B5EF4-FFF2-40B4-BE49-F238E27FC236}">
                  <a16:creationId xmlns:a16="http://schemas.microsoft.com/office/drawing/2014/main" id="{B6714324-0C36-BC4D-BD70-A0CE386AE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6" y="2560"/>
              <a:ext cx="1152" cy="0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81" name="Line 83">
              <a:extLst>
                <a:ext uri="{FF2B5EF4-FFF2-40B4-BE49-F238E27FC236}">
                  <a16:creationId xmlns:a16="http://schemas.microsoft.com/office/drawing/2014/main" id="{DBB952FC-FA96-1E40-A179-46D2E0B7CB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52" y="2552"/>
              <a:ext cx="960" cy="912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82" name="Line 90">
              <a:extLst>
                <a:ext uri="{FF2B5EF4-FFF2-40B4-BE49-F238E27FC236}">
                  <a16:creationId xmlns:a16="http://schemas.microsoft.com/office/drawing/2014/main" id="{44B60C7F-0867-F34F-9BA6-B51354EB15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0" y="2640"/>
              <a:ext cx="0" cy="768"/>
            </a:xfrm>
            <a:prstGeom prst="line">
              <a:avLst/>
            </a:prstGeom>
            <a:noFill/>
            <a:ln w="762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36870" name="Group 86">
            <a:extLst>
              <a:ext uri="{FF2B5EF4-FFF2-40B4-BE49-F238E27FC236}">
                <a16:creationId xmlns:a16="http://schemas.microsoft.com/office/drawing/2014/main" id="{AD474100-5B09-CE44-9540-E7EEA2BDDEFA}"/>
              </a:ext>
            </a:extLst>
          </p:cNvPr>
          <p:cNvGrpSpPr>
            <a:grpSpLocks/>
          </p:cNvGrpSpPr>
          <p:nvPr/>
        </p:nvGrpSpPr>
        <p:grpSpPr bwMode="auto">
          <a:xfrm>
            <a:off x="1165225" y="2860675"/>
            <a:ext cx="6140450" cy="2940050"/>
            <a:chOff x="878" y="1658"/>
            <a:chExt cx="3868" cy="1852"/>
          </a:xfrm>
        </p:grpSpPr>
        <p:sp>
          <p:nvSpPr>
            <p:cNvPr id="15368" name="Oval 57">
              <a:extLst>
                <a:ext uri="{FF2B5EF4-FFF2-40B4-BE49-F238E27FC236}">
                  <a16:creationId xmlns:a16="http://schemas.microsoft.com/office/drawing/2014/main" id="{295E2D8F-2BD3-934B-A015-8CF04794B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" y="3370"/>
              <a:ext cx="120" cy="1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69" name="Oval 54">
              <a:extLst>
                <a:ext uri="{FF2B5EF4-FFF2-40B4-BE49-F238E27FC236}">
                  <a16:creationId xmlns:a16="http://schemas.microsoft.com/office/drawing/2014/main" id="{7450572B-78C1-174F-99C3-F235BDA45F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1658"/>
              <a:ext cx="121" cy="1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0" name="Oval 63">
              <a:extLst>
                <a:ext uri="{FF2B5EF4-FFF2-40B4-BE49-F238E27FC236}">
                  <a16:creationId xmlns:a16="http://schemas.microsoft.com/office/drawing/2014/main" id="{DD428E77-B191-4B44-B528-246A45898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2494"/>
              <a:ext cx="121" cy="13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1" name="Oval 62">
              <a:extLst>
                <a:ext uri="{FF2B5EF4-FFF2-40B4-BE49-F238E27FC236}">
                  <a16:creationId xmlns:a16="http://schemas.microsoft.com/office/drawing/2014/main" id="{8CCCCC11-14DC-D74B-AD30-9C002ABB1C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2494"/>
              <a:ext cx="121" cy="13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2" name="Oval 59">
              <a:extLst>
                <a:ext uri="{FF2B5EF4-FFF2-40B4-BE49-F238E27FC236}">
                  <a16:creationId xmlns:a16="http://schemas.microsoft.com/office/drawing/2014/main" id="{1ECB1A3D-C443-5840-BA46-9E8358E0D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5" y="2494"/>
              <a:ext cx="121" cy="13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3" name="Oval 55">
              <a:extLst>
                <a:ext uri="{FF2B5EF4-FFF2-40B4-BE49-F238E27FC236}">
                  <a16:creationId xmlns:a16="http://schemas.microsoft.com/office/drawing/2014/main" id="{47FEA2D1-4189-6D4E-93A4-8DC3C916F5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3359"/>
              <a:ext cx="121" cy="13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4" name="Oval 56">
              <a:extLst>
                <a:ext uri="{FF2B5EF4-FFF2-40B4-BE49-F238E27FC236}">
                  <a16:creationId xmlns:a16="http://schemas.microsoft.com/office/drawing/2014/main" id="{6471BB74-99A7-EA44-A2F3-5400DE9339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" y="1658"/>
              <a:ext cx="120" cy="1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5375" name="Oval 58">
              <a:extLst>
                <a:ext uri="{FF2B5EF4-FFF2-40B4-BE49-F238E27FC236}">
                  <a16:creationId xmlns:a16="http://schemas.microsoft.com/office/drawing/2014/main" id="{666C12A0-5B26-244B-871B-8C4E7486CAA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" y="2482"/>
              <a:ext cx="121" cy="1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Number Placeholder 5">
            <a:extLst>
              <a:ext uri="{FF2B5EF4-FFF2-40B4-BE49-F238E27FC236}">
                <a16:creationId xmlns:a16="http://schemas.microsoft.com/office/drawing/2014/main" id="{965200DC-8A6F-0E4F-8433-74607D6E58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F121981-8610-F24A-9E3B-B2E0AB8225CE}" type="slidenum">
              <a:rPr kumimoji="0" lang="zh-CN" altLang="en-US" sz="1200"/>
              <a:pPr/>
              <a:t>15</a:t>
            </a:fld>
            <a:endParaRPr kumimoji="0" lang="en-US" altLang="zh-CN" sz="1200"/>
          </a:p>
        </p:txBody>
      </p:sp>
      <p:sp>
        <p:nvSpPr>
          <p:cNvPr id="108546" name="Rectangle 2">
            <a:extLst>
              <a:ext uri="{FF2B5EF4-FFF2-40B4-BE49-F238E27FC236}">
                <a16:creationId xmlns:a16="http://schemas.microsoft.com/office/drawing/2014/main" id="{A4104F8A-AB0A-4C40-AAA9-08B7B803EE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§4.2.</a:t>
            </a:r>
            <a:r>
              <a:rPr lang="zh-CN" altLang="en-US" dirty="0">
                <a:latin typeface="Times New Roman" charset="0"/>
                <a:ea typeface="楷体_GB2312" charset="0"/>
                <a:cs typeface="Times New Roman" charset="0"/>
              </a:rPr>
              <a:t>2 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最优树 </a:t>
            </a:r>
            <a:r>
              <a:rPr lang="en-US" altLang="zh-CN" dirty="0" err="1">
                <a:latin typeface="Times New Roman" charset="0"/>
                <a:ea typeface="楷体_GB2312" charset="0"/>
                <a:cs typeface="Times New Roman" charset="0"/>
              </a:rPr>
              <a:t>Kruskal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算法</a:t>
            </a:r>
            <a:endParaRPr lang="zh-CN" altLang="en-US" dirty="0">
              <a:latin typeface="Times New Roman" charset="0"/>
              <a:ea typeface="楷体_GB2312" charset="0"/>
              <a:cs typeface="Times New Roman" charset="0"/>
            </a:endParaRP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E54F468A-F68E-F947-9729-609BDF9E04B0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763000" cy="5105400"/>
          </a:xfrm>
        </p:spPr>
        <p:txBody>
          <a:bodyPr/>
          <a:lstStyle/>
          <a:p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定义</a:t>
            </a:r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4.2.2</a:t>
            </a: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是加权连通图，带有最小权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的支撑树称为权图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</a:t>
            </a:r>
            <a:r>
              <a:rPr kumimoji="0" lang="zh-CN" altLang="en-US" sz="3200">
                <a:solidFill>
                  <a:srgbClr val="4E67C8"/>
                </a:solidFill>
                <a:latin typeface="宋体" panose="02010600030101010101" pitchFamily="2" charset="-122"/>
                <a:ea typeface="楷体_GB2312" pitchFamily="49" charset="-122"/>
              </a:rPr>
              <a:t>最优树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  <p:grpSp>
        <p:nvGrpSpPr>
          <p:cNvPr id="108724" name="Group 180">
            <a:extLst>
              <a:ext uri="{FF2B5EF4-FFF2-40B4-BE49-F238E27FC236}">
                <a16:creationId xmlns:a16="http://schemas.microsoft.com/office/drawing/2014/main" id="{C4136DA0-ED93-9B42-9C75-0CA54707CFF3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2438400"/>
            <a:ext cx="7013575" cy="4044950"/>
            <a:chOff x="28" y="1488"/>
            <a:chExt cx="4418" cy="2548"/>
          </a:xfrm>
        </p:grpSpPr>
        <p:sp>
          <p:nvSpPr>
            <p:cNvPr id="108668" name="Text Box 124">
              <a:extLst>
                <a:ext uri="{FF2B5EF4-FFF2-40B4-BE49-F238E27FC236}">
                  <a16:creationId xmlns:a16="http://schemas.microsoft.com/office/drawing/2014/main" id="{41F0616E-AB2B-C642-A363-18B2E18C5A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628"/>
              <a:ext cx="27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b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6391" name="Line 125">
              <a:extLst>
                <a:ext uri="{FF2B5EF4-FFF2-40B4-BE49-F238E27FC236}">
                  <a16:creationId xmlns:a16="http://schemas.microsoft.com/office/drawing/2014/main" id="{0E422869-C384-1B43-8A81-C7C729877A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4" y="2715"/>
              <a:ext cx="1670" cy="90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6392" name="Line 126">
              <a:extLst>
                <a:ext uri="{FF2B5EF4-FFF2-40B4-BE49-F238E27FC236}">
                  <a16:creationId xmlns:a16="http://schemas.microsoft.com/office/drawing/2014/main" id="{FDF8D312-36F0-EC4A-9FA7-A8B9C74F04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4" y="1879"/>
              <a:ext cx="1670" cy="90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6393" name="Line 127">
              <a:extLst>
                <a:ext uri="{FF2B5EF4-FFF2-40B4-BE49-F238E27FC236}">
                  <a16:creationId xmlns:a16="http://schemas.microsoft.com/office/drawing/2014/main" id="{03302D89-08D6-AE4F-80F9-893631A2DE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63" y="2718"/>
              <a:ext cx="2563" cy="90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6394" name="Line 128">
              <a:extLst>
                <a:ext uri="{FF2B5EF4-FFF2-40B4-BE49-F238E27FC236}">
                  <a16:creationId xmlns:a16="http://schemas.microsoft.com/office/drawing/2014/main" id="{4A4224E8-AFC5-2F4A-8D00-63B1DDCDA8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1355" y="1923"/>
              <a:ext cx="2719" cy="7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6395" name="Line 129">
              <a:extLst>
                <a:ext uri="{FF2B5EF4-FFF2-40B4-BE49-F238E27FC236}">
                  <a16:creationId xmlns:a16="http://schemas.microsoft.com/office/drawing/2014/main" id="{2B4D4FB9-F365-5447-92C4-964F2A37DF5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29" y="1949"/>
              <a:ext cx="0" cy="1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6396" name="Line 130">
              <a:extLst>
                <a:ext uri="{FF2B5EF4-FFF2-40B4-BE49-F238E27FC236}">
                  <a16:creationId xmlns:a16="http://schemas.microsoft.com/office/drawing/2014/main" id="{BFDF9E2A-E949-5842-BEC9-AE3BE011284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38" y="1949"/>
              <a:ext cx="0" cy="1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8675" name="Text Box 131">
              <a:extLst>
                <a:ext uri="{FF2B5EF4-FFF2-40B4-BE49-F238E27FC236}">
                  <a16:creationId xmlns:a16="http://schemas.microsoft.com/office/drawing/2014/main" id="{D420A146-299A-1D41-BFB9-787F051420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" y="2524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76" name="Text Box 132">
              <a:extLst>
                <a:ext uri="{FF2B5EF4-FFF2-40B4-BE49-F238E27FC236}">
                  <a16:creationId xmlns:a16="http://schemas.microsoft.com/office/drawing/2014/main" id="{0CA6EF46-F801-474E-8565-DF04573B0F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3629"/>
              <a:ext cx="24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77" name="Text Box 133">
              <a:extLst>
                <a:ext uri="{FF2B5EF4-FFF2-40B4-BE49-F238E27FC236}">
                  <a16:creationId xmlns:a16="http://schemas.microsoft.com/office/drawing/2014/main" id="{A5C4E6C2-D2E0-7241-9E67-8BC7DD7B9A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0" y="2523"/>
              <a:ext cx="27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d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78" name="Text Box 134">
              <a:extLst>
                <a:ext uri="{FF2B5EF4-FFF2-40B4-BE49-F238E27FC236}">
                  <a16:creationId xmlns:a16="http://schemas.microsoft.com/office/drawing/2014/main" id="{58E18BBC-67A1-4342-A980-659D390D3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65" y="212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79" name="Text Box 135">
              <a:extLst>
                <a:ext uri="{FF2B5EF4-FFF2-40B4-BE49-F238E27FC236}">
                  <a16:creationId xmlns:a16="http://schemas.microsoft.com/office/drawing/2014/main" id="{A23AC4DD-D7AE-C440-83CB-BD538D5820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24" y="355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80" name="Text Box 136">
              <a:extLst>
                <a:ext uri="{FF2B5EF4-FFF2-40B4-BE49-F238E27FC236}">
                  <a16:creationId xmlns:a16="http://schemas.microsoft.com/office/drawing/2014/main" id="{DC5E4F97-937B-8B4F-8FE0-8A512806FB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" y="306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6403" name="Line 137">
              <a:extLst>
                <a:ext uri="{FF2B5EF4-FFF2-40B4-BE49-F238E27FC236}">
                  <a16:creationId xmlns:a16="http://schemas.microsoft.com/office/drawing/2014/main" id="{06F1B3EA-6CD2-9541-BE38-DD1B9FC348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" y="2756"/>
              <a:ext cx="966" cy="90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6404" name="Line 138">
              <a:extLst>
                <a:ext uri="{FF2B5EF4-FFF2-40B4-BE49-F238E27FC236}">
                  <a16:creationId xmlns:a16="http://schemas.microsoft.com/office/drawing/2014/main" id="{02C102EA-6D09-6945-9281-AC946837C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9" y="3620"/>
              <a:ext cx="163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6405" name="Line 139">
              <a:extLst>
                <a:ext uri="{FF2B5EF4-FFF2-40B4-BE49-F238E27FC236}">
                  <a16:creationId xmlns:a16="http://schemas.microsoft.com/office/drawing/2014/main" id="{4D8A7F4E-CACB-0E4C-9C4A-07BEC85C5D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61" y="2741"/>
              <a:ext cx="1148" cy="90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6406" name="Line 140">
              <a:extLst>
                <a:ext uri="{FF2B5EF4-FFF2-40B4-BE49-F238E27FC236}">
                  <a16:creationId xmlns:a16="http://schemas.microsoft.com/office/drawing/2014/main" id="{A54016C6-BDD9-414C-A6E5-9E7323175F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3" y="2756"/>
              <a:ext cx="374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6407" name="Line 141">
              <a:extLst>
                <a:ext uri="{FF2B5EF4-FFF2-40B4-BE49-F238E27FC236}">
                  <a16:creationId xmlns:a16="http://schemas.microsoft.com/office/drawing/2014/main" id="{991CE078-50E1-9845-BA07-63A44D3193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" y="1920"/>
              <a:ext cx="966" cy="8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6408" name="Line 142">
              <a:extLst>
                <a:ext uri="{FF2B5EF4-FFF2-40B4-BE49-F238E27FC236}">
                  <a16:creationId xmlns:a16="http://schemas.microsoft.com/office/drawing/2014/main" id="{E22142F2-6E44-B04C-AD8E-9D51978765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9" y="1920"/>
              <a:ext cx="1632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6409" name="Line 143">
              <a:extLst>
                <a:ext uri="{FF2B5EF4-FFF2-40B4-BE49-F238E27FC236}">
                  <a16:creationId xmlns:a16="http://schemas.microsoft.com/office/drawing/2014/main" id="{C6DDF8CB-DE7B-4C46-846C-0B5F578DE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61" y="1920"/>
              <a:ext cx="1148" cy="83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08688" name="Text Box 144">
              <a:extLst>
                <a:ext uri="{FF2B5EF4-FFF2-40B4-BE49-F238E27FC236}">
                  <a16:creationId xmlns:a16="http://schemas.microsoft.com/office/drawing/2014/main" id="{9C7D9769-2AB4-8343-B07D-A9F1AC6E88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488"/>
              <a:ext cx="237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f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89" name="Text Box 145">
              <a:extLst>
                <a:ext uri="{FF2B5EF4-FFF2-40B4-BE49-F238E27FC236}">
                  <a16:creationId xmlns:a16="http://schemas.microsoft.com/office/drawing/2014/main" id="{55898F25-264D-2E4A-A62B-B4FEF7197B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1" y="1488"/>
              <a:ext cx="24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90" name="Text Box 146">
              <a:extLst>
                <a:ext uri="{FF2B5EF4-FFF2-40B4-BE49-F238E27FC236}">
                  <a16:creationId xmlns:a16="http://schemas.microsoft.com/office/drawing/2014/main" id="{6DDA5277-5349-9D4A-A36B-6D03B00E2D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38" y="246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91" name="Text Box 147">
              <a:extLst>
                <a:ext uri="{FF2B5EF4-FFF2-40B4-BE49-F238E27FC236}">
                  <a16:creationId xmlns:a16="http://schemas.microsoft.com/office/drawing/2014/main" id="{C15777DE-46A9-1D45-857D-48FE1DC781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" y="220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92" name="Text Box 148">
              <a:extLst>
                <a:ext uri="{FF2B5EF4-FFF2-40B4-BE49-F238E27FC236}">
                  <a16:creationId xmlns:a16="http://schemas.microsoft.com/office/drawing/2014/main" id="{0BE7109C-CB50-A74F-AB2F-8AB590DC4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16" y="3129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93" name="Text Box 149">
              <a:extLst>
                <a:ext uri="{FF2B5EF4-FFF2-40B4-BE49-F238E27FC236}">
                  <a16:creationId xmlns:a16="http://schemas.microsoft.com/office/drawing/2014/main" id="{D1F54C05-E5CA-754B-BAF5-1FC05CFFF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44" y="292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94" name="Text Box 150">
              <a:extLst>
                <a:ext uri="{FF2B5EF4-FFF2-40B4-BE49-F238E27FC236}">
                  <a16:creationId xmlns:a16="http://schemas.microsoft.com/office/drawing/2014/main" id="{8F389431-0693-1147-ACEE-CABD21BFC8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297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95" name="Text Box 151">
              <a:extLst>
                <a:ext uri="{FF2B5EF4-FFF2-40B4-BE49-F238E27FC236}">
                  <a16:creationId xmlns:a16="http://schemas.microsoft.com/office/drawing/2014/main" id="{1637A2CF-E060-0D4E-8ED7-49B44B15DF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30" y="302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96" name="Text Box 152">
              <a:extLst>
                <a:ext uri="{FF2B5EF4-FFF2-40B4-BE49-F238E27FC236}">
                  <a16:creationId xmlns:a16="http://schemas.microsoft.com/office/drawing/2014/main" id="{344DBB27-7CBF-CE49-9BC5-94B22A8C69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47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97" name="Text Box 153">
              <a:extLst>
                <a:ext uri="{FF2B5EF4-FFF2-40B4-BE49-F238E27FC236}">
                  <a16:creationId xmlns:a16="http://schemas.microsoft.com/office/drawing/2014/main" id="{DFCE8F30-C8A2-1C4B-943F-FA31E1F808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220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98" name="Text Box 154">
              <a:extLst>
                <a:ext uri="{FF2B5EF4-FFF2-40B4-BE49-F238E27FC236}">
                  <a16:creationId xmlns:a16="http://schemas.microsoft.com/office/drawing/2014/main" id="{3F234F98-D818-9649-9D04-9E2A97A965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220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699" name="Text Box 155">
              <a:extLst>
                <a:ext uri="{FF2B5EF4-FFF2-40B4-BE49-F238E27FC236}">
                  <a16:creationId xmlns:a16="http://schemas.microsoft.com/office/drawing/2014/main" id="{46173317-8A2A-4746-B21E-83F2F83D9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11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700" name="Text Box 156">
              <a:extLst>
                <a:ext uri="{FF2B5EF4-FFF2-40B4-BE49-F238E27FC236}">
                  <a16:creationId xmlns:a16="http://schemas.microsoft.com/office/drawing/2014/main" id="{FAC5D886-C00A-B64F-A892-55E8E7CF7D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68" y="312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701" name="Text Box 157">
              <a:extLst>
                <a:ext uri="{FF2B5EF4-FFF2-40B4-BE49-F238E27FC236}">
                  <a16:creationId xmlns:a16="http://schemas.microsoft.com/office/drawing/2014/main" id="{89A640DB-6513-C444-943A-7AAF309487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2" y="268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702" name="Text Box 158">
              <a:extLst>
                <a:ext uri="{FF2B5EF4-FFF2-40B4-BE49-F238E27FC236}">
                  <a16:creationId xmlns:a16="http://schemas.microsoft.com/office/drawing/2014/main" id="{AC06021A-9038-7748-92DE-FE61623E74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63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703" name="Text Box 159">
              <a:extLst>
                <a:ext uri="{FF2B5EF4-FFF2-40B4-BE49-F238E27FC236}">
                  <a16:creationId xmlns:a16="http://schemas.microsoft.com/office/drawing/2014/main" id="{9B7C514D-DED7-3A43-9573-47EC1531DA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6" y="206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704" name="Text Box 160">
              <a:extLst>
                <a:ext uri="{FF2B5EF4-FFF2-40B4-BE49-F238E27FC236}">
                  <a16:creationId xmlns:a16="http://schemas.microsoft.com/office/drawing/2014/main" id="{E2A14E87-B54C-5D4B-9240-BF7DD7BFD6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6" y="2716"/>
              <a:ext cx="27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h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08705" name="Text Box 161">
              <a:extLst>
                <a:ext uri="{FF2B5EF4-FFF2-40B4-BE49-F238E27FC236}">
                  <a16:creationId xmlns:a16="http://schemas.microsoft.com/office/drawing/2014/main" id="{E0CE95A6-526F-7A4F-A427-A30A3665CA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2619"/>
              <a:ext cx="262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g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38955" name="Group 162">
              <a:extLst>
                <a:ext uri="{FF2B5EF4-FFF2-40B4-BE49-F238E27FC236}">
                  <a16:creationId xmlns:a16="http://schemas.microsoft.com/office/drawing/2014/main" id="{3446D62F-BB9D-7148-A603-8E5095C681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6" y="1920"/>
              <a:ext cx="3736" cy="1736"/>
              <a:chOff x="952" y="1728"/>
              <a:chExt cx="3736" cy="1736"/>
            </a:xfrm>
          </p:grpSpPr>
          <p:sp>
            <p:nvSpPr>
              <p:cNvPr id="16438" name="Line 163">
                <a:extLst>
                  <a:ext uri="{FF2B5EF4-FFF2-40B4-BE49-F238E27FC236}">
                    <a16:creationId xmlns:a16="http://schemas.microsoft.com/office/drawing/2014/main" id="{CF892C71-BDC4-484D-BA45-AD9C68EB18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4" y="1776"/>
                <a:ext cx="0" cy="768"/>
              </a:xfrm>
              <a:prstGeom prst="line">
                <a:avLst/>
              </a:prstGeom>
              <a:noFill/>
              <a:ln w="76200">
                <a:solidFill>
                  <a:srgbClr val="FB4D5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9" name="Line 164">
                <a:extLst>
                  <a:ext uri="{FF2B5EF4-FFF2-40B4-BE49-F238E27FC236}">
                    <a16:creationId xmlns:a16="http://schemas.microsoft.com/office/drawing/2014/main" id="{6B93FE2C-632B-3348-868B-FA506074CA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52" y="1728"/>
                <a:ext cx="1104" cy="816"/>
              </a:xfrm>
              <a:prstGeom prst="line">
                <a:avLst/>
              </a:prstGeom>
              <a:noFill/>
              <a:ln w="76200">
                <a:solidFill>
                  <a:srgbClr val="FB4D5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40" name="Line 165">
                <a:extLst>
                  <a:ext uri="{FF2B5EF4-FFF2-40B4-BE49-F238E27FC236}">
                    <a16:creationId xmlns:a16="http://schemas.microsoft.com/office/drawing/2014/main" id="{5504B53E-FE2B-D446-80C7-2352544464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20" y="1728"/>
                <a:ext cx="1584" cy="0"/>
              </a:xfrm>
              <a:prstGeom prst="line">
                <a:avLst/>
              </a:prstGeom>
              <a:noFill/>
              <a:ln w="76200">
                <a:solidFill>
                  <a:srgbClr val="FB4D5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41" name="Line 166">
                <a:extLst>
                  <a:ext uri="{FF2B5EF4-FFF2-40B4-BE49-F238E27FC236}">
                    <a16:creationId xmlns:a16="http://schemas.microsoft.com/office/drawing/2014/main" id="{C7A38598-A0B3-6E40-B694-FD6AC36637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920" y="2544"/>
                <a:ext cx="1584" cy="864"/>
              </a:xfrm>
              <a:prstGeom prst="line">
                <a:avLst/>
              </a:prstGeom>
              <a:noFill/>
              <a:ln w="76200">
                <a:solidFill>
                  <a:srgbClr val="FB4D5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42" name="Line 167">
                <a:extLst>
                  <a:ext uri="{FF2B5EF4-FFF2-40B4-BE49-F238E27FC236}">
                    <a16:creationId xmlns:a16="http://schemas.microsoft.com/office/drawing/2014/main" id="{CC479617-E965-684A-8F83-2A8F26DE00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6" y="2560"/>
                <a:ext cx="1152" cy="0"/>
              </a:xfrm>
              <a:prstGeom prst="line">
                <a:avLst/>
              </a:prstGeom>
              <a:noFill/>
              <a:ln w="76200">
                <a:solidFill>
                  <a:srgbClr val="FB4D5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43" name="Line 168">
                <a:extLst>
                  <a:ext uri="{FF2B5EF4-FFF2-40B4-BE49-F238E27FC236}">
                    <a16:creationId xmlns:a16="http://schemas.microsoft.com/office/drawing/2014/main" id="{B6FD98E1-F380-284A-A574-5702AE0462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52" y="2552"/>
                <a:ext cx="960" cy="912"/>
              </a:xfrm>
              <a:prstGeom prst="line">
                <a:avLst/>
              </a:prstGeom>
              <a:noFill/>
              <a:ln w="76200">
                <a:solidFill>
                  <a:srgbClr val="FB4D5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44" name="Line 169">
                <a:extLst>
                  <a:ext uri="{FF2B5EF4-FFF2-40B4-BE49-F238E27FC236}">
                    <a16:creationId xmlns:a16="http://schemas.microsoft.com/office/drawing/2014/main" id="{373CA5E0-0DFB-BA4B-ABED-37E305B69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20" y="2640"/>
                <a:ext cx="0" cy="768"/>
              </a:xfrm>
              <a:prstGeom prst="line">
                <a:avLst/>
              </a:prstGeom>
              <a:noFill/>
              <a:ln w="76200">
                <a:solidFill>
                  <a:srgbClr val="FB4D55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</p:grpSp>
        <p:grpSp>
          <p:nvGrpSpPr>
            <p:cNvPr id="38956" name="Group 170">
              <a:extLst>
                <a:ext uri="{FF2B5EF4-FFF2-40B4-BE49-F238E27FC236}">
                  <a16:creationId xmlns:a16="http://schemas.microsoft.com/office/drawing/2014/main" id="{D839B5AE-7C09-0D4B-949F-62AB9334E3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" y="1850"/>
              <a:ext cx="3868" cy="1852"/>
              <a:chOff x="878" y="1658"/>
              <a:chExt cx="3868" cy="1852"/>
            </a:xfrm>
          </p:grpSpPr>
          <p:sp>
            <p:nvSpPr>
              <p:cNvPr id="16430" name="Oval 171">
                <a:extLst>
                  <a:ext uri="{FF2B5EF4-FFF2-40B4-BE49-F238E27FC236}">
                    <a16:creationId xmlns:a16="http://schemas.microsoft.com/office/drawing/2014/main" id="{24A2BA64-6D2F-3247-BE6F-E800C08D9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2" y="3370"/>
                <a:ext cx="120" cy="14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1" name="Oval 172">
                <a:extLst>
                  <a:ext uri="{FF2B5EF4-FFF2-40B4-BE49-F238E27FC236}">
                    <a16:creationId xmlns:a16="http://schemas.microsoft.com/office/drawing/2014/main" id="{8414DD86-3907-C34B-98F4-3AE59C98E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5" y="1658"/>
                <a:ext cx="121" cy="14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2" name="Oval 173">
                <a:extLst>
                  <a:ext uri="{FF2B5EF4-FFF2-40B4-BE49-F238E27FC236}">
                    <a16:creationId xmlns:a16="http://schemas.microsoft.com/office/drawing/2014/main" id="{95FA5C26-1BB0-484A-AB44-89521AD5D1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5" y="2494"/>
                <a:ext cx="121" cy="139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3" name="Oval 174">
                <a:extLst>
                  <a:ext uri="{FF2B5EF4-FFF2-40B4-BE49-F238E27FC236}">
                    <a16:creationId xmlns:a16="http://schemas.microsoft.com/office/drawing/2014/main" id="{7EC7DF64-9762-174C-9A63-6B9E4B8B5C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1" y="2494"/>
                <a:ext cx="121" cy="139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4" name="Oval 175">
                <a:extLst>
                  <a:ext uri="{FF2B5EF4-FFF2-40B4-BE49-F238E27FC236}">
                    <a16:creationId xmlns:a16="http://schemas.microsoft.com/office/drawing/2014/main" id="{6B3DFB8A-3DDD-3C45-BD52-52F30A10C6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25" y="2494"/>
                <a:ext cx="121" cy="139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5" name="Oval 176">
                <a:extLst>
                  <a:ext uri="{FF2B5EF4-FFF2-40B4-BE49-F238E27FC236}">
                    <a16:creationId xmlns:a16="http://schemas.microsoft.com/office/drawing/2014/main" id="{D607601C-EEC2-A84C-993D-DABAEB6CE8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45" y="3359"/>
                <a:ext cx="121" cy="139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6" name="Oval 177">
                <a:extLst>
                  <a:ext uri="{FF2B5EF4-FFF2-40B4-BE49-F238E27FC236}">
                    <a16:creationId xmlns:a16="http://schemas.microsoft.com/office/drawing/2014/main" id="{BB839B70-AF10-BB46-A23A-0679C4F55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2" y="1658"/>
                <a:ext cx="120" cy="14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6437" name="Oval 178">
                <a:extLst>
                  <a:ext uri="{FF2B5EF4-FFF2-40B4-BE49-F238E27FC236}">
                    <a16:creationId xmlns:a16="http://schemas.microsoft.com/office/drawing/2014/main" id="{4607B442-5E4E-0742-88F7-B98F5E49F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8" y="2482"/>
                <a:ext cx="121" cy="140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>
                  <a:defRPr/>
                </a:pPr>
                <a:endParaRPr kumimoji="1" lang="zh-CN" altLang="en-US" sz="2400">
                  <a:latin typeface="Times New Roman" charset="0"/>
                  <a:ea typeface="宋体" charset="0"/>
                  <a:cs typeface="宋体" charset="0"/>
                </a:endParaRPr>
              </a:p>
            </p:txBody>
          </p:sp>
        </p:grp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87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87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872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0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Number Placeholder 5">
            <a:extLst>
              <a:ext uri="{FF2B5EF4-FFF2-40B4-BE49-F238E27FC236}">
                <a16:creationId xmlns:a16="http://schemas.microsoft.com/office/drawing/2014/main" id="{330D8460-FF77-174B-AD66-05ED1A8677A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B0FDDDC-B13F-8846-81A9-ADB9AEC08B50}" type="slidenum">
              <a:rPr kumimoji="0" lang="zh-CN" altLang="en-US" sz="1200"/>
              <a:pPr/>
              <a:t>16</a:t>
            </a:fld>
            <a:endParaRPr kumimoji="0" lang="en-US" altLang="zh-CN" sz="1200"/>
          </a:p>
        </p:txBody>
      </p:sp>
      <p:sp>
        <p:nvSpPr>
          <p:cNvPr id="52226" name="Rectangle 2">
            <a:extLst>
              <a:ext uri="{FF2B5EF4-FFF2-40B4-BE49-F238E27FC236}">
                <a16:creationId xmlns:a16="http://schemas.microsoft.com/office/drawing/2014/main" id="{41B6B3F8-BF91-DF40-93B9-7CCECD59347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 err="1">
                <a:latin typeface="Times New Roman" pitchFamily="18" charset="0"/>
                <a:ea typeface="+mj-ea"/>
                <a:cs typeface="Times New Roman" pitchFamily="18" charset="0"/>
              </a:rPr>
              <a:t>Kruskal</a:t>
            </a:r>
            <a:r>
              <a:rPr lang="zh-CN" altLang="en-US" dirty="0">
                <a:latin typeface="Times New Roman" pitchFamily="18" charset="0"/>
                <a:ea typeface="+mj-ea"/>
                <a:cs typeface="+mj-cs"/>
              </a:rPr>
              <a:t>算法</a:t>
            </a:r>
          </a:p>
        </p:txBody>
      </p:sp>
      <p:sp>
        <p:nvSpPr>
          <p:cNvPr id="52227" name="Rectangle 3">
            <a:extLst>
              <a:ext uri="{FF2B5EF4-FFF2-40B4-BE49-F238E27FC236}">
                <a16:creationId xmlns:a16="http://schemas.microsoft.com/office/drawing/2014/main" id="{1E85F9A4-ED1E-584D-AFC0-020960D81577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839200" cy="5029200"/>
          </a:xfrm>
        </p:spPr>
        <p:txBody>
          <a:bodyPr/>
          <a:lstStyle/>
          <a:p>
            <a:pPr marL="609600" indent="-609600" algn="just">
              <a:lnSpc>
                <a:spcPct val="120000"/>
              </a:lnSpc>
              <a:tabLst>
                <a:tab pos="0" algn="l"/>
              </a:tabLst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设权图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G=(P, L)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是连通的。</a:t>
            </a:r>
          </a:p>
          <a:p>
            <a:pPr marL="609600" indent="-609600" algn="just">
              <a:lnSpc>
                <a:spcPct val="120000"/>
              </a:lnSpc>
              <a:buFont typeface="Wingdings" pitchFamily="2" charset="2"/>
              <a:buAutoNum type="arabicParenR"/>
              <a:tabLst>
                <a:tab pos="0" algn="l"/>
              </a:tabLst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L(G)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中选一个具有最小权值的边，记为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T={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 }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；</a:t>
            </a:r>
          </a:p>
          <a:p>
            <a:pPr marL="609600" indent="-609600">
              <a:lnSpc>
                <a:spcPct val="120000"/>
              </a:lnSpc>
              <a:buFont typeface="Wingdings" pitchFamily="2" charset="2"/>
              <a:buAutoNum type="arabicParenR"/>
              <a:tabLst>
                <a:tab pos="0" algn="l"/>
              </a:tabLst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L(G)-T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中取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使得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∪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{l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不产生回路，并且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最小。如果存在这样的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T= T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∪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{l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重复步骤2)；</a:t>
            </a:r>
          </a:p>
          <a:p>
            <a:pPr marL="609600" indent="-609600">
              <a:lnSpc>
                <a:spcPct val="120000"/>
              </a:lnSpc>
              <a:buFont typeface="Wingdings" pitchFamily="2" charset="2"/>
              <a:buAutoNum type="arabicParenR"/>
              <a:tabLst>
                <a:tab pos="0" algn="l"/>
              </a:tabLst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如果不存在这样的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则算法停止。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22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22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Number Placeholder 5">
            <a:extLst>
              <a:ext uri="{FF2B5EF4-FFF2-40B4-BE49-F238E27FC236}">
                <a16:creationId xmlns:a16="http://schemas.microsoft.com/office/drawing/2014/main" id="{1BF79B6E-1B5F-4C4E-B76F-39FEA2951D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C39993E-1FAB-C140-B8FA-D652FD55D437}" type="slidenum">
              <a:rPr kumimoji="0" lang="zh-CN" altLang="en-US" sz="1200"/>
              <a:pPr/>
              <a:t>17</a:t>
            </a:fld>
            <a:endParaRPr kumimoji="0" lang="en-US" altLang="zh-CN" sz="1200"/>
          </a:p>
        </p:txBody>
      </p:sp>
      <p:sp>
        <p:nvSpPr>
          <p:cNvPr id="135170" name="Rectangle 2">
            <a:extLst>
              <a:ext uri="{FF2B5EF4-FFF2-40B4-BE49-F238E27FC236}">
                <a16:creationId xmlns:a16="http://schemas.microsoft.com/office/drawing/2014/main" id="{095E563F-D05E-9447-B3FD-2748D8B34F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286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pitchFamily="18" charset="0"/>
                <a:ea typeface="+mj-ea"/>
                <a:cs typeface="+mj-cs"/>
              </a:rPr>
              <a:t>例：</a:t>
            </a:r>
            <a:endParaRPr lang="zh-CN" altLang="en-US" dirty="0"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BC63EF4C-12D9-8040-8582-CA48BD7CB86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219200"/>
            <a:ext cx="8763000" cy="5105400"/>
          </a:xfrm>
        </p:spPr>
        <p:txBody>
          <a:bodyPr/>
          <a:lstStyle/>
          <a:p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铺设一个连接各个城市的光纤通信网络。</a:t>
            </a:r>
            <a:b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</a:b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（单位：万元）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40964" name="Group 4">
            <a:extLst>
              <a:ext uri="{FF2B5EF4-FFF2-40B4-BE49-F238E27FC236}">
                <a16:creationId xmlns:a16="http://schemas.microsoft.com/office/drawing/2014/main" id="{F21BDB3D-03DC-3748-8D9E-980B8D1D8775}"/>
              </a:ext>
            </a:extLst>
          </p:cNvPr>
          <p:cNvGrpSpPr>
            <a:grpSpLocks/>
          </p:cNvGrpSpPr>
          <p:nvPr/>
        </p:nvGrpSpPr>
        <p:grpSpPr bwMode="auto">
          <a:xfrm>
            <a:off x="685800" y="2360613"/>
            <a:ext cx="7058025" cy="4040187"/>
            <a:chOff x="432" y="1487"/>
            <a:chExt cx="4446" cy="2545"/>
          </a:xfrm>
        </p:grpSpPr>
        <p:sp>
          <p:nvSpPr>
            <p:cNvPr id="135173" name="Text Box 5">
              <a:extLst>
                <a:ext uri="{FF2B5EF4-FFF2-40B4-BE49-F238E27FC236}">
                  <a16:creationId xmlns:a16="http://schemas.microsoft.com/office/drawing/2014/main" id="{FED3A6A7-1BCB-8146-8E38-FA7BE94B40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0" y="1487"/>
              <a:ext cx="237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f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5174" name="Text Box 6">
              <a:extLst>
                <a:ext uri="{FF2B5EF4-FFF2-40B4-BE49-F238E27FC236}">
                  <a16:creationId xmlns:a16="http://schemas.microsoft.com/office/drawing/2014/main" id="{D58CC365-AEFF-2847-B8B2-61F4335FAB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3" y="1487"/>
              <a:ext cx="24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40983" name="Group 7">
              <a:extLst>
                <a:ext uri="{FF2B5EF4-FFF2-40B4-BE49-F238E27FC236}">
                  <a16:creationId xmlns:a16="http://schemas.microsoft.com/office/drawing/2014/main" id="{49FEEC9B-9805-5B48-8AC3-48575E1B5F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2" y="1631"/>
              <a:ext cx="4446" cy="2401"/>
              <a:chOff x="576" y="1584"/>
              <a:chExt cx="4446" cy="2401"/>
            </a:xfrm>
          </p:grpSpPr>
          <p:sp>
            <p:nvSpPr>
              <p:cNvPr id="135176" name="Text Box 8">
                <a:extLst>
                  <a:ext uri="{FF2B5EF4-FFF2-40B4-BE49-F238E27FC236}">
                    <a16:creationId xmlns:a16="http://schemas.microsoft.com/office/drawing/2014/main" id="{C910D5CF-5E53-D140-A45C-B09CE6BB7B9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28" y="3580"/>
                <a:ext cx="27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36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b</a:t>
                </a:r>
                <a:endParaRPr lang="en-US" altLang="zh-CN" sz="36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58" name="Line 9">
                <a:extLst>
                  <a:ext uri="{FF2B5EF4-FFF2-40B4-BE49-F238E27FC236}">
                    <a16:creationId xmlns:a16="http://schemas.microsoft.com/office/drawing/2014/main" id="{57391723-370D-6A43-82E6-9CDDA5B00F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0" y="2667"/>
                <a:ext cx="1670" cy="90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8459" name="Line 10">
                <a:extLst>
                  <a:ext uri="{FF2B5EF4-FFF2-40B4-BE49-F238E27FC236}">
                    <a16:creationId xmlns:a16="http://schemas.microsoft.com/office/drawing/2014/main" id="{6D7FF338-15FA-3F44-9181-6CBDB3B9EA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0" y="1831"/>
                <a:ext cx="1670" cy="90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8460" name="Line 11">
                <a:extLst>
                  <a:ext uri="{FF2B5EF4-FFF2-40B4-BE49-F238E27FC236}">
                    <a16:creationId xmlns:a16="http://schemas.microsoft.com/office/drawing/2014/main" id="{119FAE0C-E05F-7A46-B8BF-F8CF4CC939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939" y="2670"/>
                <a:ext cx="2563" cy="90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8461" name="Line 12">
                <a:extLst>
                  <a:ext uri="{FF2B5EF4-FFF2-40B4-BE49-F238E27FC236}">
                    <a16:creationId xmlns:a16="http://schemas.microsoft.com/office/drawing/2014/main" id="{6264B75A-A670-8E48-9716-1AFED36A47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31" y="1875"/>
                <a:ext cx="2719" cy="79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8462" name="Line 13">
                <a:extLst>
                  <a:ext uri="{FF2B5EF4-FFF2-40B4-BE49-F238E27FC236}">
                    <a16:creationId xmlns:a16="http://schemas.microsoft.com/office/drawing/2014/main" id="{F9C28A3F-04D6-794C-92D2-CEFDAA06F7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905" y="1901"/>
                <a:ext cx="0" cy="167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8463" name="Line 14">
                <a:extLst>
                  <a:ext uri="{FF2B5EF4-FFF2-40B4-BE49-F238E27FC236}">
                    <a16:creationId xmlns:a16="http://schemas.microsoft.com/office/drawing/2014/main" id="{0D08C183-EF3F-0D40-A7A1-40EA93C4E7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14" y="1901"/>
                <a:ext cx="0" cy="167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5183" name="Text Box 15">
                <a:extLst>
                  <a:ext uri="{FF2B5EF4-FFF2-40B4-BE49-F238E27FC236}">
                    <a16:creationId xmlns:a16="http://schemas.microsoft.com/office/drawing/2014/main" id="{DD99B319-7E53-8548-BAD8-40204D55101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76" y="2360"/>
                <a:ext cx="26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36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a</a:t>
                </a:r>
                <a:endParaRPr lang="en-US" altLang="zh-CN" sz="36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184" name="Text Box 16">
                <a:extLst>
                  <a:ext uri="{FF2B5EF4-FFF2-40B4-BE49-F238E27FC236}">
                    <a16:creationId xmlns:a16="http://schemas.microsoft.com/office/drawing/2014/main" id="{95F4BFFF-C8E0-0E40-A107-4D896ED20A4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08" y="3581"/>
                <a:ext cx="244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36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c</a:t>
                </a:r>
                <a:endParaRPr lang="en-US" altLang="zh-CN" sz="36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185" name="Text Box 17">
                <a:extLst>
                  <a:ext uri="{FF2B5EF4-FFF2-40B4-BE49-F238E27FC236}">
                    <a16:creationId xmlns:a16="http://schemas.microsoft.com/office/drawing/2014/main" id="{5632DA14-A467-4C4B-A912-315C1E831D8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6" y="2475"/>
                <a:ext cx="27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36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d</a:t>
                </a:r>
                <a:endParaRPr lang="en-US" altLang="zh-CN" sz="36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186" name="Text Box 18">
                <a:extLst>
                  <a:ext uri="{FF2B5EF4-FFF2-40B4-BE49-F238E27FC236}">
                    <a16:creationId xmlns:a16="http://schemas.microsoft.com/office/drawing/2014/main" id="{07CF8509-78D5-234C-A183-25E84F5A602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04" y="2073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54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187" name="Text Box 19">
                <a:extLst>
                  <a:ext uri="{FF2B5EF4-FFF2-40B4-BE49-F238E27FC236}">
                    <a16:creationId xmlns:a16="http://schemas.microsoft.com/office/drawing/2014/main" id="{030BB950-DC9F-F44D-B2DD-21F9FCD900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700" y="3504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60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188" name="Text Box 20">
                <a:extLst>
                  <a:ext uri="{FF2B5EF4-FFF2-40B4-BE49-F238E27FC236}">
                    <a16:creationId xmlns:a16="http://schemas.microsoft.com/office/drawing/2014/main" id="{1ED66D5F-8E3E-0843-82C9-DB62CA8D750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8" y="3016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36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8470" name="Line 21">
                <a:extLst>
                  <a:ext uri="{FF2B5EF4-FFF2-40B4-BE49-F238E27FC236}">
                    <a16:creationId xmlns:a16="http://schemas.microsoft.com/office/drawing/2014/main" id="{4CB76DEC-A818-D44E-8EA1-2FFD92B4FA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9" y="2708"/>
                <a:ext cx="966" cy="90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8471" name="Line 22">
                <a:extLst>
                  <a:ext uri="{FF2B5EF4-FFF2-40B4-BE49-F238E27FC236}">
                    <a16:creationId xmlns:a16="http://schemas.microsoft.com/office/drawing/2014/main" id="{ECE13FC9-A09B-CC4F-A1A2-9DF600CC3D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5" y="3572"/>
                <a:ext cx="16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8472" name="Line 23">
                <a:extLst>
                  <a:ext uri="{FF2B5EF4-FFF2-40B4-BE49-F238E27FC236}">
                    <a16:creationId xmlns:a16="http://schemas.microsoft.com/office/drawing/2014/main" id="{BA33B36A-60C8-7447-A1A4-7AFE60D9AF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37" y="2693"/>
                <a:ext cx="1148" cy="905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8473" name="Line 24">
                <a:extLst>
                  <a:ext uri="{FF2B5EF4-FFF2-40B4-BE49-F238E27FC236}">
                    <a16:creationId xmlns:a16="http://schemas.microsoft.com/office/drawing/2014/main" id="{954167DC-47D5-D142-844A-E8C47F9AFC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39" y="2708"/>
                <a:ext cx="374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8474" name="Line 25">
                <a:extLst>
                  <a:ext uri="{FF2B5EF4-FFF2-40B4-BE49-F238E27FC236}">
                    <a16:creationId xmlns:a16="http://schemas.microsoft.com/office/drawing/2014/main" id="{D4BCE6A2-C094-AE4F-8841-F7460663E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39" y="1872"/>
                <a:ext cx="966" cy="8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8475" name="Line 26">
                <a:extLst>
                  <a:ext uri="{FF2B5EF4-FFF2-40B4-BE49-F238E27FC236}">
                    <a16:creationId xmlns:a16="http://schemas.microsoft.com/office/drawing/2014/main" id="{B2DF7FF3-C2EE-544A-8047-2318929DFC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05" y="1872"/>
                <a:ext cx="1632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8476" name="Line 27">
                <a:extLst>
                  <a:ext uri="{FF2B5EF4-FFF2-40B4-BE49-F238E27FC236}">
                    <a16:creationId xmlns:a16="http://schemas.microsoft.com/office/drawing/2014/main" id="{6475ECAA-E6F1-A74F-97F0-7649B331F9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37" y="1872"/>
                <a:ext cx="1148" cy="8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pPr>
                  <a:defRPr/>
                </a:pPr>
                <a:endParaRPr lang="zh-CN" altLang="en-US">
                  <a:latin typeface="Arial" charset="0"/>
                  <a:ea typeface="宋体" charset="0"/>
                  <a:cs typeface="宋体" charset="0"/>
                </a:endParaRPr>
              </a:p>
            </p:txBody>
          </p:sp>
          <p:sp>
            <p:nvSpPr>
              <p:cNvPr id="135196" name="Text Box 28">
                <a:extLst>
                  <a:ext uri="{FF2B5EF4-FFF2-40B4-BE49-F238E27FC236}">
                    <a16:creationId xmlns:a16="http://schemas.microsoft.com/office/drawing/2014/main" id="{263E4C9A-37D6-DD41-A3EE-7C03FEA5EC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414" y="2417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38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197" name="Text Box 29">
                <a:extLst>
                  <a:ext uri="{FF2B5EF4-FFF2-40B4-BE49-F238E27FC236}">
                    <a16:creationId xmlns:a16="http://schemas.microsoft.com/office/drawing/2014/main" id="{11295E6E-4C56-A846-8927-52191E363D6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92" y="2160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8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198" name="Text Box 30">
                <a:extLst>
                  <a:ext uri="{FF2B5EF4-FFF2-40B4-BE49-F238E27FC236}">
                    <a16:creationId xmlns:a16="http://schemas.microsoft.com/office/drawing/2014/main" id="{DC3B947D-FD87-7746-9DD5-28AD9ADBD45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84" y="2985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40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199" name="Text Box 31">
                <a:extLst>
                  <a:ext uri="{FF2B5EF4-FFF2-40B4-BE49-F238E27FC236}">
                    <a16:creationId xmlns:a16="http://schemas.microsoft.com/office/drawing/2014/main" id="{30B4C6DA-AE37-EF41-9272-E3A086BC2AA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20" y="2880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48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200" name="Text Box 32">
                <a:extLst>
                  <a:ext uri="{FF2B5EF4-FFF2-40B4-BE49-F238E27FC236}">
                    <a16:creationId xmlns:a16="http://schemas.microsoft.com/office/drawing/2014/main" id="{0691E6FA-9FF5-114C-B7EF-7F538AA26BC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32" y="2928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20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201" name="Text Box 33">
                <a:extLst>
                  <a:ext uri="{FF2B5EF4-FFF2-40B4-BE49-F238E27FC236}">
                    <a16:creationId xmlns:a16="http://schemas.microsoft.com/office/drawing/2014/main" id="{9AAD83AE-60CE-244B-BDB2-254C3286E30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6" y="2976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45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202" name="Text Box 34">
                <a:extLst>
                  <a:ext uri="{FF2B5EF4-FFF2-40B4-BE49-F238E27FC236}">
                    <a16:creationId xmlns:a16="http://schemas.microsoft.com/office/drawing/2014/main" id="{101A8227-791E-FE41-9988-D2F05FC5FA2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88" y="2428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28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203" name="Text Box 35">
                <a:extLst>
                  <a:ext uri="{FF2B5EF4-FFF2-40B4-BE49-F238E27FC236}">
                    <a16:creationId xmlns:a16="http://schemas.microsoft.com/office/drawing/2014/main" id="{60B15E75-3E05-ED4F-B22D-25619BB4EA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6" y="2112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15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204" name="Text Box 36">
                <a:extLst>
                  <a:ext uri="{FF2B5EF4-FFF2-40B4-BE49-F238E27FC236}">
                    <a16:creationId xmlns:a16="http://schemas.microsoft.com/office/drawing/2014/main" id="{D4E94F04-3B54-B44D-8161-BEEDD7D967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72" y="2217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38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205" name="Text Box 37">
                <a:extLst>
                  <a:ext uri="{FF2B5EF4-FFF2-40B4-BE49-F238E27FC236}">
                    <a16:creationId xmlns:a16="http://schemas.microsoft.com/office/drawing/2014/main" id="{0253D9EB-AF1A-E343-AABA-03547D75ED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2064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30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206" name="Text Box 38">
                <a:extLst>
                  <a:ext uri="{FF2B5EF4-FFF2-40B4-BE49-F238E27FC236}">
                    <a16:creationId xmlns:a16="http://schemas.microsoft.com/office/drawing/2014/main" id="{FE881EFE-EC25-EF48-ACAF-184DB5EA70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44" y="3072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62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207" name="Text Box 39">
                <a:extLst>
                  <a:ext uri="{FF2B5EF4-FFF2-40B4-BE49-F238E27FC236}">
                    <a16:creationId xmlns:a16="http://schemas.microsoft.com/office/drawing/2014/main" id="{08518864-75CC-0843-92E3-1654CC1C3DD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48" y="2640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25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208" name="Text Box 40">
                <a:extLst>
                  <a:ext uri="{FF2B5EF4-FFF2-40B4-BE49-F238E27FC236}">
                    <a16:creationId xmlns:a16="http://schemas.microsoft.com/office/drawing/2014/main" id="{5E11EEB5-5A06-9E42-AB9C-3773F4BD914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40" y="1584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12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209" name="Text Box 41">
                <a:extLst>
                  <a:ext uri="{FF2B5EF4-FFF2-40B4-BE49-F238E27FC236}">
                    <a16:creationId xmlns:a16="http://schemas.microsoft.com/office/drawing/2014/main" id="{258B2027-59FB-7747-A03C-4C0E15F1ED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32" y="2016"/>
                <a:ext cx="340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10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210" name="Text Box 42">
                <a:extLst>
                  <a:ext uri="{FF2B5EF4-FFF2-40B4-BE49-F238E27FC236}">
                    <a16:creationId xmlns:a16="http://schemas.microsoft.com/office/drawing/2014/main" id="{2C67C1F9-2BF2-5347-8AAA-D90CB3697BB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00" y="2620"/>
                <a:ext cx="27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36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h</a:t>
                </a:r>
                <a:endParaRPr lang="en-US" altLang="zh-CN" sz="36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5211" name="Text Box 43">
                <a:extLst>
                  <a:ext uri="{FF2B5EF4-FFF2-40B4-BE49-F238E27FC236}">
                    <a16:creationId xmlns:a16="http://schemas.microsoft.com/office/drawing/2014/main" id="{9D56E666-4D70-6549-9F81-76923081306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4" y="2571"/>
                <a:ext cx="260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36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g</a:t>
                </a:r>
                <a:endParaRPr lang="en-US" altLang="zh-CN" sz="36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135212" name="Line 44">
            <a:extLst>
              <a:ext uri="{FF2B5EF4-FFF2-40B4-BE49-F238E27FC236}">
                <a16:creationId xmlns:a16="http://schemas.microsoft.com/office/drawing/2014/main" id="{CBFDD8AD-4C2D-1846-9D7F-27444128FA0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94000" y="3122613"/>
            <a:ext cx="0" cy="12192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5213" name="Line 45">
            <a:extLst>
              <a:ext uri="{FF2B5EF4-FFF2-40B4-BE49-F238E27FC236}">
                <a16:creationId xmlns:a16="http://schemas.microsoft.com/office/drawing/2014/main" id="{A0E594C2-71CB-794A-9F93-00F4DC2BB4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3046413"/>
            <a:ext cx="1752600" cy="12954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5214" name="Line 46">
            <a:extLst>
              <a:ext uri="{FF2B5EF4-FFF2-40B4-BE49-F238E27FC236}">
                <a16:creationId xmlns:a16="http://schemas.microsoft.com/office/drawing/2014/main" id="{02C99A65-7D58-B143-80BC-2D80CE0D5D53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046413"/>
            <a:ext cx="2514600" cy="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5215" name="Line 47">
            <a:extLst>
              <a:ext uri="{FF2B5EF4-FFF2-40B4-BE49-F238E27FC236}">
                <a16:creationId xmlns:a16="http://schemas.microsoft.com/office/drawing/2014/main" id="{8AEFA9F8-66F7-CA44-8AB5-F81AE63EFA4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819400" y="4341813"/>
            <a:ext cx="2514600" cy="13716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5216" name="Line 48">
            <a:extLst>
              <a:ext uri="{FF2B5EF4-FFF2-40B4-BE49-F238E27FC236}">
                <a16:creationId xmlns:a16="http://schemas.microsoft.com/office/drawing/2014/main" id="{57B95519-BCC5-8E4E-8892-0377CCA50B5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84800" y="4367213"/>
            <a:ext cx="1828800" cy="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5217" name="Line 49">
            <a:extLst>
              <a:ext uri="{FF2B5EF4-FFF2-40B4-BE49-F238E27FC236}">
                <a16:creationId xmlns:a16="http://schemas.microsoft.com/office/drawing/2014/main" id="{F613890D-D91F-D94B-A7DE-053C45DB20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4341813"/>
            <a:ext cx="1587500" cy="14605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5218" name="Line 50">
            <a:extLst>
              <a:ext uri="{FF2B5EF4-FFF2-40B4-BE49-F238E27FC236}">
                <a16:creationId xmlns:a16="http://schemas.microsoft.com/office/drawing/2014/main" id="{FD800BA1-5B8E-204B-B78F-490B1D900BD5}"/>
              </a:ext>
            </a:extLst>
          </p:cNvPr>
          <p:cNvSpPr>
            <a:spLocks noChangeShapeType="1"/>
          </p:cNvSpPr>
          <p:nvPr/>
        </p:nvSpPr>
        <p:spPr bwMode="auto">
          <a:xfrm>
            <a:off x="5372100" y="4468813"/>
            <a:ext cx="0" cy="12192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40972" name="Group 51">
            <a:extLst>
              <a:ext uri="{FF2B5EF4-FFF2-40B4-BE49-F238E27FC236}">
                <a16:creationId xmlns:a16="http://schemas.microsoft.com/office/drawing/2014/main" id="{252CFBE1-D03B-3C40-BAC2-D74FA2DBA926}"/>
              </a:ext>
            </a:extLst>
          </p:cNvPr>
          <p:cNvGrpSpPr>
            <a:grpSpLocks/>
          </p:cNvGrpSpPr>
          <p:nvPr/>
        </p:nvGrpSpPr>
        <p:grpSpPr bwMode="auto">
          <a:xfrm>
            <a:off x="1165225" y="2935288"/>
            <a:ext cx="6140450" cy="2940050"/>
            <a:chOff x="878" y="1658"/>
            <a:chExt cx="3868" cy="1852"/>
          </a:xfrm>
        </p:grpSpPr>
        <p:sp>
          <p:nvSpPr>
            <p:cNvPr id="18446" name="Oval 52">
              <a:extLst>
                <a:ext uri="{FF2B5EF4-FFF2-40B4-BE49-F238E27FC236}">
                  <a16:creationId xmlns:a16="http://schemas.microsoft.com/office/drawing/2014/main" id="{6C83E7D8-1932-B34F-AD42-54FA54388B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" y="3370"/>
              <a:ext cx="120" cy="1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8447" name="Oval 53">
              <a:extLst>
                <a:ext uri="{FF2B5EF4-FFF2-40B4-BE49-F238E27FC236}">
                  <a16:creationId xmlns:a16="http://schemas.microsoft.com/office/drawing/2014/main" id="{D6C40C86-EDF6-484A-AAE6-C77A9382B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1658"/>
              <a:ext cx="121" cy="1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8448" name="Oval 54">
              <a:extLst>
                <a:ext uri="{FF2B5EF4-FFF2-40B4-BE49-F238E27FC236}">
                  <a16:creationId xmlns:a16="http://schemas.microsoft.com/office/drawing/2014/main" id="{60850366-E760-9A4D-8C22-8F9FBD77D4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2494"/>
              <a:ext cx="121" cy="13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8449" name="Oval 55">
              <a:extLst>
                <a:ext uri="{FF2B5EF4-FFF2-40B4-BE49-F238E27FC236}">
                  <a16:creationId xmlns:a16="http://schemas.microsoft.com/office/drawing/2014/main" id="{7FB431E0-A557-8B42-8D34-3241E06E8B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1" y="2494"/>
              <a:ext cx="121" cy="13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8450" name="Oval 56">
              <a:extLst>
                <a:ext uri="{FF2B5EF4-FFF2-40B4-BE49-F238E27FC236}">
                  <a16:creationId xmlns:a16="http://schemas.microsoft.com/office/drawing/2014/main" id="{16BB8F22-370C-374C-B7BA-08B726179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5" y="2494"/>
              <a:ext cx="121" cy="13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8451" name="Oval 57">
              <a:extLst>
                <a:ext uri="{FF2B5EF4-FFF2-40B4-BE49-F238E27FC236}">
                  <a16:creationId xmlns:a16="http://schemas.microsoft.com/office/drawing/2014/main" id="{DEBB83B8-13D6-F549-97BF-BADEB260E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" y="3359"/>
              <a:ext cx="121" cy="139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8452" name="Oval 58">
              <a:extLst>
                <a:ext uri="{FF2B5EF4-FFF2-40B4-BE49-F238E27FC236}">
                  <a16:creationId xmlns:a16="http://schemas.microsoft.com/office/drawing/2014/main" id="{B79713E6-4066-6D40-A96A-3CC87C2C5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2" y="1658"/>
              <a:ext cx="120" cy="1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8453" name="Oval 59">
              <a:extLst>
                <a:ext uri="{FF2B5EF4-FFF2-40B4-BE49-F238E27FC236}">
                  <a16:creationId xmlns:a16="http://schemas.microsoft.com/office/drawing/2014/main" id="{7C6F77CA-511F-5247-BFC0-67DBC640CF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8" y="2482"/>
              <a:ext cx="121" cy="14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>
                <a:defRPr/>
              </a:pPr>
              <a:endParaRPr kumimoji="1" lang="zh-CN" altLang="en-US" sz="2400"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5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5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5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5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5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35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Number Placeholder 5">
            <a:extLst>
              <a:ext uri="{FF2B5EF4-FFF2-40B4-BE49-F238E27FC236}">
                <a16:creationId xmlns:a16="http://schemas.microsoft.com/office/drawing/2014/main" id="{82CDF7F3-5BBE-344E-A7E2-1032D1BA78E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A4322E9D-3768-7349-8A91-0D62C00E3D27}" type="slidenum">
              <a:rPr kumimoji="0" lang="zh-CN" altLang="en-US" sz="1200"/>
              <a:pPr/>
              <a:t>18</a:t>
            </a:fld>
            <a:endParaRPr kumimoji="0" lang="en-US" altLang="zh-CN" sz="1200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97122656-B5EC-0E49-A7A8-765EC97A6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4572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定理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4.2.2</a:t>
            </a:r>
            <a:endParaRPr lang="en-US" altLang="zh-CN" dirty="0">
              <a:latin typeface="宋体" charset="0"/>
              <a:ea typeface="楷体_GB2312" charset="0"/>
              <a:cs typeface="+mj-cs"/>
              <a:sym typeface="Symbol" charset="0"/>
            </a:endParaRPr>
          </a:p>
        </p:txBody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91841036-D82A-FC46-B76D-B991D885E5B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524000"/>
            <a:ext cx="8839200" cy="4343400"/>
          </a:xfrm>
        </p:spPr>
        <p:txBody>
          <a:bodyPr/>
          <a:lstStyle/>
          <a:p>
            <a:pPr marL="357188" indent="-357188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G=(P，L)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是连通权图。于是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Kruskal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算法得到的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T={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的最优树。 </a:t>
            </a:r>
          </a:p>
          <a:p>
            <a:pPr marL="357188" indent="-357188"/>
            <a:r>
              <a:rPr kumimoji="0" lang="zh-CN" altLang="en-US" sz="3200">
                <a:solidFill>
                  <a:srgbClr val="4E67C8"/>
                </a:solidFill>
                <a:latin typeface="Times New Roman" panose="02020603050405020304" pitchFamily="18" charset="0"/>
                <a:ea typeface="楷体_GB2312" pitchFamily="49" charset="-122"/>
              </a:rPr>
              <a:t>证明：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显然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T={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n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的子图。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T=(P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93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395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Number Placeholder 5">
            <a:extLst>
              <a:ext uri="{FF2B5EF4-FFF2-40B4-BE49-F238E27FC236}">
                <a16:creationId xmlns:a16="http://schemas.microsoft.com/office/drawing/2014/main" id="{2F3DD3D4-EDD8-C646-AA1C-0E591CF512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xfrm>
            <a:off x="7239000" y="6492875"/>
            <a:ext cx="1828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0931AF7C-8CE9-B64C-B577-BBF4AA7E46A2}" type="slidenum">
              <a:rPr kumimoji="0" lang="zh-CN" altLang="en-US" sz="1200"/>
              <a:pPr/>
              <a:t>19</a:t>
            </a:fld>
            <a:endParaRPr kumimoji="0" lang="en-US" altLang="zh-CN" sz="1200"/>
          </a:p>
        </p:txBody>
      </p:sp>
      <p:sp>
        <p:nvSpPr>
          <p:cNvPr id="20483" name="Line 62">
            <a:extLst>
              <a:ext uri="{FF2B5EF4-FFF2-40B4-BE49-F238E27FC236}">
                <a16:creationId xmlns:a16="http://schemas.microsoft.com/office/drawing/2014/main" id="{F4FCB23A-06D2-DE46-A59D-9FF23739E1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43175" y="4843463"/>
            <a:ext cx="2651125" cy="143668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0484" name="Line 63">
            <a:extLst>
              <a:ext uri="{FF2B5EF4-FFF2-40B4-BE49-F238E27FC236}">
                <a16:creationId xmlns:a16="http://schemas.microsoft.com/office/drawing/2014/main" id="{3ABF1807-C52A-6541-9CDD-26BA792E57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43175" y="3516313"/>
            <a:ext cx="2651125" cy="1438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0485" name="Line 64">
            <a:extLst>
              <a:ext uri="{FF2B5EF4-FFF2-40B4-BE49-F238E27FC236}">
                <a16:creationId xmlns:a16="http://schemas.microsoft.com/office/drawing/2014/main" id="{B539F7D4-1973-CB44-95F5-97913A2F46F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065213" y="4848225"/>
            <a:ext cx="4068762" cy="1431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0486" name="Line 65">
            <a:extLst>
              <a:ext uri="{FF2B5EF4-FFF2-40B4-BE49-F238E27FC236}">
                <a16:creationId xmlns:a16="http://schemas.microsoft.com/office/drawing/2014/main" id="{36C30DD8-C96B-C847-A510-899393D318AA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640013" y="3586163"/>
            <a:ext cx="4316412" cy="1257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1139" name="Line 67">
            <a:extLst>
              <a:ext uri="{FF2B5EF4-FFF2-40B4-BE49-F238E27FC236}">
                <a16:creationId xmlns:a16="http://schemas.microsoft.com/office/drawing/2014/main" id="{708168F5-979D-9B41-B983-F2D59D9212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53025" y="3627438"/>
            <a:ext cx="0" cy="265271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1141" name="Text Box 69">
            <a:extLst>
              <a:ext uri="{FF2B5EF4-FFF2-40B4-BE49-F238E27FC236}">
                <a16:creationId xmlns:a16="http://schemas.microsoft.com/office/drawing/2014/main" id="{2D4BC017-0DD3-B948-BE98-DE657BEA75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84750" y="6218238"/>
            <a:ext cx="388938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</a:t>
            </a:r>
            <a:endParaRPr lang="en-US" altLang="zh-CN" sz="3600" b="1" baseline="-25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0489" name="Line 75">
            <a:extLst>
              <a:ext uri="{FF2B5EF4-FFF2-40B4-BE49-F238E27FC236}">
                <a16:creationId xmlns:a16="http://schemas.microsoft.com/office/drawing/2014/main" id="{E33BB252-E070-D847-AC1C-CB7B9BB91A0C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8738" y="6280150"/>
            <a:ext cx="2590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0490" name="Line 76">
            <a:extLst>
              <a:ext uri="{FF2B5EF4-FFF2-40B4-BE49-F238E27FC236}">
                <a16:creationId xmlns:a16="http://schemas.microsoft.com/office/drawing/2014/main" id="{DE1938C0-2D06-F94F-BDB2-4D2D31B8780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9538" y="4884738"/>
            <a:ext cx="1822450" cy="14366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0491" name="Line 77">
            <a:extLst>
              <a:ext uri="{FF2B5EF4-FFF2-40B4-BE49-F238E27FC236}">
                <a16:creationId xmlns:a16="http://schemas.microsoft.com/office/drawing/2014/main" id="{6A8A7C2A-F5EE-F745-8EE4-A45A6BED7AA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65213" y="4908550"/>
            <a:ext cx="5946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0492" name="Line 79">
            <a:extLst>
              <a:ext uri="{FF2B5EF4-FFF2-40B4-BE49-F238E27FC236}">
                <a16:creationId xmlns:a16="http://schemas.microsoft.com/office/drawing/2014/main" id="{E5F5C15A-A96C-A349-8AD8-4A528495318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8738" y="3581400"/>
            <a:ext cx="2590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0493" name="Line 80">
            <a:extLst>
              <a:ext uri="{FF2B5EF4-FFF2-40B4-BE49-F238E27FC236}">
                <a16:creationId xmlns:a16="http://schemas.microsoft.com/office/drawing/2014/main" id="{39AEF29D-3A67-854E-B026-C8E45B2BDE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9538" y="3581400"/>
            <a:ext cx="1822450" cy="132715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1154" name="Text Box 82">
            <a:extLst>
              <a:ext uri="{FF2B5EF4-FFF2-40B4-BE49-F238E27FC236}">
                <a16:creationId xmlns:a16="http://schemas.microsoft.com/office/drawing/2014/main" id="{79D688B1-B490-004E-96A8-5E82E3382E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94288" y="2895600"/>
            <a:ext cx="388937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endParaRPr lang="en-US" altLang="zh-CN" sz="3600" b="1" baseline="-25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0495" name="Line 101">
            <a:extLst>
              <a:ext uri="{FF2B5EF4-FFF2-40B4-BE49-F238E27FC236}">
                <a16:creationId xmlns:a16="http://schemas.microsoft.com/office/drawing/2014/main" id="{09F349CD-6713-7249-A8D3-65C3E73A511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13350" y="3581400"/>
            <a:ext cx="1752600" cy="12954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0496" name="Line 102">
            <a:extLst>
              <a:ext uri="{FF2B5EF4-FFF2-40B4-BE49-F238E27FC236}">
                <a16:creationId xmlns:a16="http://schemas.microsoft.com/office/drawing/2014/main" id="{CB5C95AD-CB6D-4C4D-9764-A6F097297D5C}"/>
              </a:ext>
            </a:extLst>
          </p:cNvPr>
          <p:cNvSpPr>
            <a:spLocks noChangeShapeType="1"/>
          </p:cNvSpPr>
          <p:nvPr/>
        </p:nvSpPr>
        <p:spPr bwMode="auto">
          <a:xfrm>
            <a:off x="2622550" y="3581400"/>
            <a:ext cx="2514600" cy="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0497" name="Line 103">
            <a:extLst>
              <a:ext uri="{FF2B5EF4-FFF2-40B4-BE49-F238E27FC236}">
                <a16:creationId xmlns:a16="http://schemas.microsoft.com/office/drawing/2014/main" id="{B6E79745-9EB5-6549-BFB1-61B446E9EC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622550" y="4876800"/>
            <a:ext cx="2514600" cy="13716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0498" name="Line 104">
            <a:extLst>
              <a:ext uri="{FF2B5EF4-FFF2-40B4-BE49-F238E27FC236}">
                <a16:creationId xmlns:a16="http://schemas.microsoft.com/office/drawing/2014/main" id="{BBCBD852-B213-FC43-BF7A-EDF55F0C078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7950" y="4902200"/>
            <a:ext cx="1828800" cy="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45074" name="Group 122">
            <a:extLst>
              <a:ext uri="{FF2B5EF4-FFF2-40B4-BE49-F238E27FC236}">
                <a16:creationId xmlns:a16="http://schemas.microsoft.com/office/drawing/2014/main" id="{A3F0597C-1150-B149-8272-F0743EB7E659}"/>
              </a:ext>
            </a:extLst>
          </p:cNvPr>
          <p:cNvGrpSpPr>
            <a:grpSpLocks/>
          </p:cNvGrpSpPr>
          <p:nvPr/>
        </p:nvGrpSpPr>
        <p:grpSpPr bwMode="auto">
          <a:xfrm>
            <a:off x="533400" y="2895600"/>
            <a:ext cx="3898900" cy="4038600"/>
            <a:chOff x="336" y="912"/>
            <a:chExt cx="2456" cy="2544"/>
          </a:xfrm>
        </p:grpSpPr>
        <p:sp>
          <p:nvSpPr>
            <p:cNvPr id="131133" name="Text Box 61">
              <a:extLst>
                <a:ext uri="{FF2B5EF4-FFF2-40B4-BE49-F238E27FC236}">
                  <a16:creationId xmlns:a16="http://schemas.microsoft.com/office/drawing/2014/main" id="{58CE09B8-AE92-EF42-AD53-768BBD795C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0" y="3052"/>
              <a:ext cx="27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b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0528" name="Line 66">
              <a:extLst>
                <a:ext uri="{FF2B5EF4-FFF2-40B4-BE49-F238E27FC236}">
                  <a16:creationId xmlns:a16="http://schemas.microsoft.com/office/drawing/2014/main" id="{DE1E4DF4-07F3-224C-B92F-160A138E07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37" y="1373"/>
              <a:ext cx="0" cy="167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31140" name="Text Box 68">
              <a:extLst>
                <a:ext uri="{FF2B5EF4-FFF2-40B4-BE49-F238E27FC236}">
                  <a16:creationId xmlns:a16="http://schemas.microsoft.com/office/drawing/2014/main" id="{C1D71232-DD36-7741-8D13-44417823FE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" y="1948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43" name="Text Box 71">
              <a:extLst>
                <a:ext uri="{FF2B5EF4-FFF2-40B4-BE49-F238E27FC236}">
                  <a16:creationId xmlns:a16="http://schemas.microsoft.com/office/drawing/2014/main" id="{521F5138-358C-0D45-A5C4-A0A60BECF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73" y="154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44" name="Text Box 72">
              <a:extLst>
                <a:ext uri="{FF2B5EF4-FFF2-40B4-BE49-F238E27FC236}">
                  <a16:creationId xmlns:a16="http://schemas.microsoft.com/office/drawing/2014/main" id="{4FDD79E2-A8E5-F140-8974-315C2F522C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32" y="297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45" name="Text Box 73">
              <a:extLst>
                <a:ext uri="{FF2B5EF4-FFF2-40B4-BE49-F238E27FC236}">
                  <a16:creationId xmlns:a16="http://schemas.microsoft.com/office/drawing/2014/main" id="{71EDB0FE-8E81-8B46-9089-DF0294FF4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6" y="248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0533" name="Line 74">
              <a:extLst>
                <a:ext uri="{FF2B5EF4-FFF2-40B4-BE49-F238E27FC236}">
                  <a16:creationId xmlns:a16="http://schemas.microsoft.com/office/drawing/2014/main" id="{C43CFC97-E77B-504B-B5E7-8B44AA7940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1" y="2180"/>
              <a:ext cx="966" cy="905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0534" name="Line 78">
              <a:extLst>
                <a:ext uri="{FF2B5EF4-FFF2-40B4-BE49-F238E27FC236}">
                  <a16:creationId xmlns:a16="http://schemas.microsoft.com/office/drawing/2014/main" id="{3D28B890-CCB3-D142-A205-DC81F9F95C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71" y="1344"/>
              <a:ext cx="966" cy="8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31153" name="Text Box 81">
              <a:extLst>
                <a:ext uri="{FF2B5EF4-FFF2-40B4-BE49-F238E27FC236}">
                  <a16:creationId xmlns:a16="http://schemas.microsoft.com/office/drawing/2014/main" id="{3B73B1D1-F223-624E-B91D-D70D7D5298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6" y="912"/>
              <a:ext cx="237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f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55" name="Text Box 83">
              <a:extLst>
                <a:ext uri="{FF2B5EF4-FFF2-40B4-BE49-F238E27FC236}">
                  <a16:creationId xmlns:a16="http://schemas.microsoft.com/office/drawing/2014/main" id="{B9EEBC42-F2DE-5240-8A1B-E720BF21A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46" y="1889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56" name="Text Box 84">
              <a:extLst>
                <a:ext uri="{FF2B5EF4-FFF2-40B4-BE49-F238E27FC236}">
                  <a16:creationId xmlns:a16="http://schemas.microsoft.com/office/drawing/2014/main" id="{9A184D25-912D-614B-9A36-5C426DE20D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72" y="163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57" name="Text Box 85">
              <a:extLst>
                <a:ext uri="{FF2B5EF4-FFF2-40B4-BE49-F238E27FC236}">
                  <a16:creationId xmlns:a16="http://schemas.microsoft.com/office/drawing/2014/main" id="{9A59CEEC-276F-A04A-996C-97CF0F9B4D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24" y="2553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58" name="Text Box 86">
              <a:extLst>
                <a:ext uri="{FF2B5EF4-FFF2-40B4-BE49-F238E27FC236}">
                  <a16:creationId xmlns:a16="http://schemas.microsoft.com/office/drawing/2014/main" id="{AD87B99B-994B-4144-9A38-D74A4C6CA5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2" y="235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59" name="Text Box 87">
              <a:extLst>
                <a:ext uri="{FF2B5EF4-FFF2-40B4-BE49-F238E27FC236}">
                  <a16:creationId xmlns:a16="http://schemas.microsoft.com/office/drawing/2014/main" id="{AFD58FED-3140-FA4A-84AB-3E979860B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4" y="240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61" name="Text Box 89">
              <a:extLst>
                <a:ext uri="{FF2B5EF4-FFF2-40B4-BE49-F238E27FC236}">
                  <a16:creationId xmlns:a16="http://schemas.microsoft.com/office/drawing/2014/main" id="{0DC0611F-A6BA-8C4E-B2FD-3295139353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0" y="190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62" name="Text Box 90">
              <a:extLst>
                <a:ext uri="{FF2B5EF4-FFF2-40B4-BE49-F238E27FC236}">
                  <a16:creationId xmlns:a16="http://schemas.microsoft.com/office/drawing/2014/main" id="{2C7BAE46-29EB-9941-A217-7DAE30EA7F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8" y="163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67" name="Text Box 95">
              <a:extLst>
                <a:ext uri="{FF2B5EF4-FFF2-40B4-BE49-F238E27FC236}">
                  <a16:creationId xmlns:a16="http://schemas.microsoft.com/office/drawing/2014/main" id="{41FF1813-24B3-5842-AB13-E504EA62A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2" y="105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69" name="Text Box 97">
              <a:extLst>
                <a:ext uri="{FF2B5EF4-FFF2-40B4-BE49-F238E27FC236}">
                  <a16:creationId xmlns:a16="http://schemas.microsoft.com/office/drawing/2014/main" id="{0B6C8349-8B83-EA4E-9284-1BC8449D99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04" y="2140"/>
              <a:ext cx="276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h</a:t>
              </a:r>
              <a:endPara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20545" name="Line 100">
              <a:extLst>
                <a:ext uri="{FF2B5EF4-FFF2-40B4-BE49-F238E27FC236}">
                  <a16:creationId xmlns:a16="http://schemas.microsoft.com/office/drawing/2014/main" id="{31830123-4BE8-7348-93AF-A256046E47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36" y="1392"/>
              <a:ext cx="0" cy="768"/>
            </a:xfrm>
            <a:prstGeom prst="line">
              <a:avLst/>
            </a:prstGeom>
            <a:noFill/>
            <a:ln w="76200">
              <a:solidFill>
                <a:srgbClr val="FB4D5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20546" name="Line 105">
              <a:extLst>
                <a:ext uri="{FF2B5EF4-FFF2-40B4-BE49-F238E27FC236}">
                  <a16:creationId xmlns:a16="http://schemas.microsoft.com/office/drawing/2014/main" id="{6E9967EC-3C91-3D47-9884-A819C59D08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" y="2168"/>
              <a:ext cx="960" cy="912"/>
            </a:xfrm>
            <a:prstGeom prst="line">
              <a:avLst/>
            </a:prstGeom>
            <a:noFill/>
            <a:ln w="76200">
              <a:solidFill>
                <a:srgbClr val="FB4D55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  <p:sp>
        <p:nvSpPr>
          <p:cNvPr id="131178" name="Line 106">
            <a:extLst>
              <a:ext uri="{FF2B5EF4-FFF2-40B4-BE49-F238E27FC236}">
                <a16:creationId xmlns:a16="http://schemas.microsoft.com/office/drawing/2014/main" id="{FB29F415-19AF-DB4F-84A9-B97496BC22A5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4138" y="4953000"/>
            <a:ext cx="0" cy="12192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45076" name="Group 124">
            <a:extLst>
              <a:ext uri="{FF2B5EF4-FFF2-40B4-BE49-F238E27FC236}">
                <a16:creationId xmlns:a16="http://schemas.microsoft.com/office/drawing/2014/main" id="{96D5FEA6-EAF5-7745-AB39-E848D35094FA}"/>
              </a:ext>
            </a:extLst>
          </p:cNvPr>
          <p:cNvGrpSpPr>
            <a:grpSpLocks/>
          </p:cNvGrpSpPr>
          <p:nvPr/>
        </p:nvGrpSpPr>
        <p:grpSpPr bwMode="auto">
          <a:xfrm>
            <a:off x="968375" y="3470275"/>
            <a:ext cx="6578600" cy="2940050"/>
            <a:chOff x="610" y="1274"/>
            <a:chExt cx="4144" cy="1852"/>
          </a:xfrm>
        </p:grpSpPr>
        <p:sp>
          <p:nvSpPr>
            <p:cNvPr id="131160" name="Text Box 88">
              <a:extLst>
                <a:ext uri="{FF2B5EF4-FFF2-40B4-BE49-F238E27FC236}">
                  <a16:creationId xmlns:a16="http://schemas.microsoft.com/office/drawing/2014/main" id="{E07017FB-AF56-064D-8935-A650C77EA7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8" y="244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1163" name="Text Box 91">
              <a:extLst>
                <a:ext uri="{FF2B5EF4-FFF2-40B4-BE49-F238E27FC236}">
                  <a16:creationId xmlns:a16="http://schemas.microsoft.com/office/drawing/2014/main" id="{5A106C2D-D554-304B-8819-7574CE204B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4" y="163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grpSp>
          <p:nvGrpSpPr>
            <p:cNvPr id="45086" name="Group 123">
              <a:extLst>
                <a:ext uri="{FF2B5EF4-FFF2-40B4-BE49-F238E27FC236}">
                  <a16:creationId xmlns:a16="http://schemas.microsoft.com/office/drawing/2014/main" id="{ACAFBAA1-C424-A441-8FB8-9907154D43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0" y="1274"/>
              <a:ext cx="4144" cy="1852"/>
              <a:chOff x="610" y="1274"/>
              <a:chExt cx="4144" cy="1852"/>
            </a:xfrm>
          </p:grpSpPr>
          <p:sp>
            <p:nvSpPr>
              <p:cNvPr id="131142" name="Text Box 70">
                <a:extLst>
                  <a:ext uri="{FF2B5EF4-FFF2-40B4-BE49-F238E27FC236}">
                    <a16:creationId xmlns:a16="http://schemas.microsoft.com/office/drawing/2014/main" id="{40B99B45-CDF3-2547-9A64-AAB1ADE6DA4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78" y="1947"/>
                <a:ext cx="276" cy="404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36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d</a:t>
                </a:r>
                <a:endParaRPr lang="en-US" altLang="zh-CN" sz="36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64" name="Text Box 92">
                <a:extLst>
                  <a:ext uri="{FF2B5EF4-FFF2-40B4-BE49-F238E27FC236}">
                    <a16:creationId xmlns:a16="http://schemas.microsoft.com/office/drawing/2014/main" id="{956FE8FD-B4DE-ED4B-A06F-15D2DD5676E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28" y="1536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5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65" name="Text Box 93">
                <a:extLst>
                  <a:ext uri="{FF2B5EF4-FFF2-40B4-BE49-F238E27FC236}">
                    <a16:creationId xmlns:a16="http://schemas.microsoft.com/office/drawing/2014/main" id="{69C725FC-6C3F-2C4B-9487-89184FCBB26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76" y="2544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6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66" name="Text Box 94">
                <a:extLst>
                  <a:ext uri="{FF2B5EF4-FFF2-40B4-BE49-F238E27FC236}">
                    <a16:creationId xmlns:a16="http://schemas.microsoft.com/office/drawing/2014/main" id="{20517A00-2AF5-474F-97EF-0CE8B3822F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80" y="2112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3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68" name="Text Box 96">
                <a:extLst>
                  <a:ext uri="{FF2B5EF4-FFF2-40B4-BE49-F238E27FC236}">
                    <a16:creationId xmlns:a16="http://schemas.microsoft.com/office/drawing/2014/main" id="{16CF57A4-5EDD-8747-8623-DF9AA6EAA7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4" y="1488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2800" b="1"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1</a:t>
                </a:r>
                <a:endParaRPr lang="en-US" altLang="zh-CN" sz="2800" b="1" baseline="-25000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1170" name="Text Box 98">
                <a:extLst>
                  <a:ext uri="{FF2B5EF4-FFF2-40B4-BE49-F238E27FC236}">
                    <a16:creationId xmlns:a16="http://schemas.microsoft.com/office/drawing/2014/main" id="{16939DFA-63FA-7543-9090-004D33F0E9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36" y="2043"/>
                <a:ext cx="262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r>
                  <a:rPr lang="en-US" altLang="zh-CN" sz="3600" b="1">
                    <a:solidFill>
                      <a:srgbClr val="4E67C8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anose="02020603050405020304" pitchFamily="18" charset="0"/>
                  </a:rPr>
                  <a:t>g</a:t>
                </a:r>
                <a:endParaRPr lang="en-US" altLang="zh-CN" sz="3600" b="1" baseline="-25000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endParaRPr>
              </a:p>
            </p:txBody>
          </p:sp>
          <p:grpSp>
            <p:nvGrpSpPr>
              <p:cNvPr id="45093" name="Group 107">
                <a:extLst>
                  <a:ext uri="{FF2B5EF4-FFF2-40B4-BE49-F238E27FC236}">
                    <a16:creationId xmlns:a16="http://schemas.microsoft.com/office/drawing/2014/main" id="{60AF583B-10F3-6B42-A1E6-66008AE4336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0" y="1274"/>
                <a:ext cx="3868" cy="1852"/>
                <a:chOff x="878" y="1658"/>
                <a:chExt cx="3868" cy="1852"/>
              </a:xfrm>
            </p:grpSpPr>
            <p:sp>
              <p:nvSpPr>
                <p:cNvPr id="20519" name="Oval 108">
                  <a:extLst>
                    <a:ext uri="{FF2B5EF4-FFF2-40B4-BE49-F238E27FC236}">
                      <a16:creationId xmlns:a16="http://schemas.microsoft.com/office/drawing/2014/main" id="{37DFC480-5346-2445-9A04-FB9058DBD1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72" y="3370"/>
                  <a:ext cx="120" cy="14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Arial" charset="0"/>
                    <a:ea typeface="宋体" charset="0"/>
                    <a:cs typeface="宋体" charset="0"/>
                  </a:endParaRPr>
                </a:p>
              </p:txBody>
            </p:sp>
            <p:sp>
              <p:nvSpPr>
                <p:cNvPr id="20520" name="Oval 109">
                  <a:extLst>
                    <a:ext uri="{FF2B5EF4-FFF2-40B4-BE49-F238E27FC236}">
                      <a16:creationId xmlns:a16="http://schemas.microsoft.com/office/drawing/2014/main" id="{4A70F102-BC16-EA40-A835-E3E06C37D52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5" y="1658"/>
                  <a:ext cx="121" cy="14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Arial" charset="0"/>
                    <a:ea typeface="宋体" charset="0"/>
                    <a:cs typeface="宋体" charset="0"/>
                  </a:endParaRPr>
                </a:p>
              </p:txBody>
            </p:sp>
            <p:sp>
              <p:nvSpPr>
                <p:cNvPr id="20521" name="Oval 110">
                  <a:extLst>
                    <a:ext uri="{FF2B5EF4-FFF2-40B4-BE49-F238E27FC236}">
                      <a16:creationId xmlns:a16="http://schemas.microsoft.com/office/drawing/2014/main" id="{8D130510-2937-2541-97F4-157E367A4B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5" y="2494"/>
                  <a:ext cx="121" cy="13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Arial" charset="0"/>
                    <a:ea typeface="宋体" charset="0"/>
                    <a:cs typeface="宋体" charset="0"/>
                  </a:endParaRPr>
                </a:p>
              </p:txBody>
            </p:sp>
            <p:sp>
              <p:nvSpPr>
                <p:cNvPr id="20522" name="Oval 111">
                  <a:extLst>
                    <a:ext uri="{FF2B5EF4-FFF2-40B4-BE49-F238E27FC236}">
                      <a16:creationId xmlns:a16="http://schemas.microsoft.com/office/drawing/2014/main" id="{E505C8DA-8433-6441-A9E9-25242EB39B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51" y="2494"/>
                  <a:ext cx="121" cy="13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Arial" charset="0"/>
                    <a:ea typeface="宋体" charset="0"/>
                    <a:cs typeface="宋体" charset="0"/>
                  </a:endParaRPr>
                </a:p>
              </p:txBody>
            </p:sp>
            <p:sp>
              <p:nvSpPr>
                <p:cNvPr id="20523" name="Oval 112">
                  <a:extLst>
                    <a:ext uri="{FF2B5EF4-FFF2-40B4-BE49-F238E27FC236}">
                      <a16:creationId xmlns:a16="http://schemas.microsoft.com/office/drawing/2014/main" id="{B223CE27-6BBB-DB47-8634-22419F0141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25" y="2494"/>
                  <a:ext cx="121" cy="13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Arial" charset="0"/>
                    <a:ea typeface="宋体" charset="0"/>
                    <a:cs typeface="宋体" charset="0"/>
                  </a:endParaRPr>
                </a:p>
              </p:txBody>
            </p:sp>
            <p:sp>
              <p:nvSpPr>
                <p:cNvPr id="20524" name="Oval 113">
                  <a:extLst>
                    <a:ext uri="{FF2B5EF4-FFF2-40B4-BE49-F238E27FC236}">
                      <a16:creationId xmlns:a16="http://schemas.microsoft.com/office/drawing/2014/main" id="{96696F18-B66E-3743-BB12-2800BA0C37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845" y="3359"/>
                  <a:ext cx="121" cy="139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Arial" charset="0"/>
                    <a:ea typeface="宋体" charset="0"/>
                    <a:cs typeface="宋体" charset="0"/>
                  </a:endParaRPr>
                </a:p>
              </p:txBody>
            </p:sp>
            <p:sp>
              <p:nvSpPr>
                <p:cNvPr id="20525" name="Oval 114">
                  <a:extLst>
                    <a:ext uri="{FF2B5EF4-FFF2-40B4-BE49-F238E27FC236}">
                      <a16:creationId xmlns:a16="http://schemas.microsoft.com/office/drawing/2014/main" id="{68B0E4C0-23A5-8245-B3F1-B1B2BD7893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472" y="1658"/>
                  <a:ext cx="120" cy="14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>
                    <a:defRPr/>
                  </a:pPr>
                  <a:endParaRPr lang="zh-CN" altLang="en-US">
                    <a:latin typeface="Arial" charset="0"/>
                    <a:ea typeface="宋体" charset="0"/>
                    <a:cs typeface="宋体" charset="0"/>
                  </a:endParaRPr>
                </a:p>
              </p:txBody>
            </p:sp>
            <p:sp>
              <p:nvSpPr>
                <p:cNvPr id="20526" name="Oval 115">
                  <a:extLst>
                    <a:ext uri="{FF2B5EF4-FFF2-40B4-BE49-F238E27FC236}">
                      <a16:creationId xmlns:a16="http://schemas.microsoft.com/office/drawing/2014/main" id="{E903FE40-7BAB-DE47-93CA-9FA6CDB0A0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78" y="2482"/>
                  <a:ext cx="121" cy="140"/>
                </a:xfrm>
                <a:prstGeom prst="ellipse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>
                    <a:defRPr/>
                  </a:pPr>
                  <a:endParaRPr kumimoji="1" lang="zh-CN" altLang="en-US" sz="2400">
                    <a:latin typeface="Times New Roman" charset="0"/>
                    <a:ea typeface="宋体" charset="0"/>
                    <a:cs typeface="宋体" charset="0"/>
                  </a:endParaRPr>
                </a:p>
              </p:txBody>
            </p:sp>
          </p:grpSp>
        </p:grpSp>
      </p:grpSp>
      <p:sp>
        <p:nvSpPr>
          <p:cNvPr id="131188" name="Text Box 116">
            <a:extLst>
              <a:ext uri="{FF2B5EF4-FFF2-40B4-BE49-F238E27FC236}">
                <a16:creationId xmlns:a16="http://schemas.microsoft.com/office/drawing/2014/main" id="{FFF0881B-4074-B24C-A682-F28DD5E049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5650" y="62166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x</a:t>
            </a:r>
            <a:endParaRPr lang="en-US" altLang="zh-CN" sz="3600" b="1" baseline="-25000">
              <a:solidFill>
                <a:srgbClr val="00FF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1189" name="Text Box 117">
            <a:extLst>
              <a:ext uri="{FF2B5EF4-FFF2-40B4-BE49-F238E27FC236}">
                <a16:creationId xmlns:a16="http://schemas.microsoft.com/office/drawing/2014/main" id="{94764FBA-0DEE-8246-A8D4-9152C2A0F0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850" y="28638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y</a:t>
            </a:r>
            <a:endParaRPr lang="en-US" altLang="zh-CN" sz="3600" b="1" baseline="-25000">
              <a:solidFill>
                <a:srgbClr val="00FF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1190" name="Line 118">
            <a:extLst>
              <a:ext uri="{FF2B5EF4-FFF2-40B4-BE49-F238E27FC236}">
                <a16:creationId xmlns:a16="http://schemas.microsoft.com/office/drawing/2014/main" id="{C2BEB178-778C-3A4A-9E35-7A333B953E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10200" y="659288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1191" name="Line 119">
            <a:extLst>
              <a:ext uri="{FF2B5EF4-FFF2-40B4-BE49-F238E27FC236}">
                <a16:creationId xmlns:a16="http://schemas.microsoft.com/office/drawing/2014/main" id="{1A5D053F-C833-B04E-988D-3D0D2B2D0EC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3276600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1192" name="Line 120">
            <a:extLst>
              <a:ext uri="{FF2B5EF4-FFF2-40B4-BE49-F238E27FC236}">
                <a16:creationId xmlns:a16="http://schemas.microsoft.com/office/drawing/2014/main" id="{FB7FAEB3-A78F-4249-903D-B5A11C6420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486400" y="5257800"/>
            <a:ext cx="304800" cy="228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1193" name="Text Box 121">
            <a:extLst>
              <a:ext uri="{FF2B5EF4-FFF2-40B4-BE49-F238E27FC236}">
                <a16:creationId xmlns:a16="http://schemas.microsoft.com/office/drawing/2014/main" id="{13B988AE-540E-CD4A-9BA7-11F184700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8800" y="5318125"/>
            <a:ext cx="381000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 dirty="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v</a:t>
            </a:r>
            <a:r>
              <a:rPr lang="en-US" altLang="zh-CN" sz="3600" b="1" baseline="-25000" dirty="0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1197" name="Rectangle 125">
            <a:extLst>
              <a:ext uri="{FF2B5EF4-FFF2-40B4-BE49-F238E27FC236}">
                <a16:creationId xmlns:a16="http://schemas.microsoft.com/office/drawing/2014/main" id="{C153537D-E84E-2443-8ABA-479F5C0AF6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8991600" cy="308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457200" indent="-4572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Tx/>
              <a:buAutoNum type="arabicParenR"/>
            </a:pP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先证明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T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是支撑子图，即证明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P</a:t>
            </a:r>
            <a:r>
              <a:rPr kumimoji="0" lang="en-US" altLang="zh-CN" sz="2800" b="1" baseline="-25000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(T)=P(G)。</a:t>
            </a:r>
          </a:p>
          <a:p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	容易看出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P</a:t>
            </a:r>
            <a:r>
              <a:rPr kumimoji="0" lang="en-US" altLang="zh-CN" sz="2800" b="1" baseline="-25000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(T)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  <a:sym typeface="Symbol" pitchFamily="2" charset="2"/>
              </a:rPr>
              <a:t>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P(G)，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只需证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P(G)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  <a:sym typeface="Symbol" pitchFamily="2" charset="2"/>
              </a:rPr>
              <a:t>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P</a:t>
            </a:r>
            <a:r>
              <a:rPr kumimoji="0" lang="en-US" altLang="zh-CN" sz="2800" b="1" baseline="-25000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(T)。</a:t>
            </a:r>
          </a:p>
          <a:p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	用反证法，设</a:t>
            </a:r>
            <a:r>
              <a:rPr kumimoji="0" lang="en-US" altLang="zh-CN" sz="2800" b="1" dirty="0" err="1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x</a:t>
            </a:r>
            <a:r>
              <a:rPr kumimoji="0" lang="en-US" altLang="zh-CN" sz="2800" b="1" dirty="0" err="1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  <a:sym typeface="Symbol" pitchFamily="2" charset="2"/>
              </a:rPr>
              <a:t></a:t>
            </a:r>
            <a:r>
              <a:rPr kumimoji="0" lang="en-US" altLang="zh-CN" sz="2800" b="1" dirty="0" err="1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P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(G)，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但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x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  <a:sym typeface="Symbol" pitchFamily="2" charset="2"/>
              </a:rPr>
              <a:t>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P</a:t>
            </a:r>
            <a:r>
              <a:rPr kumimoji="0" lang="en-US" altLang="zh-CN" sz="2800" b="1" baseline="-25000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(T)，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任取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T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中点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y</a:t>
            </a:r>
            <a:r>
              <a:rPr kumimoji="0" lang="zh-CN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，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因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G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是连通的，所以在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G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中有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x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到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y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的路设为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l=(x,v</a:t>
            </a:r>
            <a:r>
              <a:rPr kumimoji="0" lang="en-US" altLang="zh-CN" sz="2800" b="1" baseline="-25000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,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…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,</a:t>
            </a:r>
            <a:r>
              <a:rPr kumimoji="0" lang="en-US" altLang="zh-CN" sz="2800" b="1" dirty="0" err="1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v</a:t>
            </a:r>
            <a:r>
              <a:rPr kumimoji="0" lang="en-US" altLang="zh-CN" sz="2800" b="1" baseline="-25000" dirty="0" err="1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r</a:t>
            </a:r>
            <a:r>
              <a:rPr kumimoji="0" lang="en-US" altLang="zh-CN" sz="2800" b="1" dirty="0" err="1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,y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)，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则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xv</a:t>
            </a:r>
            <a:r>
              <a:rPr kumimoji="0" lang="en-US" altLang="zh-CN" sz="2800" b="1" baseline="-25000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不是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T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中的边，把边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xv</a:t>
            </a:r>
            <a:r>
              <a:rPr kumimoji="0" lang="en-US" altLang="zh-CN" sz="2800" b="1" baseline="-25000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加入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T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中不会产生回路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(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否则，将推出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x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  <a:sym typeface="Symbol" pitchFamily="2" charset="2"/>
              </a:rPr>
              <a:t>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P</a:t>
            </a:r>
            <a:r>
              <a:rPr kumimoji="0" lang="en-US" altLang="zh-CN" sz="2800" b="1" baseline="-25000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(T))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，与算法停于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T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矛盾。故必有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P(G)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  <a:sym typeface="Symbol" pitchFamily="2" charset="2"/>
              </a:rPr>
              <a:t>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P</a:t>
            </a:r>
            <a:r>
              <a:rPr kumimoji="0" lang="en-US" altLang="zh-CN" sz="2800" b="1" baseline="-25000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(T) </a:t>
            </a:r>
            <a:r>
              <a:rPr kumimoji="0" lang="zh-CN" altLang="en-US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，所以，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P(G)=P</a:t>
            </a:r>
            <a:r>
              <a:rPr kumimoji="0" lang="en-US" altLang="zh-CN" sz="2800" b="1" baseline="-25000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1</a:t>
            </a:r>
            <a:r>
              <a:rPr kumimoji="0" lang="en-US" altLang="zh-CN" sz="2800" b="1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(T)。</a:t>
            </a:r>
            <a:r>
              <a:rPr kumimoji="0" lang="en-US" altLang="zh-CN" sz="2800" dirty="0">
                <a:solidFill>
                  <a:srgbClr val="404040"/>
                </a:solidFill>
                <a:ea typeface="SimHei" panose="02010609060101010101" pitchFamily="49" charset="-122"/>
                <a:cs typeface="Arial" panose="020B0604020202020204" pitchFamily="34" charset="0"/>
              </a:rPr>
              <a:t> </a:t>
            </a:r>
            <a:endParaRPr kumimoji="0" lang="zh-CN" altLang="en-US" sz="2800" dirty="0">
              <a:solidFill>
                <a:srgbClr val="404040"/>
              </a:solidFill>
              <a:ea typeface="SimHei" panose="02010609060101010101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1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1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119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119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6" presetClass="emph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" dur="500" fill="hold"/>
                                        <p:tgtEl>
                                          <p:spTgt spid="1311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" dur="500" fill="hold"/>
                                        <p:tgtEl>
                                          <p:spTgt spid="1311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" dur="500" fill="hold"/>
                                        <p:tgtEl>
                                          <p:spTgt spid="1311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0" dur="500" fill="hold"/>
                                        <p:tgtEl>
                                          <p:spTgt spid="13115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1" dur="500" fill="hold"/>
                                        <p:tgtEl>
                                          <p:spTgt spid="13115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FF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2" dur="500" fill="hold"/>
                                        <p:tgtEl>
                                          <p:spTgt spid="13115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141" grpId="0"/>
      <p:bldP spid="131154" grpId="0"/>
      <p:bldP spid="131188" grpId="0"/>
      <p:bldP spid="131189" grpId="0"/>
      <p:bldP spid="13119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Slide Number Placeholder 5">
            <a:extLst>
              <a:ext uri="{FF2B5EF4-FFF2-40B4-BE49-F238E27FC236}">
                <a16:creationId xmlns:a16="http://schemas.microsoft.com/office/drawing/2014/main" id="{C6A4D95A-FFF0-9F40-A723-2941DBE0CE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F4A23B8-BA45-2F48-99CA-31776D11F1A7}" type="slidenum">
              <a:rPr kumimoji="0" lang="zh-CN" altLang="en-US" sz="1200"/>
              <a:pPr/>
              <a:t>20</a:t>
            </a:fld>
            <a:endParaRPr kumimoji="0" lang="en-US" altLang="zh-CN" sz="1200"/>
          </a:p>
        </p:txBody>
      </p:sp>
      <p:sp>
        <p:nvSpPr>
          <p:cNvPr id="109570" name="Rectangle 2">
            <a:extLst>
              <a:ext uri="{FF2B5EF4-FFF2-40B4-BE49-F238E27FC236}">
                <a16:creationId xmlns:a16="http://schemas.microsoft.com/office/drawing/2014/main" id="{3FFF33A1-CD4A-E748-9CFC-FD7C15DE9B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定理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4.2.2</a:t>
            </a:r>
            <a:endParaRPr lang="en-US" altLang="zh-CN" sz="6000" dirty="0">
              <a:latin typeface="宋体" charset="0"/>
              <a:ea typeface="楷体_GB2312" charset="0"/>
              <a:cs typeface="+mj-cs"/>
              <a:sym typeface="Symbol" charset="0"/>
            </a:endParaRP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B20EE43-28D0-D14E-B787-916CB6CCD1B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763000" cy="4572000"/>
          </a:xfrm>
        </p:spPr>
        <p:txBody>
          <a:bodyPr/>
          <a:lstStyle/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证明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是一个树，只须证明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是连通的(无回路由算法保证)。	</a:t>
            </a:r>
          </a:p>
        </p:txBody>
      </p:sp>
    </p:spTree>
  </p:cSld>
  <p:clrMapOvr>
    <a:masterClrMapping/>
  </p:clrMapOvr>
  <p:transition>
    <p:blinds dir="vert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Slide Number Placeholder 5">
            <a:extLst>
              <a:ext uri="{FF2B5EF4-FFF2-40B4-BE49-F238E27FC236}">
                <a16:creationId xmlns:a16="http://schemas.microsoft.com/office/drawing/2014/main" id="{67987053-46E1-264B-8E15-8E8D219B719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xfrm>
            <a:off x="7315200" y="6492875"/>
            <a:ext cx="18288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7BE37B3-EAAC-2247-BB62-E9C025DE8B70}" type="slidenum">
              <a:rPr kumimoji="0" lang="zh-CN" altLang="en-US" sz="1200"/>
              <a:pPr/>
              <a:t>21</a:t>
            </a:fld>
            <a:endParaRPr kumimoji="0" lang="en-US" altLang="zh-CN" sz="1200"/>
          </a:p>
        </p:txBody>
      </p:sp>
      <p:sp>
        <p:nvSpPr>
          <p:cNvPr id="136195" name="Rectangle 3">
            <a:extLst>
              <a:ext uri="{FF2B5EF4-FFF2-40B4-BE49-F238E27FC236}">
                <a16:creationId xmlns:a16="http://schemas.microsoft.com/office/drawing/2014/main" id="{85A234A8-209D-FC49-B2A9-DB50DF9BDDE9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34925" y="152400"/>
            <a:ext cx="8956675" cy="274320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不连通，不妨假设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和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 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的其中两个分支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x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，y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因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是连通的，所以有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中的路 (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r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, 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r+1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其中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x=v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，y= 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r+1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。</a:t>
            </a:r>
          </a:p>
          <a:p>
            <a:pPr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	因此，必有边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 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使 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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那么，把</a:t>
            </a:r>
            <a:b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2800" baseline="-30000">
                <a:latin typeface="Times New Roman" panose="02020603050405020304" pitchFamily="18" charset="0"/>
                <a:ea typeface="楷体_GB2312" pitchFamily="49" charset="-122"/>
              </a:rPr>
              <a:t>i+1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加到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中，不会产生回路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(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否则，将推出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是连通的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，与算法停于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矛盾，所以</a:t>
            </a:r>
            <a:r>
              <a:rPr kumimoji="0" lang="en-US" altLang="zh-CN" sz="28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2800">
                <a:latin typeface="Times New Roman" panose="02020603050405020304" pitchFamily="18" charset="0"/>
                <a:ea typeface="楷体_GB2312" pitchFamily="49" charset="-122"/>
              </a:rPr>
              <a:t>是连通的。 </a:t>
            </a:r>
            <a:endParaRPr kumimoji="0" lang="zh-CN" altLang="en-US" sz="2800">
              <a:latin typeface="Arial" panose="020B0604020202020204" pitchFamily="34" charset="0"/>
              <a:ea typeface="楷体_GB2312" pitchFamily="49" charset="-122"/>
            </a:endParaRPr>
          </a:p>
        </p:txBody>
      </p:sp>
      <p:sp>
        <p:nvSpPr>
          <p:cNvPr id="22532" name="Line 46">
            <a:extLst>
              <a:ext uri="{FF2B5EF4-FFF2-40B4-BE49-F238E27FC236}">
                <a16:creationId xmlns:a16="http://schemas.microsoft.com/office/drawing/2014/main" id="{52056278-01C2-7B49-8655-3859560FC5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4800" y="4691063"/>
            <a:ext cx="2651125" cy="1436687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33" name="Line 47">
            <a:extLst>
              <a:ext uri="{FF2B5EF4-FFF2-40B4-BE49-F238E27FC236}">
                <a16:creationId xmlns:a16="http://schemas.microsoft.com/office/drawing/2014/main" id="{C495F084-804A-FC44-8D74-E72DD054FB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44800" y="3363913"/>
            <a:ext cx="2651125" cy="14382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34" name="Line 48">
            <a:extLst>
              <a:ext uri="{FF2B5EF4-FFF2-40B4-BE49-F238E27FC236}">
                <a16:creationId xmlns:a16="http://schemas.microsoft.com/office/drawing/2014/main" id="{F9ADE87D-5DED-D14D-BD35-9DB95957E9A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366838" y="4695825"/>
            <a:ext cx="4068762" cy="14319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35" name="Line 49">
            <a:extLst>
              <a:ext uri="{FF2B5EF4-FFF2-40B4-BE49-F238E27FC236}">
                <a16:creationId xmlns:a16="http://schemas.microsoft.com/office/drawing/2014/main" id="{55DEB98C-97D9-A74F-89DB-F5F1EB37336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41638" y="3433763"/>
            <a:ext cx="4316412" cy="12573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36" name="Line 50">
            <a:extLst>
              <a:ext uri="{FF2B5EF4-FFF2-40B4-BE49-F238E27FC236}">
                <a16:creationId xmlns:a16="http://schemas.microsoft.com/office/drawing/2014/main" id="{78E94AAF-6DF8-EB46-B9AD-5A7FDBA89A0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54650" y="3475038"/>
            <a:ext cx="0" cy="2652712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6243" name="Text Box 51">
            <a:extLst>
              <a:ext uri="{FF2B5EF4-FFF2-40B4-BE49-F238E27FC236}">
                <a16:creationId xmlns:a16="http://schemas.microsoft.com/office/drawing/2014/main" id="{DEF195C4-2982-D347-BF10-7AB2DA2BDF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375" y="6065838"/>
            <a:ext cx="388938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c</a:t>
            </a:r>
            <a:endParaRPr lang="en-US" altLang="zh-CN" sz="3600" b="1" baseline="-25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2538" name="Line 52">
            <a:extLst>
              <a:ext uri="{FF2B5EF4-FFF2-40B4-BE49-F238E27FC236}">
                <a16:creationId xmlns:a16="http://schemas.microsoft.com/office/drawing/2014/main" id="{844FD114-7307-D443-91DE-0FE40C8EB1A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0363" y="6127750"/>
            <a:ext cx="2590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39" name="Line 53">
            <a:extLst>
              <a:ext uri="{FF2B5EF4-FFF2-40B4-BE49-F238E27FC236}">
                <a16:creationId xmlns:a16="http://schemas.microsoft.com/office/drawing/2014/main" id="{8EB40883-501E-7F44-9282-C0A291B01A1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491163" y="4732338"/>
            <a:ext cx="1822450" cy="1436687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40" name="Line 54">
            <a:extLst>
              <a:ext uri="{FF2B5EF4-FFF2-40B4-BE49-F238E27FC236}">
                <a16:creationId xmlns:a16="http://schemas.microsoft.com/office/drawing/2014/main" id="{5BCB2AEE-A04C-864D-8B12-29D7DA2D5805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6838" y="4756150"/>
            <a:ext cx="59467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41" name="Line 55">
            <a:extLst>
              <a:ext uri="{FF2B5EF4-FFF2-40B4-BE49-F238E27FC236}">
                <a16:creationId xmlns:a16="http://schemas.microsoft.com/office/drawing/2014/main" id="{B07A26DC-F375-704C-86AA-B73C32CDA0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900363" y="3429000"/>
            <a:ext cx="2590800" cy="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42" name="Line 56">
            <a:extLst>
              <a:ext uri="{FF2B5EF4-FFF2-40B4-BE49-F238E27FC236}">
                <a16:creationId xmlns:a16="http://schemas.microsoft.com/office/drawing/2014/main" id="{F8A03DF6-ACEF-E649-849A-08871C44A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1163" y="3429000"/>
            <a:ext cx="1822450" cy="1327150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6249" name="Text Box 57">
            <a:extLst>
              <a:ext uri="{FF2B5EF4-FFF2-40B4-BE49-F238E27FC236}">
                <a16:creationId xmlns:a16="http://schemas.microsoft.com/office/drawing/2014/main" id="{F458EECD-674F-E941-A0E8-7023C3E36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913" y="2743200"/>
            <a:ext cx="388937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e</a:t>
            </a:r>
            <a:endParaRPr lang="en-US" altLang="zh-CN" sz="3600" b="1" baseline="-25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2544" name="Line 58">
            <a:extLst>
              <a:ext uri="{FF2B5EF4-FFF2-40B4-BE49-F238E27FC236}">
                <a16:creationId xmlns:a16="http://schemas.microsoft.com/office/drawing/2014/main" id="{203DA1BA-F6C7-B54A-BAF0-5C666DECAF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4975" y="3429000"/>
            <a:ext cx="1752600" cy="12954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45" name="Line 59">
            <a:extLst>
              <a:ext uri="{FF2B5EF4-FFF2-40B4-BE49-F238E27FC236}">
                <a16:creationId xmlns:a16="http://schemas.microsoft.com/office/drawing/2014/main" id="{6510D059-F2F9-C441-8E55-2ED58E19ACB5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4175" y="3429000"/>
            <a:ext cx="2514600" cy="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46" name="Line 60">
            <a:extLst>
              <a:ext uri="{FF2B5EF4-FFF2-40B4-BE49-F238E27FC236}">
                <a16:creationId xmlns:a16="http://schemas.microsoft.com/office/drawing/2014/main" id="{7E4A3381-4F0C-A848-8164-7BE107C86F8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24175" y="4724400"/>
            <a:ext cx="2514600" cy="13716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6255" name="Text Box 63">
            <a:extLst>
              <a:ext uri="{FF2B5EF4-FFF2-40B4-BE49-F238E27FC236}">
                <a16:creationId xmlns:a16="http://schemas.microsoft.com/office/drawing/2014/main" id="{9A1C13AC-B152-D242-B644-E9EE33498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19375" y="6140450"/>
            <a:ext cx="438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b</a:t>
            </a:r>
            <a:endParaRPr lang="en-US" altLang="zh-CN" sz="3600" b="1" baseline="-25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2548" name="Line 64">
            <a:extLst>
              <a:ext uri="{FF2B5EF4-FFF2-40B4-BE49-F238E27FC236}">
                <a16:creationId xmlns:a16="http://schemas.microsoft.com/office/drawing/2014/main" id="{7127743E-B8A8-8A41-B3B6-929AEF99823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00363" y="3475038"/>
            <a:ext cx="0" cy="26527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6257" name="Text Box 65">
            <a:extLst>
              <a:ext uri="{FF2B5EF4-FFF2-40B4-BE49-F238E27FC236}">
                <a16:creationId xmlns:a16="http://schemas.microsoft.com/office/drawing/2014/main" id="{0AE560A6-32D0-FB4B-B2A1-15159FB69B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025" y="43878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a</a:t>
            </a:r>
            <a:endParaRPr lang="en-US" altLang="zh-CN" sz="3600" b="1" baseline="-25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58" name="Text Box 66">
            <a:extLst>
              <a:ext uri="{FF2B5EF4-FFF2-40B4-BE49-F238E27FC236}">
                <a16:creationId xmlns:a16="http://schemas.microsoft.com/office/drawing/2014/main" id="{ADEF06EB-39D9-B14A-A13E-0A03FDFE6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46263" y="374808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59" name="Text Box 67">
            <a:extLst>
              <a:ext uri="{FF2B5EF4-FFF2-40B4-BE49-F238E27FC236}">
                <a16:creationId xmlns:a16="http://schemas.microsoft.com/office/drawing/2014/main" id="{F0141528-6438-D34A-860F-59EA7A17B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62425" y="60198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60" name="Text Box 68">
            <a:extLst>
              <a:ext uri="{FF2B5EF4-FFF2-40B4-BE49-F238E27FC236}">
                <a16:creationId xmlns:a16="http://schemas.microsoft.com/office/drawing/2014/main" id="{AF62EB70-A255-1345-9AF0-887A1B4378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24025" y="52451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2553" name="Line 69">
            <a:extLst>
              <a:ext uri="{FF2B5EF4-FFF2-40B4-BE49-F238E27FC236}">
                <a16:creationId xmlns:a16="http://schemas.microsoft.com/office/drawing/2014/main" id="{1C7AD3FE-F08F-8247-B344-1F175D764F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66838" y="4756150"/>
            <a:ext cx="1533525" cy="1436688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54" name="Line 70">
            <a:extLst>
              <a:ext uri="{FF2B5EF4-FFF2-40B4-BE49-F238E27FC236}">
                <a16:creationId xmlns:a16="http://schemas.microsoft.com/office/drawing/2014/main" id="{A062E52F-348F-764B-B74A-19D7936E157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366838" y="3429000"/>
            <a:ext cx="1533525" cy="13271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6263" name="Text Box 71">
            <a:extLst>
              <a:ext uri="{FF2B5EF4-FFF2-40B4-BE49-F238E27FC236}">
                <a16:creationId xmlns:a16="http://schemas.microsoft.com/office/drawing/2014/main" id="{5EDD46FB-2189-FD45-BD77-3AEABA5C3C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71775" y="2743200"/>
            <a:ext cx="376238" cy="646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f</a:t>
            </a:r>
            <a:endParaRPr lang="en-US" altLang="zh-CN" sz="3600" b="1" baseline="-25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64" name="Text Box 72">
            <a:extLst>
              <a:ext uri="{FF2B5EF4-FFF2-40B4-BE49-F238E27FC236}">
                <a16:creationId xmlns:a16="http://schemas.microsoft.com/office/drawing/2014/main" id="{0A4F461C-2AB4-674E-AF5C-5DDBD85259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0900" y="4294188"/>
            <a:ext cx="3619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8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65" name="Text Box 73">
            <a:extLst>
              <a:ext uri="{FF2B5EF4-FFF2-40B4-BE49-F238E27FC236}">
                <a16:creationId xmlns:a16="http://schemas.microsoft.com/office/drawing/2014/main" id="{8FFD6972-D53F-A046-B559-18AFE9EC6F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8425" y="38862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66" name="Text Box 74">
            <a:extLst>
              <a:ext uri="{FF2B5EF4-FFF2-40B4-BE49-F238E27FC236}">
                <a16:creationId xmlns:a16="http://schemas.microsoft.com/office/drawing/2014/main" id="{061EC970-31F6-8A49-A957-DA1E01D5AC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0800" y="51054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67" name="Text Box 75">
            <a:extLst>
              <a:ext uri="{FF2B5EF4-FFF2-40B4-BE49-F238E27FC236}">
                <a16:creationId xmlns:a16="http://schemas.microsoft.com/office/drawing/2014/main" id="{B19FC23C-5F0E-BF4B-8472-45E659111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425" y="50292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68" name="Text Box 76">
            <a:extLst>
              <a:ext uri="{FF2B5EF4-FFF2-40B4-BE49-F238E27FC236}">
                <a16:creationId xmlns:a16="http://schemas.microsoft.com/office/drawing/2014/main" id="{E1DAAA84-1C54-0143-8804-BC34282833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71975" y="51054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69" name="Text Box 77">
            <a:extLst>
              <a:ext uri="{FF2B5EF4-FFF2-40B4-BE49-F238E27FC236}">
                <a16:creationId xmlns:a16="http://schemas.microsoft.com/office/drawing/2014/main" id="{1F423A79-E7FC-4E46-AFCA-A4048D5D3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3375" y="431165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7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70" name="Text Box 78">
            <a:extLst>
              <a:ext uri="{FF2B5EF4-FFF2-40B4-BE49-F238E27FC236}">
                <a16:creationId xmlns:a16="http://schemas.microsoft.com/office/drawing/2014/main" id="{4AFBB1FF-B08F-2744-8AC4-2CD5860AA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57575" y="38862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71" name="Text Box 79">
            <a:extLst>
              <a:ext uri="{FF2B5EF4-FFF2-40B4-BE49-F238E27FC236}">
                <a16:creationId xmlns:a16="http://schemas.microsoft.com/office/drawing/2014/main" id="{F97C89AD-DEFB-7347-946A-00988E942F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175" y="29718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72" name="Text Box 80">
            <a:extLst>
              <a:ext uri="{FF2B5EF4-FFF2-40B4-BE49-F238E27FC236}">
                <a16:creationId xmlns:a16="http://schemas.microsoft.com/office/drawing/2014/main" id="{D6F562B4-F9DA-404F-A734-D4ADF4EF03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7975" y="4692650"/>
            <a:ext cx="438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h</a:t>
            </a:r>
            <a:endParaRPr lang="en-US" altLang="zh-CN" sz="3600" b="1" baseline="-25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2565" name="Line 81">
            <a:extLst>
              <a:ext uri="{FF2B5EF4-FFF2-40B4-BE49-F238E27FC236}">
                <a16:creationId xmlns:a16="http://schemas.microsoft.com/office/drawing/2014/main" id="{62D6FE43-2697-DF48-A392-CCAAB6BC09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98775" y="3505200"/>
            <a:ext cx="0" cy="12192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66" name="Line 82">
            <a:extLst>
              <a:ext uri="{FF2B5EF4-FFF2-40B4-BE49-F238E27FC236}">
                <a16:creationId xmlns:a16="http://schemas.microsoft.com/office/drawing/2014/main" id="{B69D1A28-5D5A-024F-A212-E4182A91C1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87475" y="4737100"/>
            <a:ext cx="1524000" cy="14478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67" name="Line 83">
            <a:extLst>
              <a:ext uri="{FF2B5EF4-FFF2-40B4-BE49-F238E27FC236}">
                <a16:creationId xmlns:a16="http://schemas.microsoft.com/office/drawing/2014/main" id="{F6F5F959-5449-EA43-9D0C-381D4CE82C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465763" y="4800600"/>
            <a:ext cx="0" cy="1219200"/>
          </a:xfrm>
          <a:prstGeom prst="line">
            <a:avLst/>
          </a:prstGeom>
          <a:noFill/>
          <a:ln w="762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6277" name="Text Box 85">
            <a:extLst>
              <a:ext uri="{FF2B5EF4-FFF2-40B4-BE49-F238E27FC236}">
                <a16:creationId xmlns:a16="http://schemas.microsoft.com/office/drawing/2014/main" id="{F5D77228-9CD3-B945-A1B3-8DD2E6FB9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1950" y="51816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4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78" name="Text Box 86">
            <a:extLst>
              <a:ext uri="{FF2B5EF4-FFF2-40B4-BE49-F238E27FC236}">
                <a16:creationId xmlns:a16="http://schemas.microsoft.com/office/drawing/2014/main" id="{1E5A667E-1311-394F-B3F0-026636C0A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2975" y="38862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80" name="Text Box 88">
            <a:extLst>
              <a:ext uri="{FF2B5EF4-FFF2-40B4-BE49-F238E27FC236}">
                <a16:creationId xmlns:a16="http://schemas.microsoft.com/office/drawing/2014/main" id="{1E774EE3-E805-0649-BF3F-AAAF457E8F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0450" y="4386263"/>
            <a:ext cx="438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d</a:t>
            </a:r>
            <a:endParaRPr lang="en-US" altLang="zh-CN" sz="3600" b="1" baseline="-25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81" name="Text Box 89">
            <a:extLst>
              <a:ext uri="{FF2B5EF4-FFF2-40B4-BE49-F238E27FC236}">
                <a16:creationId xmlns:a16="http://schemas.microsoft.com/office/drawing/2014/main" id="{4F5CB0F0-38EE-A646-9A84-4C7FBE1BCE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6075" y="37338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5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82" name="Text Box 90">
            <a:extLst>
              <a:ext uri="{FF2B5EF4-FFF2-40B4-BE49-F238E27FC236}">
                <a16:creationId xmlns:a16="http://schemas.microsoft.com/office/drawing/2014/main" id="{8196DC5B-6DB0-464A-8E37-385372E314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96025" y="53340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6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83" name="Text Box 91">
            <a:extLst>
              <a:ext uri="{FF2B5EF4-FFF2-40B4-BE49-F238E27FC236}">
                <a16:creationId xmlns:a16="http://schemas.microsoft.com/office/drawing/2014/main" id="{52646F04-49BC-2D4A-81E0-B49B3D70EC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3625" y="46482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3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84" name="Text Box 92">
            <a:extLst>
              <a:ext uri="{FF2B5EF4-FFF2-40B4-BE49-F238E27FC236}">
                <a16:creationId xmlns:a16="http://schemas.microsoft.com/office/drawing/2014/main" id="{0491637B-908D-FB43-9013-E6BFE40DFD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6975" y="36576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  <a:endParaRPr lang="en-US" altLang="zh-CN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85" name="Text Box 93">
            <a:extLst>
              <a:ext uri="{FF2B5EF4-FFF2-40B4-BE49-F238E27FC236}">
                <a16:creationId xmlns:a16="http://schemas.microsoft.com/office/drawing/2014/main" id="{3033B4DE-9F97-9440-A22E-612B675868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8775" y="4538663"/>
            <a:ext cx="415925" cy="646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g</a:t>
            </a:r>
            <a:endParaRPr lang="en-US" altLang="zh-CN" sz="3600" b="1" baseline="-25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22576" name="Oval 95">
            <a:extLst>
              <a:ext uri="{FF2B5EF4-FFF2-40B4-BE49-F238E27FC236}">
                <a16:creationId xmlns:a16="http://schemas.microsoft.com/office/drawing/2014/main" id="{C1C7D59F-2D0F-F04D-ADBC-E2968B9BE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975" y="6035675"/>
            <a:ext cx="190500" cy="2222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77" name="Oval 96">
            <a:extLst>
              <a:ext uri="{FF2B5EF4-FFF2-40B4-BE49-F238E27FC236}">
                <a16:creationId xmlns:a16="http://schemas.microsoft.com/office/drawing/2014/main" id="{11AC2A55-6A10-8143-B191-2BCA83685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3317875"/>
            <a:ext cx="192087" cy="2222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78" name="Oval 97">
            <a:extLst>
              <a:ext uri="{FF2B5EF4-FFF2-40B4-BE49-F238E27FC236}">
                <a16:creationId xmlns:a16="http://schemas.microsoft.com/office/drawing/2014/main" id="{55C9BEB7-2B76-9549-A68A-75DB7913C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4645025"/>
            <a:ext cx="192087" cy="2206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79" name="Oval 98">
            <a:extLst>
              <a:ext uri="{FF2B5EF4-FFF2-40B4-BE49-F238E27FC236}">
                <a16:creationId xmlns:a16="http://schemas.microsoft.com/office/drawing/2014/main" id="{0704EDD1-2C4A-5644-BE13-04144D687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4638" y="4645025"/>
            <a:ext cx="192087" cy="2206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80" name="Oval 99">
            <a:extLst>
              <a:ext uri="{FF2B5EF4-FFF2-40B4-BE49-F238E27FC236}">
                <a16:creationId xmlns:a16="http://schemas.microsoft.com/office/drawing/2014/main" id="{2364E952-A841-7141-87DC-61FD76D08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8363" y="4645025"/>
            <a:ext cx="192087" cy="220663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81" name="Oval 100">
            <a:extLst>
              <a:ext uri="{FF2B5EF4-FFF2-40B4-BE49-F238E27FC236}">
                <a16:creationId xmlns:a16="http://schemas.microsoft.com/office/drawing/2014/main" id="{08A08EA3-B3BB-6F46-ADC6-D86B9222B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05113" y="6018213"/>
            <a:ext cx="192087" cy="2206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82" name="Oval 101">
            <a:extLst>
              <a:ext uri="{FF2B5EF4-FFF2-40B4-BE49-F238E27FC236}">
                <a16:creationId xmlns:a16="http://schemas.microsoft.com/office/drawing/2014/main" id="{D02C072B-2B33-AC41-8C99-93373577F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7975" y="3317875"/>
            <a:ext cx="190500" cy="2222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2583" name="Oval 102">
            <a:extLst>
              <a:ext uri="{FF2B5EF4-FFF2-40B4-BE49-F238E27FC236}">
                <a16:creationId xmlns:a16="http://schemas.microsoft.com/office/drawing/2014/main" id="{592D8831-9B8F-0B4F-A926-02990C6F0B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000" y="4625975"/>
            <a:ext cx="192088" cy="22225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kumimoji="1" lang="zh-CN" altLang="en-US" sz="24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36295" name="Text Box 103">
            <a:extLst>
              <a:ext uri="{FF2B5EF4-FFF2-40B4-BE49-F238E27FC236}">
                <a16:creationId xmlns:a16="http://schemas.microsoft.com/office/drawing/2014/main" id="{989BE996-B126-3041-B12F-324C059735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16650" y="27432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x</a:t>
            </a:r>
            <a:endParaRPr lang="en-US" altLang="zh-CN" sz="3600" b="1" baseline="-25000">
              <a:solidFill>
                <a:srgbClr val="00FF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96" name="Text Box 104">
            <a:extLst>
              <a:ext uri="{FF2B5EF4-FFF2-40B4-BE49-F238E27FC236}">
                <a16:creationId xmlns:a16="http://schemas.microsoft.com/office/drawing/2014/main" id="{80B8DAC5-CE3D-974A-B775-35B717322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606425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00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y</a:t>
            </a:r>
            <a:endParaRPr lang="en-US" altLang="zh-CN" sz="3600" b="1" baseline="-25000">
              <a:solidFill>
                <a:srgbClr val="00FF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6297" name="Line 105">
            <a:extLst>
              <a:ext uri="{FF2B5EF4-FFF2-40B4-BE49-F238E27FC236}">
                <a16:creationId xmlns:a16="http://schemas.microsoft.com/office/drawing/2014/main" id="{DABFEB14-01F2-5B4C-8580-4139745C08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791200" y="3119438"/>
            <a:ext cx="4572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6298" name="Line 106">
            <a:extLst>
              <a:ext uri="{FF2B5EF4-FFF2-40B4-BE49-F238E27FC236}">
                <a16:creationId xmlns:a16="http://schemas.microsoft.com/office/drawing/2014/main" id="{2872D545-D995-DD49-8B34-9730D09FE8B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86000" y="6477000"/>
            <a:ext cx="3810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136307" name="Group 115">
            <a:extLst>
              <a:ext uri="{FF2B5EF4-FFF2-40B4-BE49-F238E27FC236}">
                <a16:creationId xmlns:a16="http://schemas.microsoft.com/office/drawing/2014/main" id="{3B8B0D5C-E810-3E42-9ED1-13C417964CCD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4708525"/>
            <a:ext cx="838200" cy="549275"/>
            <a:chOff x="2016" y="2966"/>
            <a:chExt cx="528" cy="346"/>
          </a:xfrm>
        </p:grpSpPr>
        <p:sp>
          <p:nvSpPr>
            <p:cNvPr id="22593" name="Line 107">
              <a:extLst>
                <a:ext uri="{FF2B5EF4-FFF2-40B4-BE49-F238E27FC236}">
                  <a16:creationId xmlns:a16="http://schemas.microsoft.com/office/drawing/2014/main" id="{91417D29-DF05-E74A-814A-98A91A826C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168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136300" name="Text Box 108">
              <a:extLst>
                <a:ext uri="{FF2B5EF4-FFF2-40B4-BE49-F238E27FC236}">
                  <a16:creationId xmlns:a16="http://schemas.microsoft.com/office/drawing/2014/main" id="{026A1182-A912-0F4B-9531-CDE803ADEA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04" y="2966"/>
              <a:ext cx="240" cy="3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3600" b="1">
                  <a:solidFill>
                    <a:srgbClr val="00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v</a:t>
              </a:r>
              <a:r>
                <a:rPr lang="en-US" altLang="zh-CN" sz="3600" b="1" baseline="-25000">
                  <a:solidFill>
                    <a:srgbClr val="00FF00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i</a:t>
              </a:r>
            </a:p>
          </p:txBody>
        </p:sp>
      </p:grpSp>
      <p:sp>
        <p:nvSpPr>
          <p:cNvPr id="136303" name="Text Box 111">
            <a:extLst>
              <a:ext uri="{FF2B5EF4-FFF2-40B4-BE49-F238E27FC236}">
                <a16:creationId xmlns:a16="http://schemas.microsoft.com/office/drawing/2014/main" id="{64F29DE2-DCE3-3947-BE9D-07001A3884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30480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</a:t>
            </a:r>
            <a:r>
              <a: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36304" name="Text Box 112">
            <a:extLst>
              <a:ext uri="{FF2B5EF4-FFF2-40B4-BE49-F238E27FC236}">
                <a16:creationId xmlns:a16="http://schemas.microsoft.com/office/drawing/2014/main" id="{B1EDF6F8-AB8A-BC49-ABB6-F97ABD95C7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650" y="5867400"/>
            <a:ext cx="6413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6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</a:t>
            </a:r>
            <a:r>
              <a:rPr lang="en-US" altLang="zh-CN" sz="36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36305" name="Line 113">
            <a:extLst>
              <a:ext uri="{FF2B5EF4-FFF2-40B4-BE49-F238E27FC236}">
                <a16:creationId xmlns:a16="http://schemas.microsoft.com/office/drawing/2014/main" id="{8D80329A-4F8A-B149-9406-4445841B847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87675" y="3429000"/>
            <a:ext cx="2346325" cy="129540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6306" name="Line 114">
            <a:extLst>
              <a:ext uri="{FF2B5EF4-FFF2-40B4-BE49-F238E27FC236}">
                <a16:creationId xmlns:a16="http://schemas.microsoft.com/office/drawing/2014/main" id="{80837B09-6EB8-E94B-BD5E-7042F85E3E1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95600" y="4876800"/>
            <a:ext cx="0" cy="1143000"/>
          </a:xfrm>
          <a:prstGeom prst="line">
            <a:avLst/>
          </a:prstGeom>
          <a:noFill/>
          <a:ln w="50800">
            <a:solidFill>
              <a:srgbClr val="00FF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4" dur="500" fill="hold"/>
                                        <p:tgtEl>
                                          <p:spTgt spid="13624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15" presetID="3" presetClass="emph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6" dur="500" fill="hold"/>
                                        <p:tgtEl>
                                          <p:spTgt spid="13625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00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36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6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6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6249" grpId="0"/>
      <p:bldP spid="136255" grpId="0"/>
      <p:bldP spid="136295" grpId="0"/>
      <p:bldP spid="13629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Slide Number Placeholder 5">
            <a:extLst>
              <a:ext uri="{FF2B5EF4-FFF2-40B4-BE49-F238E27FC236}">
                <a16:creationId xmlns:a16="http://schemas.microsoft.com/office/drawing/2014/main" id="{3545114B-5012-D441-A139-A9E39EE2EFC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95D072B-7B6C-424D-9EF1-8ADCD50A909F}" type="slidenum">
              <a:rPr kumimoji="0" lang="zh-CN" altLang="en-US" sz="1200"/>
              <a:pPr/>
              <a:t>22</a:t>
            </a:fld>
            <a:endParaRPr kumimoji="0" lang="en-US" altLang="zh-CN" sz="1200"/>
          </a:p>
        </p:txBody>
      </p:sp>
      <p:sp>
        <p:nvSpPr>
          <p:cNvPr id="110594" name="Rectangle 2">
            <a:extLst>
              <a:ext uri="{FF2B5EF4-FFF2-40B4-BE49-F238E27FC236}">
                <a16:creationId xmlns:a16="http://schemas.microsoft.com/office/drawing/2014/main" id="{552CC19F-1AFD-B945-82A6-9DD0DD5AED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定理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4.2.2</a:t>
            </a:r>
            <a:endParaRPr lang="en-US" altLang="zh-CN" sz="6000" dirty="0">
              <a:latin typeface="宋体" charset="0"/>
              <a:ea typeface="楷体_GB2312" charset="0"/>
              <a:cs typeface="+mj-cs"/>
              <a:sym typeface="Symbol" charset="0"/>
            </a:endParaRPr>
          </a:p>
        </p:txBody>
      </p:sp>
      <p:sp>
        <p:nvSpPr>
          <p:cNvPr id="110595" name="Rectangle 3">
            <a:extLst>
              <a:ext uri="{FF2B5EF4-FFF2-40B4-BE49-F238E27FC236}">
                <a16:creationId xmlns:a16="http://schemas.microsoft.com/office/drawing/2014/main" id="{6E0FDF3F-4B48-5F4A-8C6F-E14353F0965C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295400"/>
            <a:ext cx="8839200" cy="4343400"/>
          </a:xfrm>
        </p:spPr>
        <p:txBody>
          <a:bodyPr/>
          <a:lstStyle/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3</a:t>
            </a:r>
            <a:r>
              <a:rPr kumimoji="0"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由算法及1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、2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知，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是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的支撑树。设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G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有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个点，于是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也有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r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个点。由定理4.2.1知，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有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(r-1)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条边。故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n=r-1。 </a:t>
            </a:r>
          </a:p>
          <a:p>
            <a:pPr marL="357188" indent="-357188">
              <a:buFont typeface="Wingdings" pitchFamily="2" charset="2"/>
              <a:buNone/>
            </a:pPr>
            <a:r>
              <a:rPr kumimoji="0" lang="zh-CN" altLang="en-US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4</a:t>
            </a:r>
            <a:r>
              <a:rPr kumimoji="0" lang="en-US" altLang="zh-CN" sz="3200" dirty="0">
                <a:solidFill>
                  <a:schemeClr val="tx2"/>
                </a:solidFill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)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证明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是最优支撑树，可以通过以下不断交换边的办法，使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的所有边全在某一最优支撑树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T’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中，则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T=T’(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均有</a:t>
            </a:r>
            <a:r>
              <a:rPr kumimoji="0" lang="en-US" altLang="zh-CN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r-1</a:t>
            </a:r>
            <a:r>
              <a:rPr kumimoji="0" lang="zh-CN" altLang="en-US" sz="3200" dirty="0">
                <a:latin typeface="Arial" panose="020B0604020202020204" pitchFamily="34" charset="0"/>
                <a:ea typeface="楷体_GB2312" pitchFamily="49" charset="-122"/>
                <a:cs typeface="Arial" panose="020B0604020202020204" pitchFamily="34" charset="0"/>
              </a:rPr>
              <a:t>条边)。</a:t>
            </a:r>
            <a:endParaRPr kumimoji="0" lang="zh-CN" altLang="en-US" sz="3200" dirty="0">
              <a:solidFill>
                <a:schemeClr val="tx2"/>
              </a:solidFill>
              <a:latin typeface="Arial" panose="020B0604020202020204" pitchFamily="34" charset="0"/>
              <a:ea typeface="楷体_GB2312" pitchFamily="49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05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Slide Number Placeholder 5">
            <a:extLst>
              <a:ext uri="{FF2B5EF4-FFF2-40B4-BE49-F238E27FC236}">
                <a16:creationId xmlns:a16="http://schemas.microsoft.com/office/drawing/2014/main" id="{32ACA9EC-2AC5-514D-AFA6-F144C4F6C55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A74CA6C-88A8-4040-9662-12E1EC6DB21B}" type="slidenum">
              <a:rPr kumimoji="0" lang="zh-CN" altLang="en-US" sz="1200"/>
              <a:pPr/>
              <a:t>23</a:t>
            </a:fld>
            <a:endParaRPr kumimoji="0" lang="en-US" altLang="zh-CN" sz="1200"/>
          </a:p>
        </p:txBody>
      </p:sp>
      <p:sp>
        <p:nvSpPr>
          <p:cNvPr id="111618" name="Rectangle 2">
            <a:extLst>
              <a:ext uri="{FF2B5EF4-FFF2-40B4-BE49-F238E27FC236}">
                <a16:creationId xmlns:a16="http://schemas.microsoft.com/office/drawing/2014/main" id="{3A35E86E-8CAA-8643-A495-8221664B33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048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charset="0"/>
                <a:ea typeface="楷体_GB2312" charset="0"/>
                <a:cs typeface="+mj-cs"/>
              </a:rPr>
              <a:t>定理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4.2.2</a:t>
            </a:r>
            <a:endParaRPr lang="en-US" altLang="zh-CN" sz="6000" dirty="0">
              <a:latin typeface="宋体" charset="0"/>
              <a:ea typeface="楷体_GB2312" charset="0"/>
              <a:cs typeface="+mj-cs"/>
              <a:sym typeface="Symbol" charset="0"/>
            </a:endParaRP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9EA77503-8C69-3B42-905B-F5D89E68C6B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1371600"/>
            <a:ext cx="8839200" cy="4876800"/>
          </a:xfrm>
        </p:spPr>
        <p:txBody>
          <a:bodyPr/>
          <a:lstStyle/>
          <a:p>
            <a:pPr marL="357188" indent="0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T*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是一棵最优支撑树，</a:t>
            </a:r>
            <a:b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</a:b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T*={l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,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T={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r-1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0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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T*，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T*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中加入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则形成一含有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的回路，在此回路中删去一条非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的边，不妨设为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得一图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={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r-1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是支撑树。</a:t>
            </a:r>
          </a:p>
          <a:p>
            <a:pPr marL="357188" indent="0">
              <a:lnSpc>
                <a:spcPct val="90000"/>
              </a:lnSpc>
              <a:buFont typeface="Wingdings" pitchFamily="2" charset="2"/>
              <a:buNone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对任意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L(G)，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w(l) 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所以</a:t>
            </a:r>
            <a:b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而</a:t>
            </a:r>
            <a:b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</a:b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w(T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)=w(T*)-w(l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)+w(l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所以</a:t>
            </a:r>
            <a:b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</a:b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w(T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w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(T*)</a:t>
            </a:r>
            <a:r>
              <a:rPr kumimoji="0" lang="en-US" altLang="zh-CN" sz="320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320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也是最优树。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Slide Number Placeholder 5">
            <a:extLst>
              <a:ext uri="{FF2B5EF4-FFF2-40B4-BE49-F238E27FC236}">
                <a16:creationId xmlns:a16="http://schemas.microsoft.com/office/drawing/2014/main" id="{BC00EE90-BAD5-3742-8AFD-E3EB5A69C33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59D8A23-7018-404F-B281-CBA63F6B42E6}" type="slidenum">
              <a:rPr kumimoji="0" lang="zh-CN" altLang="en-US" sz="1200"/>
              <a:pPr/>
              <a:t>24</a:t>
            </a:fld>
            <a:endParaRPr kumimoji="0" lang="en-US" altLang="zh-CN" sz="1200"/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1F7C6956-D90F-5E49-A441-AC9141527B1D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76200" y="838199"/>
            <a:ext cx="8915400" cy="5334001"/>
          </a:xfrm>
        </p:spPr>
        <p:txBody>
          <a:bodyPr/>
          <a:lstStyle/>
          <a:p>
            <a:pPr marL="357188" inden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一般地，设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*，l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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T*，</a:t>
            </a:r>
          </a:p>
          <a:p>
            <a:pPr marL="357188" inden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  ={ 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r-1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}，</a:t>
            </a:r>
          </a:p>
          <a:p>
            <a:pPr marL="357188" inden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T*={ 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 dirty="0" err="1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 dirty="0" err="1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 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r-1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}</a:t>
            </a:r>
          </a:p>
          <a:p>
            <a:pPr marL="357188" inden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因为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T*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是支撑树，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T*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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{l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必然有回路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C，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不妨设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是回路中一条边，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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T，</a:t>
            </a:r>
          </a:p>
          <a:p>
            <a:pPr marL="357188" inden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={ 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k+2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,l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r-1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}，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是支撑树。</a:t>
            </a:r>
          </a:p>
          <a:p>
            <a:pPr marL="357188" inden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由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Kruskal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算法步骤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2)，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在算法实行中</a:t>
            </a:r>
            <a:b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</a:b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选了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而没选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说明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w(l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w(l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 </a:t>
            </a:r>
          </a:p>
          <a:p>
            <a:pPr marL="357188" inden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所以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w(T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)=w(T*)-w(l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)+w(l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)，</a:t>
            </a: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即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w(T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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w(T*) </a:t>
            </a:r>
          </a:p>
          <a:p>
            <a:pPr marL="357188" inden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zh-CN" altLang="en-US" sz="2800" dirty="0">
                <a:latin typeface="宋体" panose="02010600030101010101" pitchFamily="2" charset="-122"/>
                <a:ea typeface="楷体_GB2312" pitchFamily="49" charset="-122"/>
              </a:rPr>
              <a:t>因为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T*</a:t>
            </a:r>
            <a:r>
              <a:rPr kumimoji="0" lang="zh-CN" altLang="en-US" sz="2800" dirty="0">
                <a:latin typeface="宋体" panose="02010600030101010101" pitchFamily="2" charset="-122"/>
                <a:ea typeface="楷体_GB2312" pitchFamily="49" charset="-122"/>
              </a:rPr>
              <a:t>是最优树，所以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 dirty="0">
                <a:latin typeface="宋体" panose="02010600030101010101" pitchFamily="2" charset="-122"/>
                <a:ea typeface="楷体_GB2312" pitchFamily="49" charset="-122"/>
              </a:rPr>
              <a:t>也是最优树，但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zh-CN" altLang="en-US" sz="2800" dirty="0">
                <a:latin typeface="宋体" panose="02010600030101010101" pitchFamily="2" charset="-122"/>
                <a:ea typeface="楷体_GB2312" pitchFamily="49" charset="-122"/>
              </a:rPr>
              <a:t>包括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28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…</a:t>
            </a:r>
            <a:r>
              <a:rPr kumimoji="0" lang="en-US" altLang="zh-CN" sz="28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2800" baseline="-30000" dirty="0">
                <a:latin typeface="Times New Roman" panose="02020603050405020304" pitchFamily="18" charset="0"/>
                <a:ea typeface="楷体_GB2312" pitchFamily="49" charset="-122"/>
              </a:rPr>
              <a:t>k+1</a:t>
            </a:r>
            <a:r>
              <a:rPr kumimoji="0" lang="en-US" altLang="zh-CN" sz="28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2800" dirty="0">
                <a:latin typeface="宋体" panose="02010600030101010101" pitchFamily="2" charset="-122"/>
                <a:ea typeface="楷体_GB2312" pitchFamily="49" charset="-122"/>
              </a:rPr>
              <a:t>反复执行上述过程，最后可得一最优树包括了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2800" dirty="0">
                <a:latin typeface="宋体" panose="02010600030101010101" pitchFamily="2" charset="-122"/>
                <a:ea typeface="楷体_GB2312" pitchFamily="49" charset="-122"/>
              </a:rPr>
              <a:t>的所有边，即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en-US" altLang="zh-CN" sz="2800" dirty="0">
                <a:latin typeface="Arial" panose="020B0604020202020204" pitchFamily="34" charset="0"/>
                <a:ea typeface="楷体_GB2312" pitchFamily="49" charset="-122"/>
              </a:rPr>
              <a:t>’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=T</a:t>
            </a:r>
            <a:r>
              <a:rPr kumimoji="0" lang="en-US" altLang="zh-CN" sz="2800" dirty="0">
                <a:latin typeface="宋体" panose="02010600030101010101" pitchFamily="2" charset="-122"/>
                <a:ea typeface="楷体_GB2312" pitchFamily="49" charset="-122"/>
              </a:rPr>
              <a:t>，</a:t>
            </a:r>
            <a:r>
              <a:rPr kumimoji="0" lang="zh-CN" altLang="en-US" sz="2800" dirty="0">
                <a:latin typeface="宋体" panose="02010600030101010101" pitchFamily="2" charset="-122"/>
                <a:ea typeface="楷体_GB2312" pitchFamily="49" charset="-122"/>
              </a:rPr>
              <a:t>所以</a:t>
            </a:r>
            <a:r>
              <a:rPr kumimoji="0" lang="en-US" altLang="zh-CN" sz="2800" dirty="0">
                <a:latin typeface="Times New Roman" panose="02020603050405020304" pitchFamily="18" charset="0"/>
                <a:ea typeface="楷体_GB2312" pitchFamily="49" charset="-122"/>
              </a:rPr>
              <a:t>T</a:t>
            </a:r>
            <a:r>
              <a:rPr kumimoji="0" lang="zh-CN" altLang="en-US" sz="2800" dirty="0">
                <a:latin typeface="宋体" panose="02010600030101010101" pitchFamily="2" charset="-122"/>
                <a:ea typeface="楷体_GB2312" pitchFamily="49" charset="-122"/>
              </a:rPr>
              <a:t>是最优树。</a:t>
            </a:r>
            <a:endParaRPr kumimoji="0" lang="en-US" altLang="zh-CN" sz="28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 marL="357188" indent="0">
              <a:spcBef>
                <a:spcPct val="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								</a:t>
            </a:r>
            <a:r>
              <a:rPr kumimoji="0" lang="zh-CN" altLang="en-US" sz="1800" dirty="0">
                <a:latin typeface="Times New Roman" panose="02020603050405020304" pitchFamily="18" charset="0"/>
                <a:ea typeface="楷体_GB2312" pitchFamily="49" charset="-122"/>
                <a:hlinkClick r:id="rId2" action="ppaction://hlinksldjump"/>
              </a:rPr>
              <a:t>图例</a:t>
            </a:r>
            <a:endParaRPr kumimoji="0" lang="en-US" altLang="zh-CN" sz="1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6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126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126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126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26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Slide Number Placeholder 5">
            <a:extLst>
              <a:ext uri="{FF2B5EF4-FFF2-40B4-BE49-F238E27FC236}">
                <a16:creationId xmlns:a16="http://schemas.microsoft.com/office/drawing/2014/main" id="{4D91A78B-2EAF-0347-BFDE-9833917E5D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F7678EA-EA58-9742-942A-0795ECE193E0}" type="slidenum">
              <a:rPr kumimoji="0" lang="zh-CN" altLang="en-US" sz="1200"/>
              <a:pPr/>
              <a:t>25</a:t>
            </a:fld>
            <a:endParaRPr kumimoji="0" lang="en-US" altLang="zh-CN" sz="1200"/>
          </a:p>
        </p:txBody>
      </p:sp>
      <p:sp>
        <p:nvSpPr>
          <p:cNvPr id="26627" name="Line 2">
            <a:extLst>
              <a:ext uri="{FF2B5EF4-FFF2-40B4-BE49-F238E27FC236}">
                <a16:creationId xmlns:a16="http://schemas.microsoft.com/office/drawing/2014/main" id="{A7A95459-F185-4746-A39F-ED96880756B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9763" y="1693863"/>
            <a:ext cx="1682750" cy="109537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28" name="Line 3">
            <a:extLst>
              <a:ext uri="{FF2B5EF4-FFF2-40B4-BE49-F238E27FC236}">
                <a16:creationId xmlns:a16="http://schemas.microsoft.com/office/drawing/2014/main" id="{2A9611FF-699D-8641-9FED-5C5270D213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9763" y="682625"/>
            <a:ext cx="1682750" cy="1096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29" name="Line 4">
            <a:extLst>
              <a:ext uri="{FF2B5EF4-FFF2-40B4-BE49-F238E27FC236}">
                <a16:creationId xmlns:a16="http://schemas.microsoft.com/office/drawing/2014/main" id="{6CA25B9D-0F17-9E40-98BB-C1970A21EFC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43138" y="1698625"/>
            <a:ext cx="2581275" cy="109061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30" name="Line 5">
            <a:extLst>
              <a:ext uri="{FF2B5EF4-FFF2-40B4-BE49-F238E27FC236}">
                <a16:creationId xmlns:a16="http://schemas.microsoft.com/office/drawing/2014/main" id="{131ED450-B450-414A-BED3-D03ABE5D09F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1675" y="735013"/>
            <a:ext cx="2738438" cy="958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31" name="Line 6">
            <a:extLst>
              <a:ext uri="{FF2B5EF4-FFF2-40B4-BE49-F238E27FC236}">
                <a16:creationId xmlns:a16="http://schemas.microsoft.com/office/drawing/2014/main" id="{2EDDAE85-A5A9-944A-8D2B-C35B628FF77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14688" y="766763"/>
            <a:ext cx="0" cy="2022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32" name="Line 7">
            <a:extLst>
              <a:ext uri="{FF2B5EF4-FFF2-40B4-BE49-F238E27FC236}">
                <a16:creationId xmlns:a16="http://schemas.microsoft.com/office/drawing/2014/main" id="{4F20A079-1AE3-844A-BE48-F4C7D2D2F2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35525" y="766763"/>
            <a:ext cx="0" cy="2022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33" name="Line 8">
            <a:extLst>
              <a:ext uri="{FF2B5EF4-FFF2-40B4-BE49-F238E27FC236}">
                <a16:creationId xmlns:a16="http://schemas.microsoft.com/office/drawing/2014/main" id="{E4B42836-6B37-424C-95AF-A8012E991FD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138" y="1744663"/>
            <a:ext cx="971550" cy="109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34" name="Line 9">
            <a:extLst>
              <a:ext uri="{FF2B5EF4-FFF2-40B4-BE49-F238E27FC236}">
                <a16:creationId xmlns:a16="http://schemas.microsoft.com/office/drawing/2014/main" id="{6B98DE6E-694A-D04B-8521-CCD870B13C1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688" y="2789238"/>
            <a:ext cx="1644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35" name="Line 10">
            <a:extLst>
              <a:ext uri="{FF2B5EF4-FFF2-40B4-BE49-F238E27FC236}">
                <a16:creationId xmlns:a16="http://schemas.microsoft.com/office/drawing/2014/main" id="{9A590A56-C466-904F-8F45-8642073727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9338" y="1725613"/>
            <a:ext cx="1155700" cy="109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36" name="Line 11">
            <a:extLst>
              <a:ext uri="{FF2B5EF4-FFF2-40B4-BE49-F238E27FC236}">
                <a16:creationId xmlns:a16="http://schemas.microsoft.com/office/drawing/2014/main" id="{7292EA4B-ACC1-5545-A786-0B9FC674A1A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138" y="1744663"/>
            <a:ext cx="3771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37" name="Line 12">
            <a:extLst>
              <a:ext uri="{FF2B5EF4-FFF2-40B4-BE49-F238E27FC236}">
                <a16:creationId xmlns:a16="http://schemas.microsoft.com/office/drawing/2014/main" id="{92DD7B06-200E-6A44-BEA0-6BFA6075FB5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43138" y="731838"/>
            <a:ext cx="971550" cy="1012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38" name="Line 13">
            <a:extLst>
              <a:ext uri="{FF2B5EF4-FFF2-40B4-BE49-F238E27FC236}">
                <a16:creationId xmlns:a16="http://schemas.microsoft.com/office/drawing/2014/main" id="{B6C5E719-36D9-7543-83B4-544C72B46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688" y="731838"/>
            <a:ext cx="1644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39" name="Line 14">
            <a:extLst>
              <a:ext uri="{FF2B5EF4-FFF2-40B4-BE49-F238E27FC236}">
                <a16:creationId xmlns:a16="http://schemas.microsoft.com/office/drawing/2014/main" id="{5852405E-0F17-4947-9D54-92FA33E8C7F6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731838"/>
            <a:ext cx="1155700" cy="101282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52239" name="Group 15">
            <a:extLst>
              <a:ext uri="{FF2B5EF4-FFF2-40B4-BE49-F238E27FC236}">
                <a16:creationId xmlns:a16="http://schemas.microsoft.com/office/drawing/2014/main" id="{0BF6DA9E-9F2E-1B49-A8B1-76CF5A556CD9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228600"/>
            <a:ext cx="4552950" cy="3033713"/>
            <a:chOff x="684" y="144"/>
            <a:chExt cx="2868" cy="1911"/>
          </a:xfrm>
        </p:grpSpPr>
        <p:sp>
          <p:nvSpPr>
            <p:cNvPr id="138256" name="Text Box 16">
              <a:extLst>
                <a:ext uri="{FF2B5EF4-FFF2-40B4-BE49-F238E27FC236}">
                  <a16:creationId xmlns:a16="http://schemas.microsoft.com/office/drawing/2014/main" id="{C6C81963-BC38-B544-9AB8-B1216E5271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728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b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57" name="Text Box 17">
              <a:extLst>
                <a:ext uri="{FF2B5EF4-FFF2-40B4-BE49-F238E27FC236}">
                  <a16:creationId xmlns:a16="http://schemas.microsoft.com/office/drawing/2014/main" id="{076310F8-9A86-9246-890B-7DEA147D4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4" y="91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58" name="Text Box 18">
              <a:extLst>
                <a:ext uri="{FF2B5EF4-FFF2-40B4-BE49-F238E27FC236}">
                  <a16:creationId xmlns:a16="http://schemas.microsoft.com/office/drawing/2014/main" id="{6698C0AC-F53F-6D4B-9240-018DAA420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9" y="1690"/>
              <a:ext cx="21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59" name="Text Box 19">
              <a:extLst>
                <a:ext uri="{FF2B5EF4-FFF2-40B4-BE49-F238E27FC236}">
                  <a16:creationId xmlns:a16="http://schemas.microsoft.com/office/drawing/2014/main" id="{055EABBE-2F27-734B-9C94-E35D8F69AB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1" y="960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d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60" name="Text Box 20">
              <a:extLst>
                <a:ext uri="{FF2B5EF4-FFF2-40B4-BE49-F238E27FC236}">
                  <a16:creationId xmlns:a16="http://schemas.microsoft.com/office/drawing/2014/main" id="{08771B27-60F2-0540-AC24-D175042D10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57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61" name="Text Box 21">
              <a:extLst>
                <a:ext uri="{FF2B5EF4-FFF2-40B4-BE49-F238E27FC236}">
                  <a16:creationId xmlns:a16="http://schemas.microsoft.com/office/drawing/2014/main" id="{4FEF90ED-30F2-0A43-875D-A89E9AEA2E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68" y="170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62" name="Text Box 22">
              <a:extLst>
                <a:ext uri="{FF2B5EF4-FFF2-40B4-BE49-F238E27FC236}">
                  <a16:creationId xmlns:a16="http://schemas.microsoft.com/office/drawing/2014/main" id="{2B3AE7DC-B4DE-7248-BA58-926EF54BD3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5" y="1352"/>
              <a:ext cx="22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63" name="Text Box 23">
              <a:extLst>
                <a:ext uri="{FF2B5EF4-FFF2-40B4-BE49-F238E27FC236}">
                  <a16:creationId xmlns:a16="http://schemas.microsoft.com/office/drawing/2014/main" id="{B68C68DE-6FFA-E040-A963-48AC742722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94" y="144"/>
              <a:ext cx="2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f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64" name="Text Box 24">
              <a:extLst>
                <a:ext uri="{FF2B5EF4-FFF2-40B4-BE49-F238E27FC236}">
                  <a16:creationId xmlns:a16="http://schemas.microsoft.com/office/drawing/2014/main" id="{F15BAB7B-BCCB-0841-9558-8B581BA377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3" y="144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65" name="Text Box 25">
              <a:extLst>
                <a:ext uri="{FF2B5EF4-FFF2-40B4-BE49-F238E27FC236}">
                  <a16:creationId xmlns:a16="http://schemas.microsoft.com/office/drawing/2014/main" id="{BA085965-2B5D-A143-8505-A1DB3C191B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4" y="82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66" name="Text Box 26">
              <a:extLst>
                <a:ext uri="{FF2B5EF4-FFF2-40B4-BE49-F238E27FC236}">
                  <a16:creationId xmlns:a16="http://schemas.microsoft.com/office/drawing/2014/main" id="{E5214FDA-F457-474F-894C-D4E6618010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6" y="68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67" name="Text Box 27">
              <a:extLst>
                <a:ext uri="{FF2B5EF4-FFF2-40B4-BE49-F238E27FC236}">
                  <a16:creationId xmlns:a16="http://schemas.microsoft.com/office/drawing/2014/main" id="{B6E4A74A-5381-8049-AEA9-1D2B23DFEC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44" y="134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68" name="Text Box 28">
              <a:extLst>
                <a:ext uri="{FF2B5EF4-FFF2-40B4-BE49-F238E27FC236}">
                  <a16:creationId xmlns:a16="http://schemas.microsoft.com/office/drawing/2014/main" id="{CDEDD484-293E-174D-9C6E-E0B7C50329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45" y="120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69" name="Text Box 29">
              <a:extLst>
                <a:ext uri="{FF2B5EF4-FFF2-40B4-BE49-F238E27FC236}">
                  <a16:creationId xmlns:a16="http://schemas.microsoft.com/office/drawing/2014/main" id="{8D1982EA-8684-0C40-9BB4-0028EECE7E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34" y="126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70" name="Text Box 30">
              <a:extLst>
                <a:ext uri="{FF2B5EF4-FFF2-40B4-BE49-F238E27FC236}">
                  <a16:creationId xmlns:a16="http://schemas.microsoft.com/office/drawing/2014/main" id="{94A374AB-5A21-564A-AA26-00ACECCDA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1" y="1303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71" name="Text Box 31">
              <a:extLst>
                <a:ext uri="{FF2B5EF4-FFF2-40B4-BE49-F238E27FC236}">
                  <a16:creationId xmlns:a16="http://schemas.microsoft.com/office/drawing/2014/main" id="{A36E919C-FBFF-EE46-9AE7-7AFCDC84AB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2" y="82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72" name="Text Box 32">
              <a:extLst>
                <a:ext uri="{FF2B5EF4-FFF2-40B4-BE49-F238E27FC236}">
                  <a16:creationId xmlns:a16="http://schemas.microsoft.com/office/drawing/2014/main" id="{9DBD13B1-7436-C24D-ADA8-A9D2DBBD42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624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73" name="Text Box 33">
              <a:extLst>
                <a:ext uri="{FF2B5EF4-FFF2-40B4-BE49-F238E27FC236}">
                  <a16:creationId xmlns:a16="http://schemas.microsoft.com/office/drawing/2014/main" id="{ABB0C384-3F0B-EA4F-A585-DC399BD1B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6" y="680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74" name="Text Box 34">
              <a:extLst>
                <a:ext uri="{FF2B5EF4-FFF2-40B4-BE49-F238E27FC236}">
                  <a16:creationId xmlns:a16="http://schemas.microsoft.com/office/drawing/2014/main" id="{8818BEA3-A203-EB4C-9C82-659A6076D7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59" y="57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75" name="Text Box 35">
              <a:extLst>
                <a:ext uri="{FF2B5EF4-FFF2-40B4-BE49-F238E27FC236}">
                  <a16:creationId xmlns:a16="http://schemas.microsoft.com/office/drawing/2014/main" id="{9282E0E5-A4E2-4543-9C56-831325DC77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3" y="130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76" name="Text Box 36">
              <a:extLst>
                <a:ext uri="{FF2B5EF4-FFF2-40B4-BE49-F238E27FC236}">
                  <a16:creationId xmlns:a16="http://schemas.microsoft.com/office/drawing/2014/main" id="{570755E4-BA7A-8A4C-886E-28CA6FC7E6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41" y="1046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77" name="Text Box 37">
              <a:extLst>
                <a:ext uri="{FF2B5EF4-FFF2-40B4-BE49-F238E27FC236}">
                  <a16:creationId xmlns:a16="http://schemas.microsoft.com/office/drawing/2014/main" id="{D2998C42-30DE-374D-ABD7-30F912AB29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2" y="19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78" name="Text Box 38">
              <a:extLst>
                <a:ext uri="{FF2B5EF4-FFF2-40B4-BE49-F238E27FC236}">
                  <a16:creationId xmlns:a16="http://schemas.microsoft.com/office/drawing/2014/main" id="{D567FDEB-3B06-F246-B64E-FAAE7B3BF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95" y="52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79" name="Text Box 39">
              <a:extLst>
                <a:ext uri="{FF2B5EF4-FFF2-40B4-BE49-F238E27FC236}">
                  <a16:creationId xmlns:a16="http://schemas.microsoft.com/office/drawing/2014/main" id="{7FB851AC-39C3-2641-9321-21D5C91DE4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24" y="1056"/>
              <a:ext cx="24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h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280" name="Text Box 40">
              <a:extLst>
                <a:ext uri="{FF2B5EF4-FFF2-40B4-BE49-F238E27FC236}">
                  <a16:creationId xmlns:a16="http://schemas.microsoft.com/office/drawing/2014/main" id="{70D4DB85-6368-B44A-8C34-937BCB98E7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1008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g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26641" name="Line 41">
            <a:extLst>
              <a:ext uri="{FF2B5EF4-FFF2-40B4-BE49-F238E27FC236}">
                <a16:creationId xmlns:a16="http://schemas.microsoft.com/office/drawing/2014/main" id="{6E6171C6-9F38-5541-91A5-45B1B2232DA8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688" y="762000"/>
            <a:ext cx="0" cy="965200"/>
          </a:xfrm>
          <a:prstGeom prst="line">
            <a:avLst/>
          </a:prstGeom>
          <a:noFill/>
          <a:ln w="5080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42" name="Line 42">
            <a:extLst>
              <a:ext uri="{FF2B5EF4-FFF2-40B4-BE49-F238E27FC236}">
                <a16:creationId xmlns:a16="http://schemas.microsoft.com/office/drawing/2014/main" id="{F8015637-44BF-214A-98B8-D12D40044F15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3625" y="731838"/>
            <a:ext cx="1112838" cy="987425"/>
          </a:xfrm>
          <a:prstGeom prst="line">
            <a:avLst/>
          </a:prstGeom>
          <a:noFill/>
          <a:ln w="5080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8283" name="Line 43">
            <a:extLst>
              <a:ext uri="{FF2B5EF4-FFF2-40B4-BE49-F238E27FC236}">
                <a16:creationId xmlns:a16="http://schemas.microsoft.com/office/drawing/2014/main" id="{C4FA20E3-B3A0-D24C-9F69-0B7366165D0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30563" y="739775"/>
            <a:ext cx="1595437" cy="0"/>
          </a:xfrm>
          <a:prstGeom prst="line">
            <a:avLst/>
          </a:prstGeom>
          <a:noFill/>
          <a:ln w="5080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44" name="Line 44">
            <a:extLst>
              <a:ext uri="{FF2B5EF4-FFF2-40B4-BE49-F238E27FC236}">
                <a16:creationId xmlns:a16="http://schemas.microsoft.com/office/drawing/2014/main" id="{670F211D-A354-2F48-8E7D-BFEC02598F4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0563" y="1719263"/>
            <a:ext cx="1595437" cy="1046162"/>
          </a:xfrm>
          <a:prstGeom prst="line">
            <a:avLst/>
          </a:prstGeom>
          <a:noFill/>
          <a:ln w="5080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45" name="Line 45">
            <a:extLst>
              <a:ext uri="{FF2B5EF4-FFF2-40B4-BE49-F238E27FC236}">
                <a16:creationId xmlns:a16="http://schemas.microsoft.com/office/drawing/2014/main" id="{95F5BF50-6AC7-684A-B82C-4CF01E72B40D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7750" y="1739900"/>
            <a:ext cx="1160463" cy="0"/>
          </a:xfrm>
          <a:prstGeom prst="line">
            <a:avLst/>
          </a:prstGeom>
          <a:noFill/>
          <a:ln w="5080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46" name="Line 46">
            <a:extLst>
              <a:ext uri="{FF2B5EF4-FFF2-40B4-BE49-F238E27FC236}">
                <a16:creationId xmlns:a16="http://schemas.microsoft.com/office/drawing/2014/main" id="{CD592A31-628C-7B42-8A01-A92D43B48027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3613" y="1722438"/>
            <a:ext cx="966787" cy="1104900"/>
          </a:xfrm>
          <a:prstGeom prst="line">
            <a:avLst/>
          </a:prstGeom>
          <a:noFill/>
          <a:ln w="5080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8287" name="Line 47">
            <a:extLst>
              <a:ext uri="{FF2B5EF4-FFF2-40B4-BE49-F238E27FC236}">
                <a16:creationId xmlns:a16="http://schemas.microsoft.com/office/drawing/2014/main" id="{D059AD29-FFFC-6442-8D0A-88C4C8D1D1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1875" y="1752600"/>
            <a:ext cx="0" cy="965200"/>
          </a:xfrm>
          <a:prstGeom prst="line">
            <a:avLst/>
          </a:prstGeom>
          <a:noFill/>
          <a:ln w="50800">
            <a:solidFill>
              <a:srgbClr val="00CC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48" name="Oval 48">
            <a:extLst>
              <a:ext uri="{FF2B5EF4-FFF2-40B4-BE49-F238E27FC236}">
                <a16:creationId xmlns:a16="http://schemas.microsoft.com/office/drawing/2014/main" id="{D2CEA060-DE43-764F-BD7F-AA03D60420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0" y="2719388"/>
            <a:ext cx="122238" cy="1222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49" name="Oval 49">
            <a:extLst>
              <a:ext uri="{FF2B5EF4-FFF2-40B4-BE49-F238E27FC236}">
                <a16:creationId xmlns:a16="http://schemas.microsoft.com/office/drawing/2014/main" id="{4308A967-BF7C-8444-8D23-E328184F0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0" y="647700"/>
            <a:ext cx="122238" cy="1222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50" name="Oval 50">
            <a:extLst>
              <a:ext uri="{FF2B5EF4-FFF2-40B4-BE49-F238E27FC236}">
                <a16:creationId xmlns:a16="http://schemas.microsoft.com/office/drawing/2014/main" id="{5D3FD006-9DFA-614A-A858-CCBA06B82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0" y="1658938"/>
            <a:ext cx="122238" cy="1222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51" name="Oval 51">
            <a:extLst>
              <a:ext uri="{FF2B5EF4-FFF2-40B4-BE49-F238E27FC236}">
                <a16:creationId xmlns:a16="http://schemas.microsoft.com/office/drawing/2014/main" id="{7538EE26-5532-F542-9A3F-99F6DCBC9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025" y="1658938"/>
            <a:ext cx="122238" cy="1222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52" name="Oval 52">
            <a:extLst>
              <a:ext uri="{FF2B5EF4-FFF2-40B4-BE49-F238E27FC236}">
                <a16:creationId xmlns:a16="http://schemas.microsoft.com/office/drawing/2014/main" id="{5FDFA438-33B1-834B-9340-83D544805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713" y="1658938"/>
            <a:ext cx="122237" cy="1222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53" name="Oval 53">
            <a:extLst>
              <a:ext uri="{FF2B5EF4-FFF2-40B4-BE49-F238E27FC236}">
                <a16:creationId xmlns:a16="http://schemas.microsoft.com/office/drawing/2014/main" id="{6CD6CA91-C402-E448-9838-2F2B46256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0" y="2706688"/>
            <a:ext cx="122238" cy="1222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54" name="Oval 54">
            <a:extLst>
              <a:ext uri="{FF2B5EF4-FFF2-40B4-BE49-F238E27FC236}">
                <a16:creationId xmlns:a16="http://schemas.microsoft.com/office/drawing/2014/main" id="{00F7ADCF-2B91-4E40-A3D2-369DCF1A79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0" y="647700"/>
            <a:ext cx="122238" cy="1222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55" name="Oval 55">
            <a:extLst>
              <a:ext uri="{FF2B5EF4-FFF2-40B4-BE49-F238E27FC236}">
                <a16:creationId xmlns:a16="http://schemas.microsoft.com/office/drawing/2014/main" id="{B8E4464F-CDDB-FE45-AEBB-F5C8B7EAD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1644650"/>
            <a:ext cx="122238" cy="1222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kumimoji="1" lang="zh-CN" altLang="en-US" sz="28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26656" name="Line 56">
            <a:extLst>
              <a:ext uri="{FF2B5EF4-FFF2-40B4-BE49-F238E27FC236}">
                <a16:creationId xmlns:a16="http://schemas.microsoft.com/office/drawing/2014/main" id="{B23119AD-1059-7648-956D-8CC227FE23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9763" y="4984750"/>
            <a:ext cx="1682750" cy="109537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57" name="Line 57">
            <a:extLst>
              <a:ext uri="{FF2B5EF4-FFF2-40B4-BE49-F238E27FC236}">
                <a16:creationId xmlns:a16="http://schemas.microsoft.com/office/drawing/2014/main" id="{4EF3B04F-0930-1F45-B2DA-A33F0337FB6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9763" y="3973513"/>
            <a:ext cx="1682750" cy="109696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58" name="Line 58">
            <a:extLst>
              <a:ext uri="{FF2B5EF4-FFF2-40B4-BE49-F238E27FC236}">
                <a16:creationId xmlns:a16="http://schemas.microsoft.com/office/drawing/2014/main" id="{7B6B17C6-4688-C144-B0D4-0156E07E5C35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43138" y="4989513"/>
            <a:ext cx="2581275" cy="10906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59" name="Line 59">
            <a:extLst>
              <a:ext uri="{FF2B5EF4-FFF2-40B4-BE49-F238E27FC236}">
                <a16:creationId xmlns:a16="http://schemas.microsoft.com/office/drawing/2014/main" id="{973898FC-27C5-934B-86D7-CFC4254E7DA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241675" y="4025900"/>
            <a:ext cx="2738438" cy="9588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60" name="Line 60">
            <a:extLst>
              <a:ext uri="{FF2B5EF4-FFF2-40B4-BE49-F238E27FC236}">
                <a16:creationId xmlns:a16="http://schemas.microsoft.com/office/drawing/2014/main" id="{2E311835-9A1F-AA4B-B366-657D1E22A5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14688" y="4057650"/>
            <a:ext cx="0" cy="2022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61" name="Line 61">
            <a:extLst>
              <a:ext uri="{FF2B5EF4-FFF2-40B4-BE49-F238E27FC236}">
                <a16:creationId xmlns:a16="http://schemas.microsoft.com/office/drawing/2014/main" id="{FBB38450-39A1-2B4C-BA61-E7D43CF60DE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35525" y="4057650"/>
            <a:ext cx="0" cy="20224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62" name="Line 62">
            <a:extLst>
              <a:ext uri="{FF2B5EF4-FFF2-40B4-BE49-F238E27FC236}">
                <a16:creationId xmlns:a16="http://schemas.microsoft.com/office/drawing/2014/main" id="{323F2768-56E2-5249-B3A5-7DB19D2E5E5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138" y="5035550"/>
            <a:ext cx="971550" cy="109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63" name="Line 63">
            <a:extLst>
              <a:ext uri="{FF2B5EF4-FFF2-40B4-BE49-F238E27FC236}">
                <a16:creationId xmlns:a16="http://schemas.microsoft.com/office/drawing/2014/main" id="{87117962-A25D-DB4B-9E44-73417AD2A8C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688" y="6080125"/>
            <a:ext cx="1644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64" name="Line 64">
            <a:extLst>
              <a:ext uri="{FF2B5EF4-FFF2-40B4-BE49-F238E27FC236}">
                <a16:creationId xmlns:a16="http://schemas.microsoft.com/office/drawing/2014/main" id="{6F4791AA-0016-2548-B204-53188898292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59338" y="5016500"/>
            <a:ext cx="1155700" cy="10953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65" name="Line 65">
            <a:extLst>
              <a:ext uri="{FF2B5EF4-FFF2-40B4-BE49-F238E27FC236}">
                <a16:creationId xmlns:a16="http://schemas.microsoft.com/office/drawing/2014/main" id="{F64C8C7B-330A-6243-938E-38E08608FBBC}"/>
              </a:ext>
            </a:extLst>
          </p:cNvPr>
          <p:cNvSpPr>
            <a:spLocks noChangeShapeType="1"/>
          </p:cNvSpPr>
          <p:nvPr/>
        </p:nvSpPr>
        <p:spPr bwMode="auto">
          <a:xfrm>
            <a:off x="2243138" y="5035550"/>
            <a:ext cx="37719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66" name="Line 66">
            <a:extLst>
              <a:ext uri="{FF2B5EF4-FFF2-40B4-BE49-F238E27FC236}">
                <a16:creationId xmlns:a16="http://schemas.microsoft.com/office/drawing/2014/main" id="{1EB635EC-A278-DA4D-97FE-90FFF1DD5F4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43138" y="4022725"/>
            <a:ext cx="971550" cy="1012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67" name="Line 67">
            <a:extLst>
              <a:ext uri="{FF2B5EF4-FFF2-40B4-BE49-F238E27FC236}">
                <a16:creationId xmlns:a16="http://schemas.microsoft.com/office/drawing/2014/main" id="{708E7CA6-89B6-3444-9777-0BE4DD88C3B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688" y="4022725"/>
            <a:ext cx="16446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68" name="Line 68">
            <a:extLst>
              <a:ext uri="{FF2B5EF4-FFF2-40B4-BE49-F238E27FC236}">
                <a16:creationId xmlns:a16="http://schemas.microsoft.com/office/drawing/2014/main" id="{59E654DA-81AE-6643-A8EA-F10CF60DF418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9338" y="4022725"/>
            <a:ext cx="1155700" cy="1012825"/>
          </a:xfrm>
          <a:prstGeom prst="lin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grpSp>
        <p:nvGrpSpPr>
          <p:cNvPr id="52268" name="Group 69">
            <a:extLst>
              <a:ext uri="{FF2B5EF4-FFF2-40B4-BE49-F238E27FC236}">
                <a16:creationId xmlns:a16="http://schemas.microsoft.com/office/drawing/2014/main" id="{588956DE-978C-B447-8385-59D0EFCA4933}"/>
              </a:ext>
            </a:extLst>
          </p:cNvPr>
          <p:cNvGrpSpPr>
            <a:grpSpLocks/>
          </p:cNvGrpSpPr>
          <p:nvPr/>
        </p:nvGrpSpPr>
        <p:grpSpPr bwMode="auto">
          <a:xfrm>
            <a:off x="1847850" y="3519488"/>
            <a:ext cx="4552950" cy="3033712"/>
            <a:chOff x="732" y="2361"/>
            <a:chExt cx="2868" cy="1911"/>
          </a:xfrm>
        </p:grpSpPr>
        <p:sp>
          <p:nvSpPr>
            <p:cNvPr id="138310" name="Text Box 70">
              <a:extLst>
                <a:ext uri="{FF2B5EF4-FFF2-40B4-BE49-F238E27FC236}">
                  <a16:creationId xmlns:a16="http://schemas.microsoft.com/office/drawing/2014/main" id="{075C0511-538A-214D-B822-BC2C5C8F53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5" y="3945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b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11" name="Text Box 71">
              <a:extLst>
                <a:ext uri="{FF2B5EF4-FFF2-40B4-BE49-F238E27FC236}">
                  <a16:creationId xmlns:a16="http://schemas.microsoft.com/office/drawing/2014/main" id="{3F26A629-F426-A442-8186-FE170F9D0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" y="3129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a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12" name="Text Box 72">
              <a:extLst>
                <a:ext uri="{FF2B5EF4-FFF2-40B4-BE49-F238E27FC236}">
                  <a16:creationId xmlns:a16="http://schemas.microsoft.com/office/drawing/2014/main" id="{BB0941F4-E858-0743-8C01-77B0EF0AEE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7" y="3907"/>
              <a:ext cx="217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c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13" name="Text Box 73">
              <a:extLst>
                <a:ext uri="{FF2B5EF4-FFF2-40B4-BE49-F238E27FC236}">
                  <a16:creationId xmlns:a16="http://schemas.microsoft.com/office/drawing/2014/main" id="{704EF7C1-E94B-8846-B5F1-3FA37C3767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59" y="3177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d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14" name="Text Box 74">
              <a:extLst>
                <a:ext uri="{FF2B5EF4-FFF2-40B4-BE49-F238E27FC236}">
                  <a16:creationId xmlns:a16="http://schemas.microsoft.com/office/drawing/2014/main" id="{1066C6DA-6D04-184F-BC42-C5FC437ED3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04" y="2793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15" name="Text Box 75">
              <a:extLst>
                <a:ext uri="{FF2B5EF4-FFF2-40B4-BE49-F238E27FC236}">
                  <a16:creationId xmlns:a16="http://schemas.microsoft.com/office/drawing/2014/main" id="{37552428-BB11-E048-A447-365AE1AAC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16" y="3923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16" name="Text Box 76">
              <a:extLst>
                <a:ext uri="{FF2B5EF4-FFF2-40B4-BE49-F238E27FC236}">
                  <a16:creationId xmlns:a16="http://schemas.microsoft.com/office/drawing/2014/main" id="{A41945C8-294E-A54A-AD6B-4F36E49EAE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23" y="3569"/>
              <a:ext cx="228" cy="3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17" name="Text Box 77">
              <a:extLst>
                <a:ext uri="{FF2B5EF4-FFF2-40B4-BE49-F238E27FC236}">
                  <a16:creationId xmlns:a16="http://schemas.microsoft.com/office/drawing/2014/main" id="{9920596A-332B-C740-AC89-3CDE7A44FD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2" y="2361"/>
              <a:ext cx="213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f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18" name="Text Box 78">
              <a:extLst>
                <a:ext uri="{FF2B5EF4-FFF2-40B4-BE49-F238E27FC236}">
                  <a16:creationId xmlns:a16="http://schemas.microsoft.com/office/drawing/2014/main" id="{1DA777F5-C731-BD4B-B4AC-53E027DA9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1" y="2361"/>
              <a:ext cx="21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e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19" name="Text Box 79">
              <a:extLst>
                <a:ext uri="{FF2B5EF4-FFF2-40B4-BE49-F238E27FC236}">
                  <a16:creationId xmlns:a16="http://schemas.microsoft.com/office/drawing/2014/main" id="{62A6C059-582F-CD49-9AED-F66FD66012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12" y="304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8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20" name="Text Box 80">
              <a:extLst>
                <a:ext uri="{FF2B5EF4-FFF2-40B4-BE49-F238E27FC236}">
                  <a16:creationId xmlns:a16="http://schemas.microsoft.com/office/drawing/2014/main" id="{2C7D9FE4-506B-C740-9B9B-B36BB414BC0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4" y="289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21" name="Text Box 81">
              <a:extLst>
                <a:ext uri="{FF2B5EF4-FFF2-40B4-BE49-F238E27FC236}">
                  <a16:creationId xmlns:a16="http://schemas.microsoft.com/office/drawing/2014/main" id="{3D9F8182-F13E-9348-B0D6-A0F720CF3D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92" y="356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22" name="Text Box 82">
              <a:extLst>
                <a:ext uri="{FF2B5EF4-FFF2-40B4-BE49-F238E27FC236}">
                  <a16:creationId xmlns:a16="http://schemas.microsoft.com/office/drawing/2014/main" id="{88FAC452-CD9B-FB47-8FD9-DFAAED4533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3" y="341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23" name="Text Box 83">
              <a:extLst>
                <a:ext uri="{FF2B5EF4-FFF2-40B4-BE49-F238E27FC236}">
                  <a16:creationId xmlns:a16="http://schemas.microsoft.com/office/drawing/2014/main" id="{67AF0700-5027-3945-9BEB-339F25CC12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82" y="3483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24" name="Text Box 84">
              <a:extLst>
                <a:ext uri="{FF2B5EF4-FFF2-40B4-BE49-F238E27FC236}">
                  <a16:creationId xmlns:a16="http://schemas.microsoft.com/office/drawing/2014/main" id="{4F288997-7595-FF47-861C-58FB033C99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520"/>
              <a:ext cx="112" cy="26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4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25" name="Text Box 85">
              <a:extLst>
                <a:ext uri="{FF2B5EF4-FFF2-40B4-BE49-F238E27FC236}">
                  <a16:creationId xmlns:a16="http://schemas.microsoft.com/office/drawing/2014/main" id="{9C899DB2-0FC2-0142-9E14-C2F8EDA9B6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90" y="304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7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26" name="Text Box 86">
              <a:extLst>
                <a:ext uri="{FF2B5EF4-FFF2-40B4-BE49-F238E27FC236}">
                  <a16:creationId xmlns:a16="http://schemas.microsoft.com/office/drawing/2014/main" id="{BDF7000B-8EF9-DC4F-B150-FD7BDA9877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2841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27" name="Text Box 87">
              <a:extLst>
                <a:ext uri="{FF2B5EF4-FFF2-40B4-BE49-F238E27FC236}">
                  <a16:creationId xmlns:a16="http://schemas.microsoft.com/office/drawing/2014/main" id="{07A7C542-D5B0-2044-A96E-01E2D80CD9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4" y="2897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28" name="Text Box 88">
              <a:extLst>
                <a:ext uri="{FF2B5EF4-FFF2-40B4-BE49-F238E27FC236}">
                  <a16:creationId xmlns:a16="http://schemas.microsoft.com/office/drawing/2014/main" id="{CE485E31-248F-7E4C-842A-613CA64D7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07" y="2793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5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29" name="Text Box 89">
              <a:extLst>
                <a:ext uri="{FF2B5EF4-FFF2-40B4-BE49-F238E27FC236}">
                  <a16:creationId xmlns:a16="http://schemas.microsoft.com/office/drawing/2014/main" id="{63C8A7FF-FF2D-264E-97F8-AACFE9B8B5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1" y="3522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6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30" name="Text Box 90">
              <a:extLst>
                <a:ext uri="{FF2B5EF4-FFF2-40B4-BE49-F238E27FC236}">
                  <a16:creationId xmlns:a16="http://schemas.microsoft.com/office/drawing/2014/main" id="{FF1A9F6A-1B46-FF45-815F-4F268A5DB5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9" y="3263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3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31" name="Text Box 91">
              <a:extLst>
                <a:ext uri="{FF2B5EF4-FFF2-40B4-BE49-F238E27FC236}">
                  <a16:creationId xmlns:a16="http://schemas.microsoft.com/office/drawing/2014/main" id="{59577446-088D-EE44-B3F3-9A340DEAF9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0" y="2409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2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32" name="Text Box 92">
              <a:extLst>
                <a:ext uri="{FF2B5EF4-FFF2-40B4-BE49-F238E27FC236}">
                  <a16:creationId xmlns:a16="http://schemas.microsoft.com/office/drawing/2014/main" id="{A356302A-46F4-3344-8CC2-FE0E3D339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43" y="274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1</a:t>
              </a:r>
              <a:endPara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33" name="Text Box 93">
              <a:extLst>
                <a:ext uri="{FF2B5EF4-FFF2-40B4-BE49-F238E27FC236}">
                  <a16:creationId xmlns:a16="http://schemas.microsoft.com/office/drawing/2014/main" id="{2D1E4E76-CD75-B446-A751-4393BE12A9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72" y="3273"/>
              <a:ext cx="24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h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  <p:sp>
          <p:nvSpPr>
            <p:cNvPr id="138334" name="Text Box 94">
              <a:extLst>
                <a:ext uri="{FF2B5EF4-FFF2-40B4-BE49-F238E27FC236}">
                  <a16:creationId xmlns:a16="http://schemas.microsoft.com/office/drawing/2014/main" id="{727188F9-E785-7147-A659-772E65A18C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225"/>
              <a:ext cx="2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b="1">
                  <a:solidFill>
                    <a:srgbClr val="4E67C8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anose="02020603050405020304" pitchFamily="18" charset="0"/>
                </a:rPr>
                <a:t>g</a:t>
              </a:r>
              <a:endParaRPr lang="en-US" altLang="zh-CN" sz="2800" b="1" baseline="-25000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endParaRPr>
            </a:p>
          </p:txBody>
        </p:sp>
      </p:grpSp>
      <p:sp>
        <p:nvSpPr>
          <p:cNvPr id="26670" name="Line 95">
            <a:extLst>
              <a:ext uri="{FF2B5EF4-FFF2-40B4-BE49-F238E27FC236}">
                <a16:creationId xmlns:a16="http://schemas.microsoft.com/office/drawing/2014/main" id="{80CDD4AE-A0E5-C147-BB84-C671288422A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14688" y="4052888"/>
            <a:ext cx="0" cy="965200"/>
          </a:xfrm>
          <a:prstGeom prst="line">
            <a:avLst/>
          </a:prstGeom>
          <a:noFill/>
          <a:ln w="508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71" name="Line 96">
            <a:extLst>
              <a:ext uri="{FF2B5EF4-FFF2-40B4-BE49-F238E27FC236}">
                <a16:creationId xmlns:a16="http://schemas.microsoft.com/office/drawing/2014/main" id="{60040310-AFDC-7847-96D2-CD373A51656A}"/>
              </a:ext>
            </a:extLst>
          </p:cNvPr>
          <p:cNvSpPr>
            <a:spLocks noChangeShapeType="1"/>
          </p:cNvSpPr>
          <p:nvPr/>
        </p:nvSpPr>
        <p:spPr bwMode="auto">
          <a:xfrm>
            <a:off x="4873625" y="4022725"/>
            <a:ext cx="1112838" cy="987425"/>
          </a:xfrm>
          <a:prstGeom prst="line">
            <a:avLst/>
          </a:prstGeom>
          <a:noFill/>
          <a:ln w="508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72" name="Line 97">
            <a:extLst>
              <a:ext uri="{FF2B5EF4-FFF2-40B4-BE49-F238E27FC236}">
                <a16:creationId xmlns:a16="http://schemas.microsoft.com/office/drawing/2014/main" id="{BBFA9555-782A-4649-8EAE-0259F629DDF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30563" y="5010150"/>
            <a:ext cx="1595437" cy="1046163"/>
          </a:xfrm>
          <a:prstGeom prst="line">
            <a:avLst/>
          </a:prstGeom>
          <a:noFill/>
          <a:ln w="508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73" name="Line 98">
            <a:extLst>
              <a:ext uri="{FF2B5EF4-FFF2-40B4-BE49-F238E27FC236}">
                <a16:creationId xmlns:a16="http://schemas.microsoft.com/office/drawing/2014/main" id="{8CB31B34-28A5-4C48-BE33-36F41F20D11C}"/>
              </a:ext>
            </a:extLst>
          </p:cNvPr>
          <p:cNvSpPr>
            <a:spLocks noChangeShapeType="1"/>
          </p:cNvSpPr>
          <p:nvPr/>
        </p:nvSpPr>
        <p:spPr bwMode="auto">
          <a:xfrm>
            <a:off x="4857750" y="5030788"/>
            <a:ext cx="1160463" cy="0"/>
          </a:xfrm>
          <a:prstGeom prst="line">
            <a:avLst/>
          </a:prstGeom>
          <a:noFill/>
          <a:ln w="508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74" name="Line 99">
            <a:extLst>
              <a:ext uri="{FF2B5EF4-FFF2-40B4-BE49-F238E27FC236}">
                <a16:creationId xmlns:a16="http://schemas.microsoft.com/office/drawing/2014/main" id="{403ABE34-420C-D444-94FE-2F44CBAD8431}"/>
              </a:ext>
            </a:extLst>
          </p:cNvPr>
          <p:cNvSpPr>
            <a:spLocks noChangeShapeType="1"/>
          </p:cNvSpPr>
          <p:nvPr/>
        </p:nvSpPr>
        <p:spPr bwMode="auto">
          <a:xfrm>
            <a:off x="2233613" y="5013325"/>
            <a:ext cx="966787" cy="1104900"/>
          </a:xfrm>
          <a:prstGeom prst="line">
            <a:avLst/>
          </a:prstGeom>
          <a:noFill/>
          <a:ln w="508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75" name="Oval 100">
            <a:extLst>
              <a:ext uri="{FF2B5EF4-FFF2-40B4-BE49-F238E27FC236}">
                <a16:creationId xmlns:a16="http://schemas.microsoft.com/office/drawing/2014/main" id="{078FE0A2-4A85-8F47-AEA5-F996405781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0" y="6010275"/>
            <a:ext cx="122238" cy="1222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76" name="Oval 101">
            <a:extLst>
              <a:ext uri="{FF2B5EF4-FFF2-40B4-BE49-F238E27FC236}">
                <a16:creationId xmlns:a16="http://schemas.microsoft.com/office/drawing/2014/main" id="{5A0A9451-C4EA-294E-AC17-4EA499BB6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0" y="3938588"/>
            <a:ext cx="122238" cy="1222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77" name="Oval 102">
            <a:extLst>
              <a:ext uri="{FF2B5EF4-FFF2-40B4-BE49-F238E27FC236}">
                <a16:creationId xmlns:a16="http://schemas.microsoft.com/office/drawing/2014/main" id="{BE29846A-0D90-994F-993E-400E8E19BA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0" y="4949825"/>
            <a:ext cx="122238" cy="1222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78" name="Oval 103">
            <a:extLst>
              <a:ext uri="{FF2B5EF4-FFF2-40B4-BE49-F238E27FC236}">
                <a16:creationId xmlns:a16="http://schemas.microsoft.com/office/drawing/2014/main" id="{5D8789EE-8B8E-314D-9B6D-1A104CBFDD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025" y="4949825"/>
            <a:ext cx="122238" cy="1222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8344" name="Line 104">
            <a:extLst>
              <a:ext uri="{FF2B5EF4-FFF2-40B4-BE49-F238E27FC236}">
                <a16:creationId xmlns:a16="http://schemas.microsoft.com/office/drawing/2014/main" id="{2FE6714F-BBEC-D549-A4EA-E687D81098B3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286000" y="5016500"/>
            <a:ext cx="2514600" cy="1044575"/>
          </a:xfrm>
          <a:prstGeom prst="line">
            <a:avLst/>
          </a:prstGeom>
          <a:noFill/>
          <a:ln w="508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80" name="Oval 105">
            <a:extLst>
              <a:ext uri="{FF2B5EF4-FFF2-40B4-BE49-F238E27FC236}">
                <a16:creationId xmlns:a16="http://schemas.microsoft.com/office/drawing/2014/main" id="{7AB5F5CC-E49B-6B49-B844-F142F22CD9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4713" y="4949825"/>
            <a:ext cx="122237" cy="1222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81" name="Oval 106">
            <a:extLst>
              <a:ext uri="{FF2B5EF4-FFF2-40B4-BE49-F238E27FC236}">
                <a16:creationId xmlns:a16="http://schemas.microsoft.com/office/drawing/2014/main" id="{7C74FAF7-7ED5-B74C-AB4A-8E1C796453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0" y="5997575"/>
            <a:ext cx="122238" cy="122238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8347" name="Line 107">
            <a:extLst>
              <a:ext uri="{FF2B5EF4-FFF2-40B4-BE49-F238E27FC236}">
                <a16:creationId xmlns:a16="http://schemas.microsoft.com/office/drawing/2014/main" id="{00E4852E-D345-C44D-AA5D-A0FBEF14EAE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276600" y="3962400"/>
            <a:ext cx="1595438" cy="1046163"/>
          </a:xfrm>
          <a:prstGeom prst="line">
            <a:avLst/>
          </a:prstGeom>
          <a:noFill/>
          <a:ln w="508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83" name="Oval 108">
            <a:extLst>
              <a:ext uri="{FF2B5EF4-FFF2-40B4-BE49-F238E27FC236}">
                <a16:creationId xmlns:a16="http://schemas.microsoft.com/office/drawing/2014/main" id="{3CB9E823-8001-DA49-B387-50F77EC7DE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94250" y="3938588"/>
            <a:ext cx="122238" cy="1222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26684" name="Oval 109">
            <a:extLst>
              <a:ext uri="{FF2B5EF4-FFF2-40B4-BE49-F238E27FC236}">
                <a16:creationId xmlns:a16="http://schemas.microsoft.com/office/drawing/2014/main" id="{A21F567F-4DE6-6B42-B4D4-EE4620578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4935538"/>
            <a:ext cx="122238" cy="122237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defRPr/>
            </a:pPr>
            <a:endParaRPr kumimoji="1" lang="zh-CN" altLang="en-US" sz="2800">
              <a:latin typeface="Times New Roman" charset="0"/>
              <a:ea typeface="宋体" charset="0"/>
              <a:cs typeface="宋体" charset="0"/>
            </a:endParaRPr>
          </a:p>
        </p:txBody>
      </p:sp>
      <p:sp>
        <p:nvSpPr>
          <p:cNvPr id="138350" name="Text Box 110">
            <a:extLst>
              <a:ext uri="{FF2B5EF4-FFF2-40B4-BE49-F238E27FC236}">
                <a16:creationId xmlns:a16="http://schemas.microsoft.com/office/drawing/2014/main" id="{45E8D961-D16E-5F43-9D0C-EAC4FCAD4F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0113" y="76200"/>
            <a:ext cx="4206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</a:t>
            </a:r>
            <a:endParaRPr lang="en-US" altLang="zh-CN" sz="2800" b="1" baseline="-25000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8351" name="Rectangle 111">
            <a:extLst>
              <a:ext uri="{FF2B5EF4-FFF2-40B4-BE49-F238E27FC236}">
                <a16:creationId xmlns:a16="http://schemas.microsoft.com/office/drawing/2014/main" id="{072B802E-BA27-0846-9019-3B113B8AC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352800"/>
            <a:ext cx="5984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T*</a:t>
            </a:r>
            <a:endParaRPr lang="zh-CN" altLang="en-US" sz="2800" b="1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8352" name="Text Box 112">
            <a:extLst>
              <a:ext uri="{FF2B5EF4-FFF2-40B4-BE49-F238E27FC236}">
                <a16:creationId xmlns:a16="http://schemas.microsoft.com/office/drawing/2014/main" id="{E2BC8115-A463-ED46-A2BB-1D06E2D2DE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1981200"/>
            <a:ext cx="13462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k+1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, l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k+2</a:t>
            </a:r>
            <a:endParaRPr lang="zh-CN" altLang="en-US" sz="2800" b="1" baseline="-25000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8353" name="Text Box 113">
            <a:extLst>
              <a:ext uri="{FF2B5EF4-FFF2-40B4-BE49-F238E27FC236}">
                <a16:creationId xmlns:a16="http://schemas.microsoft.com/office/drawing/2014/main" id="{4BE09BE0-C32A-5647-B0F5-85D65D4B56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75" y="5410200"/>
            <a:ext cx="15843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l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k+1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’, l</a:t>
            </a:r>
            <a:r>
              <a:rPr lang="en-US" altLang="zh-CN" sz="2800" b="1" baseline="-25000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k+2</a:t>
            </a:r>
            <a:r>
              <a:rPr lang="en-US" altLang="zh-CN" sz="2800" b="1"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’</a:t>
            </a:r>
            <a:endParaRPr lang="zh-CN" altLang="en-US" sz="2800" b="1"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8354" name="Line 114">
            <a:extLst>
              <a:ext uri="{FF2B5EF4-FFF2-40B4-BE49-F238E27FC236}">
                <a16:creationId xmlns:a16="http://schemas.microsoft.com/office/drawing/2014/main" id="{0C5561CB-A4D6-174A-A80B-FB5AB19A5773}"/>
              </a:ext>
            </a:extLst>
          </p:cNvPr>
          <p:cNvSpPr>
            <a:spLocks noChangeShapeType="1"/>
          </p:cNvSpPr>
          <p:nvPr/>
        </p:nvSpPr>
        <p:spPr bwMode="auto">
          <a:xfrm>
            <a:off x="4841875" y="5078413"/>
            <a:ext cx="0" cy="928687"/>
          </a:xfrm>
          <a:prstGeom prst="line">
            <a:avLst/>
          </a:prstGeom>
          <a:noFill/>
          <a:ln w="508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8355" name="Line 115">
            <a:extLst>
              <a:ext uri="{FF2B5EF4-FFF2-40B4-BE49-F238E27FC236}">
                <a16:creationId xmlns:a16="http://schemas.microsoft.com/office/drawing/2014/main" id="{2390DDA6-2882-3D46-8B16-EEDDA8570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3282950" y="4017963"/>
            <a:ext cx="1511300" cy="0"/>
          </a:xfrm>
          <a:prstGeom prst="line">
            <a:avLst/>
          </a:prstGeom>
          <a:noFill/>
          <a:ln w="50800">
            <a:solidFill>
              <a:srgbClr val="FB4D55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/>
          <a:lstStyle/>
          <a:p>
            <a:pPr>
              <a:defRPr/>
            </a:pPr>
            <a:endParaRPr lang="zh-CN" altLang="en-US">
              <a:latin typeface="Arial" charset="0"/>
              <a:ea typeface="宋体" charset="0"/>
              <a:cs typeface="宋体" charset="0"/>
            </a:endParaRPr>
          </a:p>
        </p:txBody>
      </p:sp>
      <p:sp>
        <p:nvSpPr>
          <p:cNvPr id="138356" name="Rectangle 116">
            <a:extLst>
              <a:ext uri="{FF2B5EF4-FFF2-40B4-BE49-F238E27FC236}">
                <a16:creationId xmlns:a16="http://schemas.microsoft.com/office/drawing/2014/main" id="{E885CB03-3A8B-B34A-BC40-D3BF543A7D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27660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>
                <a:solidFill>
                  <a:srgbClr val="4E67C8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</a:rPr>
              <a:t>T’</a:t>
            </a:r>
            <a:endParaRPr lang="zh-CN" altLang="en-US" sz="2800" b="1">
              <a:solidFill>
                <a:srgbClr val="4E67C8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anose="02020603050405020304" pitchFamily="18" charset="0"/>
            </a:endParaRPr>
          </a:p>
        </p:txBody>
      </p:sp>
      <p:sp>
        <p:nvSpPr>
          <p:cNvPr id="138357" name="Text Box 117">
            <a:extLst>
              <a:ext uri="{FF2B5EF4-FFF2-40B4-BE49-F238E27FC236}">
                <a16:creationId xmlns:a16="http://schemas.microsoft.com/office/drawing/2014/main" id="{6A35F132-E3DD-174F-880D-6FB90227C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99325" y="6118225"/>
            <a:ext cx="11049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lang="zh-CN" altLang="en-US" b="1">
                <a:effectLst>
                  <a:outerShdw blurRad="38100" dist="38100" dir="2700000" algn="tl">
                    <a:srgbClr val="000000"/>
                  </a:outerShdw>
                </a:effectLst>
                <a:ea typeface="楷体_GB2312" charset="0"/>
                <a:cs typeface="楷体_GB2312" charset="0"/>
                <a:hlinkClick r:id="rId2" action="ppaction://hlinksldjump"/>
              </a:rPr>
              <a:t>返回证明</a:t>
            </a:r>
            <a:endParaRPr lang="zh-CN" altLang="en-US" b="1">
              <a:effectLst>
                <a:outerShdw blurRad="38100" dist="38100" dir="2700000" algn="tl">
                  <a:srgbClr val="000000"/>
                </a:outerShdw>
              </a:effectLst>
              <a:ea typeface="楷体_GB2312" charset="0"/>
              <a:cs typeface="楷体_GB2312" charset="0"/>
            </a:endParaRP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13835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13835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13835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4" dur="80"/>
                                        <p:tgtEl>
                                          <p:spTgt spid="13835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15" dur="80"/>
                                        <p:tgtEl>
                                          <p:spTgt spid="13835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80"/>
                                        <p:tgtEl>
                                          <p:spTgt spid="13835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8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38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347" grpId="0" animBg="1"/>
      <p:bldP spid="138351" grpId="0"/>
      <p:bldP spid="138352" grpId="0"/>
      <p:bldP spid="138353" grpId="0"/>
      <p:bldP spid="13835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Slide Number Placeholder 5">
            <a:extLst>
              <a:ext uri="{FF2B5EF4-FFF2-40B4-BE49-F238E27FC236}">
                <a16:creationId xmlns:a16="http://schemas.microsoft.com/office/drawing/2014/main" id="{BF68F8C7-BD97-7342-BB03-8181851DD98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61126DD3-E0F7-D84F-9ABC-2A571F07B5D0}" type="slidenum">
              <a:rPr kumimoji="0" lang="zh-CN" altLang="en-US" sz="1200"/>
              <a:pPr/>
              <a:t>26</a:t>
            </a:fld>
            <a:endParaRPr kumimoji="0" lang="en-US" altLang="zh-CN" sz="1200"/>
          </a:p>
        </p:txBody>
      </p:sp>
      <p:sp>
        <p:nvSpPr>
          <p:cNvPr id="115715" name="Rectangle 3">
            <a:extLst>
              <a:ext uri="{FF2B5EF4-FFF2-40B4-BE49-F238E27FC236}">
                <a16:creationId xmlns:a16="http://schemas.microsoft.com/office/drawing/2014/main" id="{09E42D1C-2353-1240-8267-4B8FA34A1F04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295400"/>
            <a:ext cx="8763000" cy="5105400"/>
          </a:xfrm>
        </p:spPr>
        <p:txBody>
          <a:bodyPr/>
          <a:lstStyle/>
          <a:p>
            <a:pPr marL="476250" indent="-476250"/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由定理4.2.1、定理4.2.2及其证明知道：</a:t>
            </a:r>
          </a:p>
          <a:p>
            <a:pPr marL="476250" indent="-476250">
              <a:buSzPct val="105000"/>
              <a:buFont typeface="Wingdings" pitchFamily="2" charset="2"/>
              <a:buAutoNum type="arabicParenR"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支撑树加上一条非树中的边后包含一个唯一的回路；</a:t>
            </a:r>
          </a:p>
          <a:p>
            <a:pPr marL="476250" indent="-476250">
              <a:buSzPct val="105000"/>
              <a:buFont typeface="Wingdings" pitchFamily="2" charset="2"/>
              <a:buAutoNum type="arabicParenR"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支撑树删去一条树中的边后形成两个子树，图中两个端点分属于两个子树的边称为割。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57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57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715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Slide Number Placeholder 5">
            <a:extLst>
              <a:ext uri="{FF2B5EF4-FFF2-40B4-BE49-F238E27FC236}">
                <a16:creationId xmlns:a16="http://schemas.microsoft.com/office/drawing/2014/main" id="{E2FA376F-E58B-1543-8760-05EDC39FEF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DD1F88EB-591D-414B-B995-F06ACB536561}" type="slidenum">
              <a:rPr kumimoji="0" lang="zh-CN" altLang="en-US" sz="1200"/>
              <a:pPr/>
              <a:t>27</a:t>
            </a:fld>
            <a:endParaRPr kumimoji="0" lang="en-US" altLang="zh-CN" sz="1200"/>
          </a:p>
        </p:txBody>
      </p:sp>
      <p:sp>
        <p:nvSpPr>
          <p:cNvPr id="139266" name="Rectangle 2">
            <a:extLst>
              <a:ext uri="{FF2B5EF4-FFF2-40B4-BE49-F238E27FC236}">
                <a16:creationId xmlns:a16="http://schemas.microsoft.com/office/drawing/2014/main" id="{B5284B11-63FF-2840-B959-C4E8376928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81000"/>
            <a:ext cx="6512511" cy="1143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思考题</a:t>
            </a:r>
            <a:endParaRPr lang="en-US" altLang="zh-CN" dirty="0">
              <a:latin typeface="Arial" charset="0"/>
              <a:ea typeface="楷体_GB2312" charset="0"/>
              <a:cs typeface="+mj-cs"/>
            </a:endParaRP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D7E6225A-EDCD-9E45-A27D-7CF126F401C2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1295400" y="1600200"/>
            <a:ext cx="6400800" cy="3475038"/>
          </a:xfrm>
        </p:spPr>
        <p:txBody>
          <a:bodyPr/>
          <a:lstStyle/>
          <a:p>
            <a:r>
              <a:rPr kumimoji="0" lang="en-US" altLang="zh-CN" sz="3600">
                <a:latin typeface="Arial" panose="020B0604020202020204" pitchFamily="34" charset="0"/>
                <a:ea typeface="楷体_GB2312" pitchFamily="49" charset="-122"/>
              </a:rPr>
              <a:t>P107-1</a:t>
            </a:r>
          </a:p>
        </p:txBody>
      </p:sp>
    </p:spTree>
  </p:cSld>
  <p:clrMapOvr>
    <a:masterClrMapping/>
  </p:clrMapOvr>
  <p:transition>
    <p:blinds dir="vert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Slide Number Placeholder 5">
            <a:extLst>
              <a:ext uri="{FF2B5EF4-FFF2-40B4-BE49-F238E27FC236}">
                <a16:creationId xmlns:a16="http://schemas.microsoft.com/office/drawing/2014/main" id="{CE1C37A9-21A9-364C-A936-7A18A1F684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24A257B-3130-C44E-A2B1-4C37EF7DB1A2}" type="slidenum">
              <a:rPr kumimoji="0" lang="zh-CN" altLang="en-US" sz="1200"/>
              <a:pPr/>
              <a:t>28</a:t>
            </a:fld>
            <a:endParaRPr kumimoji="0" lang="en-US" altLang="zh-CN" sz="1200"/>
          </a:p>
        </p:txBody>
      </p:sp>
      <p:sp>
        <p:nvSpPr>
          <p:cNvPr id="116738" name="Rectangle 2">
            <a:extLst>
              <a:ext uri="{FF2B5EF4-FFF2-40B4-BE49-F238E27FC236}">
                <a16:creationId xmlns:a16="http://schemas.microsoft.com/office/drawing/2014/main" id="{3CA841BC-4882-5148-91DA-65034E9BE6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87630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§</a:t>
            </a:r>
            <a:r>
              <a:rPr lang="zh-CN" altLang="en-US" dirty="0">
                <a:latin typeface="Arial" charset="0"/>
                <a:ea typeface="楷体_GB2312" charset="0"/>
                <a:cs typeface="+mj-cs"/>
              </a:rPr>
              <a:t>4.2.3</a:t>
            </a:r>
            <a:r>
              <a:rPr lang="zh-CN" altLang="en-US" dirty="0">
                <a:latin typeface="Times New Roman" charset="0"/>
                <a:ea typeface="楷体_GB2312" charset="0"/>
                <a:cs typeface="Times New Roman" charset="0"/>
              </a:rPr>
              <a:t>  </a:t>
            </a:r>
            <a:r>
              <a:rPr lang="zh-CN" altLang="en-US" dirty="0">
                <a:latin typeface="Times New Roman" charset="0"/>
                <a:ea typeface="楷体_GB2312" charset="0"/>
                <a:cs typeface="+mj-cs"/>
              </a:rPr>
              <a:t>求最优树的其它算法 </a:t>
            </a:r>
          </a:p>
        </p:txBody>
      </p:sp>
      <p:sp>
        <p:nvSpPr>
          <p:cNvPr id="116739" name="Rectangle 3">
            <a:extLst>
              <a:ext uri="{FF2B5EF4-FFF2-40B4-BE49-F238E27FC236}">
                <a16:creationId xmlns:a16="http://schemas.microsoft.com/office/drawing/2014/main" id="{1DACB4CB-1176-B643-895E-876B5230ED9E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295400"/>
            <a:ext cx="8763000" cy="5105400"/>
          </a:xfrm>
        </p:spPr>
        <p:txBody>
          <a:bodyPr/>
          <a:lstStyle/>
          <a:p>
            <a:pPr marL="0" indent="0" algn="just"/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定理4.2.3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支撑树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T*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是最优树的充要条件是：对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T*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中的任意一条边，将该边从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T*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中删除后形成的割中，该边的权最小。</a:t>
            </a:r>
          </a:p>
          <a:p>
            <a:pPr marL="0" indent="0" algn="just"/>
            <a:r>
              <a:rPr kumimoji="0" lang="zh-CN" altLang="en-US" sz="3200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rPr>
              <a:t>定理4.2.4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支撑树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T*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是最优树的充要条件是：对属于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但不属于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T*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的任意一条边，将该边加入到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T*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中后形成的回路中，该边的权最大。</a:t>
            </a:r>
          </a:p>
          <a:p>
            <a:pPr marL="0" indent="0"/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通常称定理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4.2.3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为割最优条件，定理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4.2.4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为圈（回路）最优条件。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67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67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6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39" grpId="0" build="p" autoUpdateAnimBg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Slide Number Placeholder 5">
            <a:extLst>
              <a:ext uri="{FF2B5EF4-FFF2-40B4-BE49-F238E27FC236}">
                <a16:creationId xmlns:a16="http://schemas.microsoft.com/office/drawing/2014/main" id="{A7E88C2F-96C4-A248-9180-4B72A52F88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640001B-DA25-CF46-810B-6B93D7E13602}" type="slidenum">
              <a:rPr kumimoji="0" lang="zh-CN" altLang="en-US" sz="1200"/>
              <a:pPr/>
              <a:t>29</a:t>
            </a:fld>
            <a:endParaRPr kumimoji="0" lang="en-US" altLang="zh-CN" sz="1200"/>
          </a:p>
        </p:txBody>
      </p:sp>
      <p:sp>
        <p:nvSpPr>
          <p:cNvPr id="66562" name="Rectangle 2">
            <a:extLst>
              <a:ext uri="{FF2B5EF4-FFF2-40B4-BE49-F238E27FC236}">
                <a16:creationId xmlns:a16="http://schemas.microsoft.com/office/drawing/2014/main" id="{266E80C1-E1D4-DD42-BCD7-B6F32A5A1A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>
                <a:latin typeface="Times New Roman" charset="0"/>
              </a:rPr>
              <a:t>Prim</a:t>
            </a:r>
            <a:r>
              <a:rPr lang="zh-CN" altLang="en-US" dirty="0">
                <a:latin typeface="宋体" charset="0"/>
              </a:rPr>
              <a:t>算法</a:t>
            </a:r>
            <a:r>
              <a:rPr lang="zh-CN" altLang="en-US" dirty="0">
                <a:latin typeface="Times New Roman" charset="0"/>
              </a:rPr>
              <a:t> 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C0F7A77B-0624-C44F-A7B6-957A4C0701C5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295400"/>
            <a:ext cx="8763000" cy="1676400"/>
          </a:xfrm>
        </p:spPr>
        <p:txBody>
          <a:bodyPr/>
          <a:lstStyle/>
          <a:p>
            <a:pPr marL="0" indent="0">
              <a:buFont typeface="Wingdings" pitchFamily="2" charset="2"/>
              <a:buAutoNum type="arabicParenR"/>
            </a:pP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任取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 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P(G)，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取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  <a:sym typeface="Symbol" pitchFamily="2" charset="2"/>
              </a:rPr>
              <a:t>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L(G)，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满足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以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为端点，且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w(l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)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最小。记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的另一个端点为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，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令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T={ l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}，S={v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0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, v</a:t>
            </a:r>
            <a:r>
              <a:rPr kumimoji="0" lang="en-US" altLang="zh-CN" sz="3200" baseline="-30000">
                <a:latin typeface="Times New Roman" panose="02020603050405020304" pitchFamily="18" charset="0"/>
                <a:ea typeface="楷体_GB2312" pitchFamily="49" charset="-122"/>
              </a:rPr>
              <a:t>1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}</a:t>
            </a:r>
            <a:endParaRPr kumimoji="0" lang="zh-CN" altLang="en-US" sz="320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grpSp>
        <p:nvGrpSpPr>
          <p:cNvPr id="66569" name="Group 9">
            <a:extLst>
              <a:ext uri="{FF2B5EF4-FFF2-40B4-BE49-F238E27FC236}">
                <a16:creationId xmlns:a16="http://schemas.microsoft.com/office/drawing/2014/main" id="{FDEE5ABB-728B-1449-B329-8227BDA5EEBA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971800"/>
            <a:ext cx="8915400" cy="3046413"/>
            <a:chOff x="144" y="1872"/>
            <a:chExt cx="5616" cy="1919"/>
          </a:xfrm>
        </p:grpSpPr>
        <p:sp>
          <p:nvSpPr>
            <p:cNvPr id="30726" name="Rectangle 7">
              <a:extLst>
                <a:ext uri="{FF2B5EF4-FFF2-40B4-BE49-F238E27FC236}">
                  <a16:creationId xmlns:a16="http://schemas.microsoft.com/office/drawing/2014/main" id="{229F2D8F-C2A6-274D-8DB9-7EE1CA3A3F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" y="1872"/>
              <a:ext cx="5616" cy="19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>
                <a:buClr>
                  <a:schemeClr val="tx2"/>
                </a:buClr>
                <a:buSzPct val="105000"/>
                <a:buFontTx/>
                <a:buAutoNum type="arabicParenR" startAt="2"/>
              </a:pPr>
              <a:r>
                <a:rPr lang="zh-CN" altLang="en-US" sz="3200">
                  <a:latin typeface="Times New Roman" panose="02020603050405020304" pitchFamily="18" charset="0"/>
                </a:rPr>
                <a:t>如果</a:t>
              </a:r>
              <a:r>
                <a:rPr lang="en-US" altLang="zh-CN" sz="3200">
                  <a:latin typeface="Times New Roman" panose="02020603050405020304" pitchFamily="18" charset="0"/>
                </a:rPr>
                <a:t>T={ l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1</a:t>
              </a:r>
              <a:r>
                <a:rPr lang="en-US" altLang="zh-CN" sz="3200">
                  <a:latin typeface="Times New Roman" panose="02020603050405020304" pitchFamily="18" charset="0"/>
                </a:rPr>
                <a:t>,l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2</a:t>
              </a:r>
              <a:r>
                <a:rPr lang="en-US" altLang="zh-CN" sz="3200">
                  <a:latin typeface="Times New Roman" panose="02020603050405020304" pitchFamily="18" charset="0"/>
                </a:rPr>
                <a:t>,…,l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i</a:t>
              </a:r>
              <a:r>
                <a:rPr lang="en-US" altLang="zh-CN" sz="3200">
                  <a:latin typeface="Times New Roman" panose="02020603050405020304" pitchFamily="18" charset="0"/>
                </a:rPr>
                <a:t>}</a:t>
              </a:r>
              <a:r>
                <a:rPr lang="zh-CN" altLang="en-US" sz="3200">
                  <a:latin typeface="Times New Roman" panose="02020603050405020304" pitchFamily="18" charset="0"/>
                </a:rPr>
                <a:t>已经取到，</a:t>
              </a:r>
              <a:r>
                <a:rPr lang="en-US" altLang="zh-CN" sz="3200">
                  <a:latin typeface="Times New Roman" panose="02020603050405020304" pitchFamily="18" charset="0"/>
                </a:rPr>
                <a:t>S={ 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0</a:t>
              </a:r>
              <a:r>
                <a:rPr lang="en-US" altLang="zh-CN" sz="3200">
                  <a:latin typeface="Times New Roman" panose="02020603050405020304" pitchFamily="18" charset="0"/>
                </a:rPr>
                <a:t>, 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1</a:t>
              </a:r>
              <a:r>
                <a:rPr lang="en-US" altLang="zh-CN" sz="3200">
                  <a:latin typeface="Times New Roman" panose="02020603050405020304" pitchFamily="18" charset="0"/>
                </a:rPr>
                <a:t> ,…, 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i</a:t>
              </a:r>
              <a:r>
                <a:rPr lang="en-US" altLang="zh-CN" sz="3200">
                  <a:latin typeface="Times New Roman" panose="02020603050405020304" pitchFamily="18" charset="0"/>
                </a:rPr>
                <a:t>}，</a:t>
              </a:r>
              <a:r>
                <a:rPr lang="zh-CN" altLang="en-US" sz="3200">
                  <a:latin typeface="Times New Roman" panose="02020603050405020304" pitchFamily="18" charset="0"/>
                </a:rPr>
                <a:t>设</a:t>
              </a:r>
              <a:r>
                <a:rPr lang="en-US" altLang="zh-CN" sz="3200">
                  <a:latin typeface="Times New Roman" panose="02020603050405020304" pitchFamily="18" charset="0"/>
                </a:rPr>
                <a:t>w(l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i+1</a:t>
              </a:r>
              <a:r>
                <a:rPr lang="en-US" altLang="zh-CN" sz="3200">
                  <a:latin typeface="Times New Roman" panose="02020603050405020304" pitchFamily="18" charset="0"/>
                </a:rPr>
                <a:t>)=        w(l)，</a:t>
              </a:r>
              <a:r>
                <a:rPr lang="zh-CN" altLang="en-US" sz="3200">
                  <a:latin typeface="Times New Roman" panose="02020603050405020304" pitchFamily="18" charset="0"/>
                </a:rPr>
                <a:t>其中</a:t>
              </a:r>
              <a:r>
                <a:rPr lang="en-US" altLang="zh-CN" sz="3200">
                  <a:latin typeface="Times New Roman" panose="02020603050405020304" pitchFamily="18" charset="0"/>
                </a:rPr>
                <a:t>S’=P-S，l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 i+1</a:t>
              </a:r>
              <a:r>
                <a:rPr lang="en-US" altLang="zh-CN" sz="3200">
                  <a:latin typeface="Times New Roman" panose="02020603050405020304" pitchFamily="18" charset="0"/>
                </a:rPr>
                <a:t>=(v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j</a:t>
              </a:r>
              <a:r>
                <a:rPr lang="en-US" altLang="zh-CN" sz="3200">
                  <a:latin typeface="Times New Roman" panose="02020603050405020304" pitchFamily="18" charset="0"/>
                </a:rPr>
                <a:t>, 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i+1</a:t>
              </a:r>
              <a:r>
                <a:rPr lang="en-US" altLang="zh-CN" sz="3200">
                  <a:latin typeface="Times New Roman" panose="02020603050405020304" pitchFamily="18" charset="0"/>
                </a:rPr>
                <a:t>)，0</a:t>
              </a:r>
              <a:r>
                <a:rPr lang="en-US" altLang="zh-CN" sz="3200">
                  <a:latin typeface="Times New Roman" panose="02020603050405020304" pitchFamily="18" charset="0"/>
                  <a:sym typeface="Symbol" pitchFamily="2" charset="2"/>
                </a:rPr>
                <a:t></a:t>
              </a:r>
              <a:r>
                <a:rPr lang="en-US" altLang="zh-CN" sz="3200">
                  <a:latin typeface="Times New Roman" panose="02020603050405020304" pitchFamily="18" charset="0"/>
                </a:rPr>
                <a:t>j </a:t>
              </a:r>
              <a:r>
                <a:rPr lang="en-US" altLang="zh-CN" sz="3200">
                  <a:latin typeface="Times New Roman" panose="02020603050405020304" pitchFamily="18" charset="0"/>
                  <a:sym typeface="Symbol" pitchFamily="2" charset="2"/>
                </a:rPr>
                <a:t></a:t>
              </a:r>
              <a:r>
                <a:rPr lang="en-US" altLang="zh-CN" sz="3200">
                  <a:latin typeface="Times New Roman" panose="02020603050405020304" pitchFamily="18" charset="0"/>
                </a:rPr>
                <a:t> i，v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i+1</a:t>
              </a:r>
              <a:r>
                <a:rPr lang="en-US" altLang="zh-CN" sz="3200">
                  <a:latin typeface="Times New Roman" panose="02020603050405020304" pitchFamily="18" charset="0"/>
                  <a:sym typeface="Symbol" pitchFamily="2" charset="2"/>
                </a:rPr>
                <a:t></a:t>
              </a:r>
              <a:r>
                <a:rPr lang="en-US" altLang="zh-CN" sz="3200">
                  <a:latin typeface="Times New Roman" panose="02020603050405020304" pitchFamily="18" charset="0"/>
                </a:rPr>
                <a:t>S’，</a:t>
              </a:r>
              <a:r>
                <a:rPr lang="zh-CN" altLang="en-US" sz="3200">
                  <a:latin typeface="Times New Roman" panose="02020603050405020304" pitchFamily="18" charset="0"/>
                </a:rPr>
                <a:t>即</a:t>
              </a:r>
              <a:r>
                <a:rPr lang="en-US" altLang="zh-CN" sz="3200">
                  <a:latin typeface="Times New Roman" panose="02020603050405020304" pitchFamily="18" charset="0"/>
                </a:rPr>
                <a:t>l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i+1</a:t>
              </a:r>
              <a:r>
                <a:rPr lang="zh-CN" altLang="en-US" sz="3200">
                  <a:latin typeface="Times New Roman" panose="02020603050405020304" pitchFamily="18" charset="0"/>
                </a:rPr>
                <a:t>为</a:t>
              </a:r>
              <a:r>
                <a:rPr lang="en-US" altLang="zh-CN" sz="3200">
                  <a:latin typeface="Times New Roman" panose="02020603050405020304" pitchFamily="18" charset="0"/>
                </a:rPr>
                <a:t>S</a:t>
              </a:r>
              <a:r>
                <a:rPr lang="zh-CN" altLang="en-US" sz="3200">
                  <a:latin typeface="Times New Roman" panose="02020603050405020304" pitchFamily="18" charset="0"/>
                </a:rPr>
                <a:t>与</a:t>
              </a:r>
              <a:r>
                <a:rPr lang="en-US" altLang="zh-CN" sz="3200">
                  <a:latin typeface="Times New Roman" panose="02020603050405020304" pitchFamily="18" charset="0"/>
                </a:rPr>
                <a:t>S’</a:t>
              </a:r>
              <a:r>
                <a:rPr lang="zh-CN" altLang="en-US" sz="3200">
                  <a:latin typeface="Times New Roman" panose="02020603050405020304" pitchFamily="18" charset="0"/>
                </a:rPr>
                <a:t>的割边中带有最小权者。则令</a:t>
              </a:r>
              <a:r>
                <a:rPr lang="en-US" altLang="zh-CN" sz="3200">
                  <a:latin typeface="Times New Roman" panose="02020603050405020304" pitchFamily="18" charset="0"/>
                </a:rPr>
                <a:t>T={ l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1</a:t>
              </a:r>
              <a:r>
                <a:rPr lang="en-US" altLang="zh-CN" sz="3200">
                  <a:latin typeface="Times New Roman" panose="02020603050405020304" pitchFamily="18" charset="0"/>
                </a:rPr>
                <a:t>，l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2</a:t>
              </a:r>
              <a:r>
                <a:rPr lang="en-US" altLang="zh-CN" sz="3200">
                  <a:latin typeface="Times New Roman" panose="02020603050405020304" pitchFamily="18" charset="0"/>
                </a:rPr>
                <a:t>，…，l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i</a:t>
              </a:r>
              <a:r>
                <a:rPr lang="en-US" altLang="zh-CN" sz="3200">
                  <a:latin typeface="Times New Roman" panose="02020603050405020304" pitchFamily="18" charset="0"/>
                </a:rPr>
                <a:t>，l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i+1</a:t>
              </a:r>
              <a:r>
                <a:rPr lang="en-US" altLang="zh-CN" sz="3200">
                  <a:latin typeface="Times New Roman" panose="02020603050405020304" pitchFamily="18" charset="0"/>
                </a:rPr>
                <a:t>}，S={ 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0</a:t>
              </a:r>
              <a:r>
                <a:rPr lang="en-US" altLang="zh-CN" sz="3200">
                  <a:latin typeface="Times New Roman" panose="02020603050405020304" pitchFamily="18" charset="0"/>
                </a:rPr>
                <a:t>, 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1</a:t>
              </a:r>
              <a:r>
                <a:rPr lang="en-US" altLang="zh-CN" sz="3200">
                  <a:latin typeface="Times New Roman" panose="02020603050405020304" pitchFamily="18" charset="0"/>
                </a:rPr>
                <a:t> ,…, 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i</a:t>
              </a:r>
              <a:r>
                <a:rPr lang="en-US" altLang="zh-CN" sz="3200">
                  <a:latin typeface="Times New Roman" panose="02020603050405020304" pitchFamily="18" charset="0"/>
                </a:rPr>
                <a:t>，v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i+1</a:t>
              </a:r>
              <a:r>
                <a:rPr lang="en-US" altLang="zh-CN" sz="3200">
                  <a:latin typeface="Times New Roman" panose="02020603050405020304" pitchFamily="18" charset="0"/>
                </a:rPr>
                <a:t>}。</a:t>
              </a:r>
              <a:r>
                <a:rPr lang="zh-CN" altLang="en-US" sz="3200">
                  <a:latin typeface="Times New Roman" panose="02020603050405020304" pitchFamily="18" charset="0"/>
                </a:rPr>
                <a:t>如果不存在这样的</a:t>
              </a:r>
              <a:r>
                <a:rPr lang="en-US" altLang="zh-CN" sz="3200">
                  <a:latin typeface="Times New Roman" panose="02020603050405020304" pitchFamily="18" charset="0"/>
                </a:rPr>
                <a:t>l</a:t>
              </a:r>
              <a:r>
                <a:rPr lang="en-US" altLang="zh-CN" sz="3200" baseline="-30000">
                  <a:latin typeface="Times New Roman" panose="02020603050405020304" pitchFamily="18" charset="0"/>
                </a:rPr>
                <a:t>i+1</a:t>
              </a:r>
              <a:r>
                <a:rPr lang="en-US" altLang="zh-CN" sz="3200">
                  <a:latin typeface="Times New Roman" panose="02020603050405020304" pitchFamily="18" charset="0"/>
                </a:rPr>
                <a:t>，</a:t>
              </a:r>
              <a:r>
                <a:rPr lang="zh-CN" altLang="en-US" sz="3200">
                  <a:latin typeface="Times New Roman" panose="02020603050405020304" pitchFamily="18" charset="0"/>
                </a:rPr>
                <a:t>则算法停止。</a:t>
              </a:r>
            </a:p>
          </p:txBody>
        </p:sp>
        <p:graphicFrame>
          <p:nvGraphicFramePr>
            <p:cNvPr id="57350" name="Object 5">
              <a:extLst>
                <a:ext uri="{FF2B5EF4-FFF2-40B4-BE49-F238E27FC236}">
                  <a16:creationId xmlns:a16="http://schemas.microsoft.com/office/drawing/2014/main" id="{9BB1DC04-6E88-6E48-B946-AD675BD522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840" y="2208"/>
            <a:ext cx="560" cy="3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" imgW="330200" imgH="279400" progId="Equation.3">
                    <p:embed/>
                  </p:oleObj>
                </mc:Choice>
                <mc:Fallback>
                  <p:oleObj name="公式" r:id="rId2" imgW="330200" imgH="27940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40" y="2208"/>
                          <a:ext cx="560" cy="3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6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3" grpId="0" build="p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Slide Number Placeholder 5">
            <a:extLst>
              <a:ext uri="{FF2B5EF4-FFF2-40B4-BE49-F238E27FC236}">
                <a16:creationId xmlns:a16="http://schemas.microsoft.com/office/drawing/2014/main" id="{FAE7C978-904C-184E-8345-CA8380DD18D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487652B0-98B9-2C46-BFD1-163D6BB8E10D}" type="slidenum">
              <a:rPr kumimoji="0" lang="zh-CN" altLang="en-US" sz="1200"/>
              <a:pPr/>
              <a:t>30</a:t>
            </a:fld>
            <a:endParaRPr kumimoji="0" lang="en-US" altLang="zh-CN" sz="1200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9A0EBFDC-77A8-8749-A42F-2FF3F4506C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en-US" altLang="zh-CN" dirty="0" err="1">
                <a:latin typeface="Times New Roman" pitchFamily="18" charset="0"/>
                <a:ea typeface="+mj-ea"/>
                <a:cs typeface="+mj-cs"/>
              </a:rPr>
              <a:t>Sollin</a:t>
            </a:r>
            <a:r>
              <a:rPr lang="zh-CN" altLang="en-US" dirty="0">
                <a:latin typeface="宋体" pitchFamily="2" charset="-122"/>
                <a:ea typeface="+mj-ea"/>
                <a:cs typeface="+mj-cs"/>
              </a:rPr>
              <a:t>算法</a:t>
            </a:r>
          </a:p>
        </p:txBody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4C83ADF4-3961-964E-BA7E-E5B4E4A8F5F3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295400"/>
            <a:ext cx="8763000" cy="5029200"/>
          </a:xfrm>
        </p:spPr>
        <p:txBody>
          <a:bodyPr/>
          <a:lstStyle/>
          <a:p>
            <a:pPr marL="0" indent="0">
              <a:tabLst>
                <a:tab pos="669925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将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Kruskal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算法与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Prim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算法综合起来，就得到了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1961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年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Sollin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提出的算法。该算法在迭代过程中与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Kruskal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算法一样维持多个不相交的子树，并与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Prim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算法类似地在每次迭代中尝试向每个子树增加一条边。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Slide Number Placeholder 5">
            <a:extLst>
              <a:ext uri="{FF2B5EF4-FFF2-40B4-BE49-F238E27FC236}">
                <a16:creationId xmlns:a16="http://schemas.microsoft.com/office/drawing/2014/main" id="{4BFF0C11-682F-7F4C-9B54-FD10B6A4364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A2C3DCB-4163-8546-BB65-579922F3A747}" type="slidenum">
              <a:rPr kumimoji="0" lang="zh-CN" altLang="en-US" sz="1200"/>
              <a:pPr/>
              <a:t>31</a:t>
            </a:fld>
            <a:endParaRPr kumimoji="0" lang="en-US" altLang="zh-CN" sz="1200"/>
          </a:p>
        </p:txBody>
      </p:sp>
      <p:sp>
        <p:nvSpPr>
          <p:cNvPr id="117762" name="Rectangle 2">
            <a:extLst>
              <a:ext uri="{FF2B5EF4-FFF2-40B4-BE49-F238E27FC236}">
                <a16:creationId xmlns:a16="http://schemas.microsoft.com/office/drawing/2014/main" id="{083B2A24-2CEF-0641-88E2-12867FFA8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381000"/>
            <a:ext cx="77724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宋体" pitchFamily="2" charset="-122"/>
                <a:ea typeface="+mj-ea"/>
                <a:cs typeface="+mj-cs"/>
              </a:rPr>
              <a:t>破圈法</a:t>
            </a:r>
          </a:p>
        </p:txBody>
      </p:sp>
      <p:sp>
        <p:nvSpPr>
          <p:cNvPr id="117763" name="Rectangle 3">
            <a:extLst>
              <a:ext uri="{FF2B5EF4-FFF2-40B4-BE49-F238E27FC236}">
                <a16:creationId xmlns:a16="http://schemas.microsoft.com/office/drawing/2014/main" id="{3D88710F-A4A5-9943-B0D8-23846AE15F21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228600" y="1295400"/>
            <a:ext cx="8763000" cy="5029200"/>
          </a:xfrm>
        </p:spPr>
        <p:txBody>
          <a:bodyPr/>
          <a:lstStyle/>
          <a:p>
            <a:pPr marL="0" indent="0">
              <a:tabLst>
                <a:tab pos="669925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上述各算法都是贪婪地增加不构成回路的边，以求得最优树，所以通常称为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避圈法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；</a:t>
            </a:r>
          </a:p>
          <a:p>
            <a:pPr marL="0" indent="0">
              <a:tabLst>
                <a:tab pos="669925" algn="l"/>
              </a:tabLst>
            </a:pP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我们还可以从另一个角度来考虑最优树问题，由定理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4.2.4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的圈（回路）最优条件，我们也可以在原连通权图</a:t>
            </a:r>
            <a:r>
              <a:rPr kumimoji="0" lang="en-US" altLang="zh-CN" sz="3200">
                <a:latin typeface="Times New Roman" panose="02020603050405020304" pitchFamily="18" charset="0"/>
                <a:ea typeface="楷体_GB2312" pitchFamily="49" charset="-122"/>
              </a:rPr>
              <a:t>G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中逐步删除构成回路中权最大的边，最后剩下的无回路的支撑子图为最优树。我们把这种方法称为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“</a:t>
            </a:r>
            <a:r>
              <a:rPr kumimoji="0" lang="zh-CN" altLang="en-US" sz="3200">
                <a:solidFill>
                  <a:schemeClr val="tx2"/>
                </a:solidFill>
                <a:latin typeface="宋体" panose="02010600030101010101" pitchFamily="2" charset="-122"/>
                <a:ea typeface="楷体_GB2312" pitchFamily="49" charset="-122"/>
              </a:rPr>
              <a:t>破圈法</a:t>
            </a:r>
            <a:r>
              <a:rPr kumimoji="0" lang="zh-CN" altLang="en-US" sz="3200">
                <a:latin typeface="Arial" panose="020B0604020202020204" pitchFamily="34" charset="0"/>
                <a:ea typeface="楷体_GB2312" pitchFamily="49" charset="-122"/>
              </a:rPr>
              <a:t>”</a:t>
            </a:r>
            <a:r>
              <a:rPr kumimoji="0" lang="zh-CN" altLang="en-US" sz="3200">
                <a:latin typeface="宋体" panose="02010600030101010101" pitchFamily="2" charset="-122"/>
                <a:ea typeface="楷体_GB2312" pitchFamily="49" charset="-122"/>
              </a:rPr>
              <a:t>。</a:t>
            </a:r>
            <a:r>
              <a:rPr kumimoji="0" lang="zh-CN" altLang="en-US" sz="3200">
                <a:latin typeface="Times New Roman" panose="02020603050405020304" pitchFamily="18" charset="0"/>
                <a:ea typeface="楷体_GB2312" pitchFamily="49" charset="-122"/>
              </a:rPr>
              <a:t> </a:t>
            </a:r>
          </a:p>
        </p:txBody>
      </p: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77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17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763" grpId="0" build="p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Slide Number Placeholder 5">
            <a:extLst>
              <a:ext uri="{FF2B5EF4-FFF2-40B4-BE49-F238E27FC236}">
                <a16:creationId xmlns:a16="http://schemas.microsoft.com/office/drawing/2014/main" id="{77CD6144-6F64-0B41-9EEE-9DEB06BAA6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12633699-7410-F44E-9071-3115137C61A2}" type="slidenum">
              <a:rPr kumimoji="0" lang="zh-CN" altLang="en-US" sz="1200"/>
              <a:pPr/>
              <a:t>32</a:t>
            </a:fld>
            <a:endParaRPr kumimoji="0" lang="en-US" altLang="zh-CN" sz="1200"/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CE0243E4-4E75-C24B-918F-25030D671A1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762000"/>
          </a:xfrm>
        </p:spPr>
        <p:txBody>
          <a:bodyPr/>
          <a:lstStyle/>
          <a:p>
            <a:pPr marL="320040" indent="-320040" algn="l" fontAlgn="auto">
              <a:spcAft>
                <a:spcPts val="0"/>
              </a:spcAft>
              <a:buClr>
                <a:schemeClr val="accent6">
                  <a:lumMod val="75000"/>
                </a:schemeClr>
              </a:buClr>
              <a:defRPr/>
            </a:pPr>
            <a:r>
              <a:rPr lang="zh-CN" altLang="en-US" dirty="0">
                <a:latin typeface="Times New Roman" pitchFamily="18" charset="0"/>
                <a:ea typeface="+mj-ea"/>
                <a:cs typeface="+mj-cs"/>
              </a:rPr>
              <a:t>例</a:t>
            </a:r>
            <a:r>
              <a:rPr lang="zh-CN" altLang="en-US" dirty="0">
                <a:latin typeface="Arial" charset="0"/>
              </a:rPr>
              <a:t>“</a:t>
            </a:r>
            <a:r>
              <a:rPr lang="zh-CN" altLang="en-US" dirty="0">
                <a:latin typeface="Times New Roman" pitchFamily="18" charset="0"/>
                <a:ea typeface="+mj-ea"/>
                <a:cs typeface="+mj-cs"/>
              </a:rPr>
              <a:t>破圈法</a:t>
            </a:r>
            <a:r>
              <a:rPr lang="zh-CN" altLang="en-US" dirty="0">
                <a:latin typeface="Arial" charset="0"/>
              </a:rPr>
              <a:t>”</a:t>
            </a:r>
            <a:r>
              <a:rPr lang="zh-CN" altLang="en-US" dirty="0">
                <a:latin typeface="Times New Roman" pitchFamily="18" charset="0"/>
                <a:ea typeface="+mj-ea"/>
                <a:cs typeface="+mj-cs"/>
              </a:rPr>
              <a:t>求其最优树的过程</a:t>
            </a:r>
          </a:p>
        </p:txBody>
      </p:sp>
      <p:sp>
        <p:nvSpPr>
          <p:cNvPr id="33796" name="Text Box 14">
            <a:extLst>
              <a:ext uri="{FF2B5EF4-FFF2-40B4-BE49-F238E27FC236}">
                <a16:creationId xmlns:a16="http://schemas.microsoft.com/office/drawing/2014/main" id="{6CB2140E-7CE7-9745-863F-F198D70512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953000"/>
            <a:ext cx="4127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  <a:cs typeface="宋体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0"/>
              </a:defRPr>
            </a:lvl9pPr>
          </a:lstStyle>
          <a:p>
            <a:pPr eaLnBrk="1" hangingPunct="1">
              <a:defRPr/>
            </a:pPr>
            <a:r>
              <a:rPr kumimoji="1" lang="en-US" altLang="zh-CN" sz="3600">
                <a:solidFill>
                  <a:schemeClr val="tx2"/>
                </a:solidFill>
                <a:latin typeface="Times New Roman" charset="0"/>
              </a:rPr>
              <a:t>2</a:t>
            </a:r>
            <a:endParaRPr kumimoji="1" lang="en-US" altLang="zh-CN" sz="3600" baseline="-25000">
              <a:solidFill>
                <a:schemeClr val="tx2"/>
              </a:solidFill>
              <a:latin typeface="Times New Roman" charset="0"/>
            </a:endParaRPr>
          </a:p>
        </p:txBody>
      </p:sp>
      <p:grpSp>
        <p:nvGrpSpPr>
          <p:cNvPr id="60420" name="Group 31">
            <a:extLst>
              <a:ext uri="{FF2B5EF4-FFF2-40B4-BE49-F238E27FC236}">
                <a16:creationId xmlns:a16="http://schemas.microsoft.com/office/drawing/2014/main" id="{368440AE-24B2-654C-9D7E-8E5CBE7A47C7}"/>
              </a:ext>
            </a:extLst>
          </p:cNvPr>
          <p:cNvGrpSpPr>
            <a:grpSpLocks/>
          </p:cNvGrpSpPr>
          <p:nvPr/>
        </p:nvGrpSpPr>
        <p:grpSpPr bwMode="auto">
          <a:xfrm>
            <a:off x="2578100" y="1524000"/>
            <a:ext cx="3422650" cy="3462338"/>
            <a:chOff x="1624" y="960"/>
            <a:chExt cx="2156" cy="2181"/>
          </a:xfrm>
        </p:grpSpPr>
        <p:sp>
          <p:nvSpPr>
            <p:cNvPr id="33816" name="Line 19">
              <a:extLst>
                <a:ext uri="{FF2B5EF4-FFF2-40B4-BE49-F238E27FC236}">
                  <a16:creationId xmlns:a16="http://schemas.microsoft.com/office/drawing/2014/main" id="{022D27FE-5DDB-3646-B59F-41D9A02590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344"/>
              <a:ext cx="1632" cy="1776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3817" name="Rectangle 6">
              <a:extLst>
                <a:ext uri="{FF2B5EF4-FFF2-40B4-BE49-F238E27FC236}">
                  <a16:creationId xmlns:a16="http://schemas.microsoft.com/office/drawing/2014/main" id="{3B0F3C99-3ED4-0F4E-8149-A413E44231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68" y="1365"/>
              <a:ext cx="1632" cy="1776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3818" name="Line 7">
              <a:extLst>
                <a:ext uri="{FF2B5EF4-FFF2-40B4-BE49-F238E27FC236}">
                  <a16:creationId xmlns:a16="http://schemas.microsoft.com/office/drawing/2014/main" id="{F23FF40B-0DDF-0142-80CE-F54043B73B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49" y="1344"/>
              <a:ext cx="1651" cy="1797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3819" name="Text Box 12">
              <a:extLst>
                <a:ext uri="{FF2B5EF4-FFF2-40B4-BE49-F238E27FC236}">
                  <a16:creationId xmlns:a16="http://schemas.microsoft.com/office/drawing/2014/main" id="{33BC915B-2E9A-654B-A873-B7795D98A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960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3600">
                  <a:solidFill>
                    <a:schemeClr val="tx2"/>
                  </a:solidFill>
                  <a:latin typeface="Times New Roman" charset="0"/>
                </a:rPr>
                <a:t>1</a:t>
              </a:r>
              <a:endParaRPr kumimoji="1" lang="en-US" altLang="zh-CN" sz="3600" baseline="-25000">
                <a:solidFill>
                  <a:schemeClr val="tx2"/>
                </a:solidFill>
                <a:latin typeface="Times New Roman" charset="0"/>
              </a:endParaRPr>
            </a:p>
          </p:txBody>
        </p:sp>
        <p:sp>
          <p:nvSpPr>
            <p:cNvPr id="33820" name="Text Box 13">
              <a:extLst>
                <a:ext uri="{FF2B5EF4-FFF2-40B4-BE49-F238E27FC236}">
                  <a16:creationId xmlns:a16="http://schemas.microsoft.com/office/drawing/2014/main" id="{4AAF6133-B1CE-5A48-A15F-0350269E4F7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20" y="1968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3600">
                  <a:solidFill>
                    <a:schemeClr val="tx2"/>
                  </a:solidFill>
                  <a:latin typeface="Times New Roman" charset="0"/>
                </a:rPr>
                <a:t>4</a:t>
              </a:r>
              <a:endParaRPr kumimoji="1" lang="en-US" altLang="zh-CN" sz="3600" baseline="-25000">
                <a:solidFill>
                  <a:schemeClr val="tx2"/>
                </a:solidFill>
                <a:latin typeface="Times New Roman" charset="0"/>
              </a:endParaRPr>
            </a:p>
          </p:txBody>
        </p:sp>
        <p:sp>
          <p:nvSpPr>
            <p:cNvPr id="33821" name="Text Box 15">
              <a:extLst>
                <a:ext uri="{FF2B5EF4-FFF2-40B4-BE49-F238E27FC236}">
                  <a16:creationId xmlns:a16="http://schemas.microsoft.com/office/drawing/2014/main" id="{1D62F3F8-2D21-CF4F-A548-0F0BE7242F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24" y="2056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3600">
                  <a:solidFill>
                    <a:schemeClr val="tx2"/>
                  </a:solidFill>
                  <a:latin typeface="Times New Roman" charset="0"/>
                </a:rPr>
                <a:t>3</a:t>
              </a:r>
              <a:endParaRPr kumimoji="1" lang="en-US" altLang="zh-CN" sz="3600" baseline="-25000">
                <a:solidFill>
                  <a:schemeClr val="tx2"/>
                </a:solidFill>
                <a:latin typeface="Times New Roman" charset="0"/>
              </a:endParaRPr>
            </a:p>
          </p:txBody>
        </p:sp>
        <p:sp>
          <p:nvSpPr>
            <p:cNvPr id="33822" name="Text Box 20">
              <a:extLst>
                <a:ext uri="{FF2B5EF4-FFF2-40B4-BE49-F238E27FC236}">
                  <a16:creationId xmlns:a16="http://schemas.microsoft.com/office/drawing/2014/main" id="{C73661A9-8355-EC4D-ACAA-EC935A346C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12" y="2496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3600">
                  <a:solidFill>
                    <a:schemeClr val="tx2"/>
                  </a:solidFill>
                  <a:latin typeface="Times New Roman" charset="0"/>
                </a:rPr>
                <a:t>5</a:t>
              </a:r>
              <a:endParaRPr kumimoji="1" lang="en-US" altLang="zh-CN" sz="3600" baseline="-25000">
                <a:solidFill>
                  <a:schemeClr val="tx2"/>
                </a:solidFill>
                <a:latin typeface="Times New Roman" charset="0"/>
              </a:endParaRPr>
            </a:p>
          </p:txBody>
        </p:sp>
        <p:sp>
          <p:nvSpPr>
            <p:cNvPr id="33823" name="Text Box 21">
              <a:extLst>
                <a:ext uri="{FF2B5EF4-FFF2-40B4-BE49-F238E27FC236}">
                  <a16:creationId xmlns:a16="http://schemas.microsoft.com/office/drawing/2014/main" id="{B6D856E4-0B07-7E4D-B571-DFD11A002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4" y="1680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3600">
                  <a:solidFill>
                    <a:schemeClr val="tx2"/>
                  </a:solidFill>
                  <a:latin typeface="Times New Roman" charset="0"/>
                </a:rPr>
                <a:t>6</a:t>
              </a:r>
              <a:endParaRPr kumimoji="1" lang="en-US" altLang="zh-CN" sz="3600" baseline="-25000">
                <a:solidFill>
                  <a:schemeClr val="tx2"/>
                </a:solidFill>
                <a:latin typeface="Times New Roman" charset="0"/>
              </a:endParaRPr>
            </a:p>
          </p:txBody>
        </p:sp>
        <p:sp>
          <p:nvSpPr>
            <p:cNvPr id="33824" name="Text Box 22">
              <a:extLst>
                <a:ext uri="{FF2B5EF4-FFF2-40B4-BE49-F238E27FC236}">
                  <a16:creationId xmlns:a16="http://schemas.microsoft.com/office/drawing/2014/main" id="{0ACF1E16-01A5-784C-8F76-3817E4D24F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32" y="1584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3600">
                  <a:solidFill>
                    <a:schemeClr val="tx2"/>
                  </a:solidFill>
                  <a:latin typeface="Times New Roman" charset="0"/>
                </a:rPr>
                <a:t>7</a:t>
              </a:r>
              <a:endParaRPr kumimoji="1" lang="en-US" altLang="zh-CN" sz="3600" baseline="-25000">
                <a:solidFill>
                  <a:schemeClr val="tx2"/>
                </a:solidFill>
                <a:latin typeface="Times New Roman" charset="0"/>
              </a:endParaRPr>
            </a:p>
          </p:txBody>
        </p:sp>
        <p:sp>
          <p:nvSpPr>
            <p:cNvPr id="33825" name="Text Box 23">
              <a:extLst>
                <a:ext uri="{FF2B5EF4-FFF2-40B4-BE49-F238E27FC236}">
                  <a16:creationId xmlns:a16="http://schemas.microsoft.com/office/drawing/2014/main" id="{550D487D-8C93-6141-A4E7-1EED3260AE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2304"/>
              <a:ext cx="260" cy="4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  <a:cs typeface="宋体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宋体" charset="0"/>
                </a:defRPr>
              </a:lvl9pPr>
            </a:lstStyle>
            <a:p>
              <a:pPr eaLnBrk="1" hangingPunct="1">
                <a:defRPr/>
              </a:pPr>
              <a:r>
                <a:rPr kumimoji="1" lang="en-US" altLang="zh-CN" sz="3600">
                  <a:solidFill>
                    <a:schemeClr val="tx2"/>
                  </a:solidFill>
                  <a:latin typeface="Times New Roman" charset="0"/>
                </a:rPr>
                <a:t>8</a:t>
              </a:r>
            </a:p>
          </p:txBody>
        </p:sp>
      </p:grpSp>
      <p:grpSp>
        <p:nvGrpSpPr>
          <p:cNvPr id="65574" name="Group 38">
            <a:extLst>
              <a:ext uri="{FF2B5EF4-FFF2-40B4-BE49-F238E27FC236}">
                <a16:creationId xmlns:a16="http://schemas.microsoft.com/office/drawing/2014/main" id="{813D5437-E970-0B46-B74C-B7D737DAFF44}"/>
              </a:ext>
            </a:extLst>
          </p:cNvPr>
          <p:cNvGrpSpPr>
            <a:grpSpLocks/>
          </p:cNvGrpSpPr>
          <p:nvPr/>
        </p:nvGrpSpPr>
        <p:grpSpPr bwMode="auto">
          <a:xfrm>
            <a:off x="2962275" y="2163763"/>
            <a:ext cx="1228725" cy="1354137"/>
            <a:chOff x="1866" y="1363"/>
            <a:chExt cx="774" cy="853"/>
          </a:xfrm>
        </p:grpSpPr>
        <p:sp>
          <p:nvSpPr>
            <p:cNvPr id="60437" name="Freeform 26">
              <a:extLst>
                <a:ext uri="{FF2B5EF4-FFF2-40B4-BE49-F238E27FC236}">
                  <a16:creationId xmlns:a16="http://schemas.microsoft.com/office/drawing/2014/main" id="{7986F883-D226-8048-9C8D-7443DEC01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1363"/>
              <a:ext cx="774" cy="853"/>
            </a:xfrm>
            <a:custGeom>
              <a:avLst/>
              <a:gdLst>
                <a:gd name="T0" fmla="*/ 0 w 774"/>
                <a:gd name="T1" fmla="*/ 0 h 853"/>
                <a:gd name="T2" fmla="*/ 774 w 774"/>
                <a:gd name="T3" fmla="*/ 853 h 8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74" h="853">
                  <a:moveTo>
                    <a:pt x="0" y="0"/>
                  </a:moveTo>
                  <a:lnTo>
                    <a:pt x="774" y="853"/>
                  </a:lnTo>
                </a:path>
              </a:pathLst>
            </a:custGeom>
            <a:solidFill>
              <a:schemeClr val="bg1"/>
            </a:solidFill>
            <a:ln w="76200" cmpd="sng">
              <a:solidFill>
                <a:schemeClr val="bg1"/>
              </a:solidFill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15" name="Rectangle 32">
              <a:extLst>
                <a:ext uri="{FF2B5EF4-FFF2-40B4-BE49-F238E27FC236}">
                  <a16:creationId xmlns:a16="http://schemas.microsoft.com/office/drawing/2014/main" id="{541BF822-68FA-4443-A376-B0411F32D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36" y="1584"/>
              <a:ext cx="260" cy="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en-US" altLang="zh-CN" sz="3600">
                  <a:solidFill>
                    <a:schemeClr val="bg1"/>
                  </a:solidFill>
                  <a:latin typeface="Times New Roman" charset="0"/>
                  <a:ea typeface="宋体" charset="0"/>
                  <a:cs typeface="宋体" charset="0"/>
                </a:rPr>
                <a:t>7</a:t>
              </a:r>
              <a:endParaRPr kumimoji="1" lang="zh-CN" altLang="en-US" sz="3600">
                <a:solidFill>
                  <a:schemeClr val="bg1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65573" name="Group 37">
            <a:extLst>
              <a:ext uri="{FF2B5EF4-FFF2-40B4-BE49-F238E27FC236}">
                <a16:creationId xmlns:a16="http://schemas.microsoft.com/office/drawing/2014/main" id="{06A8EA00-E0DE-724C-B8D2-291F88874D5F}"/>
              </a:ext>
            </a:extLst>
          </p:cNvPr>
          <p:cNvGrpSpPr>
            <a:grpSpLocks/>
          </p:cNvGrpSpPr>
          <p:nvPr/>
        </p:nvGrpSpPr>
        <p:grpSpPr bwMode="auto">
          <a:xfrm>
            <a:off x="2959100" y="3541713"/>
            <a:ext cx="1290638" cy="1436687"/>
            <a:chOff x="1864" y="2231"/>
            <a:chExt cx="813" cy="905"/>
          </a:xfrm>
        </p:grpSpPr>
        <p:sp>
          <p:nvSpPr>
            <p:cNvPr id="60435" name="Freeform 25">
              <a:extLst>
                <a:ext uri="{FF2B5EF4-FFF2-40B4-BE49-F238E27FC236}">
                  <a16:creationId xmlns:a16="http://schemas.microsoft.com/office/drawing/2014/main" id="{665EC9D2-5F26-5540-A6C0-5B02E5BE72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4" y="2231"/>
              <a:ext cx="813" cy="905"/>
            </a:xfrm>
            <a:custGeom>
              <a:avLst/>
              <a:gdLst>
                <a:gd name="T0" fmla="*/ 813 w 813"/>
                <a:gd name="T1" fmla="*/ 0 h 905"/>
                <a:gd name="T2" fmla="*/ 0 w 813"/>
                <a:gd name="T3" fmla="*/ 905 h 90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13" h="905">
                  <a:moveTo>
                    <a:pt x="813" y="0"/>
                  </a:moveTo>
                  <a:lnTo>
                    <a:pt x="0" y="905"/>
                  </a:lnTo>
                </a:path>
              </a:pathLst>
            </a:custGeom>
            <a:solidFill>
              <a:schemeClr val="bg1"/>
            </a:solidFill>
            <a:ln w="76200" cmpd="sng">
              <a:solidFill>
                <a:schemeClr val="bg1"/>
              </a:solidFill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13" name="Rectangle 34">
              <a:extLst>
                <a:ext uri="{FF2B5EF4-FFF2-40B4-BE49-F238E27FC236}">
                  <a16:creationId xmlns:a16="http://schemas.microsoft.com/office/drawing/2014/main" id="{C8460829-A0C8-CE4B-B72E-B1283CB57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64" y="2300"/>
              <a:ext cx="260" cy="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en-US" altLang="zh-CN" sz="3600">
                  <a:solidFill>
                    <a:schemeClr val="bg1"/>
                  </a:solidFill>
                  <a:latin typeface="Times New Roman" charset="0"/>
                  <a:ea typeface="宋体" charset="0"/>
                  <a:cs typeface="宋体" charset="0"/>
                </a:rPr>
                <a:t>8</a:t>
              </a:r>
              <a:endParaRPr kumimoji="1" lang="zh-CN" altLang="en-US" sz="3600">
                <a:solidFill>
                  <a:schemeClr val="bg1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65579" name="Group 43">
            <a:extLst>
              <a:ext uri="{FF2B5EF4-FFF2-40B4-BE49-F238E27FC236}">
                <a16:creationId xmlns:a16="http://schemas.microsoft.com/office/drawing/2014/main" id="{3514F40E-BC2C-2540-A6E2-D6E5165C1D8F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133600"/>
            <a:ext cx="1295400" cy="1449388"/>
            <a:chOff x="2688" y="1344"/>
            <a:chExt cx="816" cy="913"/>
          </a:xfrm>
        </p:grpSpPr>
        <p:sp>
          <p:nvSpPr>
            <p:cNvPr id="60433" name="Freeform 27">
              <a:extLst>
                <a:ext uri="{FF2B5EF4-FFF2-40B4-BE49-F238E27FC236}">
                  <a16:creationId xmlns:a16="http://schemas.microsoft.com/office/drawing/2014/main" id="{4C3AA764-0123-1C4E-8D42-A87FFCAD64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1344"/>
              <a:ext cx="816" cy="913"/>
            </a:xfrm>
            <a:custGeom>
              <a:avLst/>
              <a:gdLst>
                <a:gd name="T0" fmla="*/ 934 w 789"/>
                <a:gd name="T1" fmla="*/ 0 h 865"/>
                <a:gd name="T2" fmla="*/ 0 w 789"/>
                <a:gd name="T3" fmla="*/ 1133 h 86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9" h="865">
                  <a:moveTo>
                    <a:pt x="789" y="0"/>
                  </a:moveTo>
                  <a:lnTo>
                    <a:pt x="0" y="865"/>
                  </a:lnTo>
                </a:path>
              </a:pathLst>
            </a:custGeom>
            <a:solidFill>
              <a:schemeClr val="bg1"/>
            </a:solidFill>
            <a:ln w="88900" cmpd="sng">
              <a:solidFill>
                <a:schemeClr val="bg1"/>
              </a:solidFill>
              <a:round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/>
            </a:p>
          </p:txBody>
        </p:sp>
        <p:sp>
          <p:nvSpPr>
            <p:cNvPr id="33811" name="Rectangle 35">
              <a:extLst>
                <a:ext uri="{FF2B5EF4-FFF2-40B4-BE49-F238E27FC236}">
                  <a16:creationId xmlns:a16="http://schemas.microsoft.com/office/drawing/2014/main" id="{C6C54A2B-51BD-AF40-9D77-F4B3EA3AD6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8" y="1680"/>
              <a:ext cx="260" cy="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en-US" altLang="zh-CN" sz="3600" dirty="0">
                  <a:solidFill>
                    <a:schemeClr val="bg1"/>
                  </a:solidFill>
                  <a:latin typeface="Times New Roman" charset="0"/>
                  <a:ea typeface="宋体" charset="0"/>
                  <a:cs typeface="宋体" charset="0"/>
                </a:rPr>
                <a:t>6</a:t>
              </a:r>
              <a:endParaRPr kumimoji="1" lang="zh-CN" altLang="en-US" sz="3600" dirty="0">
                <a:solidFill>
                  <a:schemeClr val="bg1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65578" name="Group 42">
            <a:extLst>
              <a:ext uri="{FF2B5EF4-FFF2-40B4-BE49-F238E27FC236}">
                <a16:creationId xmlns:a16="http://schemas.microsoft.com/office/drawing/2014/main" id="{11DA606F-4048-8046-996D-63EE072B7719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2184400"/>
            <a:ext cx="438150" cy="2819400"/>
            <a:chOff x="3504" y="1376"/>
            <a:chExt cx="276" cy="1776"/>
          </a:xfrm>
        </p:grpSpPr>
        <p:sp>
          <p:nvSpPr>
            <p:cNvPr id="33808" name="Line 29">
              <a:extLst>
                <a:ext uri="{FF2B5EF4-FFF2-40B4-BE49-F238E27FC236}">
                  <a16:creationId xmlns:a16="http://schemas.microsoft.com/office/drawing/2014/main" id="{C961706E-017B-A447-B8DC-6B0B19FD7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1376"/>
              <a:ext cx="0" cy="1776"/>
            </a:xfrm>
            <a:prstGeom prst="line">
              <a:avLst/>
            </a:prstGeom>
            <a:noFill/>
            <a:ln w="76200">
              <a:solidFill>
                <a:schemeClr val="bg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3809" name="Rectangle 36">
              <a:extLst>
                <a:ext uri="{FF2B5EF4-FFF2-40B4-BE49-F238E27FC236}">
                  <a16:creationId xmlns:a16="http://schemas.microsoft.com/office/drawing/2014/main" id="{DABA283D-9DB9-6C48-91BD-55DF60C1B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0" y="1966"/>
              <a:ext cx="260" cy="4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kumimoji="1" lang="en-US" altLang="zh-CN" sz="3600">
                  <a:solidFill>
                    <a:schemeClr val="bg1"/>
                  </a:solidFill>
                  <a:latin typeface="Times New Roman" charset="0"/>
                  <a:ea typeface="宋体" charset="0"/>
                  <a:cs typeface="宋体" charset="0"/>
                </a:rPr>
                <a:t>4</a:t>
              </a:r>
              <a:endParaRPr kumimoji="1" lang="zh-CN" altLang="en-US" sz="3600">
                <a:solidFill>
                  <a:schemeClr val="bg1"/>
                </a:solidFill>
                <a:latin typeface="Times New Roman" charset="0"/>
                <a:ea typeface="宋体" charset="0"/>
                <a:cs typeface="宋体" charset="0"/>
              </a:endParaRPr>
            </a:p>
          </p:txBody>
        </p:sp>
      </p:grpSp>
      <p:grpSp>
        <p:nvGrpSpPr>
          <p:cNvPr id="60425" name="Group 24">
            <a:extLst>
              <a:ext uri="{FF2B5EF4-FFF2-40B4-BE49-F238E27FC236}">
                <a16:creationId xmlns:a16="http://schemas.microsoft.com/office/drawing/2014/main" id="{FB13503B-101E-F741-818E-C5601C33EEEC}"/>
              </a:ext>
            </a:extLst>
          </p:cNvPr>
          <p:cNvGrpSpPr>
            <a:grpSpLocks/>
          </p:cNvGrpSpPr>
          <p:nvPr/>
        </p:nvGrpSpPr>
        <p:grpSpPr bwMode="auto">
          <a:xfrm>
            <a:off x="2889250" y="2057400"/>
            <a:ext cx="2743200" cy="2971800"/>
            <a:chOff x="1820" y="1317"/>
            <a:chExt cx="1728" cy="1872"/>
          </a:xfrm>
        </p:grpSpPr>
        <p:sp>
          <p:nvSpPr>
            <p:cNvPr id="33803" name="Oval 8">
              <a:extLst>
                <a:ext uri="{FF2B5EF4-FFF2-40B4-BE49-F238E27FC236}">
                  <a16:creationId xmlns:a16="http://schemas.microsoft.com/office/drawing/2014/main" id="{57EA405F-3904-F547-852A-43FD75824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131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3804" name="Oval 9">
              <a:extLst>
                <a:ext uri="{FF2B5EF4-FFF2-40B4-BE49-F238E27FC236}">
                  <a16:creationId xmlns:a16="http://schemas.microsoft.com/office/drawing/2014/main" id="{AC5CFCEE-206F-CD49-96D2-98367E665F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309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3805" name="Oval 10">
              <a:extLst>
                <a:ext uri="{FF2B5EF4-FFF2-40B4-BE49-F238E27FC236}">
                  <a16:creationId xmlns:a16="http://schemas.microsoft.com/office/drawing/2014/main" id="{2C0B3979-66A8-DA4D-8C5C-5636C5A74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1317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3806" name="Oval 11">
              <a:extLst>
                <a:ext uri="{FF2B5EF4-FFF2-40B4-BE49-F238E27FC236}">
                  <a16:creationId xmlns:a16="http://schemas.microsoft.com/office/drawing/2014/main" id="{AF3E32AF-86DE-6F4A-A987-A0540C53BD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2" y="3093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  <p:sp>
          <p:nvSpPr>
            <p:cNvPr id="33807" name="Oval 18">
              <a:extLst>
                <a:ext uri="{FF2B5EF4-FFF2-40B4-BE49-F238E27FC236}">
                  <a16:creationId xmlns:a16="http://schemas.microsoft.com/office/drawing/2014/main" id="{2D2996A0-E2BA-994F-9DF6-04886E7108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32" y="2192"/>
              <a:ext cx="96" cy="96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zh-CN" altLang="en-US">
                <a:latin typeface="Arial" charset="0"/>
                <a:ea typeface="宋体" charset="0"/>
                <a:cs typeface="宋体" charset="0"/>
              </a:endParaRPr>
            </a:p>
          </p:txBody>
        </p:sp>
      </p:grpSp>
    </p:spTree>
  </p:cSld>
  <p:clrMapOvr>
    <a:masterClrMapping/>
  </p:clrMapOvr>
  <p:transition>
    <p:blinds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5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65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5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5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3176361C-E864-FFBF-0B27-87D694B77027}"/>
              </a:ext>
            </a:extLst>
          </p:cNvPr>
          <p:cNvSpPr txBox="1"/>
          <p:nvPr/>
        </p:nvSpPr>
        <p:spPr>
          <a:xfrm>
            <a:off x="3207543" y="1752600"/>
            <a:ext cx="30337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战时共产主义政策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FD7768-820A-B08D-394C-8A20DEE85ADB}"/>
              </a:ext>
            </a:extLst>
          </p:cNvPr>
          <p:cNvSpPr txBox="1"/>
          <p:nvPr/>
        </p:nvSpPr>
        <p:spPr>
          <a:xfrm>
            <a:off x="1143000" y="2667000"/>
            <a:ext cx="327525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早上</a:t>
            </a:r>
            <a:r>
              <a:rPr lang="en-US" altLang="zh-CN" dirty="0">
                <a:solidFill>
                  <a:schemeClr val="bg1"/>
                </a:solidFill>
              </a:rPr>
              <a:t>: </a:t>
            </a:r>
            <a:r>
              <a:rPr lang="zh-CN" altLang="en-US" dirty="0">
                <a:solidFill>
                  <a:schemeClr val="bg1"/>
                </a:solidFill>
              </a:rPr>
              <a:t>六级一套真题</a:t>
            </a:r>
            <a:r>
              <a:rPr lang="en-US" altLang="zh-CN" dirty="0">
                <a:solidFill>
                  <a:schemeClr val="bg1"/>
                </a:solidFill>
              </a:rPr>
              <a:t>+</a:t>
            </a:r>
            <a:r>
              <a:rPr lang="zh-CN" altLang="en-US" dirty="0">
                <a:solidFill>
                  <a:schemeClr val="bg1"/>
                </a:solidFill>
              </a:rPr>
              <a:t>作文听力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下午</a:t>
            </a:r>
            <a:r>
              <a:rPr lang="en-US" altLang="zh-CN" dirty="0">
                <a:solidFill>
                  <a:schemeClr val="bg1"/>
                </a:solidFill>
              </a:rPr>
              <a:t>: </a:t>
            </a:r>
            <a:r>
              <a:rPr lang="zh-CN" altLang="en-US" dirty="0">
                <a:solidFill>
                  <a:schemeClr val="bg1"/>
                </a:solidFill>
              </a:rPr>
              <a:t>面向对象 离散 数电 物理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zh-CN" altLang="en-US" dirty="0">
                <a:solidFill>
                  <a:schemeClr val="bg1"/>
                </a:solidFill>
              </a:rPr>
              <a:t>晚上</a:t>
            </a:r>
            <a:r>
              <a:rPr lang="en-US" altLang="zh-CN" dirty="0">
                <a:solidFill>
                  <a:schemeClr val="bg1"/>
                </a:solidFill>
              </a:rPr>
              <a:t>: </a:t>
            </a:r>
            <a:r>
              <a:rPr lang="zh-CN" altLang="en-US" dirty="0">
                <a:solidFill>
                  <a:schemeClr val="bg1"/>
                </a:solidFill>
              </a:rPr>
              <a:t>高数刷题 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         </a:t>
            </a:r>
            <a:r>
              <a:rPr lang="zh-CN" altLang="en-US" dirty="0">
                <a:solidFill>
                  <a:schemeClr val="bg1"/>
                </a:solidFill>
              </a:rPr>
              <a:t>通用学术英语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</a:rPr>
              <a:t>         </a:t>
            </a:r>
            <a:r>
              <a:rPr lang="zh-CN" altLang="en-US" dirty="0">
                <a:solidFill>
                  <a:schemeClr val="bg1"/>
                </a:solidFill>
              </a:rPr>
              <a:t>整理六级错题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664ED65-FBB0-C998-F3B2-D2AD7BBEACC6}"/>
              </a:ext>
            </a:extLst>
          </p:cNvPr>
          <p:cNvSpPr txBox="1"/>
          <p:nvPr/>
        </p:nvSpPr>
        <p:spPr>
          <a:xfrm>
            <a:off x="2862351" y="4648200"/>
            <a:ext cx="3724096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000" dirty="0">
                <a:solidFill>
                  <a:schemeClr val="bg1"/>
                </a:solidFill>
              </a:rPr>
              <a:t>思</a:t>
            </a:r>
            <a:r>
              <a:rPr lang="en-US" altLang="zh-CN" sz="6000" dirty="0">
                <a:solidFill>
                  <a:schemeClr val="bg1"/>
                </a:solidFill>
              </a:rPr>
              <a:t>	</a:t>
            </a:r>
            <a:r>
              <a:rPr lang="zh-CN" altLang="en-US" sz="6000" dirty="0">
                <a:solidFill>
                  <a:schemeClr val="bg1"/>
                </a:solidFill>
              </a:rPr>
              <a:t>想</a:t>
            </a:r>
            <a:r>
              <a:rPr lang="en-US" altLang="zh-CN" sz="6000" dirty="0">
                <a:solidFill>
                  <a:schemeClr val="bg1"/>
                </a:solidFill>
              </a:rPr>
              <a:t>	</a:t>
            </a:r>
            <a:r>
              <a:rPr lang="zh-CN" altLang="en-US" sz="6000" dirty="0">
                <a:solidFill>
                  <a:schemeClr val="bg1"/>
                </a:solidFill>
              </a:rPr>
              <a:t>戒</a:t>
            </a:r>
            <a:r>
              <a:rPr lang="en-US" altLang="zh-CN" sz="6000" dirty="0">
                <a:solidFill>
                  <a:schemeClr val="bg1"/>
                </a:solidFill>
              </a:rPr>
              <a:t>	</a:t>
            </a:r>
            <a:r>
              <a:rPr lang="zh-CN" altLang="en-US" sz="6000" dirty="0">
                <a:solidFill>
                  <a:schemeClr val="bg1"/>
                </a:solidFill>
              </a:rPr>
              <a:t>严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D527D7E-A00C-6E23-55A1-AD41E6D1204E}"/>
              </a:ext>
            </a:extLst>
          </p:cNvPr>
          <p:cNvSpPr/>
          <p:nvPr/>
        </p:nvSpPr>
        <p:spPr>
          <a:xfrm>
            <a:off x="7010400" y="3048000"/>
            <a:ext cx="1143000" cy="8382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8726094"/>
      </p:ext>
    </p:extLst>
  </p:cSld>
  <p:clrMapOvr>
    <a:masterClrMapping/>
  </p:clrMapOvr>
</p:sld>
</file>

<file path=ppt/theme/theme1.xml><?xml version="1.0" encoding="utf-8"?>
<a:theme xmlns:a="http://schemas.openxmlformats.org/drawingml/2006/main" name="气流">
  <a:themeElements>
    <a:clrScheme name="气流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气流">
      <a:majorFont>
        <a:latin typeface="Trebuchet MS"/>
        <a:ea typeface=""/>
        <a:cs typeface=""/>
        <a:font script="Jpan" typeface="ＭＳ ゴシック"/>
        <a:font script="Hang" typeface="HY그래픽B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ゴシック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气流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气流.thmx</Template>
  <TotalTime>4390</TotalTime>
  <Words>3875</Words>
  <Application>Microsoft Office PowerPoint</Application>
  <PresentationFormat>全屏显示(4:3)</PresentationFormat>
  <Paragraphs>415</Paragraphs>
  <Slides>33</Slides>
  <Notes>15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5" baseType="lpstr">
      <vt:lpstr>SimHei</vt:lpstr>
      <vt:lpstr>SimHei</vt:lpstr>
      <vt:lpstr>KaiTi</vt:lpstr>
      <vt:lpstr>楷体_GB2312</vt:lpstr>
      <vt:lpstr>宋体</vt:lpstr>
      <vt:lpstr>Arial</vt:lpstr>
      <vt:lpstr>Georgia</vt:lpstr>
      <vt:lpstr>Times New Roman</vt:lpstr>
      <vt:lpstr>Trebuchet MS</vt:lpstr>
      <vt:lpstr>Wingdings</vt:lpstr>
      <vt:lpstr>气流</vt:lpstr>
      <vt:lpstr>公式</vt:lpstr>
      <vt:lpstr>§4.2  树(Trees) </vt:lpstr>
      <vt:lpstr>§4.2.1  树及其等价命题 </vt:lpstr>
      <vt:lpstr>PowerPoint 演示文稿</vt:lpstr>
      <vt:lpstr>引理4.2.1 </vt:lpstr>
      <vt:lpstr>定理4.2.1 </vt:lpstr>
      <vt:lpstr>证明：</vt:lpstr>
      <vt:lpstr>证明：</vt:lpstr>
      <vt:lpstr>证明：</vt:lpstr>
      <vt:lpstr>证明：</vt:lpstr>
      <vt:lpstr>证明：</vt:lpstr>
      <vt:lpstr>证明：</vt:lpstr>
      <vt:lpstr>证明：</vt:lpstr>
      <vt:lpstr>PowerPoint 演示文稿</vt:lpstr>
      <vt:lpstr>§4.2.2 最优树 Kruskal算法</vt:lpstr>
      <vt:lpstr>§4.2.2 最优树 Kruskal算法</vt:lpstr>
      <vt:lpstr>Kruskal算法</vt:lpstr>
      <vt:lpstr>例：</vt:lpstr>
      <vt:lpstr>定理4.2.2</vt:lpstr>
      <vt:lpstr>PowerPoint 演示文稿</vt:lpstr>
      <vt:lpstr>定理4.2.2</vt:lpstr>
      <vt:lpstr>PowerPoint 演示文稿</vt:lpstr>
      <vt:lpstr>定理4.2.2</vt:lpstr>
      <vt:lpstr>定理4.2.2</vt:lpstr>
      <vt:lpstr>PowerPoint 演示文稿</vt:lpstr>
      <vt:lpstr>PowerPoint 演示文稿</vt:lpstr>
      <vt:lpstr>PowerPoint 演示文稿</vt:lpstr>
      <vt:lpstr>思考题</vt:lpstr>
      <vt:lpstr>§4.2.3  求最优树的其它算法 </vt:lpstr>
      <vt:lpstr>Prim算法 </vt:lpstr>
      <vt:lpstr>Sollin算法</vt:lpstr>
      <vt:lpstr>破圈法</vt:lpstr>
      <vt:lpstr>例“破圈法”求其最优树的过程</vt:lpstr>
      <vt:lpstr>PowerPoint 演示文稿</vt:lpstr>
    </vt:vector>
  </TitlesOfParts>
  <Company>jlu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第四章   图与网络 </dc:title>
  <dc:creator>sunjigui</dc:creator>
  <cp:lastModifiedBy>chuanbo Gao</cp:lastModifiedBy>
  <cp:revision>286</cp:revision>
  <cp:lastPrinted>1601-01-01T00:00:00Z</cp:lastPrinted>
  <dcterms:created xsi:type="dcterms:W3CDTF">2002-08-29T00:33:30Z</dcterms:created>
  <dcterms:modified xsi:type="dcterms:W3CDTF">2026-06-01T02:38:38Z</dcterms:modified>
</cp:coreProperties>
</file>