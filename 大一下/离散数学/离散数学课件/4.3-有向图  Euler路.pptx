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50"/>
  </p:notesMasterIdLst>
  <p:sldIdLst>
    <p:sldId id="259" r:id="rId2"/>
    <p:sldId id="258" r:id="rId3"/>
    <p:sldId id="260" r:id="rId4"/>
    <p:sldId id="261" r:id="rId5"/>
    <p:sldId id="262" r:id="rId6"/>
    <p:sldId id="298" r:id="rId7"/>
    <p:sldId id="299" r:id="rId8"/>
    <p:sldId id="300" r:id="rId9"/>
    <p:sldId id="301" r:id="rId10"/>
    <p:sldId id="302" r:id="rId11"/>
    <p:sldId id="338" r:id="rId12"/>
    <p:sldId id="303" r:id="rId13"/>
    <p:sldId id="304" r:id="rId14"/>
    <p:sldId id="317" r:id="rId15"/>
    <p:sldId id="305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06" r:id="rId24"/>
    <p:sldId id="330" r:id="rId25"/>
    <p:sldId id="265" r:id="rId26"/>
    <p:sldId id="337" r:id="rId27"/>
    <p:sldId id="272" r:id="rId28"/>
    <p:sldId id="307" r:id="rId29"/>
    <p:sldId id="308" r:id="rId30"/>
    <p:sldId id="309" r:id="rId31"/>
    <p:sldId id="310" r:id="rId32"/>
    <p:sldId id="311" r:id="rId33"/>
    <p:sldId id="313" r:id="rId34"/>
    <p:sldId id="314" r:id="rId35"/>
    <p:sldId id="326" r:id="rId36"/>
    <p:sldId id="279" r:id="rId37"/>
    <p:sldId id="327" r:id="rId38"/>
    <p:sldId id="328" r:id="rId39"/>
    <p:sldId id="329" r:id="rId40"/>
    <p:sldId id="339" r:id="rId41"/>
    <p:sldId id="331" r:id="rId42"/>
    <p:sldId id="315" r:id="rId43"/>
    <p:sldId id="332" r:id="rId44"/>
    <p:sldId id="333" r:id="rId45"/>
    <p:sldId id="280" r:id="rId46"/>
    <p:sldId id="334" r:id="rId47"/>
    <p:sldId id="335" r:id="rId48"/>
    <p:sldId id="336" r:id="rId4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9"/>
    <p:restoredTop sz="85377"/>
  </p:normalViewPr>
  <p:slideViewPr>
    <p:cSldViewPr>
      <p:cViewPr varScale="1">
        <p:scale>
          <a:sx n="94" d="100"/>
          <a:sy n="94" d="100"/>
        </p:scale>
        <p:origin x="1540" y="68"/>
      </p:cViewPr>
      <p:guideLst>
        <p:guide orient="horz" pos="2160"/>
        <p:guide pos="24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8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0.xml"/><Relationship Id="rId2" Type="http://schemas.openxmlformats.org/officeDocument/2006/relationships/slide" Target="slides/slide29.xml"/><Relationship Id="rId1" Type="http://schemas.openxmlformats.org/officeDocument/2006/relationships/slide" Target="slides/slide28.xml"/><Relationship Id="rId5" Type="http://schemas.openxmlformats.org/officeDocument/2006/relationships/slide" Target="slides/slide32.xml"/><Relationship Id="rId4" Type="http://schemas.openxmlformats.org/officeDocument/2006/relationships/slide" Target="slides/slide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93115D2-953D-8649-8278-397F89A0CC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2479898-A12A-8E4A-A308-C4FE27B5A8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7D23072B-CC61-A745-B978-43B10E621AD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ABFEB57E-95BD-1443-9DD7-109D239B636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0B2733DC-6AA0-0B4C-86D0-D0B5F3C883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C87B7A37-B62A-2941-AA4F-D9D7CB5AC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C2048ADD-1453-DB4C-8DCD-FED0078BDB1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5EE59281-C191-D741-99C0-CD33816931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5D5EA1-6157-F342-8363-C78AD4A29C88}" type="slidenum">
              <a:rPr lang="zh-CN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7C24A390-2AF0-7244-9068-76A2130ABA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B741C11-AFF0-BF4E-8235-A7961158C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45E0059-5716-204B-8C18-4F2EDC17C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9AC77A9-1089-DB49-A7E6-CA5BFF5EA804}" type="slidenum">
              <a:rPr lang="zh-CN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85CE802-544C-4341-A051-AA2C58F02A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6E95EC4-4723-C640-BC5B-D09AEF9A39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FB782E42-4059-BF4B-8A11-FFC74F6A4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F4EDFC2-EC94-A948-9ECD-0DEF79CAD7E5}" type="slidenum">
              <a:rPr lang="zh-CN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7642A31E-7BEB-6043-855A-0CB4194158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6F080474-27E1-A345-83D1-D21414630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简单有向路即中间没有经过重复的点。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4636CB4F-C9E6-984E-8D8D-FF3F5CB66E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F828F91-FFF9-CF48-96DC-0A0F788B0E50}" type="slidenum">
              <a:rPr lang="zh-CN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DF9E109F-970C-4446-91C0-90A9F485C1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2FC303CA-3417-8042-8B8E-AD9997772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dirty="0">
              <a:latin typeface="Times New Roman" charset="0"/>
              <a:ea typeface="宋体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B7AC3879-A1E9-9743-B956-8FF5A51536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BEBA69C-22D2-C44A-A9E0-F2BCB8CBC24F}" type="slidenum">
              <a:rPr lang="zh-CN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4917E959-3C15-1547-9366-10FAEC512B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DF3F5FBA-E104-2846-9C1E-72071024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有向图有根则</a:t>
            </a: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en-US" altLang="zh-CN" baseline="-30000"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连通：</a:t>
            </a:r>
            <a:r>
              <a:rPr lang="zh-CN" altLang="en-US">
                <a:latin typeface="Arial" panose="020B0604020202020204" pitchFamily="34" charset="0"/>
              </a:rPr>
              <a:t>有向图有根，即存在所有其他点到这个根的有向路，则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en-US" altLang="zh-CN" baseline="-30000"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必连通；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上面的图是说明：</a:t>
            </a:r>
            <a:r>
              <a:rPr lang="zh-CN" altLang="en-US">
                <a:latin typeface="Times New Roman" panose="02020603050405020304" pitchFamily="18" charset="0"/>
              </a:rPr>
              <a:t>若</a:t>
            </a: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en-US" altLang="zh-CN" baseline="-30000"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连通，则</a:t>
            </a:r>
            <a:r>
              <a:rPr lang="en-US" altLang="zh-CN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不一定有根；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148DD9DA-4DD0-2345-8D3B-FACA8A880A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000E4F-7D1A-354A-8FF9-68F8696D2105}" type="slidenum">
              <a:rPr lang="zh-CN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D2F23E3-C7F6-564F-9DAE-2D5C56F6E7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88540E6-BD49-CA41-94A3-A3BC34041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>
              <a:ea typeface="宋体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不讲证明过程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8ADD-1453-DB4C-8DCD-FED0078BDB12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896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6179A786-C6E5-0644-8375-041DB5482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3B817A-1099-C742-A135-0625FA0F6EA2}" type="slidenum">
              <a:rPr lang="zh-CN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A841B1CA-2404-1048-A26E-2E4BE8F589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F7B2CB34-3A55-1148-AE83-B5DFE6E29C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宋体" charset="0"/>
              <a:ea typeface="宋体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6460E838-8A1C-284A-941B-4A132E3466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4FA1C5-4495-AD4D-970C-47CAE4CDFB34}" type="slidenum">
              <a:rPr lang="zh-CN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D070C523-ADDC-664B-8A9C-A484FD8F87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297E79D-35EF-8949-AD6D-76568F035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latin typeface="宋体" charset="0"/>
                <a:ea typeface="宋体" charset="0"/>
              </a:rPr>
              <a:t>注意：</a:t>
            </a:r>
            <a:r>
              <a:rPr lang="en-US" altLang="zh-CN">
                <a:latin typeface="Times New Roman" charset="0"/>
                <a:ea typeface="宋体" charset="0"/>
              </a:rPr>
              <a:t>Euler</a:t>
            </a:r>
            <a:r>
              <a:rPr lang="zh-CN" altLang="en-US">
                <a:latin typeface="宋体" charset="0"/>
                <a:ea typeface="宋体" charset="0"/>
              </a:rPr>
              <a:t>路未必是有向回路，因为它未必是简单的。例如该图中的有向图</a:t>
            </a:r>
            <a:r>
              <a:rPr lang="en-US" altLang="zh-CN">
                <a:latin typeface="Times New Roman" charset="0"/>
                <a:ea typeface="宋体" charset="0"/>
              </a:rPr>
              <a:t>G</a:t>
            </a:r>
            <a:r>
              <a:rPr lang="en-US" altLang="zh-CN">
                <a:latin typeface="宋体" charset="0"/>
                <a:ea typeface="宋体" charset="0"/>
              </a:rPr>
              <a:t>，</a:t>
            </a:r>
            <a:r>
              <a:rPr lang="zh-CN" altLang="en-US">
                <a:latin typeface="宋体" charset="0"/>
                <a:ea typeface="宋体" charset="0"/>
              </a:rPr>
              <a:t>其中（</a:t>
            </a:r>
            <a:r>
              <a:rPr lang="en-US" altLang="zh-CN">
                <a:latin typeface="Times New Roman" charset="0"/>
                <a:ea typeface="宋体" charset="0"/>
              </a:rPr>
              <a:t>e</a:t>
            </a:r>
            <a:r>
              <a:rPr lang="en-US" altLang="zh-CN" baseline="-30000">
                <a:latin typeface="Times New Roman" charset="0"/>
                <a:ea typeface="宋体" charset="0"/>
              </a:rPr>
              <a:t>1</a:t>
            </a:r>
            <a:r>
              <a:rPr lang="en-US" altLang="zh-CN">
                <a:latin typeface="Times New Roman" charset="0"/>
                <a:ea typeface="宋体" charset="0"/>
              </a:rPr>
              <a:t>, e</a:t>
            </a:r>
            <a:r>
              <a:rPr lang="en-US" altLang="zh-CN" baseline="-30000">
                <a:latin typeface="Times New Roman" charset="0"/>
                <a:ea typeface="宋体" charset="0"/>
              </a:rPr>
              <a:t>2</a:t>
            </a:r>
            <a:r>
              <a:rPr lang="en-US" altLang="zh-CN">
                <a:latin typeface="Times New Roman" charset="0"/>
                <a:ea typeface="宋体" charset="0"/>
              </a:rPr>
              <a:t>, e</a:t>
            </a:r>
            <a:r>
              <a:rPr lang="en-US" altLang="zh-CN" baseline="-30000">
                <a:latin typeface="Times New Roman" charset="0"/>
                <a:ea typeface="宋体" charset="0"/>
              </a:rPr>
              <a:t>3</a:t>
            </a:r>
            <a:r>
              <a:rPr lang="en-US" altLang="zh-CN">
                <a:latin typeface="Times New Roman" charset="0"/>
                <a:ea typeface="宋体" charset="0"/>
              </a:rPr>
              <a:t> , e</a:t>
            </a:r>
            <a:r>
              <a:rPr lang="en-US" altLang="zh-CN" baseline="-30000">
                <a:latin typeface="Times New Roman" charset="0"/>
                <a:ea typeface="宋体" charset="0"/>
              </a:rPr>
              <a:t>4</a:t>
            </a:r>
            <a:r>
              <a:rPr lang="en-US" altLang="zh-CN">
                <a:latin typeface="宋体" charset="0"/>
                <a:ea typeface="宋体" charset="0"/>
              </a:rPr>
              <a:t>）</a:t>
            </a:r>
            <a:r>
              <a:rPr lang="zh-CN" altLang="en-US">
                <a:latin typeface="宋体" charset="0"/>
                <a:ea typeface="宋体" charset="0"/>
              </a:rPr>
              <a:t>是</a:t>
            </a:r>
            <a:r>
              <a:rPr lang="en-US" altLang="zh-CN">
                <a:latin typeface="Times New Roman" charset="0"/>
                <a:ea typeface="宋体" charset="0"/>
              </a:rPr>
              <a:t>Euler</a:t>
            </a:r>
            <a:r>
              <a:rPr lang="zh-CN" altLang="en-US">
                <a:latin typeface="宋体" charset="0"/>
                <a:ea typeface="宋体" charset="0"/>
              </a:rPr>
              <a:t>路，但不是</a:t>
            </a:r>
            <a:r>
              <a:rPr lang="en-US" altLang="zh-CN">
                <a:latin typeface="Times New Roman" charset="0"/>
                <a:ea typeface="宋体" charset="0"/>
              </a:rPr>
              <a:t>A=fin(e</a:t>
            </a:r>
            <a:r>
              <a:rPr lang="en-US" altLang="zh-CN" baseline="-30000">
                <a:latin typeface="Times New Roman" charset="0"/>
                <a:ea typeface="宋体" charset="0"/>
              </a:rPr>
              <a:t>4</a:t>
            </a:r>
            <a:r>
              <a:rPr lang="en-US" altLang="zh-CN">
                <a:latin typeface="Times New Roman" charset="0"/>
                <a:ea typeface="宋体" charset="0"/>
              </a:rPr>
              <a:t>)=init(e</a:t>
            </a:r>
            <a:r>
              <a:rPr lang="en-US" altLang="zh-CN" baseline="-30000">
                <a:latin typeface="Times New Roman" charset="0"/>
                <a:ea typeface="宋体" charset="0"/>
              </a:rPr>
              <a:t>1</a:t>
            </a:r>
            <a:r>
              <a:rPr lang="en-US" altLang="zh-CN">
                <a:latin typeface="Times New Roman" charset="0"/>
                <a:ea typeface="宋体" charset="0"/>
              </a:rPr>
              <a:t>)</a:t>
            </a:r>
            <a:r>
              <a:rPr lang="zh-CN" altLang="en-US">
                <a:latin typeface="宋体" charset="0"/>
                <a:ea typeface="宋体" charset="0"/>
              </a:rPr>
              <a:t>的简单有向路。</a:t>
            </a:r>
          </a:p>
          <a:p>
            <a:pPr eaLnBrk="1" hangingPunct="1">
              <a:defRPr/>
            </a:pPr>
            <a:r>
              <a:rPr lang="zh-CN" altLang="en-US">
                <a:latin typeface="宋体" charset="0"/>
                <a:ea typeface="宋体" charset="0"/>
              </a:rPr>
              <a:t>从图中还可以看到，</a:t>
            </a:r>
            <a:r>
              <a:rPr lang="en-US" altLang="zh-CN">
                <a:latin typeface="Times New Roman" charset="0"/>
                <a:ea typeface="宋体" charset="0"/>
              </a:rPr>
              <a:t>G</a:t>
            </a:r>
            <a:r>
              <a:rPr lang="zh-CN" altLang="en-US">
                <a:latin typeface="宋体" charset="0"/>
                <a:ea typeface="宋体" charset="0"/>
              </a:rPr>
              <a:t>中的每个点未必在</a:t>
            </a:r>
            <a:r>
              <a:rPr lang="en-US" altLang="zh-CN">
                <a:latin typeface="Times New Roman" charset="0"/>
                <a:ea typeface="宋体" charset="0"/>
              </a:rPr>
              <a:t>Euler</a:t>
            </a:r>
            <a:r>
              <a:rPr lang="zh-CN" altLang="en-US">
                <a:latin typeface="宋体" charset="0"/>
                <a:ea typeface="宋体" charset="0"/>
              </a:rPr>
              <a:t>路中恰好经过一次；</a:t>
            </a:r>
            <a:r>
              <a:rPr lang="en-US" altLang="zh-CN">
                <a:latin typeface="Times New Roman" charset="0"/>
                <a:ea typeface="宋体" charset="0"/>
              </a:rPr>
              <a:t>G</a:t>
            </a:r>
            <a:r>
              <a:rPr lang="zh-CN" altLang="en-US">
                <a:latin typeface="宋体" charset="0"/>
                <a:ea typeface="宋体" charset="0"/>
              </a:rPr>
              <a:t>中的点可以不在</a:t>
            </a:r>
            <a:r>
              <a:rPr lang="en-US" altLang="zh-CN">
                <a:latin typeface="Times New Roman" charset="0"/>
                <a:ea typeface="宋体" charset="0"/>
              </a:rPr>
              <a:t>Euler</a:t>
            </a:r>
            <a:r>
              <a:rPr lang="zh-CN" altLang="en-US">
                <a:latin typeface="宋体" charset="0"/>
                <a:ea typeface="宋体" charset="0"/>
              </a:rPr>
              <a:t>路中出现（如图中的</a:t>
            </a:r>
            <a:r>
              <a:rPr lang="en-US" altLang="zh-CN">
                <a:latin typeface="Times New Roman" charset="0"/>
                <a:ea typeface="宋体" charset="0"/>
              </a:rPr>
              <a:t>D</a:t>
            </a:r>
            <a:r>
              <a:rPr lang="en-US" altLang="zh-CN">
                <a:latin typeface="宋体" charset="0"/>
                <a:ea typeface="宋体" charset="0"/>
              </a:rPr>
              <a:t>、</a:t>
            </a:r>
            <a:r>
              <a:rPr lang="en-US" altLang="zh-CN">
                <a:latin typeface="Times New Roman" charset="0"/>
                <a:ea typeface="宋体" charset="0"/>
              </a:rPr>
              <a:t>E</a:t>
            </a:r>
            <a:r>
              <a:rPr lang="en-US" altLang="zh-CN">
                <a:latin typeface="宋体" charset="0"/>
                <a:ea typeface="宋体" charset="0"/>
              </a:rPr>
              <a:t>），</a:t>
            </a:r>
            <a:r>
              <a:rPr lang="zh-CN" altLang="en-US">
                <a:latin typeface="宋体" charset="0"/>
                <a:ea typeface="宋体" charset="0"/>
              </a:rPr>
              <a:t>也可以出现多次（如点</a:t>
            </a:r>
            <a:r>
              <a:rPr lang="en-US" altLang="zh-CN">
                <a:latin typeface="Times New Roman" charset="0"/>
                <a:ea typeface="宋体" charset="0"/>
              </a:rPr>
              <a:t>B</a:t>
            </a:r>
            <a:r>
              <a:rPr lang="en-US" altLang="zh-CN">
                <a:latin typeface="宋体" charset="0"/>
                <a:ea typeface="宋体" charset="0"/>
              </a:rPr>
              <a:t>）。</a:t>
            </a:r>
            <a:endParaRPr lang="zh-CN" altLang="en-US">
              <a:latin typeface="宋体" charset="0"/>
              <a:ea typeface="宋体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FB79DBB8-99AC-9949-99FC-B1F11C77F4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78FAB0-C3CC-1D43-9CFB-4670D9AB48AA}" type="slidenum">
              <a:rPr lang="zh-CN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782BFE3-E082-DA40-BB69-28F59F064C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DFD6052F-2E82-FA4B-BAB0-59FA7BC6B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要证</a:t>
            </a:r>
            <a:r>
              <a:rPr lang="en-US" altLang="zh-CN">
                <a:ea typeface="宋体" charset="0"/>
              </a:rPr>
              <a:t>L</a:t>
            </a:r>
            <a:r>
              <a:rPr lang="zh-CN" altLang="en-US">
                <a:ea typeface="宋体" charset="0"/>
              </a:rPr>
              <a:t>是</a:t>
            </a:r>
            <a:r>
              <a:rPr lang="en-US" altLang="zh-CN">
                <a:ea typeface="宋体" charset="0"/>
              </a:rPr>
              <a:t>Euler</a:t>
            </a:r>
            <a:r>
              <a:rPr lang="zh-CN" altLang="en-US">
                <a:ea typeface="宋体" charset="0"/>
              </a:rPr>
              <a:t>路，需要证明</a:t>
            </a:r>
            <a:r>
              <a:rPr lang="en-US" altLang="zh-CN">
                <a:ea typeface="宋体" charset="0"/>
              </a:rPr>
              <a:t>e</a:t>
            </a:r>
            <a:r>
              <a:rPr lang="en-US" altLang="zh-CN" baseline="-25000">
                <a:ea typeface="宋体" charset="0"/>
              </a:rPr>
              <a:t>m</a:t>
            </a:r>
            <a:r>
              <a:rPr lang="zh-CN" altLang="en-US">
                <a:ea typeface="宋体" charset="0"/>
              </a:rPr>
              <a:t>的终点与</a:t>
            </a:r>
            <a:r>
              <a:rPr lang="en-US" altLang="zh-CN">
                <a:ea typeface="宋体" charset="0"/>
              </a:rPr>
              <a:t>e</a:t>
            </a:r>
            <a:r>
              <a:rPr lang="en-US" altLang="zh-CN" baseline="-25000">
                <a:ea typeface="宋体" charset="0"/>
              </a:rPr>
              <a:t>1</a:t>
            </a:r>
            <a:r>
              <a:rPr lang="zh-CN" altLang="en-US">
                <a:ea typeface="宋体" charset="0"/>
              </a:rPr>
              <a:t>的起点是同一个点。</a:t>
            </a:r>
          </a:p>
          <a:p>
            <a:pPr eaLnBrk="1" hangingPunct="1">
              <a:defRPr/>
            </a:pPr>
            <a:r>
              <a:rPr lang="zh-CN" altLang="en-US">
                <a:ea typeface="宋体" charset="0"/>
              </a:rPr>
              <a:t>同时，因为</a:t>
            </a:r>
            <a:r>
              <a:rPr lang="en-US" altLang="zh-CN">
                <a:ea typeface="宋体" charset="0"/>
              </a:rPr>
              <a:t>L</a:t>
            </a:r>
            <a:r>
              <a:rPr lang="zh-CN" altLang="en-US">
                <a:ea typeface="宋体" charset="0"/>
              </a:rPr>
              <a:t>是</a:t>
            </a:r>
            <a:r>
              <a:rPr lang="en-US" altLang="zh-CN">
                <a:ea typeface="宋体" charset="0"/>
              </a:rPr>
              <a:t>Euler</a:t>
            </a:r>
            <a:r>
              <a:rPr lang="zh-CN" altLang="en-US">
                <a:ea typeface="宋体" charset="0"/>
              </a:rPr>
              <a:t>路，所以</a:t>
            </a:r>
            <a:r>
              <a:rPr lang="en-US" altLang="zh-CN">
                <a:ea typeface="宋体" charset="0"/>
              </a:rPr>
              <a:t>L</a:t>
            </a:r>
            <a:r>
              <a:rPr lang="zh-CN" altLang="en-US">
                <a:ea typeface="宋体" charset="0"/>
              </a:rPr>
              <a:t>应该包含</a:t>
            </a:r>
            <a:r>
              <a:rPr lang="en-US" altLang="zh-CN">
                <a:ea typeface="宋体" charset="0"/>
              </a:rPr>
              <a:t>G</a:t>
            </a:r>
            <a:r>
              <a:rPr lang="zh-CN" altLang="en-US">
                <a:ea typeface="宋体" charset="0"/>
              </a:rPr>
              <a:t>中所有的弧。因此</a:t>
            </a:r>
            <a:r>
              <a:rPr lang="en-US" altLang="zh-CN">
                <a:ea typeface="宋体" charset="0"/>
              </a:rPr>
              <a:t>v</a:t>
            </a:r>
            <a:r>
              <a:rPr lang="zh-CN" altLang="en-US">
                <a:ea typeface="宋体" charset="0"/>
              </a:rPr>
              <a:t>发出的</a:t>
            </a:r>
            <a:r>
              <a:rPr lang="en-US" altLang="zh-CN">
                <a:ea typeface="宋体" charset="0"/>
              </a:rPr>
              <a:t>k</a:t>
            </a:r>
            <a:r>
              <a:rPr lang="zh-CN" altLang="en-US">
                <a:ea typeface="宋体" charset="0"/>
              </a:rPr>
              <a:t>条弧应该都在</a:t>
            </a:r>
            <a:r>
              <a:rPr lang="en-US" altLang="zh-CN">
                <a:ea typeface="宋体" charset="0"/>
              </a:rPr>
              <a:t>L</a:t>
            </a:r>
            <a:r>
              <a:rPr lang="zh-CN" altLang="en-US">
                <a:ea typeface="宋体" charset="0"/>
              </a:rPr>
              <a:t>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C237FEA0-3BA4-4D45-AB3A-ABE8E0000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6686F2-2474-8A41-B33A-53E9D47E967F}" type="slidenum">
              <a:rPr lang="zh-CN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73ECED1-CBCC-2248-B8C4-C55ADEFBA1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F80D76C-4350-B740-9246-48FA023D2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  <a:sym typeface="Symbol" pitchFamily="2" charset="2"/>
              </a:rPr>
              <a:t></a:t>
            </a:r>
            <a:r>
              <a:rPr lang="en-US" altLang="zh-CN">
                <a:latin typeface="Arial" panose="020B0604020202020204" pitchFamily="34" charset="0"/>
              </a:rPr>
              <a:t>i</a:t>
            </a:r>
            <a:r>
              <a:rPr lang="en-US" altLang="zh-CN" baseline="-25000">
                <a:latin typeface="Arial" panose="020B0604020202020204" pitchFamily="34" charset="0"/>
              </a:rPr>
              <a:t>j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</a:t>
            </a:r>
            <a:r>
              <a:rPr lang="en-US" altLang="zh-CN">
                <a:latin typeface="Arial" panose="020B0604020202020204" pitchFamily="34" charset="0"/>
              </a:rPr>
              <a:t>m</a:t>
            </a:r>
            <a:r>
              <a:rPr lang="zh-CN" altLang="en-US">
                <a:latin typeface="Arial" panose="020B0604020202020204" pitchFamily="34" charset="0"/>
              </a:rPr>
              <a:t>，即这</a:t>
            </a:r>
            <a:r>
              <a:rPr lang="en-US" altLang="zh-CN">
                <a:latin typeface="Arial" panose="020B0604020202020204" pitchFamily="34" charset="0"/>
              </a:rPr>
              <a:t>k</a:t>
            </a:r>
            <a:r>
              <a:rPr lang="zh-CN" altLang="en-US">
                <a:latin typeface="Arial" panose="020B0604020202020204" pitchFamily="34" charset="0"/>
              </a:rPr>
              <a:t>条弧是</a:t>
            </a:r>
            <a:r>
              <a:rPr lang="en-US" altLang="zh-CN">
                <a:latin typeface="Arial" panose="020B0604020202020204" pitchFamily="34" charset="0"/>
              </a:rPr>
              <a:t>e</a:t>
            </a:r>
            <a:r>
              <a:rPr lang="en-US" altLang="zh-CN" baseline="-25000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e</a:t>
            </a:r>
            <a:r>
              <a:rPr lang="en-US" altLang="zh-CN" baseline="-25000">
                <a:latin typeface="Arial" panose="020B0604020202020204" pitchFamily="34" charset="0"/>
              </a:rPr>
              <a:t>3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……e</a:t>
            </a:r>
            <a:r>
              <a:rPr lang="en-US" altLang="zh-CN" baseline="-25000">
                <a:latin typeface="Arial" panose="020B0604020202020204" pitchFamily="34" charset="0"/>
              </a:rPr>
              <a:t>m</a:t>
            </a:r>
            <a:r>
              <a:rPr lang="zh-CN" altLang="en-US">
                <a:latin typeface="Arial" panose="020B0604020202020204" pitchFamily="34" charset="0"/>
              </a:rPr>
              <a:t>中的</a:t>
            </a:r>
            <a:r>
              <a:rPr lang="en-US" altLang="zh-CN">
                <a:latin typeface="Arial" panose="020B0604020202020204" pitchFamily="34" charset="0"/>
              </a:rPr>
              <a:t>k</a:t>
            </a:r>
            <a:r>
              <a:rPr lang="zh-CN" altLang="en-US">
                <a:latin typeface="Arial" panose="020B0604020202020204" pitchFamily="34" charset="0"/>
              </a:rPr>
              <a:t>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8ADD-1453-DB4C-8DCD-FED0078BDB12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7275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只有步骤</a:t>
            </a:r>
            <a:r>
              <a:rPr kumimoji="1" lang="en-US" altLang="zh-CN" dirty="0"/>
              <a:t>2)</a:t>
            </a:r>
            <a:r>
              <a:rPr kumimoji="1" lang="zh-CN" altLang="en-US" dirty="0"/>
              <a:t>有区别：证明所有弧都在</a:t>
            </a:r>
            <a:r>
              <a:rPr kumimoji="1" lang="en-US" altLang="zh-CN" dirty="0"/>
              <a:t>L</a:t>
            </a:r>
            <a:r>
              <a:rPr kumimoji="1" lang="zh-CN" altLang="en-US" dirty="0"/>
              <a:t>中。假设任意一条弧</a:t>
            </a:r>
            <a:r>
              <a:rPr kumimoji="1" lang="en-US" altLang="zh-CN" dirty="0"/>
              <a:t>e</a:t>
            </a:r>
            <a:r>
              <a:rPr kumimoji="1" lang="zh-CN" altLang="en-US" dirty="0"/>
              <a:t>，漠视图连通，则从</a:t>
            </a:r>
            <a:r>
              <a:rPr kumimoji="1" lang="en-US" altLang="zh-CN" dirty="0"/>
              <a:t>L</a:t>
            </a:r>
            <a:r>
              <a:rPr kumimoji="1" lang="zh-CN" altLang="en-US" dirty="0"/>
              <a:t>中点</a:t>
            </a:r>
            <a:r>
              <a:rPr kumimoji="1" lang="en-US" altLang="zh-CN" dirty="0"/>
              <a:t>v</a:t>
            </a:r>
            <a:r>
              <a:rPr kumimoji="1" lang="zh-CN" altLang="en-US" dirty="0"/>
              <a:t>到</a:t>
            </a:r>
            <a:r>
              <a:rPr kumimoji="1" lang="en-US" altLang="zh-CN" dirty="0"/>
              <a:t>e</a:t>
            </a:r>
            <a:r>
              <a:rPr kumimoji="1" lang="zh-CN" altLang="en-US" dirty="0"/>
              <a:t>的起点</a:t>
            </a:r>
            <a:r>
              <a:rPr kumimoji="1" lang="en-US" altLang="zh-CN" dirty="0"/>
              <a:t>u</a:t>
            </a:r>
            <a:r>
              <a:rPr kumimoji="1" lang="zh-CN" altLang="en-US" dirty="0"/>
              <a:t>必存在一条路。不管</a:t>
            </a:r>
            <a:r>
              <a:rPr kumimoji="1" lang="en-US" altLang="zh-CN" dirty="0"/>
              <a:t>e2’</a:t>
            </a:r>
            <a:r>
              <a:rPr kumimoji="1" lang="zh-CN" altLang="en-US" dirty="0"/>
              <a:t>是发向</a:t>
            </a:r>
            <a:r>
              <a:rPr kumimoji="1" lang="en-US" altLang="zh-CN" dirty="0"/>
              <a:t>u</a:t>
            </a:r>
            <a:r>
              <a:rPr kumimoji="1" lang="zh-CN" altLang="en-US" dirty="0"/>
              <a:t>的还是</a:t>
            </a:r>
            <a:r>
              <a:rPr kumimoji="1" lang="en-US" altLang="zh-CN" dirty="0"/>
              <a:t>u</a:t>
            </a:r>
            <a:r>
              <a:rPr kumimoji="1" lang="zh-CN" altLang="en-US" dirty="0"/>
              <a:t>发出的，按照前面的证明方法都能证明这条弧</a:t>
            </a:r>
            <a:r>
              <a:rPr kumimoji="1" lang="en-US" altLang="zh-CN" dirty="0"/>
              <a:t>e2’</a:t>
            </a:r>
            <a:r>
              <a:rPr kumimoji="1" lang="zh-CN" altLang="en-US" dirty="0"/>
              <a:t>在</a:t>
            </a:r>
            <a:r>
              <a:rPr kumimoji="1" lang="en-US" altLang="zh-CN" dirty="0"/>
              <a:t>L</a:t>
            </a:r>
            <a:r>
              <a:rPr kumimoji="1" lang="zh-CN" altLang="en-US" dirty="0"/>
              <a:t>中，就证出来了，不用管这条弧的方向。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8ADD-1453-DB4C-8DCD-FED0078BDB12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868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FDD1B8C7-2D77-0C4D-952F-5E73DF149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DE1834-E81E-E641-8630-B2F45F97CE77}" type="slidenum">
              <a:rPr lang="zh-CN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91E79B35-3A74-7040-99DF-F34CB1E360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B3B62DF-7868-E643-A936-42D901FF4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该定理给出了由</a:t>
            </a:r>
            <a:r>
              <a:rPr lang="en-US" altLang="zh-CN">
                <a:ea typeface="宋体" charset="0"/>
              </a:rPr>
              <a:t>Euler</a:t>
            </a:r>
            <a:r>
              <a:rPr lang="zh-CN" altLang="en-US">
                <a:ea typeface="宋体" charset="0"/>
              </a:rPr>
              <a:t>路得出有向树的方法。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16EAD88E-6D18-E244-8F6D-8D208BD96E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28EFF0-FD24-E647-AA9E-64F0C5A6CB85}" type="slidenum">
              <a:rPr lang="zh-CN" altLang="en-US" sz="1200">
                <a:latin typeface="Times New Roman" panose="02020603050405020304" pitchFamily="18" charset="0"/>
              </a:rPr>
              <a:pPr/>
              <a:t>36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D6D7903-C79E-374B-9D2D-80A78172B3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A1F607A-D3D7-DD40-9D75-AD9B238F0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该定理给出由有向树得到</a:t>
            </a:r>
            <a:r>
              <a:rPr lang="en-US" altLang="zh-CN">
                <a:ea typeface="宋体" charset="0"/>
              </a:rPr>
              <a:t>Euler</a:t>
            </a:r>
            <a:r>
              <a:rPr lang="zh-CN" altLang="en-US">
                <a:ea typeface="宋体" charset="0"/>
              </a:rPr>
              <a:t>路的方法。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C8E910E7-D182-4A43-B3D0-E3D2844506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7FA41E-F2B8-9B43-AD0E-9F8C69B44527}" type="slidenum">
              <a:rPr lang="zh-CN" altLang="en-US" sz="1200">
                <a:latin typeface="Times New Roman" panose="02020603050405020304" pitchFamily="18" charset="0"/>
              </a:rPr>
              <a:pPr/>
              <a:t>39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6A97C0F5-C92B-C342-8604-CBCB8DEE62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AA855537-B0B6-3841-B153-8D1D386C4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宋体" charset="0"/>
              <a:ea typeface="宋体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97705208-70A1-5942-9AA6-78543EB23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0F29FB3-18A9-0245-A429-1929531F7497}" type="slidenum">
              <a:rPr lang="zh-CN" altLang="en-US" sz="1200">
                <a:latin typeface="Times New Roman" panose="02020603050405020304" pitchFamily="18" charset="0"/>
              </a:rPr>
              <a:pPr/>
              <a:t>41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8A850C02-6582-4642-B8D2-8C4072B33B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D576080-E441-B742-A721-76996B6BE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latin typeface="宋体" charset="0"/>
                <a:ea typeface="宋体" charset="0"/>
              </a:rPr>
              <a:t>本章前述的许多概念和结论可以推广到这种无向图，如无向图回路的定义中应去掉长度</a:t>
            </a:r>
            <a:r>
              <a:rPr lang="zh-CN" altLang="en-US">
                <a:latin typeface="Times New Roman" charset="0"/>
                <a:ea typeface="宋体" charset="0"/>
                <a:sym typeface="Symbol" charset="0"/>
              </a:rPr>
              <a:t></a:t>
            </a:r>
            <a:r>
              <a:rPr lang="zh-CN" altLang="en-US">
                <a:latin typeface="Times New Roman" charset="0"/>
                <a:ea typeface="宋体" charset="0"/>
              </a:rPr>
              <a:t>3</a:t>
            </a:r>
            <a:r>
              <a:rPr lang="zh-CN" altLang="en-US">
                <a:latin typeface="宋体" charset="0"/>
                <a:ea typeface="宋体" charset="0"/>
              </a:rPr>
              <a:t>的限制。这里不再做详细的讨论。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F9AE6D8-7BAE-7945-BD6E-533E549A42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8CD249-DB84-CE4A-9388-4AF01A9BC2DF}" type="slidenum">
              <a:rPr lang="zh-CN" altLang="en-US" sz="1200">
                <a:latin typeface="Times New Roman" panose="02020603050405020304" pitchFamily="18" charset="0"/>
              </a:rPr>
              <a:pPr/>
              <a:t>45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0D44B5F8-53F8-AB45-BF56-8CAD475786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4FF05AC6-AF9C-4849-880D-CA33ADB6C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我们现在回到</a:t>
            </a:r>
            <a:r>
              <a:rPr lang="en-US" altLang="zh-CN">
                <a:latin typeface="Arial" panose="020B0604020202020204" pitchFamily="34" charset="0"/>
              </a:rPr>
              <a:t>Konigsberg</a:t>
            </a:r>
            <a:r>
              <a:rPr lang="zh-CN" altLang="en-US">
                <a:latin typeface="宋体" panose="02010600030101010101" pitchFamily="2" charset="-122"/>
              </a:rPr>
              <a:t>城七桥问题。</a:t>
            </a:r>
            <a:r>
              <a:rPr lang="en-US" altLang="zh-CN">
                <a:latin typeface="Arial" panose="020B0604020202020204" pitchFamily="34" charset="0"/>
              </a:rPr>
              <a:t>Konigsberg</a:t>
            </a:r>
            <a:r>
              <a:rPr lang="zh-CN" altLang="en-US">
                <a:latin typeface="宋体" panose="02010600030101010101" pitchFamily="2" charset="-122"/>
              </a:rPr>
              <a:t>城七桥问题简化、抽象为图</a:t>
            </a:r>
            <a:r>
              <a:rPr lang="zh-CN" altLang="en-US">
                <a:latin typeface="Arial" panose="020B0604020202020204" pitchFamily="34" charset="0"/>
              </a:rPr>
              <a:t>4.0.1(</a:t>
            </a:r>
            <a:r>
              <a:rPr lang="en-US" altLang="zh-CN">
                <a:latin typeface="Arial" panose="020B0604020202020204" pitchFamily="34" charset="0"/>
              </a:rPr>
              <a:t>b)</a:t>
            </a:r>
            <a:r>
              <a:rPr lang="en-US" altLang="zh-CN">
                <a:latin typeface="宋体" panose="02010600030101010101" pitchFamily="2" charset="-122"/>
              </a:rPr>
              <a:t>，</a:t>
            </a:r>
            <a:r>
              <a:rPr lang="zh-CN" altLang="en-US">
                <a:latin typeface="宋体" panose="02010600030101010101" pitchFamily="2" charset="-122"/>
              </a:rPr>
              <a:t>这个图形不是我们定义的图和有向图。当然可以对其点间连线加上方向使其成为有向图，但图</a:t>
            </a:r>
            <a:r>
              <a:rPr lang="zh-CN" altLang="en-US">
                <a:latin typeface="Arial" panose="020B0604020202020204" pitchFamily="34" charset="0"/>
              </a:rPr>
              <a:t>4.0.1(</a:t>
            </a:r>
            <a:r>
              <a:rPr lang="en-US" altLang="zh-CN">
                <a:latin typeface="Arial" panose="020B0604020202020204" pitchFamily="34" charset="0"/>
              </a:rPr>
              <a:t>b)</a:t>
            </a:r>
            <a:r>
              <a:rPr lang="zh-CN" altLang="en-US">
                <a:latin typeface="宋体" panose="02010600030101010101" pitchFamily="2" charset="-122"/>
              </a:rPr>
              <a:t>是不可能赋于诸线以方向使成为</a:t>
            </a:r>
            <a:r>
              <a:rPr lang="en-US" altLang="zh-CN">
                <a:latin typeface="Arial" panose="020B0604020202020204" pitchFamily="34" charset="0"/>
              </a:rPr>
              <a:t>Euler</a:t>
            </a:r>
            <a:r>
              <a:rPr lang="zh-CN" altLang="en-US">
                <a:latin typeface="宋体" panose="02010600030101010101" pitchFamily="2" charset="-122"/>
              </a:rPr>
              <a:t>图的，因为其中有些点所触及的线是奇数条（图中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en-US" altLang="zh-CN">
                <a:latin typeface="宋体" panose="02010600030101010101" pitchFamily="2" charset="-122"/>
              </a:rPr>
              <a:t>、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en-US" altLang="zh-CN">
                <a:latin typeface="宋体" panose="02010600030101010101" pitchFamily="2" charset="-122"/>
              </a:rPr>
              <a:t>、</a:t>
            </a:r>
            <a:r>
              <a:rPr lang="en-US" altLang="zh-CN">
                <a:latin typeface="Arial" panose="020B0604020202020204" pitchFamily="34" charset="0"/>
              </a:rPr>
              <a:t>C</a:t>
            </a:r>
            <a:r>
              <a:rPr lang="en-US" altLang="zh-CN">
                <a:latin typeface="宋体" panose="02010600030101010101" pitchFamily="2" charset="-122"/>
              </a:rPr>
              <a:t>、</a:t>
            </a:r>
            <a:r>
              <a:rPr lang="en-US" altLang="zh-CN">
                <a:latin typeface="Arial" panose="020B0604020202020204" pitchFamily="34" charset="0"/>
              </a:rPr>
              <a:t>D</a:t>
            </a:r>
            <a:r>
              <a:rPr lang="zh-CN" altLang="en-US">
                <a:latin typeface="宋体" panose="02010600030101010101" pitchFamily="2" charset="-122"/>
              </a:rPr>
              <a:t>所触及的线分别是</a:t>
            </a:r>
            <a:r>
              <a:rPr lang="zh-CN" altLang="en-US">
                <a:latin typeface="Arial" panose="020B0604020202020204" pitchFamily="34" charset="0"/>
              </a:rPr>
              <a:t>5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zh-CN" altLang="en-US">
                <a:latin typeface="Arial" panose="020B0604020202020204" pitchFamily="34" charset="0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zh-CN" altLang="en-US">
                <a:latin typeface="Arial" panose="020B0604020202020204" pitchFamily="34" charset="0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zh-CN" altLang="en-US">
                <a:latin typeface="Arial" panose="020B0604020202020204" pitchFamily="34" charset="0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条，竟全是奇数），所以</a:t>
            </a:r>
            <a:r>
              <a:rPr lang="en-US" altLang="zh-CN">
                <a:latin typeface="Arial" panose="020B0604020202020204" pitchFamily="34" charset="0"/>
              </a:rPr>
              <a:t>Konigsberg</a:t>
            </a:r>
            <a:r>
              <a:rPr lang="zh-CN" altLang="en-US">
                <a:latin typeface="宋体" panose="02010600030101010101" pitchFamily="2" charset="-122"/>
              </a:rPr>
              <a:t>城七桥问题无解，</a:t>
            </a:r>
            <a:r>
              <a:rPr lang="en-US" altLang="zh-CN">
                <a:latin typeface="Arial" panose="020B0604020202020204" pitchFamily="34" charset="0"/>
              </a:rPr>
              <a:t>Euler</a:t>
            </a:r>
            <a:r>
              <a:rPr lang="zh-CN" altLang="en-US">
                <a:latin typeface="宋体" panose="02010600030101010101" pitchFamily="2" charset="-122"/>
              </a:rPr>
              <a:t>回答了这个问题，</a:t>
            </a:r>
            <a:r>
              <a:rPr lang="en-US" altLang="zh-CN">
                <a:latin typeface="Arial" panose="020B0604020202020204" pitchFamily="34" charset="0"/>
              </a:rPr>
              <a:t>Euler</a:t>
            </a:r>
            <a:r>
              <a:rPr lang="zh-CN" altLang="en-US">
                <a:latin typeface="宋体" panose="02010600030101010101" pitchFamily="2" charset="-122"/>
              </a:rPr>
              <a:t>路和</a:t>
            </a:r>
            <a:r>
              <a:rPr lang="en-US" altLang="zh-CN">
                <a:latin typeface="Arial" panose="020B0604020202020204" pitchFamily="34" charset="0"/>
              </a:rPr>
              <a:t>Euler</a:t>
            </a:r>
            <a:r>
              <a:rPr lang="zh-CN" altLang="en-US">
                <a:latin typeface="宋体" panose="02010600030101010101" pitchFamily="2" charset="-122"/>
              </a:rPr>
              <a:t>图因此而得名。</a:t>
            </a:r>
            <a:r>
              <a:rPr lang="zh-CN" altLang="en-US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1758FC54-306F-1D45-BB2C-409648D723B6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C856F1A-4A8C-F340-AA00-755643060689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D4FACF8-90D4-8F44-A8D8-23C6C225E666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2F7530EA-354A-3443-B671-9CD9DBBCD259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2A15A1C-326F-484D-A3A8-EE933C87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5523330-3F77-BC45-BE62-CAC1087F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90530B9-D895-C549-975B-04C4FEB9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FEB18-15E6-D948-9AC5-BCECF9311E2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69729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014E4-3AF0-2442-BE61-645C96F962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2919B-FAE7-234A-83F2-E9FD6E9FC3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37F24-2824-2847-A637-262AD98301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7947580-5660-1947-8E91-D0ACB28A085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047929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A20C193B-8BAD-F248-A077-86B34AE2E069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9316FD0-BFC0-2A40-85D8-6AA502F6B7CF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0F9F9F1-1EBC-6A4B-ADA9-1B791FBFF3CA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B711AD78-B9CC-BC41-A619-CA565913F5D8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7FDC85F-2B86-284C-BB46-3E459848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F697333-C68E-AC4A-8BED-5FEE05D9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73207E9-E72B-FA4E-A873-403A8F91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CF26E-E250-FA48-AEB4-E374A61FBC3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36022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F9EB85-53B5-504C-A4F4-85A0E961C3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1684FFD-81E7-5F4A-B84D-C788998223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A166DE-6FC3-9A4C-85DA-5FD1A7A1E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7E8AA903-7872-3847-AAC5-7818FF1AE7B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838932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699C47F-AFB0-364F-8EE0-476FCA9D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701A2AE-16F7-8F47-B614-5A145CF2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CC8EE8B-D5A6-8844-B187-75F3452C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93787-403C-A942-B69E-155CDD72968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518365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4F6A66B-1F80-EA44-B8CB-FBF18C05B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C0E5D2-C6E2-2C40-8A44-83DDC5FE2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0736F3-D652-7348-ACDB-776992BA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3082C-ED07-D14B-BE7D-FD14262A260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12381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F263015-1330-9D47-BE5A-547A1B8F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227E150-55BD-4041-A0C6-C6671454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126F13-F8B5-E940-8D7B-5E4F98ED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00B856-A463-7D40-86D5-D873232E96B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94389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C6BADDF-EBBC-F645-86B0-74796887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E8C9D9-FF73-B343-887D-E85CCC23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E97BA3-0831-0041-9BDC-74042BB4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5AC04-5FE8-354B-8CE9-472BC8F5D05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543313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23828AB-F1AF-C446-8328-FC4E650E24C7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07D2055-F50B-5B4E-B90E-0428A228246A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C442EAB-090C-4942-B280-13CD644514F5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397AC754-AA06-F841-937C-0913B88CDAD9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D9BD68E6-AF01-8749-B224-DC9626B3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B7909C9E-2C79-6346-9D16-770E1632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F842BBC-862F-0F47-9F12-2D8F6C63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5C08A-F04A-3F43-BF32-0B82474E44A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032249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E06ED-488D-F345-802A-FC4C1A744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C1E76-1D68-D945-ADF3-052096BC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4D5B5-51FE-3940-8781-71674186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09A79-A182-0741-BCAF-D42EF2628C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974324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910B2-D84F-E64F-9467-CFBCDC00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A4933-4D20-CB49-BE70-9CBB9AD4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0CE6B-F53F-8B44-ADAA-4EA3B398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6782F-ED65-A546-AAEC-9D1E773BCFA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047154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795AFE-B2C5-9948-9CD3-B18D81C2CF91}"/>
              </a:ext>
            </a:extLst>
          </p:cNvPr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0A382-78F3-D541-B007-157CEAAA6E74}"/>
              </a:ext>
            </a:extLst>
          </p:cNvPr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F80A33-BE9C-EE44-8C2F-83254A6A1EF1}"/>
              </a:ext>
            </a:extLst>
          </p:cNvPr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97AF2C-3CEE-F44C-8E99-2AEDF79AFDF5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F19B3-91B4-7049-B62B-A8B0632E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6573" name="Text Placeholder 2">
            <a:extLst>
              <a:ext uri="{FF2B5EF4-FFF2-40B4-BE49-F238E27FC236}">
                <a16:creationId xmlns:a16="http://schemas.microsoft.com/office/drawing/2014/main" id="{65AE7ECC-AE63-E844-81DE-1A35E99CED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E260E-339F-4A47-826C-167291245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15100-20B2-B847-8D3C-B26D47A14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ED034-A57C-0744-8003-47A7729D7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7F7F7F"/>
                </a:solidFill>
              </a:defRPr>
            </a:lvl1pPr>
          </a:lstStyle>
          <a:p>
            <a:fld id="{1B64518A-D7F7-3144-B35F-C85F983C30A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13" r:id="rId2"/>
    <p:sldLayoutId id="2147483722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23" r:id="rId9"/>
    <p:sldLayoutId id="2147483719" r:id="rId10"/>
    <p:sldLayoutId id="2147483720" r:id="rId11"/>
  </p:sldLayoutIdLst>
  <p:transition>
    <p:blinds dir="vert"/>
  </p:transition>
  <p:hf hdr="0" ftr="0" dt="0"/>
  <p:txStyles>
    <p:titleStyle>
      <a:lvl1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宋体" panose="02010600030101010101" pitchFamily="2" charset="-122"/>
          <a:cs typeface="+mj-cs"/>
        </a:defRPr>
      </a:lvl1pPr>
      <a:lvl2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2pPr>
      <a:lvl3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3pPr>
      <a:lvl4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4pPr>
      <a:lvl5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2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1pPr>
      <a:lvl2pPr marL="547688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0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2pPr>
      <a:lvl3pPr marL="822325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3pPr>
      <a:lvl4pPr marL="10969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6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4pPr>
      <a:lvl5pPr marL="13890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4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46">
            <a:extLst>
              <a:ext uri="{FF2B5EF4-FFF2-40B4-BE49-F238E27FC236}">
                <a16:creationId xmlns:a16="http://schemas.microsoft.com/office/drawing/2014/main" id="{4EEF8D97-29CE-1C45-B857-3426204D67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745D60-7634-C042-96F2-BBC112E98702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A7A4E79-2055-7E49-82B3-C1048B4BAF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362200"/>
            <a:ext cx="8001000" cy="1905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</a:rPr>
              <a:t>§4.3 有向图 </a:t>
            </a:r>
            <a:r>
              <a:rPr lang="en-US" altLang="zh-CN">
                <a:latin typeface="Times New Roman" charset="0"/>
                <a:ea typeface="楷体_GB2312" charset="0"/>
              </a:rPr>
              <a:t>Euler</a:t>
            </a:r>
            <a:r>
              <a:rPr lang="zh-CN" altLang="en-US">
                <a:latin typeface="Times New Roman" charset="0"/>
                <a:ea typeface="楷体_GB2312" charset="0"/>
              </a:rPr>
              <a:t>路 </a:t>
            </a: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Slide Number Placeholder 5">
            <a:extLst>
              <a:ext uri="{FF2B5EF4-FFF2-40B4-BE49-F238E27FC236}">
                <a16:creationId xmlns:a16="http://schemas.microsoft.com/office/drawing/2014/main" id="{DB4C0FC5-969A-8B4E-95A9-AAC2B6B481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F91D23-7DC3-9B4E-946F-EB394144F932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43010" name="Rectangle 1026">
            <a:extLst>
              <a:ext uri="{FF2B5EF4-FFF2-40B4-BE49-F238E27FC236}">
                <a16:creationId xmlns:a16="http://schemas.microsoft.com/office/drawing/2014/main" id="{7FF02DA0-4A09-3847-8CC9-826BF8166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§4.3.1  有向图与有向树 </a:t>
            </a:r>
          </a:p>
        </p:txBody>
      </p:sp>
      <p:sp>
        <p:nvSpPr>
          <p:cNvPr id="43011" name="Rectangle 1027">
            <a:extLst>
              <a:ext uri="{FF2B5EF4-FFF2-40B4-BE49-F238E27FC236}">
                <a16:creationId xmlns:a16="http://schemas.microsoft.com/office/drawing/2014/main" id="{E468D7F0-B07D-B24F-84C7-F3E3EEC3BED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839200" cy="4800600"/>
          </a:xfrm>
        </p:spPr>
        <p:txBody>
          <a:bodyPr/>
          <a:lstStyle/>
          <a:p>
            <a:pPr marL="360363" indent="-360363" algn="just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定义4.3.1 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G=(P, A)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有向图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，如果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是点集合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+mj-ea"/>
                <a:ea typeface="+mj-ea"/>
              </a:rPr>
              <a:t>A</a:t>
            </a:r>
            <a:r>
              <a:rPr kumimoji="0" lang="zh-CN" altLang="en-US" sz="3200" dirty="0">
                <a:latin typeface="+mj-ea"/>
                <a:ea typeface="+mj-ea"/>
              </a:rPr>
              <a:t>是从一点引到一点(不要求一定是另一点)的弧集合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。当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为有限集时，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有限有向图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60363" indent="-360363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是一条从点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到点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的弧，则称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起点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，记为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init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(e)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；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终点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，记为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=fin(e)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60363" indent="-360363">
              <a:lnSpc>
                <a:spcPct val="90000"/>
              </a:lnSpc>
              <a:spcBef>
                <a:spcPct val="0"/>
              </a:spcBef>
            </a:pPr>
            <a:endParaRPr kumimoji="0" lang="en-US" altLang="zh-CN" sz="3200" dirty="0">
              <a:latin typeface="宋体" panose="02010600030101010101" pitchFamily="2" charset="-122"/>
              <a:ea typeface="楷体_GB2312" pitchFamily="49" charset="-122"/>
            </a:endParaRPr>
          </a:p>
          <a:p>
            <a:pPr marL="360363" indent="-360363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把起点和终点都是点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的弧称为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反身弧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，有向图中两点(可以是相同的)间的弧可以有无穷条。显然，有限有向图中的集合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未必是有限集。即：有限有向图中的弧可以有无穷多条。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Slide Number Placeholder 5">
            <a:extLst>
              <a:ext uri="{FF2B5EF4-FFF2-40B4-BE49-F238E27FC236}">
                <a16:creationId xmlns:a16="http://schemas.microsoft.com/office/drawing/2014/main" id="{4199B911-9D2B-744E-9475-8BCECE2626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191CEC-6C90-6047-8E39-7CE23D5FCEEB}" type="slidenum">
              <a:rPr kumimoji="0" lang="zh-CN" altLang="en-US" sz="1200"/>
              <a:pPr/>
              <a:t>3</a:t>
            </a:fld>
            <a:endParaRPr kumimoji="0" lang="en-US" altLang="zh-CN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BFE07E1A-0985-B644-8C03-6EA512F40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例： </a:t>
            </a:r>
          </a:p>
        </p:txBody>
      </p:sp>
      <p:grpSp>
        <p:nvGrpSpPr>
          <p:cNvPr id="5123" name="Group 113">
            <a:extLst>
              <a:ext uri="{FF2B5EF4-FFF2-40B4-BE49-F238E27FC236}">
                <a16:creationId xmlns:a16="http://schemas.microsoft.com/office/drawing/2014/main" id="{D90D616A-4AD1-CE46-910F-C7A3A3CA31B0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57200"/>
            <a:ext cx="2833688" cy="2382838"/>
            <a:chOff x="653" y="1231"/>
            <a:chExt cx="1785" cy="1501"/>
          </a:xfrm>
        </p:grpSpPr>
        <p:sp>
          <p:nvSpPr>
            <p:cNvPr id="5162" name="Freeform 101">
              <a:extLst>
                <a:ext uri="{FF2B5EF4-FFF2-40B4-BE49-F238E27FC236}">
                  <a16:creationId xmlns:a16="http://schemas.microsoft.com/office/drawing/2014/main" id="{78375D36-A43B-3B4C-954F-99C3E2131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2352"/>
              <a:ext cx="1440" cy="169"/>
            </a:xfrm>
            <a:custGeom>
              <a:avLst/>
              <a:gdLst>
                <a:gd name="T0" fmla="*/ 0 w 1360"/>
                <a:gd name="T1" fmla="*/ 0 h 175"/>
                <a:gd name="T2" fmla="*/ 73 w 1360"/>
                <a:gd name="T3" fmla="*/ 41 h 175"/>
                <a:gd name="T4" fmla="*/ 157 w 1360"/>
                <a:gd name="T5" fmla="*/ 73 h 175"/>
                <a:gd name="T6" fmla="*/ 245 w 1360"/>
                <a:gd name="T7" fmla="*/ 101 h 175"/>
                <a:gd name="T8" fmla="*/ 340 w 1360"/>
                <a:gd name="T9" fmla="*/ 124 h 175"/>
                <a:gd name="T10" fmla="*/ 446 w 1360"/>
                <a:gd name="T11" fmla="*/ 140 h 175"/>
                <a:gd name="T12" fmla="*/ 556 w 1360"/>
                <a:gd name="T13" fmla="*/ 150 h 175"/>
                <a:gd name="T14" fmla="*/ 678 w 1360"/>
                <a:gd name="T15" fmla="*/ 152 h 175"/>
                <a:gd name="T16" fmla="*/ 800 w 1360"/>
                <a:gd name="T17" fmla="*/ 150 h 175"/>
                <a:gd name="T18" fmla="*/ 935 w 1360"/>
                <a:gd name="T19" fmla="*/ 140 h 175"/>
                <a:gd name="T20" fmla="*/ 1074 w 1360"/>
                <a:gd name="T21" fmla="*/ 127 h 175"/>
                <a:gd name="T22" fmla="*/ 1220 w 1360"/>
                <a:gd name="T23" fmla="*/ 104 h 175"/>
                <a:gd name="T24" fmla="*/ 1376 w 1360"/>
                <a:gd name="T25" fmla="*/ 79 h 175"/>
                <a:gd name="T26" fmla="*/ 1538 w 1360"/>
                <a:gd name="T27" fmla="*/ 45 h 175"/>
                <a:gd name="T28" fmla="*/ 1710 w 1360"/>
                <a:gd name="T29" fmla="*/ 6 h 1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60" h="175">
                  <a:moveTo>
                    <a:pt x="0" y="0"/>
                  </a:moveTo>
                  <a:lnTo>
                    <a:pt x="58" y="47"/>
                  </a:lnTo>
                  <a:lnTo>
                    <a:pt x="125" y="85"/>
                  </a:lnTo>
                  <a:lnTo>
                    <a:pt x="195" y="117"/>
                  </a:lnTo>
                  <a:lnTo>
                    <a:pt x="270" y="143"/>
                  </a:lnTo>
                  <a:lnTo>
                    <a:pt x="355" y="160"/>
                  </a:lnTo>
                  <a:lnTo>
                    <a:pt x="442" y="172"/>
                  </a:lnTo>
                  <a:lnTo>
                    <a:pt x="538" y="175"/>
                  </a:lnTo>
                  <a:lnTo>
                    <a:pt x="637" y="172"/>
                  </a:lnTo>
                  <a:lnTo>
                    <a:pt x="744" y="160"/>
                  </a:lnTo>
                  <a:lnTo>
                    <a:pt x="855" y="146"/>
                  </a:lnTo>
                  <a:lnTo>
                    <a:pt x="971" y="120"/>
                  </a:lnTo>
                  <a:lnTo>
                    <a:pt x="1096" y="91"/>
                  </a:lnTo>
                  <a:lnTo>
                    <a:pt x="1224" y="53"/>
                  </a:lnTo>
                  <a:lnTo>
                    <a:pt x="1360" y="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3" name="Freeform 91">
              <a:extLst>
                <a:ext uri="{FF2B5EF4-FFF2-40B4-BE49-F238E27FC236}">
                  <a16:creationId xmlns:a16="http://schemas.microsoft.com/office/drawing/2014/main" id="{2D64FC48-67C5-174D-B805-0A1C8503F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2253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4" name="Freeform 92">
              <a:extLst>
                <a:ext uri="{FF2B5EF4-FFF2-40B4-BE49-F238E27FC236}">
                  <a16:creationId xmlns:a16="http://schemas.microsoft.com/office/drawing/2014/main" id="{A92309A1-3D22-6F41-8BD8-831BD7F18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2253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5" name="Freeform 93">
              <a:extLst>
                <a:ext uri="{FF2B5EF4-FFF2-40B4-BE49-F238E27FC236}">
                  <a16:creationId xmlns:a16="http://schemas.microsoft.com/office/drawing/2014/main" id="{EA8B8AFC-6754-BE4B-B49D-76DF145E3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" y="2218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6" name="Freeform 94">
              <a:extLst>
                <a:ext uri="{FF2B5EF4-FFF2-40B4-BE49-F238E27FC236}">
                  <a16:creationId xmlns:a16="http://schemas.microsoft.com/office/drawing/2014/main" id="{C4245E98-EA32-8948-9E98-98A168D08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" y="2218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7" name="Freeform 95">
              <a:extLst>
                <a:ext uri="{FF2B5EF4-FFF2-40B4-BE49-F238E27FC236}">
                  <a16:creationId xmlns:a16="http://schemas.microsoft.com/office/drawing/2014/main" id="{A5F5A9F5-177E-4441-880C-C581FCA4C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1586"/>
              <a:ext cx="709" cy="670"/>
            </a:xfrm>
            <a:custGeom>
              <a:avLst/>
              <a:gdLst>
                <a:gd name="T0" fmla="*/ 746 w 697"/>
                <a:gd name="T1" fmla="*/ 0 h 597"/>
                <a:gd name="T2" fmla="*/ 668 w 697"/>
                <a:gd name="T3" fmla="*/ 0 h 597"/>
                <a:gd name="T4" fmla="*/ 595 w 697"/>
                <a:gd name="T5" fmla="*/ 10 h 597"/>
                <a:gd name="T6" fmla="*/ 526 w 697"/>
                <a:gd name="T7" fmla="*/ 31 h 597"/>
                <a:gd name="T8" fmla="*/ 457 w 697"/>
                <a:gd name="T9" fmla="*/ 70 h 597"/>
                <a:gd name="T10" fmla="*/ 392 w 697"/>
                <a:gd name="T11" fmla="*/ 120 h 597"/>
                <a:gd name="T12" fmla="*/ 333 w 697"/>
                <a:gd name="T13" fmla="*/ 182 h 597"/>
                <a:gd name="T14" fmla="*/ 273 w 697"/>
                <a:gd name="T15" fmla="*/ 249 h 597"/>
                <a:gd name="T16" fmla="*/ 222 w 697"/>
                <a:gd name="T17" fmla="*/ 338 h 597"/>
                <a:gd name="T18" fmla="*/ 169 w 697"/>
                <a:gd name="T19" fmla="*/ 435 h 597"/>
                <a:gd name="T20" fmla="*/ 121 w 697"/>
                <a:gd name="T21" fmla="*/ 542 h 597"/>
                <a:gd name="T22" fmla="*/ 76 w 697"/>
                <a:gd name="T23" fmla="*/ 663 h 597"/>
                <a:gd name="T24" fmla="*/ 38 w 697"/>
                <a:gd name="T25" fmla="*/ 800 h 597"/>
                <a:gd name="T26" fmla="*/ 0 w 697"/>
                <a:gd name="T27" fmla="*/ 947 h 5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97" h="597">
                  <a:moveTo>
                    <a:pt x="697" y="0"/>
                  </a:moveTo>
                  <a:lnTo>
                    <a:pt x="624" y="0"/>
                  </a:lnTo>
                  <a:lnTo>
                    <a:pt x="555" y="6"/>
                  </a:lnTo>
                  <a:lnTo>
                    <a:pt x="491" y="20"/>
                  </a:lnTo>
                  <a:lnTo>
                    <a:pt x="427" y="44"/>
                  </a:lnTo>
                  <a:lnTo>
                    <a:pt x="366" y="76"/>
                  </a:lnTo>
                  <a:lnTo>
                    <a:pt x="311" y="114"/>
                  </a:lnTo>
                  <a:lnTo>
                    <a:pt x="255" y="157"/>
                  </a:lnTo>
                  <a:lnTo>
                    <a:pt x="206" y="213"/>
                  </a:lnTo>
                  <a:lnTo>
                    <a:pt x="157" y="274"/>
                  </a:lnTo>
                  <a:lnTo>
                    <a:pt x="113" y="341"/>
                  </a:lnTo>
                  <a:lnTo>
                    <a:pt x="72" y="419"/>
                  </a:lnTo>
                  <a:lnTo>
                    <a:pt x="34" y="504"/>
                  </a:lnTo>
                  <a:lnTo>
                    <a:pt x="0" y="59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8" name="Freeform 97">
              <a:extLst>
                <a:ext uri="{FF2B5EF4-FFF2-40B4-BE49-F238E27FC236}">
                  <a16:creationId xmlns:a16="http://schemas.microsoft.com/office/drawing/2014/main" id="{8B19F729-42A6-4948-9715-2D073C3B7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169"/>
              <a:ext cx="1372" cy="183"/>
            </a:xfrm>
            <a:custGeom>
              <a:avLst/>
              <a:gdLst>
                <a:gd name="T0" fmla="*/ 1594 w 1305"/>
                <a:gd name="T1" fmla="*/ 440 h 113"/>
                <a:gd name="T2" fmla="*/ 1446 w 1305"/>
                <a:gd name="T3" fmla="*/ 254 h 113"/>
                <a:gd name="T4" fmla="*/ 1295 w 1305"/>
                <a:gd name="T5" fmla="*/ 118 h 113"/>
                <a:gd name="T6" fmla="*/ 1140 w 1305"/>
                <a:gd name="T7" fmla="*/ 34 h 113"/>
                <a:gd name="T8" fmla="*/ 983 w 1305"/>
                <a:gd name="T9" fmla="*/ 0 h 113"/>
                <a:gd name="T10" fmla="*/ 827 w 1305"/>
                <a:gd name="T11" fmla="*/ 0 h 113"/>
                <a:gd name="T12" fmla="*/ 663 w 1305"/>
                <a:gd name="T13" fmla="*/ 55 h 113"/>
                <a:gd name="T14" fmla="*/ 503 w 1305"/>
                <a:gd name="T15" fmla="*/ 178 h 113"/>
                <a:gd name="T16" fmla="*/ 337 w 1305"/>
                <a:gd name="T17" fmla="*/ 314 h 113"/>
                <a:gd name="T18" fmla="*/ 169 w 1305"/>
                <a:gd name="T19" fmla="*/ 513 h 113"/>
                <a:gd name="T20" fmla="*/ 0 w 1305"/>
                <a:gd name="T21" fmla="*/ 776 h 1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05" h="113">
                  <a:moveTo>
                    <a:pt x="1305" y="64"/>
                  </a:moveTo>
                  <a:lnTo>
                    <a:pt x="1183" y="37"/>
                  </a:lnTo>
                  <a:lnTo>
                    <a:pt x="1061" y="17"/>
                  </a:lnTo>
                  <a:lnTo>
                    <a:pt x="933" y="5"/>
                  </a:lnTo>
                  <a:lnTo>
                    <a:pt x="805" y="0"/>
                  </a:lnTo>
                  <a:lnTo>
                    <a:pt x="677" y="0"/>
                  </a:lnTo>
                  <a:lnTo>
                    <a:pt x="543" y="8"/>
                  </a:lnTo>
                  <a:lnTo>
                    <a:pt x="412" y="26"/>
                  </a:lnTo>
                  <a:lnTo>
                    <a:pt x="276" y="46"/>
                  </a:lnTo>
                  <a:lnTo>
                    <a:pt x="139" y="75"/>
                  </a:lnTo>
                  <a:lnTo>
                    <a:pt x="0" y="11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9" name="Freeform 99">
              <a:extLst>
                <a:ext uri="{FF2B5EF4-FFF2-40B4-BE49-F238E27FC236}">
                  <a16:creationId xmlns:a16="http://schemas.microsoft.com/office/drawing/2014/main" id="{A8657CF1-9453-4048-B7FD-482F049CB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680"/>
              <a:ext cx="624" cy="576"/>
            </a:xfrm>
            <a:custGeom>
              <a:avLst/>
              <a:gdLst>
                <a:gd name="T0" fmla="*/ 0 w 599"/>
                <a:gd name="T1" fmla="*/ 726 h 533"/>
                <a:gd name="T2" fmla="*/ 96 w 599"/>
                <a:gd name="T3" fmla="*/ 664 h 533"/>
                <a:gd name="T4" fmla="*/ 192 w 599"/>
                <a:gd name="T5" fmla="*/ 595 h 533"/>
                <a:gd name="T6" fmla="*/ 283 w 599"/>
                <a:gd name="T7" fmla="*/ 521 h 533"/>
                <a:gd name="T8" fmla="*/ 376 w 599"/>
                <a:gd name="T9" fmla="*/ 434 h 533"/>
                <a:gd name="T10" fmla="*/ 461 w 599"/>
                <a:gd name="T11" fmla="*/ 338 h 533"/>
                <a:gd name="T12" fmla="*/ 544 w 599"/>
                <a:gd name="T13" fmla="*/ 235 h 533"/>
                <a:gd name="T14" fmla="*/ 626 w 599"/>
                <a:gd name="T15" fmla="*/ 124 h 533"/>
                <a:gd name="T16" fmla="*/ 705 w 599"/>
                <a:gd name="T17" fmla="*/ 0 h 5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9" h="533">
                  <a:moveTo>
                    <a:pt x="0" y="533"/>
                  </a:moveTo>
                  <a:lnTo>
                    <a:pt x="81" y="487"/>
                  </a:lnTo>
                  <a:lnTo>
                    <a:pt x="163" y="437"/>
                  </a:lnTo>
                  <a:lnTo>
                    <a:pt x="241" y="382"/>
                  </a:lnTo>
                  <a:lnTo>
                    <a:pt x="320" y="318"/>
                  </a:lnTo>
                  <a:lnTo>
                    <a:pt x="392" y="248"/>
                  </a:lnTo>
                  <a:lnTo>
                    <a:pt x="462" y="172"/>
                  </a:lnTo>
                  <a:lnTo>
                    <a:pt x="532" y="91"/>
                  </a:lnTo>
                  <a:lnTo>
                    <a:pt x="5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0" name="Line 103">
              <a:extLst>
                <a:ext uri="{FF2B5EF4-FFF2-40B4-BE49-F238E27FC236}">
                  <a16:creationId xmlns:a16="http://schemas.microsoft.com/office/drawing/2014/main" id="{C51971B8-BA4A-B84F-90B0-BA761CC24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36" y="1680"/>
              <a:ext cx="690" cy="5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1" name="Freeform 105">
              <a:extLst>
                <a:ext uri="{FF2B5EF4-FFF2-40B4-BE49-F238E27FC236}">
                  <a16:creationId xmlns:a16="http://schemas.microsoft.com/office/drawing/2014/main" id="{44751A37-3DF6-EE4D-8C32-99864523F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1571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2" name="Freeform 106">
              <a:extLst>
                <a:ext uri="{FF2B5EF4-FFF2-40B4-BE49-F238E27FC236}">
                  <a16:creationId xmlns:a16="http://schemas.microsoft.com/office/drawing/2014/main" id="{236DAB3F-F631-CA4A-8D17-5D8991F34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1571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3" name="Rectangle 107">
              <a:extLst>
                <a:ext uri="{FF2B5EF4-FFF2-40B4-BE49-F238E27FC236}">
                  <a16:creationId xmlns:a16="http://schemas.microsoft.com/office/drawing/2014/main" id="{120A30DA-81AC-FC4E-9B60-F48FDC652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1" y="1231"/>
              <a:ext cx="2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kumimoji="1" lang="en-US" altLang="zh-CN" sz="24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45165" name="Rectangle 109">
              <a:extLst>
                <a:ext uri="{FF2B5EF4-FFF2-40B4-BE49-F238E27FC236}">
                  <a16:creationId xmlns:a16="http://schemas.microsoft.com/office/drawing/2014/main" id="{7B3BFFD3-C7F4-8F44-AAD9-F6633D5E1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" y="2422"/>
              <a:ext cx="2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 dirty="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 dirty="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kumimoji="1" lang="en-US" altLang="zh-CN" sz="3200" b="1" dirty="0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45167" name="Rectangle 111">
              <a:extLst>
                <a:ext uri="{FF2B5EF4-FFF2-40B4-BE49-F238E27FC236}">
                  <a16:creationId xmlns:a16="http://schemas.microsoft.com/office/drawing/2014/main" id="{C18FCDEC-047F-3B43-8102-D2CBBD197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" y="2422"/>
              <a:ext cx="2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3</a:t>
              </a:r>
              <a:endParaRPr kumimoji="1"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45247" name="Group 191">
            <a:extLst>
              <a:ext uri="{FF2B5EF4-FFF2-40B4-BE49-F238E27FC236}">
                <a16:creationId xmlns:a16="http://schemas.microsoft.com/office/drawing/2014/main" id="{99896021-F384-A74B-807B-6F2E95FDCF36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533400"/>
            <a:ext cx="3073400" cy="2514600"/>
            <a:chOff x="3312" y="336"/>
            <a:chExt cx="1936" cy="1584"/>
          </a:xfrm>
        </p:grpSpPr>
        <p:sp>
          <p:nvSpPr>
            <p:cNvPr id="2" name="Arc 190">
              <a:extLst>
                <a:ext uri="{FF2B5EF4-FFF2-40B4-BE49-F238E27FC236}">
                  <a16:creationId xmlns:a16="http://schemas.microsoft.com/office/drawing/2014/main" id="{26598C96-FE94-7648-9DC9-3BE2CA7D95B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312" y="624"/>
              <a:ext cx="814" cy="768"/>
            </a:xfrm>
            <a:custGeom>
              <a:avLst/>
              <a:gdLst>
                <a:gd name="T0" fmla="*/ 0 w 35137"/>
                <a:gd name="T1" fmla="*/ 0 h 36178"/>
                <a:gd name="T2" fmla="*/ 0 w 35137"/>
                <a:gd name="T3" fmla="*/ 0 h 36178"/>
                <a:gd name="T4" fmla="*/ 0 w 35137"/>
                <a:gd name="T5" fmla="*/ 0 h 361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137" h="36178" fill="none" extrusionOk="0">
                  <a:moveTo>
                    <a:pt x="29475" y="0"/>
                  </a:moveTo>
                  <a:cubicBezTo>
                    <a:pt x="33117" y="3981"/>
                    <a:pt x="35137" y="9182"/>
                    <a:pt x="35137" y="14578"/>
                  </a:cubicBezTo>
                  <a:cubicBezTo>
                    <a:pt x="35137" y="26507"/>
                    <a:pt x="25466" y="36178"/>
                    <a:pt x="13537" y="36178"/>
                  </a:cubicBezTo>
                  <a:cubicBezTo>
                    <a:pt x="8613" y="36178"/>
                    <a:pt x="3837" y="34495"/>
                    <a:pt x="0" y="31409"/>
                  </a:cubicBezTo>
                </a:path>
                <a:path w="35137" h="36178" stroke="0" extrusionOk="0">
                  <a:moveTo>
                    <a:pt x="29475" y="0"/>
                  </a:moveTo>
                  <a:cubicBezTo>
                    <a:pt x="33117" y="3981"/>
                    <a:pt x="35137" y="9182"/>
                    <a:pt x="35137" y="14578"/>
                  </a:cubicBezTo>
                  <a:cubicBezTo>
                    <a:pt x="35137" y="26507"/>
                    <a:pt x="25466" y="36178"/>
                    <a:pt x="13537" y="36178"/>
                  </a:cubicBezTo>
                  <a:cubicBezTo>
                    <a:pt x="8613" y="36178"/>
                    <a:pt x="3837" y="34495"/>
                    <a:pt x="0" y="31409"/>
                  </a:cubicBezTo>
                  <a:lnTo>
                    <a:pt x="13537" y="14578"/>
                  </a:lnTo>
                  <a:lnTo>
                    <a:pt x="29475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0" name="Arc 151">
              <a:extLst>
                <a:ext uri="{FF2B5EF4-FFF2-40B4-BE49-F238E27FC236}">
                  <a16:creationId xmlns:a16="http://schemas.microsoft.com/office/drawing/2014/main" id="{37A19089-AC30-2B44-91D9-105AD038CA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72" y="1376"/>
              <a:ext cx="576" cy="544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0652"/>
                    <a:pt x="8190" y="1435"/>
                    <a:pt x="19061" y="149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0652"/>
                    <a:pt x="8190" y="1435"/>
                    <a:pt x="19061" y="149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Freeform 138">
              <a:extLst>
                <a:ext uri="{FF2B5EF4-FFF2-40B4-BE49-F238E27FC236}">
                  <a16:creationId xmlns:a16="http://schemas.microsoft.com/office/drawing/2014/main" id="{8B7DE633-DF3E-3E47-9DEA-346BAB9E4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5" y="1358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2" name="Freeform 139">
              <a:extLst>
                <a:ext uri="{FF2B5EF4-FFF2-40B4-BE49-F238E27FC236}">
                  <a16:creationId xmlns:a16="http://schemas.microsoft.com/office/drawing/2014/main" id="{6BAE87C5-9AA5-6142-A191-293765E27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5" y="1358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3" name="Freeform 140">
              <a:extLst>
                <a:ext uri="{FF2B5EF4-FFF2-40B4-BE49-F238E27FC236}">
                  <a16:creationId xmlns:a16="http://schemas.microsoft.com/office/drawing/2014/main" id="{ACDA3F1E-C7D6-D045-A81C-96D461B0F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1323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4" name="Freeform 141">
              <a:extLst>
                <a:ext uri="{FF2B5EF4-FFF2-40B4-BE49-F238E27FC236}">
                  <a16:creationId xmlns:a16="http://schemas.microsoft.com/office/drawing/2014/main" id="{5695C04B-B620-BD44-9130-6B3D2E880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1323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5" name="Freeform 144">
              <a:extLst>
                <a:ext uri="{FF2B5EF4-FFF2-40B4-BE49-F238E27FC236}">
                  <a16:creationId xmlns:a16="http://schemas.microsoft.com/office/drawing/2014/main" id="{615F35DF-CF1E-FA4F-B2BA-C49DD23E5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785"/>
              <a:ext cx="643" cy="607"/>
            </a:xfrm>
            <a:custGeom>
              <a:avLst/>
              <a:gdLst>
                <a:gd name="T0" fmla="*/ 0 w 599"/>
                <a:gd name="T1" fmla="*/ 896 h 533"/>
                <a:gd name="T2" fmla="*/ 107 w 599"/>
                <a:gd name="T3" fmla="*/ 820 h 533"/>
                <a:gd name="T4" fmla="*/ 217 w 599"/>
                <a:gd name="T5" fmla="*/ 736 h 533"/>
                <a:gd name="T6" fmla="*/ 320 w 599"/>
                <a:gd name="T7" fmla="*/ 642 h 533"/>
                <a:gd name="T8" fmla="*/ 425 w 599"/>
                <a:gd name="T9" fmla="*/ 534 h 533"/>
                <a:gd name="T10" fmla="*/ 521 w 599"/>
                <a:gd name="T11" fmla="*/ 417 h 533"/>
                <a:gd name="T12" fmla="*/ 613 w 599"/>
                <a:gd name="T13" fmla="*/ 289 h 533"/>
                <a:gd name="T14" fmla="*/ 706 w 599"/>
                <a:gd name="T15" fmla="*/ 153 h 533"/>
                <a:gd name="T16" fmla="*/ 795 w 599"/>
                <a:gd name="T17" fmla="*/ 0 h 5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9" h="533">
                  <a:moveTo>
                    <a:pt x="0" y="533"/>
                  </a:moveTo>
                  <a:lnTo>
                    <a:pt x="81" y="487"/>
                  </a:lnTo>
                  <a:lnTo>
                    <a:pt x="163" y="437"/>
                  </a:lnTo>
                  <a:lnTo>
                    <a:pt x="241" y="382"/>
                  </a:lnTo>
                  <a:lnTo>
                    <a:pt x="320" y="318"/>
                  </a:lnTo>
                  <a:lnTo>
                    <a:pt x="392" y="248"/>
                  </a:lnTo>
                  <a:lnTo>
                    <a:pt x="462" y="172"/>
                  </a:lnTo>
                  <a:lnTo>
                    <a:pt x="532" y="91"/>
                  </a:lnTo>
                  <a:lnTo>
                    <a:pt x="5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6" name="Line 145">
              <a:extLst>
                <a:ext uri="{FF2B5EF4-FFF2-40B4-BE49-F238E27FC236}">
                  <a16:creationId xmlns:a16="http://schemas.microsoft.com/office/drawing/2014/main" id="{1485A54C-E089-7C4B-B4E0-9F49AFE519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43" y="785"/>
              <a:ext cx="690" cy="5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7" name="Freeform 146">
              <a:extLst>
                <a:ext uri="{FF2B5EF4-FFF2-40B4-BE49-F238E27FC236}">
                  <a16:creationId xmlns:a16="http://schemas.microsoft.com/office/drawing/2014/main" id="{52C787D2-0679-B84E-85C8-08C5C3DA0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" y="676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8" name="Freeform 147">
              <a:extLst>
                <a:ext uri="{FF2B5EF4-FFF2-40B4-BE49-F238E27FC236}">
                  <a16:creationId xmlns:a16="http://schemas.microsoft.com/office/drawing/2014/main" id="{D2586C2F-DC9C-F74B-A464-7AED4F762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" y="676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04" name="Rectangle 148">
              <a:extLst>
                <a:ext uri="{FF2B5EF4-FFF2-40B4-BE49-F238E27FC236}">
                  <a16:creationId xmlns:a16="http://schemas.microsoft.com/office/drawing/2014/main" id="{37BF9483-DC56-C843-9DC3-73E606E3A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8" y="336"/>
              <a:ext cx="2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 dirty="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 dirty="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kumimoji="1" lang="en-US" altLang="zh-CN" sz="2400" b="1" dirty="0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45205" name="Rectangle 149">
              <a:extLst>
                <a:ext uri="{FF2B5EF4-FFF2-40B4-BE49-F238E27FC236}">
                  <a16:creationId xmlns:a16="http://schemas.microsoft.com/office/drawing/2014/main" id="{AE9F90FF-68E3-0648-AD6D-EC1FD8621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527"/>
              <a:ext cx="2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kumimoji="1" lang="en-US" altLang="zh-CN" sz="24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45206" name="Rectangle 150">
              <a:extLst>
                <a:ext uri="{FF2B5EF4-FFF2-40B4-BE49-F238E27FC236}">
                  <a16:creationId xmlns:a16="http://schemas.microsoft.com/office/drawing/2014/main" id="{702350BB-6E24-DA4A-BC72-8000DCC2A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1008"/>
              <a:ext cx="2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3</a:t>
              </a:r>
              <a:endParaRPr kumimoji="1" lang="en-US" altLang="zh-CN" sz="24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45245" name="Group 189">
            <a:extLst>
              <a:ext uri="{FF2B5EF4-FFF2-40B4-BE49-F238E27FC236}">
                <a16:creationId xmlns:a16="http://schemas.microsoft.com/office/drawing/2014/main" id="{3DCAF68E-4555-524E-92F1-B1BAF775688E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276600"/>
            <a:ext cx="4508500" cy="2830513"/>
            <a:chOff x="1088" y="2185"/>
            <a:chExt cx="2840" cy="1783"/>
          </a:xfrm>
        </p:grpSpPr>
        <p:sp>
          <p:nvSpPr>
            <p:cNvPr id="5126" name="Arc 188">
              <a:extLst>
                <a:ext uri="{FF2B5EF4-FFF2-40B4-BE49-F238E27FC236}">
                  <a16:creationId xmlns:a16="http://schemas.microsoft.com/office/drawing/2014/main" id="{421C0715-815A-7447-8717-235106B19B6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448" y="2225"/>
              <a:ext cx="480" cy="575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42594" y="16520"/>
                  </a:moveTo>
                  <a:cubicBezTo>
                    <a:pt x="42996" y="18183"/>
                    <a:pt x="43200" y="19888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859" y="-1"/>
                    <a:pt x="37395" y="4709"/>
                    <a:pt x="41015" y="12133"/>
                  </a:cubicBezTo>
                </a:path>
                <a:path w="43200" h="43200" stroke="0" extrusionOk="0">
                  <a:moveTo>
                    <a:pt x="42594" y="16520"/>
                  </a:moveTo>
                  <a:cubicBezTo>
                    <a:pt x="42996" y="18183"/>
                    <a:pt x="43200" y="19888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859" y="-1"/>
                    <a:pt x="37395" y="4709"/>
                    <a:pt x="41015" y="12133"/>
                  </a:cubicBezTo>
                  <a:lnTo>
                    <a:pt x="21600" y="21600"/>
                  </a:lnTo>
                  <a:lnTo>
                    <a:pt x="42594" y="1652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7" name="Arc 185">
              <a:extLst>
                <a:ext uri="{FF2B5EF4-FFF2-40B4-BE49-F238E27FC236}">
                  <a16:creationId xmlns:a16="http://schemas.microsoft.com/office/drawing/2014/main" id="{6F5C3D16-306D-4849-87E4-EB1FA24AA4F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088" y="2185"/>
              <a:ext cx="640" cy="479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2392"/>
                    <a:pt x="5836" y="4197"/>
                    <a:pt x="14537" y="1187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2392"/>
                    <a:pt x="5836" y="4197"/>
                    <a:pt x="14537" y="1187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8" name="Arc 186">
              <a:extLst>
                <a:ext uri="{FF2B5EF4-FFF2-40B4-BE49-F238E27FC236}">
                  <a16:creationId xmlns:a16="http://schemas.microsoft.com/office/drawing/2014/main" id="{9023DCB0-6DF4-354F-9ED9-E0235E76DA7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256" y="2281"/>
              <a:ext cx="320" cy="335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2392"/>
                    <a:pt x="5836" y="4197"/>
                    <a:pt x="14537" y="1187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2392"/>
                    <a:pt x="5836" y="4197"/>
                    <a:pt x="14537" y="1187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9" name="Freeform 155">
              <a:extLst>
                <a:ext uri="{FF2B5EF4-FFF2-40B4-BE49-F238E27FC236}">
                  <a16:creationId xmlns:a16="http://schemas.microsoft.com/office/drawing/2014/main" id="{DDDBBC62-00F8-4646-A9B7-500BFCABC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3857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Freeform 157">
              <a:extLst>
                <a:ext uri="{FF2B5EF4-FFF2-40B4-BE49-F238E27FC236}">
                  <a16:creationId xmlns:a16="http://schemas.microsoft.com/office/drawing/2014/main" id="{D88060C1-4396-7D4D-9DEE-B1F280E19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3866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Freeform 158">
              <a:extLst>
                <a:ext uri="{FF2B5EF4-FFF2-40B4-BE49-F238E27FC236}">
                  <a16:creationId xmlns:a16="http://schemas.microsoft.com/office/drawing/2014/main" id="{84379D31-E418-EC4C-9EBE-BACEE13BF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3216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Freeform 163">
              <a:extLst>
                <a:ext uri="{FF2B5EF4-FFF2-40B4-BE49-F238E27FC236}">
                  <a16:creationId xmlns:a16="http://schemas.microsoft.com/office/drawing/2014/main" id="{BE0288CF-B476-1A48-AB85-9A11C60CF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2592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" name="Freeform 164">
              <a:extLst>
                <a:ext uri="{FF2B5EF4-FFF2-40B4-BE49-F238E27FC236}">
                  <a16:creationId xmlns:a16="http://schemas.microsoft.com/office/drawing/2014/main" id="{36DD729C-B92F-9248-A9FB-FD19D7ED1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3216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4" name="Freeform 168">
              <a:extLst>
                <a:ext uri="{FF2B5EF4-FFF2-40B4-BE49-F238E27FC236}">
                  <a16:creationId xmlns:a16="http://schemas.microsoft.com/office/drawing/2014/main" id="{0DF6949A-7216-CE46-B1C6-1C0ABB147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592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5" name="Freeform 170">
              <a:extLst>
                <a:ext uri="{FF2B5EF4-FFF2-40B4-BE49-F238E27FC236}">
                  <a16:creationId xmlns:a16="http://schemas.microsoft.com/office/drawing/2014/main" id="{A5ECF804-192B-0641-83A4-87D129646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" y="3866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6" name="Freeform 171">
              <a:extLst>
                <a:ext uri="{FF2B5EF4-FFF2-40B4-BE49-F238E27FC236}">
                  <a16:creationId xmlns:a16="http://schemas.microsoft.com/office/drawing/2014/main" id="{B3CE17A7-D503-F34B-B6CF-C93BA413C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2592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8" name="Line 172">
              <a:extLst>
                <a:ext uri="{FF2B5EF4-FFF2-40B4-BE49-F238E27FC236}">
                  <a16:creationId xmlns:a16="http://schemas.microsoft.com/office/drawing/2014/main" id="{606CF1DA-FB01-C54D-93C3-C29A90821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0" y="2640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39" name="Line 173">
              <a:extLst>
                <a:ext uri="{FF2B5EF4-FFF2-40B4-BE49-F238E27FC236}">
                  <a16:creationId xmlns:a16="http://schemas.microsoft.com/office/drawing/2014/main" id="{65D6E4FF-CF4C-934F-A11A-C2AD93CA5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2640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0" name="Line 174">
              <a:extLst>
                <a:ext uri="{FF2B5EF4-FFF2-40B4-BE49-F238E27FC236}">
                  <a16:creationId xmlns:a16="http://schemas.microsoft.com/office/drawing/2014/main" id="{CE939C17-AC0B-2B43-BF40-9882D2A42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8" y="3920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1" name="Line 175">
              <a:extLst>
                <a:ext uri="{FF2B5EF4-FFF2-40B4-BE49-F238E27FC236}">
                  <a16:creationId xmlns:a16="http://schemas.microsoft.com/office/drawing/2014/main" id="{F3A9FDCB-DB23-2842-868D-67F0E45B9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3920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2" name="Line 177">
              <a:extLst>
                <a:ext uri="{FF2B5EF4-FFF2-40B4-BE49-F238E27FC236}">
                  <a16:creationId xmlns:a16="http://schemas.microsoft.com/office/drawing/2014/main" id="{CEEB0F00-4AC4-EF4C-B2CC-F55186566B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0" y="2688"/>
              <a:ext cx="88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3" name="Line 178">
              <a:extLst>
                <a:ext uri="{FF2B5EF4-FFF2-40B4-BE49-F238E27FC236}">
                  <a16:creationId xmlns:a16="http://schemas.microsoft.com/office/drawing/2014/main" id="{A80B0793-9F03-434A-AB92-90631E798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2688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4" name="Line 179">
              <a:extLst>
                <a:ext uri="{FF2B5EF4-FFF2-40B4-BE49-F238E27FC236}">
                  <a16:creationId xmlns:a16="http://schemas.microsoft.com/office/drawing/2014/main" id="{90106CD7-435A-C24F-911C-5010022D7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8" y="3320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5" name="Line 180">
              <a:extLst>
                <a:ext uri="{FF2B5EF4-FFF2-40B4-BE49-F238E27FC236}">
                  <a16:creationId xmlns:a16="http://schemas.microsoft.com/office/drawing/2014/main" id="{30B7F691-1C76-8B4A-8B5E-FB9E76730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69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6" name="Line 181">
              <a:extLst>
                <a:ext uri="{FF2B5EF4-FFF2-40B4-BE49-F238E27FC236}">
                  <a16:creationId xmlns:a16="http://schemas.microsoft.com/office/drawing/2014/main" id="{97926D34-538B-2345-ADAF-A8F39B9C2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328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7" name="Line 182">
              <a:extLst>
                <a:ext uri="{FF2B5EF4-FFF2-40B4-BE49-F238E27FC236}">
                  <a16:creationId xmlns:a16="http://schemas.microsoft.com/office/drawing/2014/main" id="{9928DE5D-BBAB-EF42-9A39-FCFB3EF8C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8" y="2712"/>
              <a:ext cx="920" cy="5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8" name="Line 183">
              <a:extLst>
                <a:ext uri="{FF2B5EF4-FFF2-40B4-BE49-F238E27FC236}">
                  <a16:creationId xmlns:a16="http://schemas.microsoft.com/office/drawing/2014/main" id="{0598BFB9-3C21-0441-9968-9FA74D594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3312"/>
              <a:ext cx="912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149" name="Line 184">
              <a:extLst>
                <a:ext uri="{FF2B5EF4-FFF2-40B4-BE49-F238E27FC236}">
                  <a16:creationId xmlns:a16="http://schemas.microsoft.com/office/drawing/2014/main" id="{9DFAB3F6-CCD7-5E41-93B8-F1DA5B1CF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0" y="3304"/>
              <a:ext cx="96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lide Number Placeholder 5">
            <a:extLst>
              <a:ext uri="{FF2B5EF4-FFF2-40B4-BE49-F238E27FC236}">
                <a16:creationId xmlns:a16="http://schemas.microsoft.com/office/drawing/2014/main" id="{5108B7D2-E45A-8E4B-B1B2-5A84841017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7F0469-30C6-9B4F-8C9D-1C57AD89820B}" type="slidenum">
              <a:rPr kumimoji="0" lang="zh-CN" altLang="en-US" sz="1200"/>
              <a:pPr/>
              <a:t>4</a:t>
            </a:fld>
            <a:endParaRPr kumimoji="0" lang="en-US" altLang="zh-CN" sz="1200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065DC62-7957-2C41-9BC2-37722E5B209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839200" cy="5257800"/>
          </a:xfrm>
        </p:spPr>
        <p:txBody>
          <a:bodyPr/>
          <a:lstStyle/>
          <a:p>
            <a:pPr marL="360363" indent="-360363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有向图中点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的输出次数(</a:t>
            </a: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出度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)是集合：</a:t>
            </a:r>
            <a:b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e|init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(e)=v}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的元数；</a:t>
            </a:r>
            <a:endParaRPr kumimoji="0"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0363" indent="-360363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的输入次数(</a:t>
            </a: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入度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)是集合：</a:t>
            </a:r>
            <a:b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e|fin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(e)=v}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的元数；</a:t>
            </a:r>
            <a:endParaRPr kumimoji="0"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0363" indent="-360363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度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等于点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的输入次数加输出次数。</a:t>
            </a:r>
            <a:endParaRPr kumimoji="0"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0363" indent="-360363"/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0363" indent="-360363" algn="just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今后，为简便计，有时也将有向图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中的点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v、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弧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写成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G，e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 </a:t>
            </a: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Slide Number Placeholder 5">
            <a:extLst>
              <a:ext uri="{FF2B5EF4-FFF2-40B4-BE49-F238E27FC236}">
                <a16:creationId xmlns:a16="http://schemas.microsoft.com/office/drawing/2014/main" id="{791E013B-80CE-324D-BE50-7081EC5718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523EF1-589E-2043-BEC6-CBEB1FFDD3AA}" type="slidenum">
              <a:rPr kumimoji="0" lang="zh-CN" altLang="en-US" sz="1200"/>
              <a:pPr/>
              <a:t>5</a:t>
            </a:fld>
            <a:endParaRPr kumimoji="0" lang="en-US" altLang="zh-CN" sz="12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2933161A-B484-5541-9CDA-BA3A122A4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定义</a:t>
            </a:r>
            <a:r>
              <a:rPr lang="zh-CN" altLang="en-US" dirty="0">
                <a:latin typeface="Times New Roman" charset="0"/>
                <a:ea typeface="楷体_GB2312" charset="0"/>
              </a:rPr>
              <a:t>4.3.2 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062362A-5DEF-C146-B76E-D91EC3B75DD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763000" cy="4876800"/>
          </a:xfrm>
        </p:spPr>
        <p:txBody>
          <a:bodyPr/>
          <a:lstStyle/>
          <a:p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是有向图。如果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P(H)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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P(G)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A(H)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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A(G)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则称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有向子图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(简称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子图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)。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母图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。如果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的子图，并且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P(H)=P(G)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则称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支撑子图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Slide Number Placeholder 5">
            <a:extLst>
              <a:ext uri="{FF2B5EF4-FFF2-40B4-BE49-F238E27FC236}">
                <a16:creationId xmlns:a16="http://schemas.microsoft.com/office/drawing/2014/main" id="{E4610ABF-D795-074B-853C-6E2106C004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16CB39-F4E5-0B41-A7C8-0D67F48FF5AE}" type="slidenum">
              <a:rPr kumimoji="0" lang="zh-CN" altLang="en-US" sz="1200"/>
              <a:pPr/>
              <a:t>6</a:t>
            </a:fld>
            <a:endParaRPr kumimoji="0" lang="en-US" altLang="zh-CN" sz="12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8725F9DD-18F0-2047-924F-B5FD62BE4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428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定义4.3.3 有向路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DF0273B-0071-2542-80F0-F6CD35ED0CF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572000"/>
          </a:xfrm>
        </p:spPr>
        <p:txBody>
          <a:bodyPr/>
          <a:lstStyle/>
          <a:p>
            <a:pPr marL="360363" indent="-360363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G=(P, A)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是有向图，弧序列(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的从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其长度为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的有向路，如果</a:t>
            </a:r>
            <a:b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1）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A(G),  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 [1,n]</a:t>
            </a:r>
            <a:b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2）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init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(e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), 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=fin(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b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 dirty="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）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fin(e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 = 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init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(e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),  1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n-1</a:t>
            </a:r>
          </a:p>
          <a:p>
            <a:pPr marL="360363" indent="-360363"/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在不引起混乱的情况下，有时也将有向路(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写成(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)，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其中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init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 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=1,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, n)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=fin(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Number Placeholder 5">
            <a:extLst>
              <a:ext uri="{FF2B5EF4-FFF2-40B4-BE49-F238E27FC236}">
                <a16:creationId xmlns:a16="http://schemas.microsoft.com/office/drawing/2014/main" id="{2732C5CE-A996-B245-9BC3-48699A6A3F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2F3E47-F8E0-9048-A091-8F0914EA49FA}" type="slidenum">
              <a:rPr kumimoji="0" lang="zh-CN" altLang="en-US" sz="1200"/>
              <a:pPr/>
              <a:t>7</a:t>
            </a:fld>
            <a:endParaRPr kumimoji="0" lang="en-US" altLang="zh-CN" sz="1200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DE513E09-B20F-2B4D-997A-E07877BE1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定义4.3.4 简单有向路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4F65568-EEDA-3F45-9B3E-A27E605C728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305800" cy="2438400"/>
          </a:xfrm>
        </p:spPr>
        <p:txBody>
          <a:bodyPr/>
          <a:lstStyle/>
          <a:p>
            <a:pPr marL="360363" indent="-360363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有向图的有向路(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称为简单的，如果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b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 </a:t>
            </a:r>
            <a:r>
              <a:rPr kumimoji="0"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</a:rPr>
              <a:t>init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(e</a:t>
            </a:r>
            <a:r>
              <a:rPr kumimoji="0" lang="en-US" altLang="zh-CN" sz="3200" baseline="-30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), … , </a:t>
            </a:r>
            <a:r>
              <a:rPr kumimoji="0"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</a:rPr>
              <a:t>init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0"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kumimoji="0" lang="en-US" altLang="zh-CN" sz="3200" baseline="-30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互不相同，</a:t>
            </a:r>
            <a:b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kumimoji="0"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en-US" altLang="zh-CN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fin(e</a:t>
            </a:r>
            <a:r>
              <a:rPr kumimoji="0" lang="en-US" altLang="zh-CN" sz="3200" baseline="-30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), … , fin(</a:t>
            </a:r>
            <a:r>
              <a:rPr kumimoji="0"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kumimoji="0" lang="en-US" altLang="zh-CN" sz="3200" baseline="-30000" dirty="0" err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互不相同。</a:t>
            </a:r>
          </a:p>
        </p:txBody>
      </p:sp>
      <p:grpSp>
        <p:nvGrpSpPr>
          <p:cNvPr id="101401" name="Group 25">
            <a:extLst>
              <a:ext uri="{FF2B5EF4-FFF2-40B4-BE49-F238E27FC236}">
                <a16:creationId xmlns:a16="http://schemas.microsoft.com/office/drawing/2014/main" id="{AB520273-5CAF-2C46-A6C5-21F9586D6C42}"/>
              </a:ext>
            </a:extLst>
          </p:cNvPr>
          <p:cNvGrpSpPr>
            <a:grpSpLocks/>
          </p:cNvGrpSpPr>
          <p:nvPr/>
        </p:nvGrpSpPr>
        <p:grpSpPr bwMode="auto">
          <a:xfrm>
            <a:off x="495300" y="3429000"/>
            <a:ext cx="3086100" cy="2382838"/>
            <a:chOff x="288" y="2448"/>
            <a:chExt cx="1759" cy="1501"/>
          </a:xfrm>
        </p:grpSpPr>
        <p:sp>
          <p:nvSpPr>
            <p:cNvPr id="10246" name="Freeform 6">
              <a:extLst>
                <a:ext uri="{FF2B5EF4-FFF2-40B4-BE49-F238E27FC236}">
                  <a16:creationId xmlns:a16="http://schemas.microsoft.com/office/drawing/2014/main" id="{5B10DDAB-4AE7-0340-9331-3D5BCC71F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" y="3470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" name="Freeform 7">
              <a:extLst>
                <a:ext uri="{FF2B5EF4-FFF2-40B4-BE49-F238E27FC236}">
                  <a16:creationId xmlns:a16="http://schemas.microsoft.com/office/drawing/2014/main" id="{8D7DA2B4-CFCE-D240-A2AA-4932FB830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" y="3470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8" name="Freeform 8">
              <a:extLst>
                <a:ext uri="{FF2B5EF4-FFF2-40B4-BE49-F238E27FC236}">
                  <a16:creationId xmlns:a16="http://schemas.microsoft.com/office/drawing/2014/main" id="{5D59D65E-DDE7-6E4B-AF1B-847E3BCB8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3435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9" name="Freeform 9">
              <a:extLst>
                <a:ext uri="{FF2B5EF4-FFF2-40B4-BE49-F238E27FC236}">
                  <a16:creationId xmlns:a16="http://schemas.microsoft.com/office/drawing/2014/main" id="{3BAE9D47-C5F6-954D-B90A-32D92CDF2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3435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0" name="Freeform 10">
              <a:extLst>
                <a:ext uri="{FF2B5EF4-FFF2-40B4-BE49-F238E27FC236}">
                  <a16:creationId xmlns:a16="http://schemas.microsoft.com/office/drawing/2014/main" id="{27025579-C77E-C140-8628-FCDC841643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152" y="2880"/>
              <a:ext cx="672" cy="576"/>
            </a:xfrm>
            <a:custGeom>
              <a:avLst/>
              <a:gdLst>
                <a:gd name="T0" fmla="*/ 603 w 697"/>
                <a:gd name="T1" fmla="*/ 0 h 597"/>
                <a:gd name="T2" fmla="*/ 539 w 697"/>
                <a:gd name="T3" fmla="*/ 0 h 597"/>
                <a:gd name="T4" fmla="*/ 479 w 697"/>
                <a:gd name="T5" fmla="*/ 6 h 597"/>
                <a:gd name="T6" fmla="*/ 424 w 697"/>
                <a:gd name="T7" fmla="*/ 16 h 597"/>
                <a:gd name="T8" fmla="*/ 369 w 697"/>
                <a:gd name="T9" fmla="*/ 39 h 597"/>
                <a:gd name="T10" fmla="*/ 316 w 697"/>
                <a:gd name="T11" fmla="*/ 66 h 597"/>
                <a:gd name="T12" fmla="*/ 269 w 697"/>
                <a:gd name="T13" fmla="*/ 98 h 597"/>
                <a:gd name="T14" fmla="*/ 220 w 697"/>
                <a:gd name="T15" fmla="*/ 136 h 597"/>
                <a:gd name="T16" fmla="*/ 178 w 697"/>
                <a:gd name="T17" fmla="*/ 185 h 597"/>
                <a:gd name="T18" fmla="*/ 136 w 697"/>
                <a:gd name="T19" fmla="*/ 237 h 597"/>
                <a:gd name="T20" fmla="*/ 97 w 697"/>
                <a:gd name="T21" fmla="*/ 295 h 597"/>
                <a:gd name="T22" fmla="*/ 63 w 697"/>
                <a:gd name="T23" fmla="*/ 363 h 597"/>
                <a:gd name="T24" fmla="*/ 30 w 697"/>
                <a:gd name="T25" fmla="*/ 437 h 597"/>
                <a:gd name="T26" fmla="*/ 0 w 697"/>
                <a:gd name="T27" fmla="*/ 517 h 5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97" h="597">
                  <a:moveTo>
                    <a:pt x="697" y="0"/>
                  </a:moveTo>
                  <a:lnTo>
                    <a:pt x="624" y="0"/>
                  </a:lnTo>
                  <a:lnTo>
                    <a:pt x="555" y="6"/>
                  </a:lnTo>
                  <a:lnTo>
                    <a:pt x="491" y="20"/>
                  </a:lnTo>
                  <a:lnTo>
                    <a:pt x="427" y="44"/>
                  </a:lnTo>
                  <a:lnTo>
                    <a:pt x="366" y="76"/>
                  </a:lnTo>
                  <a:lnTo>
                    <a:pt x="311" y="114"/>
                  </a:lnTo>
                  <a:lnTo>
                    <a:pt x="255" y="157"/>
                  </a:lnTo>
                  <a:lnTo>
                    <a:pt x="206" y="213"/>
                  </a:lnTo>
                  <a:lnTo>
                    <a:pt x="157" y="274"/>
                  </a:lnTo>
                  <a:lnTo>
                    <a:pt x="113" y="341"/>
                  </a:lnTo>
                  <a:lnTo>
                    <a:pt x="72" y="419"/>
                  </a:lnTo>
                  <a:lnTo>
                    <a:pt x="34" y="504"/>
                  </a:lnTo>
                  <a:lnTo>
                    <a:pt x="0" y="59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Freeform 12">
              <a:extLst>
                <a:ext uri="{FF2B5EF4-FFF2-40B4-BE49-F238E27FC236}">
                  <a16:creationId xmlns:a16="http://schemas.microsoft.com/office/drawing/2014/main" id="{5ED8BD1D-455C-4246-88C1-BC7F58C07F9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" y="2897"/>
              <a:ext cx="749" cy="559"/>
            </a:xfrm>
            <a:custGeom>
              <a:avLst/>
              <a:gdLst>
                <a:gd name="T0" fmla="*/ 0 w 599"/>
                <a:gd name="T1" fmla="*/ 645 h 533"/>
                <a:gd name="T2" fmla="*/ 198 w 599"/>
                <a:gd name="T3" fmla="*/ 589 h 533"/>
                <a:gd name="T4" fmla="*/ 399 w 599"/>
                <a:gd name="T5" fmla="*/ 528 h 533"/>
                <a:gd name="T6" fmla="*/ 588 w 599"/>
                <a:gd name="T7" fmla="*/ 464 h 533"/>
                <a:gd name="T8" fmla="*/ 782 w 599"/>
                <a:gd name="T9" fmla="*/ 385 h 533"/>
                <a:gd name="T10" fmla="*/ 959 w 599"/>
                <a:gd name="T11" fmla="*/ 300 h 533"/>
                <a:gd name="T12" fmla="*/ 1130 w 599"/>
                <a:gd name="T13" fmla="*/ 208 h 533"/>
                <a:gd name="T14" fmla="*/ 1300 w 599"/>
                <a:gd name="T15" fmla="*/ 110 h 533"/>
                <a:gd name="T16" fmla="*/ 1465 w 599"/>
                <a:gd name="T17" fmla="*/ 0 h 5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9" h="533">
                  <a:moveTo>
                    <a:pt x="0" y="533"/>
                  </a:moveTo>
                  <a:lnTo>
                    <a:pt x="81" y="487"/>
                  </a:lnTo>
                  <a:lnTo>
                    <a:pt x="163" y="437"/>
                  </a:lnTo>
                  <a:lnTo>
                    <a:pt x="241" y="382"/>
                  </a:lnTo>
                  <a:lnTo>
                    <a:pt x="320" y="318"/>
                  </a:lnTo>
                  <a:lnTo>
                    <a:pt x="392" y="248"/>
                  </a:lnTo>
                  <a:lnTo>
                    <a:pt x="462" y="172"/>
                  </a:lnTo>
                  <a:lnTo>
                    <a:pt x="532" y="91"/>
                  </a:lnTo>
                  <a:lnTo>
                    <a:pt x="5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Line 13">
              <a:extLst>
                <a:ext uri="{FF2B5EF4-FFF2-40B4-BE49-F238E27FC236}">
                  <a16:creationId xmlns:a16="http://schemas.microsoft.com/office/drawing/2014/main" id="{943E14B5-0E6D-5B4F-A4C0-A34F64B9D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" y="2880"/>
              <a:ext cx="672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3" name="Freeform 14">
              <a:extLst>
                <a:ext uri="{FF2B5EF4-FFF2-40B4-BE49-F238E27FC236}">
                  <a16:creationId xmlns:a16="http://schemas.microsoft.com/office/drawing/2014/main" id="{E1033342-F193-2D42-99A4-643352A7A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" y="2788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Freeform 15">
              <a:extLst>
                <a:ext uri="{FF2B5EF4-FFF2-40B4-BE49-F238E27FC236}">
                  <a16:creationId xmlns:a16="http://schemas.microsoft.com/office/drawing/2014/main" id="{D868FB20-BE71-7342-B2A6-2FDB1ED1A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" y="2788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2" name="Rectangle 16">
              <a:extLst>
                <a:ext uri="{FF2B5EF4-FFF2-40B4-BE49-F238E27FC236}">
                  <a16:creationId xmlns:a16="http://schemas.microsoft.com/office/drawing/2014/main" id="{188E9238-83C2-044A-A9AC-764C613AF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2448"/>
              <a:ext cx="24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 dirty="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 dirty="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kumimoji="1" lang="en-US" altLang="zh-CN" sz="2400" b="1" dirty="0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393" name="Rectangle 17">
              <a:extLst>
                <a:ext uri="{FF2B5EF4-FFF2-40B4-BE49-F238E27FC236}">
                  <a16:creationId xmlns:a16="http://schemas.microsoft.com/office/drawing/2014/main" id="{3101C78A-CD79-014B-92B6-A7B8A99AC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639"/>
              <a:ext cx="24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kumimoji="1"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394" name="Rectangle 18">
              <a:extLst>
                <a:ext uri="{FF2B5EF4-FFF2-40B4-BE49-F238E27FC236}">
                  <a16:creationId xmlns:a16="http://schemas.microsoft.com/office/drawing/2014/main" id="{5785C20A-1EB5-B649-92CB-9103E33D8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3639"/>
              <a:ext cx="24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V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3</a:t>
              </a:r>
              <a:endParaRPr kumimoji="1"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395" name="Rectangle 19">
              <a:extLst>
                <a:ext uri="{FF2B5EF4-FFF2-40B4-BE49-F238E27FC236}">
                  <a16:creationId xmlns:a16="http://schemas.microsoft.com/office/drawing/2014/main" id="{2D34BF0E-B203-F740-8579-1BD3BF4C9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832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e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1</a:t>
              </a:r>
              <a:endParaRPr kumimoji="1" lang="en-US" altLang="zh-CN" sz="24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9236" name="Line 20">
              <a:extLst>
                <a:ext uri="{FF2B5EF4-FFF2-40B4-BE49-F238E27FC236}">
                  <a16:creationId xmlns:a16="http://schemas.microsoft.com/office/drawing/2014/main" id="{68ED286B-C987-5F46-B75B-C9A7F67A3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504"/>
              <a:ext cx="134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397" name="Rectangle 21">
              <a:extLst>
                <a:ext uri="{FF2B5EF4-FFF2-40B4-BE49-F238E27FC236}">
                  <a16:creationId xmlns:a16="http://schemas.microsoft.com/office/drawing/2014/main" id="{878F4F2D-BAA2-3E4D-8768-8C431C60B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408"/>
              <a:ext cx="19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e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kumimoji="1" lang="en-US" altLang="zh-CN" sz="24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398" name="Rectangle 22">
              <a:extLst>
                <a:ext uri="{FF2B5EF4-FFF2-40B4-BE49-F238E27FC236}">
                  <a16:creationId xmlns:a16="http://schemas.microsoft.com/office/drawing/2014/main" id="{D588EDBA-BDFB-4B45-904F-E750C9735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4" y="3053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e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3</a:t>
              </a:r>
              <a:endParaRPr kumimoji="1" lang="en-US" altLang="zh-CN" sz="24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101399" name="Rectangle 23">
              <a:extLst>
                <a:ext uri="{FF2B5EF4-FFF2-40B4-BE49-F238E27FC236}">
                  <a16:creationId xmlns:a16="http://schemas.microsoft.com/office/drawing/2014/main" id="{60808481-A21D-E840-B6AA-17041166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784"/>
              <a:ext cx="19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e</a:t>
              </a:r>
              <a:r>
                <a:rPr kumimoji="1"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4</a:t>
              </a:r>
              <a:endParaRPr kumimoji="1" lang="en-US" altLang="zh-CN" sz="2400" b="1">
                <a:solidFill>
                  <a:srgbClr val="4E67C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01400" name="Rectangle 24">
            <a:extLst>
              <a:ext uri="{FF2B5EF4-FFF2-40B4-BE49-F238E27FC236}">
                <a16:creationId xmlns:a16="http://schemas.microsoft.com/office/drawing/2014/main" id="{DF1B3C3E-878D-234A-A296-1744DEF4C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33800"/>
            <a:ext cx="5181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0363" indent="-360363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Char char="v"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是简单路；</a:t>
            </a:r>
          </a:p>
          <a:p>
            <a:pPr algn="l"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Char char="v"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不是简单路；</a:t>
            </a:r>
          </a:p>
          <a:p>
            <a:pPr algn="l"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Char char="v"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是简单路；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1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1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0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Slide Number Placeholder 5">
            <a:extLst>
              <a:ext uri="{FF2B5EF4-FFF2-40B4-BE49-F238E27FC236}">
                <a16:creationId xmlns:a16="http://schemas.microsoft.com/office/drawing/2014/main" id="{DA8105E2-BF94-F546-A9AB-D9D832B922E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A82B64-3FBC-6544-A14E-2798FBFFB389}" type="slidenum">
              <a:rPr kumimoji="0" lang="zh-CN" altLang="en-US" sz="1200"/>
              <a:pPr/>
              <a:t>8</a:t>
            </a:fld>
            <a:endParaRPr kumimoji="0" lang="en-US" altLang="zh-CN" sz="1200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58C9A63B-0963-5F49-806D-6ADDB8D60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定义</a:t>
            </a:r>
            <a:r>
              <a:rPr lang="zh-CN" altLang="en-US" dirty="0">
                <a:latin typeface="Times New Roman" charset="0"/>
                <a:ea typeface="楷体_GB2312" charset="0"/>
              </a:rPr>
              <a:t>4.3.5 有向回路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3BB12DF-F4DF-8A4A-B9F4-AA7D963286D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763000" cy="5029200"/>
          </a:xfrm>
        </p:spPr>
        <p:txBody>
          <a:bodyPr/>
          <a:lstStyle/>
          <a:p>
            <a:pPr marL="360363" indent="-360363">
              <a:spcBef>
                <a:spcPct val="0"/>
              </a:spcBef>
              <a:buClrTx/>
            </a:pP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设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G=(P, A)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是有向图，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v 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  <a:sym typeface="Symbol" pitchFamily="2" charset="2"/>
              </a:rPr>
              <a:t> 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P(G)，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从点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到自身的简单有向路(长度可以为1或2)称为有向回路。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Number Placeholder 5">
            <a:extLst>
              <a:ext uri="{FF2B5EF4-FFF2-40B4-BE49-F238E27FC236}">
                <a16:creationId xmlns:a16="http://schemas.microsoft.com/office/drawing/2014/main" id="{30948957-4358-DA4A-ACCB-4DF408C62C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7AF5CD0-EE23-D34B-A329-EC46833E2C63}" type="slidenum">
              <a:rPr kumimoji="0" lang="zh-CN" altLang="en-US" sz="1200"/>
              <a:pPr/>
              <a:t>9</a:t>
            </a:fld>
            <a:endParaRPr kumimoji="0" lang="en-US" altLang="zh-CN" sz="1200"/>
          </a:p>
        </p:txBody>
      </p:sp>
      <p:sp>
        <p:nvSpPr>
          <p:cNvPr id="103467" name="Rectangle 43">
            <a:extLst>
              <a:ext uri="{FF2B5EF4-FFF2-40B4-BE49-F238E27FC236}">
                <a16:creationId xmlns:a16="http://schemas.microsoft.com/office/drawing/2014/main" id="{4B7ADD45-170A-9844-B7B7-D7989F2B7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1295400" cy="762000"/>
          </a:xfrm>
        </p:spPr>
        <p:txBody>
          <a:bodyPr/>
          <a:lstStyle/>
          <a:p>
            <a:pPr marL="320040" indent="-320040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</a:rPr>
              <a:t>例：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499A4A25-19F1-8A4C-B51A-90DE453B22D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2057400"/>
            <a:ext cx="4648200" cy="2667000"/>
          </a:xfrm>
        </p:spPr>
        <p:txBody>
          <a:bodyPr rtlCol="0">
            <a:normAutofit/>
          </a:bodyPr>
          <a:lstStyle/>
          <a:p>
            <a:pPr marL="0" indent="0" fontAlgn="auto">
              <a:buClr>
                <a:schemeClr val="accent6">
                  <a:lumMod val="75000"/>
                </a:schemeClr>
              </a:buClr>
              <a:buFont typeface="Wingdings" charset="0"/>
              <a:buNone/>
              <a:defRPr/>
            </a:pP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(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2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),(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3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4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2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),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(e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3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5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6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10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2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),(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3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5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6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7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, e</a:t>
            </a:r>
            <a:r>
              <a:rPr kumimoji="0" lang="en-US" altLang="zh-CN" sz="3200"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1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)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是从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C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到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B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的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4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个有向路。</a:t>
            </a:r>
          </a:p>
          <a:p>
            <a:pPr marL="0" indent="0" fontAlgn="auto">
              <a:buClr>
                <a:schemeClr val="accent6">
                  <a:lumMod val="75000"/>
                </a:schemeClr>
              </a:buClr>
              <a:buFont typeface="Wingdings" charset="0"/>
              <a:buNone/>
              <a:defRPr/>
            </a:pP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这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</a:rPr>
              <a:t>4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charset="0"/>
                <a:ea typeface="楷体_GB2312" charset="0"/>
              </a:rPr>
              <a:t>条有向路只有第一条，第四条是简单的；</a:t>
            </a:r>
          </a:p>
        </p:txBody>
      </p:sp>
      <p:grpSp>
        <p:nvGrpSpPr>
          <p:cNvPr id="14340" name="Group 44">
            <a:extLst>
              <a:ext uri="{FF2B5EF4-FFF2-40B4-BE49-F238E27FC236}">
                <a16:creationId xmlns:a16="http://schemas.microsoft.com/office/drawing/2014/main" id="{BB280A26-7DE3-4040-9912-2C46674EB087}"/>
              </a:ext>
            </a:extLst>
          </p:cNvPr>
          <p:cNvGrpSpPr>
            <a:grpSpLocks/>
          </p:cNvGrpSpPr>
          <p:nvPr/>
        </p:nvGrpSpPr>
        <p:grpSpPr bwMode="auto">
          <a:xfrm>
            <a:off x="4100513" y="334963"/>
            <a:ext cx="4662487" cy="4084637"/>
            <a:chOff x="2304" y="82"/>
            <a:chExt cx="2937" cy="2573"/>
          </a:xfrm>
        </p:grpSpPr>
        <p:sp>
          <p:nvSpPr>
            <p:cNvPr id="11271" name="Line 10">
              <a:extLst>
                <a:ext uri="{FF2B5EF4-FFF2-40B4-BE49-F238E27FC236}">
                  <a16:creationId xmlns:a16="http://schemas.microsoft.com/office/drawing/2014/main" id="{E018A8C6-BEB3-B94E-873C-7E6417FFBE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4" y="1824"/>
              <a:ext cx="67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2" name="Line 11">
              <a:extLst>
                <a:ext uri="{FF2B5EF4-FFF2-40B4-BE49-F238E27FC236}">
                  <a16:creationId xmlns:a16="http://schemas.microsoft.com/office/drawing/2014/main" id="{9B714FCD-A903-B043-A629-6D3282AA0B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2" y="1056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3" name="Line 12">
              <a:extLst>
                <a:ext uri="{FF2B5EF4-FFF2-40B4-BE49-F238E27FC236}">
                  <a16:creationId xmlns:a16="http://schemas.microsoft.com/office/drawing/2014/main" id="{640BBA7D-F88B-544A-9FA7-723F12C8CE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6" y="480"/>
              <a:ext cx="672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4" name="Line 13">
              <a:extLst>
                <a:ext uri="{FF2B5EF4-FFF2-40B4-BE49-F238E27FC236}">
                  <a16:creationId xmlns:a16="http://schemas.microsoft.com/office/drawing/2014/main" id="{1C0B60A4-5E5C-6843-BB2F-A26F20D0D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8" y="488"/>
              <a:ext cx="624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5" name="Line 14">
              <a:extLst>
                <a:ext uri="{FF2B5EF4-FFF2-40B4-BE49-F238E27FC236}">
                  <a16:creationId xmlns:a16="http://schemas.microsoft.com/office/drawing/2014/main" id="{E2043498-6ADA-AD4D-A819-AB69F6514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76" y="1056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76" name="Line 15">
              <a:extLst>
                <a:ext uri="{FF2B5EF4-FFF2-40B4-BE49-F238E27FC236}">
                  <a16:creationId xmlns:a16="http://schemas.microsoft.com/office/drawing/2014/main" id="{ED006763-B140-3342-AC3B-A0CC8EA15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4" y="1008"/>
              <a:ext cx="1392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48" name="Arc 16">
              <a:extLst>
                <a:ext uri="{FF2B5EF4-FFF2-40B4-BE49-F238E27FC236}">
                  <a16:creationId xmlns:a16="http://schemas.microsoft.com/office/drawing/2014/main" id="{1F672FF1-BC55-6F4B-B287-58CCDFC5F2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24" y="1824"/>
              <a:ext cx="672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9" name="Arc 20">
              <a:extLst>
                <a:ext uri="{FF2B5EF4-FFF2-40B4-BE49-F238E27FC236}">
                  <a16:creationId xmlns:a16="http://schemas.microsoft.com/office/drawing/2014/main" id="{1C25A9B7-6CD8-F144-8565-4866DE5E25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20" y="1872"/>
              <a:ext cx="672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0" name="Arc 21">
              <a:extLst>
                <a:ext uri="{FF2B5EF4-FFF2-40B4-BE49-F238E27FC236}">
                  <a16:creationId xmlns:a16="http://schemas.microsoft.com/office/drawing/2014/main" id="{8F892404-5AAA-824E-BC7B-9470288A472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877" y="813"/>
              <a:ext cx="382" cy="387"/>
            </a:xfrm>
            <a:custGeom>
              <a:avLst/>
              <a:gdLst>
                <a:gd name="T0" fmla="*/ 0 w 43060"/>
                <a:gd name="T1" fmla="*/ 0 h 43200"/>
                <a:gd name="T2" fmla="*/ 0 w 43060"/>
                <a:gd name="T3" fmla="*/ 0 h 43200"/>
                <a:gd name="T4" fmla="*/ 0 w 4306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060" h="43200" fill="none" extrusionOk="0">
                  <a:moveTo>
                    <a:pt x="0" y="19143"/>
                  </a:moveTo>
                  <a:cubicBezTo>
                    <a:pt x="1249" y="8235"/>
                    <a:pt x="10481" y="-1"/>
                    <a:pt x="21460" y="0"/>
                  </a:cubicBezTo>
                  <a:cubicBezTo>
                    <a:pt x="33389" y="0"/>
                    <a:pt x="43060" y="9670"/>
                    <a:pt x="43060" y="21600"/>
                  </a:cubicBezTo>
                  <a:cubicBezTo>
                    <a:pt x="43060" y="33529"/>
                    <a:pt x="33389" y="43200"/>
                    <a:pt x="21460" y="43200"/>
                  </a:cubicBezTo>
                  <a:cubicBezTo>
                    <a:pt x="10823" y="43200"/>
                    <a:pt x="1770" y="35457"/>
                    <a:pt x="121" y="24949"/>
                  </a:cubicBezTo>
                </a:path>
                <a:path w="43060" h="43200" stroke="0" extrusionOk="0">
                  <a:moveTo>
                    <a:pt x="0" y="19143"/>
                  </a:moveTo>
                  <a:cubicBezTo>
                    <a:pt x="1249" y="8235"/>
                    <a:pt x="10481" y="-1"/>
                    <a:pt x="21460" y="0"/>
                  </a:cubicBezTo>
                  <a:cubicBezTo>
                    <a:pt x="33389" y="0"/>
                    <a:pt x="43060" y="9670"/>
                    <a:pt x="43060" y="21600"/>
                  </a:cubicBezTo>
                  <a:cubicBezTo>
                    <a:pt x="43060" y="33529"/>
                    <a:pt x="33389" y="43200"/>
                    <a:pt x="21460" y="43200"/>
                  </a:cubicBezTo>
                  <a:cubicBezTo>
                    <a:pt x="10823" y="43200"/>
                    <a:pt x="1770" y="35457"/>
                    <a:pt x="121" y="24949"/>
                  </a:cubicBezTo>
                  <a:lnTo>
                    <a:pt x="21460" y="21600"/>
                  </a:lnTo>
                  <a:lnTo>
                    <a:pt x="0" y="1914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1" name="Arc 22">
              <a:extLst>
                <a:ext uri="{FF2B5EF4-FFF2-40B4-BE49-F238E27FC236}">
                  <a16:creationId xmlns:a16="http://schemas.microsoft.com/office/drawing/2014/main" id="{CB6B505B-1655-0F49-B829-CBD4D3CF2D8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589" y="576"/>
              <a:ext cx="720" cy="720"/>
            </a:xfrm>
            <a:custGeom>
              <a:avLst/>
              <a:gdLst>
                <a:gd name="T0" fmla="*/ 0 w 43129"/>
                <a:gd name="T1" fmla="*/ 0 h 43200"/>
                <a:gd name="T2" fmla="*/ 0 w 43129"/>
                <a:gd name="T3" fmla="*/ 0 h 43200"/>
                <a:gd name="T4" fmla="*/ 0 w 43129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29" h="43200" fill="none" extrusionOk="0">
                  <a:moveTo>
                    <a:pt x="1432" y="13683"/>
                  </a:moveTo>
                  <a:cubicBezTo>
                    <a:pt x="4684" y="5427"/>
                    <a:pt x="12655" y="-1"/>
                    <a:pt x="21529" y="0"/>
                  </a:cubicBezTo>
                  <a:cubicBezTo>
                    <a:pt x="33458" y="0"/>
                    <a:pt x="43129" y="9670"/>
                    <a:pt x="43129" y="21600"/>
                  </a:cubicBezTo>
                  <a:cubicBezTo>
                    <a:pt x="43129" y="33529"/>
                    <a:pt x="33458" y="43200"/>
                    <a:pt x="21529" y="43200"/>
                  </a:cubicBezTo>
                  <a:cubicBezTo>
                    <a:pt x="10277" y="43200"/>
                    <a:pt x="910" y="34563"/>
                    <a:pt x="-1" y="23349"/>
                  </a:cubicBezTo>
                </a:path>
                <a:path w="43129" h="43200" stroke="0" extrusionOk="0">
                  <a:moveTo>
                    <a:pt x="1432" y="13683"/>
                  </a:moveTo>
                  <a:cubicBezTo>
                    <a:pt x="4684" y="5427"/>
                    <a:pt x="12655" y="-1"/>
                    <a:pt x="21529" y="0"/>
                  </a:cubicBezTo>
                  <a:cubicBezTo>
                    <a:pt x="33458" y="0"/>
                    <a:pt x="43129" y="9670"/>
                    <a:pt x="43129" y="21600"/>
                  </a:cubicBezTo>
                  <a:cubicBezTo>
                    <a:pt x="43129" y="33529"/>
                    <a:pt x="33458" y="43200"/>
                    <a:pt x="21529" y="43200"/>
                  </a:cubicBezTo>
                  <a:cubicBezTo>
                    <a:pt x="10277" y="43200"/>
                    <a:pt x="910" y="34563"/>
                    <a:pt x="-1" y="23349"/>
                  </a:cubicBezTo>
                  <a:lnTo>
                    <a:pt x="21529" y="21600"/>
                  </a:lnTo>
                  <a:lnTo>
                    <a:pt x="1432" y="1368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1" name="Oval 4">
              <a:extLst>
                <a:ext uri="{FF2B5EF4-FFF2-40B4-BE49-F238E27FC236}">
                  <a16:creationId xmlns:a16="http://schemas.microsoft.com/office/drawing/2014/main" id="{A306E6A5-A5CF-A549-80AA-BA2672017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38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2" name="Oval 5">
              <a:extLst>
                <a:ext uri="{FF2B5EF4-FFF2-40B4-BE49-F238E27FC236}">
                  <a16:creationId xmlns:a16="http://schemas.microsoft.com/office/drawing/2014/main" id="{5EF38664-C382-D14B-9DBE-3F98E36A4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0" y="91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3" name="Oval 6">
              <a:extLst>
                <a:ext uri="{FF2B5EF4-FFF2-40B4-BE49-F238E27FC236}">
                  <a16:creationId xmlns:a16="http://schemas.microsoft.com/office/drawing/2014/main" id="{CCCF616F-3FF7-524F-8896-5D12D1B5E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" y="91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4" name="Oval 7">
              <a:extLst>
                <a:ext uri="{FF2B5EF4-FFF2-40B4-BE49-F238E27FC236}">
                  <a16:creationId xmlns:a16="http://schemas.microsoft.com/office/drawing/2014/main" id="{27835BBF-FF67-7441-9710-F58415B5C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" y="225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5" name="Oval 8">
              <a:extLst>
                <a:ext uri="{FF2B5EF4-FFF2-40B4-BE49-F238E27FC236}">
                  <a16:creationId xmlns:a16="http://schemas.microsoft.com/office/drawing/2014/main" id="{718DD2AA-380C-0647-9269-C8FEA6A16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0" y="172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86" name="Oval 9">
              <a:extLst>
                <a:ext uri="{FF2B5EF4-FFF2-40B4-BE49-F238E27FC236}">
                  <a16:creationId xmlns:a16="http://schemas.microsoft.com/office/drawing/2014/main" id="{9D7CEF94-A5A2-E44E-A90C-27957AE7A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" y="172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3447" name="Text Box 23">
              <a:extLst>
                <a:ext uri="{FF2B5EF4-FFF2-40B4-BE49-F238E27FC236}">
                  <a16:creationId xmlns:a16="http://schemas.microsoft.com/office/drawing/2014/main" id="{B27CEC3D-5CB8-AA4D-A9B7-A8A770C90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82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3448" name="Text Box 24">
              <a:extLst>
                <a:ext uri="{FF2B5EF4-FFF2-40B4-BE49-F238E27FC236}">
                  <a16:creationId xmlns:a16="http://schemas.microsoft.com/office/drawing/2014/main" id="{C4703CBE-C547-D646-8B9E-6BFA627F7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" y="754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3449" name="Text Box 25">
              <a:extLst>
                <a:ext uri="{FF2B5EF4-FFF2-40B4-BE49-F238E27FC236}">
                  <a16:creationId xmlns:a16="http://schemas.microsoft.com/office/drawing/2014/main" id="{9F74F6AE-7294-7F4A-BC09-F638FE2A5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" y="157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3450" name="Text Box 26">
              <a:extLst>
                <a:ext uri="{FF2B5EF4-FFF2-40B4-BE49-F238E27FC236}">
                  <a16:creationId xmlns:a16="http://schemas.microsoft.com/office/drawing/2014/main" id="{BE59D9C9-81BD-0243-B0DA-9013E3321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290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3451" name="Text Box 27">
              <a:extLst>
                <a:ext uri="{FF2B5EF4-FFF2-40B4-BE49-F238E27FC236}">
                  <a16:creationId xmlns:a16="http://schemas.microsoft.com/office/drawing/2014/main" id="{E0BB29CF-50B4-C146-AE91-FFB8E237D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0" y="1618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03452" name="Text Box 28">
              <a:extLst>
                <a:ext uri="{FF2B5EF4-FFF2-40B4-BE49-F238E27FC236}">
                  <a16:creationId xmlns:a16="http://schemas.microsoft.com/office/drawing/2014/main" id="{D772E381-E735-9A46-9D12-59A8E9B51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835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03453" name="Text Box 29">
              <a:extLst>
                <a:ext uri="{FF2B5EF4-FFF2-40B4-BE49-F238E27FC236}">
                  <a16:creationId xmlns:a16="http://schemas.microsoft.com/office/drawing/2014/main" id="{86096564-8C11-EB44-A4A7-004110F6A0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0" y="370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54" name="Text Box 30">
              <a:extLst>
                <a:ext uri="{FF2B5EF4-FFF2-40B4-BE49-F238E27FC236}">
                  <a16:creationId xmlns:a16="http://schemas.microsoft.com/office/drawing/2014/main" id="{7FA2769D-180C-7B43-B8EA-3E7052214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4" y="1186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55" name="Text Box 31">
              <a:extLst>
                <a:ext uri="{FF2B5EF4-FFF2-40B4-BE49-F238E27FC236}">
                  <a16:creationId xmlns:a16="http://schemas.microsoft.com/office/drawing/2014/main" id="{D6958DA8-07C9-4345-9DE8-ABBB80500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2098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56" name="Text Box 32">
              <a:extLst>
                <a:ext uri="{FF2B5EF4-FFF2-40B4-BE49-F238E27FC236}">
                  <a16:creationId xmlns:a16="http://schemas.microsoft.com/office/drawing/2014/main" id="{088BD108-1F54-134D-8897-15B03681E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618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57" name="Text Box 33">
              <a:extLst>
                <a:ext uri="{FF2B5EF4-FFF2-40B4-BE49-F238E27FC236}">
                  <a16:creationId xmlns:a16="http://schemas.microsoft.com/office/drawing/2014/main" id="{4052A7DC-72A5-EC47-80D5-FFE61C331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939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58" name="Text Box 34">
              <a:extLst>
                <a:ext uri="{FF2B5EF4-FFF2-40B4-BE49-F238E27FC236}">
                  <a16:creationId xmlns:a16="http://schemas.microsoft.com/office/drawing/2014/main" id="{17990EBD-B826-954C-8B6E-7F3E1DFC6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34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59" name="Text Box 35">
              <a:extLst>
                <a:ext uri="{FF2B5EF4-FFF2-40B4-BE49-F238E27FC236}">
                  <a16:creationId xmlns:a16="http://schemas.microsoft.com/office/drawing/2014/main" id="{02F1C202-EE08-0640-9E6E-1227E4C0B0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07"/>
              <a:ext cx="31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60" name="Text Box 36">
              <a:extLst>
                <a:ext uri="{FF2B5EF4-FFF2-40B4-BE49-F238E27FC236}">
                  <a16:creationId xmlns:a16="http://schemas.microsoft.com/office/drawing/2014/main" id="{B5D50AC4-C6F1-7D47-BB72-8292636DC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4" y="624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9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61" name="Text Box 37">
              <a:extLst>
                <a:ext uri="{FF2B5EF4-FFF2-40B4-BE49-F238E27FC236}">
                  <a16:creationId xmlns:a16="http://schemas.microsoft.com/office/drawing/2014/main" id="{F98AC4A7-0F73-E049-A40D-6FF92779A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610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3462" name="Text Box 38">
              <a:extLst>
                <a:ext uri="{FF2B5EF4-FFF2-40B4-BE49-F238E27FC236}">
                  <a16:creationId xmlns:a16="http://schemas.microsoft.com/office/drawing/2014/main" id="{4FFF40EE-1468-7B48-AAC1-065FD886D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1042"/>
              <a:ext cx="40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10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103464" name="Rectangle 40">
            <a:extLst>
              <a:ext uri="{FF2B5EF4-FFF2-40B4-BE49-F238E27FC236}">
                <a16:creationId xmlns:a16="http://schemas.microsoft.com/office/drawing/2014/main" id="{905DB708-FC6D-5C44-AD68-5C1EBFBA4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770438"/>
            <a:ext cx="8153400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),(e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),(e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),(e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是4条有向回路；有向图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中，从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到其它任意点都没有有向路。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 autoUpdateAnimBg="0"/>
      <p:bldP spid="10346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>
            <a:extLst>
              <a:ext uri="{FF2B5EF4-FFF2-40B4-BE49-F238E27FC236}">
                <a16:creationId xmlns:a16="http://schemas.microsoft.com/office/drawing/2014/main" id="{33D64798-8002-9B40-9E6A-44F9BE5A8B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8C9BB8-1758-5E4F-A9FB-559A8620A860}" type="slidenum">
              <a:rPr kumimoji="0" lang="zh-CN" altLang="en-US" sz="1200"/>
              <a:pPr/>
              <a:t>10</a:t>
            </a:fld>
            <a:endParaRPr kumimoji="0" lang="en-US" altLang="zh-CN" sz="1200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2D41302B-5C4B-7742-A638-A9E7EE1A0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58763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定义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97F07CE2-A76B-294F-AB33-7D2DD620092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19200"/>
            <a:ext cx="8839200" cy="5334000"/>
          </a:xfrm>
        </p:spPr>
        <p:txBody>
          <a:bodyPr/>
          <a:lstStyle/>
          <a:p>
            <a:pPr marL="360363" indent="-360363" algn="just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定义4.3.6 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设</a:t>
            </a:r>
            <a:r>
              <a:rPr kumimoji="0" lang="en-US" altLang="zh-CN" sz="3200" dirty="0">
                <a:latin typeface="+mj-lt"/>
                <a:ea typeface="楷体" panose="02010609060101010101" pitchFamily="49" charset="-122"/>
              </a:rPr>
              <a:t>G=(P，A)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是有向图，对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中任意两点</a:t>
            </a:r>
            <a:r>
              <a:rPr kumimoji="0" lang="en-US" altLang="zh-CN" sz="3200" dirty="0">
                <a:latin typeface="+mj-lt"/>
                <a:ea typeface="楷体" panose="02010609060101010101" pitchFamily="49" charset="-122"/>
              </a:rPr>
              <a:t>v, v’(v </a:t>
            </a:r>
            <a:r>
              <a:rPr kumimoji="0" lang="en-US" altLang="zh-CN" sz="3200" dirty="0">
                <a:latin typeface="+mj-lt"/>
                <a:ea typeface="楷体" panose="02010609060101010101" pitchFamily="49" charset="-122"/>
                <a:sym typeface="Symbol" pitchFamily="2" charset="2"/>
              </a:rPr>
              <a:t> </a:t>
            </a:r>
            <a:r>
              <a:rPr kumimoji="0" lang="en-US" altLang="zh-CN" sz="3200" dirty="0">
                <a:latin typeface="+mj-lt"/>
                <a:ea typeface="楷体" panose="02010609060101010101" pitchFamily="49" charset="-122"/>
              </a:rPr>
              <a:t>v’)，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如果都有从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v’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的有向路，则称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0" lang="zh-CN" altLang="en-US" sz="3200" dirty="0">
                <a:solidFill>
                  <a:srgbClr val="4E67C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强连通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60363" indent="-360363" algn="just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定义4.3.7 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设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G=(P，A)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是有向图，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r 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  <a:sym typeface="Symbol" pitchFamily="2" charset="2"/>
              </a:rPr>
              <a:t> 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P(G)。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称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0" lang="zh-CN" altLang="en-US" sz="3200" dirty="0">
                <a:solidFill>
                  <a:srgbClr val="4E67C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，如果对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中任一点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v(v 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  <a:sym typeface="Symbol" pitchFamily="2" charset="2"/>
              </a:rPr>
              <a:t> 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r)，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都有从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的有向路。</a:t>
            </a:r>
          </a:p>
          <a:p>
            <a:pPr marL="360363" indent="-360363"/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显然，强连通图的每一点都是根；</a:t>
            </a:r>
            <a:b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反之，每一点都是根的有向图也必是强连通的。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5C3B349A-B254-0249-BBFC-1074322551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B66CB4-FDD2-7840-91DA-F3785B6B228B}" type="slidenum">
              <a:rPr kumimoji="0" lang="zh-CN" altLang="en-US" sz="1200"/>
              <a:pPr/>
              <a:t>11</a:t>
            </a:fld>
            <a:endParaRPr kumimoji="0" lang="en-US" altLang="zh-CN" sz="1200"/>
          </a:p>
        </p:txBody>
      </p:sp>
      <p:sp>
        <p:nvSpPr>
          <p:cNvPr id="155650" name="Rectangle 2">
            <a:extLst>
              <a:ext uri="{FF2B5EF4-FFF2-40B4-BE49-F238E27FC236}">
                <a16:creationId xmlns:a16="http://schemas.microsoft.com/office/drawing/2014/main" id="{490939FE-187F-6C45-9548-46B48CF40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</a:rPr>
              <a:t>例：</a:t>
            </a:r>
          </a:p>
        </p:txBody>
      </p:sp>
      <p:grpSp>
        <p:nvGrpSpPr>
          <p:cNvPr id="155651" name="Group 3">
            <a:extLst>
              <a:ext uri="{FF2B5EF4-FFF2-40B4-BE49-F238E27FC236}">
                <a16:creationId xmlns:a16="http://schemas.microsoft.com/office/drawing/2014/main" id="{2084BDF4-B2A9-194B-B343-690DC594C1D0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066800"/>
            <a:ext cx="4876800" cy="4846638"/>
            <a:chOff x="1872" y="432"/>
            <a:chExt cx="3072" cy="3053"/>
          </a:xfrm>
        </p:grpSpPr>
        <p:grpSp>
          <p:nvGrpSpPr>
            <p:cNvPr id="16426" name="Group 4">
              <a:extLst>
                <a:ext uri="{FF2B5EF4-FFF2-40B4-BE49-F238E27FC236}">
                  <a16:creationId xmlns:a16="http://schemas.microsoft.com/office/drawing/2014/main" id="{AE475D9B-0906-A648-AF5D-58B92F82E2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432"/>
              <a:ext cx="2892" cy="2667"/>
              <a:chOff x="2832" y="1392"/>
              <a:chExt cx="2845" cy="2479"/>
            </a:xfrm>
          </p:grpSpPr>
          <p:sp>
            <p:nvSpPr>
              <p:cNvPr id="13357" name="Line 5">
                <a:extLst>
                  <a:ext uri="{FF2B5EF4-FFF2-40B4-BE49-F238E27FC236}">
                    <a16:creationId xmlns:a16="http://schemas.microsoft.com/office/drawing/2014/main" id="{39B53C5C-DED2-0345-92DA-FE194965F2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88" y="3072"/>
                <a:ext cx="673" cy="4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58" name="Line 6">
                <a:extLst>
                  <a:ext uri="{FF2B5EF4-FFF2-40B4-BE49-F238E27FC236}">
                    <a16:creationId xmlns:a16="http://schemas.microsoft.com/office/drawing/2014/main" id="{248063E7-B9A2-1C4B-8493-31AFE1D82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16" y="2304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59" name="Line 7">
                <a:extLst>
                  <a:ext uri="{FF2B5EF4-FFF2-40B4-BE49-F238E27FC236}">
                    <a16:creationId xmlns:a16="http://schemas.microsoft.com/office/drawing/2014/main" id="{0AC76AF8-5B70-F342-9A70-757EBAA9F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1728"/>
                <a:ext cx="672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60" name="Line 8">
                <a:extLst>
                  <a:ext uri="{FF2B5EF4-FFF2-40B4-BE49-F238E27FC236}">
                    <a16:creationId xmlns:a16="http://schemas.microsoft.com/office/drawing/2014/main" id="{8840A8DA-346F-174D-9CBB-5296A9E56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2" y="1736"/>
                <a:ext cx="625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61" name="Line 9">
                <a:extLst>
                  <a:ext uri="{FF2B5EF4-FFF2-40B4-BE49-F238E27FC236}">
                    <a16:creationId xmlns:a16="http://schemas.microsoft.com/office/drawing/2014/main" id="{121AE9AB-2936-C84C-9FC1-A5CCB568D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60" y="2304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62" name="Line 10">
                <a:extLst>
                  <a:ext uri="{FF2B5EF4-FFF2-40B4-BE49-F238E27FC236}">
                    <a16:creationId xmlns:a16="http://schemas.microsoft.com/office/drawing/2014/main" id="{002FB6FA-7759-624A-82AF-97E142DEE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256"/>
                <a:ext cx="1392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4" name="Arc 11">
                <a:extLst>
                  <a:ext uri="{FF2B5EF4-FFF2-40B4-BE49-F238E27FC236}">
                    <a16:creationId xmlns:a16="http://schemas.microsoft.com/office/drawing/2014/main" id="{F601D457-4854-9B45-9801-D05C894C925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608" y="3072"/>
                <a:ext cx="672" cy="4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5" name="Arc 12">
                <a:extLst>
                  <a:ext uri="{FF2B5EF4-FFF2-40B4-BE49-F238E27FC236}">
                    <a16:creationId xmlns:a16="http://schemas.microsoft.com/office/drawing/2014/main" id="{D294C9D9-F4AF-924A-9F99-2E08ABDD7F5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704" y="3120"/>
                <a:ext cx="672" cy="4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6" name="Arc 13">
                <a:extLst>
                  <a:ext uri="{FF2B5EF4-FFF2-40B4-BE49-F238E27FC236}">
                    <a16:creationId xmlns:a16="http://schemas.microsoft.com/office/drawing/2014/main" id="{1FE6BB27-D707-6B41-8A64-140A58BB32C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361" y="2061"/>
                <a:ext cx="382" cy="387"/>
              </a:xfrm>
              <a:custGeom>
                <a:avLst/>
                <a:gdLst>
                  <a:gd name="T0" fmla="*/ 0 w 43060"/>
                  <a:gd name="T1" fmla="*/ 0 h 43200"/>
                  <a:gd name="T2" fmla="*/ 0 w 43060"/>
                  <a:gd name="T3" fmla="*/ 0 h 43200"/>
                  <a:gd name="T4" fmla="*/ 0 w 43060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060" h="43200" fill="none" extrusionOk="0">
                    <a:moveTo>
                      <a:pt x="0" y="19143"/>
                    </a:moveTo>
                    <a:cubicBezTo>
                      <a:pt x="1249" y="8235"/>
                      <a:pt x="10481" y="-1"/>
                      <a:pt x="21460" y="0"/>
                    </a:cubicBezTo>
                    <a:cubicBezTo>
                      <a:pt x="33389" y="0"/>
                      <a:pt x="43060" y="9670"/>
                      <a:pt x="43060" y="21600"/>
                    </a:cubicBezTo>
                    <a:cubicBezTo>
                      <a:pt x="43060" y="33529"/>
                      <a:pt x="33389" y="43200"/>
                      <a:pt x="21460" y="43200"/>
                    </a:cubicBezTo>
                    <a:cubicBezTo>
                      <a:pt x="10823" y="43200"/>
                      <a:pt x="1770" y="35457"/>
                      <a:pt x="121" y="24949"/>
                    </a:cubicBezTo>
                  </a:path>
                  <a:path w="43060" h="43200" stroke="0" extrusionOk="0">
                    <a:moveTo>
                      <a:pt x="0" y="19143"/>
                    </a:moveTo>
                    <a:cubicBezTo>
                      <a:pt x="1249" y="8235"/>
                      <a:pt x="10481" y="-1"/>
                      <a:pt x="21460" y="0"/>
                    </a:cubicBezTo>
                    <a:cubicBezTo>
                      <a:pt x="33389" y="0"/>
                      <a:pt x="43060" y="9670"/>
                      <a:pt x="43060" y="21600"/>
                    </a:cubicBezTo>
                    <a:cubicBezTo>
                      <a:pt x="43060" y="33529"/>
                      <a:pt x="33389" y="43200"/>
                      <a:pt x="21460" y="43200"/>
                    </a:cubicBezTo>
                    <a:cubicBezTo>
                      <a:pt x="10823" y="43200"/>
                      <a:pt x="1770" y="35457"/>
                      <a:pt x="121" y="24949"/>
                    </a:cubicBezTo>
                    <a:lnTo>
                      <a:pt x="21460" y="21600"/>
                    </a:lnTo>
                    <a:lnTo>
                      <a:pt x="0" y="1914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7" name="Arc 14">
                <a:extLst>
                  <a:ext uri="{FF2B5EF4-FFF2-40B4-BE49-F238E27FC236}">
                    <a16:creationId xmlns:a16="http://schemas.microsoft.com/office/drawing/2014/main" id="{4390AE93-106D-5343-8E89-C2D74854A9C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073" y="1824"/>
                <a:ext cx="720" cy="720"/>
              </a:xfrm>
              <a:custGeom>
                <a:avLst/>
                <a:gdLst>
                  <a:gd name="T0" fmla="*/ 0 w 43129"/>
                  <a:gd name="T1" fmla="*/ 0 h 43200"/>
                  <a:gd name="T2" fmla="*/ 0 w 43129"/>
                  <a:gd name="T3" fmla="*/ 0 h 43200"/>
                  <a:gd name="T4" fmla="*/ 0 w 43129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29" h="43200" fill="none" extrusionOk="0">
                    <a:moveTo>
                      <a:pt x="1432" y="13683"/>
                    </a:moveTo>
                    <a:cubicBezTo>
                      <a:pt x="4684" y="5427"/>
                      <a:pt x="12655" y="-1"/>
                      <a:pt x="21529" y="0"/>
                    </a:cubicBezTo>
                    <a:cubicBezTo>
                      <a:pt x="33458" y="0"/>
                      <a:pt x="43129" y="9670"/>
                      <a:pt x="43129" y="21600"/>
                    </a:cubicBezTo>
                    <a:cubicBezTo>
                      <a:pt x="43129" y="33529"/>
                      <a:pt x="33458" y="43200"/>
                      <a:pt x="21529" y="43200"/>
                    </a:cubicBezTo>
                    <a:cubicBezTo>
                      <a:pt x="10277" y="43200"/>
                      <a:pt x="910" y="34563"/>
                      <a:pt x="-1" y="23349"/>
                    </a:cubicBezTo>
                  </a:path>
                  <a:path w="43129" h="43200" stroke="0" extrusionOk="0">
                    <a:moveTo>
                      <a:pt x="1432" y="13683"/>
                    </a:moveTo>
                    <a:cubicBezTo>
                      <a:pt x="4684" y="5427"/>
                      <a:pt x="12655" y="-1"/>
                      <a:pt x="21529" y="0"/>
                    </a:cubicBezTo>
                    <a:cubicBezTo>
                      <a:pt x="33458" y="0"/>
                      <a:pt x="43129" y="9670"/>
                      <a:pt x="43129" y="21600"/>
                    </a:cubicBezTo>
                    <a:cubicBezTo>
                      <a:pt x="43129" y="33529"/>
                      <a:pt x="33458" y="43200"/>
                      <a:pt x="21529" y="43200"/>
                    </a:cubicBezTo>
                    <a:cubicBezTo>
                      <a:pt x="10277" y="43200"/>
                      <a:pt x="910" y="34563"/>
                      <a:pt x="-1" y="23349"/>
                    </a:cubicBezTo>
                    <a:lnTo>
                      <a:pt x="21529" y="21600"/>
                    </a:lnTo>
                    <a:lnTo>
                      <a:pt x="1432" y="1368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67" name="Oval 15">
                <a:extLst>
                  <a:ext uri="{FF2B5EF4-FFF2-40B4-BE49-F238E27FC236}">
                    <a16:creationId xmlns:a16="http://schemas.microsoft.com/office/drawing/2014/main" id="{B2783832-A1EE-4D49-B364-3AE5C85B2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1632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68" name="Oval 16">
                <a:extLst>
                  <a:ext uri="{FF2B5EF4-FFF2-40B4-BE49-F238E27FC236}">
                    <a16:creationId xmlns:a16="http://schemas.microsoft.com/office/drawing/2014/main" id="{04FA1818-0EDB-A349-900D-BF051161F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160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69" name="Oval 17">
                <a:extLst>
                  <a:ext uri="{FF2B5EF4-FFF2-40B4-BE49-F238E27FC236}">
                    <a16:creationId xmlns:a16="http://schemas.microsoft.com/office/drawing/2014/main" id="{7D58A4C5-CDAC-624C-A0CE-35D6B7417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" y="2160"/>
                <a:ext cx="145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70" name="Oval 18">
                <a:extLst>
                  <a:ext uri="{FF2B5EF4-FFF2-40B4-BE49-F238E27FC236}">
                    <a16:creationId xmlns:a16="http://schemas.microsoft.com/office/drawing/2014/main" id="{332E3FDC-3192-FC46-A9CC-261CD620C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504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71" name="Oval 19">
                <a:extLst>
                  <a:ext uri="{FF2B5EF4-FFF2-40B4-BE49-F238E27FC236}">
                    <a16:creationId xmlns:a16="http://schemas.microsoft.com/office/drawing/2014/main" id="{ED4300E1-A4CC-CA48-907A-B7478FB2A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97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72" name="Oval 20">
                <a:extLst>
                  <a:ext uri="{FF2B5EF4-FFF2-40B4-BE49-F238E27FC236}">
                    <a16:creationId xmlns:a16="http://schemas.microsoft.com/office/drawing/2014/main" id="{429FA1F3-BF27-5541-938D-5937C8081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" y="2976"/>
                <a:ext cx="145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55669" name="Text Box 21">
                <a:extLst>
                  <a:ext uri="{FF2B5EF4-FFF2-40B4-BE49-F238E27FC236}">
                    <a16:creationId xmlns:a16="http://schemas.microsoft.com/office/drawing/2014/main" id="{D5FB9FAA-0685-8640-9629-DA49A7C4AB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6" y="1392"/>
                <a:ext cx="251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55670" name="Text Box 22">
                <a:extLst>
                  <a:ext uri="{FF2B5EF4-FFF2-40B4-BE49-F238E27FC236}">
                    <a16:creationId xmlns:a16="http://schemas.microsoft.com/office/drawing/2014/main" id="{9A852E4C-D48D-9944-B107-941910CC9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24" y="2064"/>
                <a:ext cx="242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55671" name="Text Box 23">
                <a:extLst>
                  <a:ext uri="{FF2B5EF4-FFF2-40B4-BE49-F238E27FC236}">
                    <a16:creationId xmlns:a16="http://schemas.microsoft.com/office/drawing/2014/main" id="{D3999938-4DDE-B344-AD8C-5B8DF85EC2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25" y="2880"/>
                <a:ext cx="252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55672" name="Text Box 24">
                <a:extLst>
                  <a:ext uri="{FF2B5EF4-FFF2-40B4-BE49-F238E27FC236}">
                    <a16:creationId xmlns:a16="http://schemas.microsoft.com/office/drawing/2014/main" id="{35638352-BE9F-C740-B46E-D1E526742B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5" y="3601"/>
                <a:ext cx="252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55673" name="Text Box 25">
                <a:extLst>
                  <a:ext uri="{FF2B5EF4-FFF2-40B4-BE49-F238E27FC236}">
                    <a16:creationId xmlns:a16="http://schemas.microsoft.com/office/drawing/2014/main" id="{2FF42AB8-07D4-384B-8ED0-F0D496F417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" y="2928"/>
                <a:ext cx="240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55674" name="Text Box 26">
                <a:extLst>
                  <a:ext uri="{FF2B5EF4-FFF2-40B4-BE49-F238E27FC236}">
                    <a16:creationId xmlns:a16="http://schemas.microsoft.com/office/drawing/2014/main" id="{CC63C2D3-A8E4-214A-A4C6-D9EF5AE388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112"/>
                <a:ext cx="229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155675" name="Text Box 27">
                <a:extLst>
                  <a:ext uri="{FF2B5EF4-FFF2-40B4-BE49-F238E27FC236}">
                    <a16:creationId xmlns:a16="http://schemas.microsoft.com/office/drawing/2014/main" id="{5AC38A11-2F7E-1748-A217-72A47A151D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4" y="1680"/>
                <a:ext cx="261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76" name="Text Box 28">
                <a:extLst>
                  <a:ext uri="{FF2B5EF4-FFF2-40B4-BE49-F238E27FC236}">
                    <a16:creationId xmlns:a16="http://schemas.microsoft.com/office/drawing/2014/main" id="{FA2C023B-DDB3-5A40-9519-B9DC64B242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2496"/>
                <a:ext cx="264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2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77" name="Text Box 29">
                <a:extLst>
                  <a:ext uri="{FF2B5EF4-FFF2-40B4-BE49-F238E27FC236}">
                    <a16:creationId xmlns:a16="http://schemas.microsoft.com/office/drawing/2014/main" id="{A7F66C85-229E-074F-AE5D-089B373B4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9" y="3408"/>
                <a:ext cx="263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78" name="Text Box 30">
                <a:extLst>
                  <a:ext uri="{FF2B5EF4-FFF2-40B4-BE49-F238E27FC236}">
                    <a16:creationId xmlns:a16="http://schemas.microsoft.com/office/drawing/2014/main" id="{70CCE9D0-CF6B-6A4E-9E0E-7AD6F32FCD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4" y="2928"/>
                <a:ext cx="261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79" name="Text Box 31">
                <a:extLst>
                  <a:ext uri="{FF2B5EF4-FFF2-40B4-BE49-F238E27FC236}">
                    <a16:creationId xmlns:a16="http://schemas.microsoft.com/office/drawing/2014/main" id="{057FD5D3-5C38-344D-8743-77BF9894C6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3" y="3216"/>
                <a:ext cx="261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5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80" name="Text Box 32">
                <a:extLst>
                  <a:ext uri="{FF2B5EF4-FFF2-40B4-BE49-F238E27FC236}">
                    <a16:creationId xmlns:a16="http://schemas.microsoft.com/office/drawing/2014/main" id="{23419BB1-60C5-4B44-A40B-C715FD96B4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5" y="2544"/>
                <a:ext cx="263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6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81" name="Text Box 33">
                <a:extLst>
                  <a:ext uri="{FF2B5EF4-FFF2-40B4-BE49-F238E27FC236}">
                    <a16:creationId xmlns:a16="http://schemas.microsoft.com/office/drawing/2014/main" id="{8C245B58-5F92-084C-A772-D9DBFD89C8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3" y="1680"/>
                <a:ext cx="265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7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82" name="Text Box 34">
                <a:extLst>
                  <a:ext uri="{FF2B5EF4-FFF2-40B4-BE49-F238E27FC236}">
                    <a16:creationId xmlns:a16="http://schemas.microsoft.com/office/drawing/2014/main" id="{825247C0-5E81-9545-86AC-C5A5D52854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2064"/>
                <a:ext cx="263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9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83" name="Text Box 35">
                <a:extLst>
                  <a:ext uri="{FF2B5EF4-FFF2-40B4-BE49-F238E27FC236}">
                    <a16:creationId xmlns:a16="http://schemas.microsoft.com/office/drawing/2014/main" id="{F349F81C-DAD8-694D-BB72-91FE0A3878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921"/>
                <a:ext cx="263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8</a:t>
                </a:r>
                <a:endParaRPr lang="en-US" altLang="zh-CN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684" name="Text Box 36">
                <a:extLst>
                  <a:ext uri="{FF2B5EF4-FFF2-40B4-BE49-F238E27FC236}">
                    <a16:creationId xmlns:a16="http://schemas.microsoft.com/office/drawing/2014/main" id="{C9CD0D29-42D6-0240-9AF4-4FD03A66E3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5" y="2352"/>
                <a:ext cx="324" cy="2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b="1" dirty="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lang="en-US" altLang="zh-CN" b="1" baseline="-25000" dirty="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10</a:t>
                </a:r>
                <a:endParaRPr lang="en-US" altLang="zh-CN" b="1" dirty="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5685" name="Text Box 37">
              <a:extLst>
                <a:ext uri="{FF2B5EF4-FFF2-40B4-BE49-F238E27FC236}">
                  <a16:creationId xmlns:a16="http://schemas.microsoft.com/office/drawing/2014/main" id="{CA8A0BAF-1874-514F-BBE7-C61BD07A2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120"/>
              <a:ext cx="25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l" eaLnBrk="1" hangingPunct="1">
                <a:defRPr/>
              </a:pPr>
              <a:r>
                <a:rPr kumimoji="1"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charset="0"/>
                  <a:ea typeface="楷体_GB2312" charset="0"/>
                  <a:cs typeface="楷体_GB2312" charset="0"/>
                </a:rPr>
                <a:t>不是强连通的</a:t>
              </a:r>
              <a:r>
                <a:rPr kumimoji="1"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charset="0"/>
                  <a:ea typeface="楷体_GB2312" charset="0"/>
                  <a:cs typeface="楷体_GB2312" charset="0"/>
                </a:rPr>
                <a:t>; </a:t>
              </a:r>
              <a:r>
                <a:rPr kumimoji="1"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charset="0"/>
                  <a:ea typeface="楷体_GB2312" charset="0"/>
                  <a:cs typeface="楷体_GB2312" charset="0"/>
                </a:rPr>
                <a:t>有根</a:t>
              </a:r>
              <a:r>
                <a:rPr kumimoji="1"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charset="0"/>
                  <a:ea typeface="楷体_GB2312" charset="0"/>
                  <a:cs typeface="楷体_GB2312" charset="0"/>
                </a:rPr>
                <a:t>B </a:t>
              </a:r>
            </a:p>
          </p:txBody>
        </p:sp>
      </p:grpSp>
      <p:grpSp>
        <p:nvGrpSpPr>
          <p:cNvPr id="155686" name="Group 38">
            <a:extLst>
              <a:ext uri="{FF2B5EF4-FFF2-40B4-BE49-F238E27FC236}">
                <a16:creationId xmlns:a16="http://schemas.microsoft.com/office/drawing/2014/main" id="{1A155B8F-8107-6F4C-9757-7881A0DF715F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371600"/>
            <a:ext cx="3276600" cy="4032250"/>
            <a:chOff x="2304" y="288"/>
            <a:chExt cx="2064" cy="2540"/>
          </a:xfrm>
        </p:grpSpPr>
        <p:grpSp>
          <p:nvGrpSpPr>
            <p:cNvPr id="16414" name="Group 39">
              <a:extLst>
                <a:ext uri="{FF2B5EF4-FFF2-40B4-BE49-F238E27FC236}">
                  <a16:creationId xmlns:a16="http://schemas.microsoft.com/office/drawing/2014/main" id="{1D7DE29E-58D1-8546-8CD6-1F773DB725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88"/>
              <a:ext cx="2064" cy="2208"/>
              <a:chOff x="2880" y="912"/>
              <a:chExt cx="960" cy="960"/>
            </a:xfrm>
          </p:grpSpPr>
          <p:sp>
            <p:nvSpPr>
              <p:cNvPr id="13345" name="Oval 40">
                <a:extLst>
                  <a:ext uri="{FF2B5EF4-FFF2-40B4-BE49-F238E27FC236}">
                    <a16:creationId xmlns:a16="http://schemas.microsoft.com/office/drawing/2014/main" id="{BD1AEEAC-5BF8-F14F-9D0C-8D5D6F17F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46" name="Oval 41">
                <a:extLst>
                  <a:ext uri="{FF2B5EF4-FFF2-40B4-BE49-F238E27FC236}">
                    <a16:creationId xmlns:a16="http://schemas.microsoft.com/office/drawing/2014/main" id="{F2297363-E46B-1E48-BAB5-D977A3D0F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2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47" name="Oval 42">
                <a:extLst>
                  <a:ext uri="{FF2B5EF4-FFF2-40B4-BE49-F238E27FC236}">
                    <a16:creationId xmlns:a16="http://schemas.microsoft.com/office/drawing/2014/main" id="{48068EE6-0BCF-9D49-AF07-28205E632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48" name="Oval 43">
                <a:extLst>
                  <a:ext uri="{FF2B5EF4-FFF2-40B4-BE49-F238E27FC236}">
                    <a16:creationId xmlns:a16="http://schemas.microsoft.com/office/drawing/2014/main" id="{C262C827-E5E1-8E4B-8DDB-F3A1D9028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77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49" name="Oval 44">
                <a:extLst>
                  <a:ext uri="{FF2B5EF4-FFF2-40B4-BE49-F238E27FC236}">
                    <a16:creationId xmlns:a16="http://schemas.microsoft.com/office/drawing/2014/main" id="{F068A68A-C3D6-864E-872B-874E6294D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77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50" name="Line 45">
                <a:extLst>
                  <a:ext uri="{FF2B5EF4-FFF2-40B4-BE49-F238E27FC236}">
                    <a16:creationId xmlns:a16="http://schemas.microsoft.com/office/drawing/2014/main" id="{FA4871BE-BEB8-B640-8358-D2658B3725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8" y="1392"/>
                <a:ext cx="96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51" name="Line 46">
                <a:extLst>
                  <a:ext uri="{FF2B5EF4-FFF2-40B4-BE49-F238E27FC236}">
                    <a16:creationId xmlns:a16="http://schemas.microsoft.com/office/drawing/2014/main" id="{EE892434-02BD-3546-8818-F8AD01B1E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36" y="1000"/>
                <a:ext cx="38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52" name="Line 47">
                <a:extLst>
                  <a:ext uri="{FF2B5EF4-FFF2-40B4-BE49-F238E27FC236}">
                    <a16:creationId xmlns:a16="http://schemas.microsoft.com/office/drawing/2014/main" id="{1DF2C03D-40DE-1144-8638-F3CF629772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008"/>
                <a:ext cx="336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53" name="Line 48">
                <a:extLst>
                  <a:ext uri="{FF2B5EF4-FFF2-40B4-BE49-F238E27FC236}">
                    <a16:creationId xmlns:a16="http://schemas.microsoft.com/office/drawing/2014/main" id="{08F8C7C2-477E-B946-A0FE-DE008871D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8" y="1392"/>
                <a:ext cx="104" cy="3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54" name="Line 49">
                <a:extLst>
                  <a:ext uri="{FF2B5EF4-FFF2-40B4-BE49-F238E27FC236}">
                    <a16:creationId xmlns:a16="http://schemas.microsoft.com/office/drawing/2014/main" id="{3936CA83-6443-8C49-8EB0-3F6DC00D15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2" y="1824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</p:grpSp>
        <p:sp>
          <p:nvSpPr>
            <p:cNvPr id="16415" name="Rectangle 50">
              <a:extLst>
                <a:ext uri="{FF2B5EF4-FFF2-40B4-BE49-F238E27FC236}">
                  <a16:creationId xmlns:a16="http://schemas.microsoft.com/office/drawing/2014/main" id="{532DCA72-29B6-ED41-9478-CB65E06DA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2463"/>
              <a:ext cx="11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3200">
                  <a:latin typeface="楷体_GB2312" pitchFamily="49" charset="-122"/>
                  <a:ea typeface="楷体_GB2312" pitchFamily="49" charset="-122"/>
                </a:rPr>
                <a:t>强连通的</a:t>
              </a:r>
            </a:p>
          </p:txBody>
        </p:sp>
      </p:grpSp>
      <p:grpSp>
        <p:nvGrpSpPr>
          <p:cNvPr id="155699" name="Group 51">
            <a:extLst>
              <a:ext uri="{FF2B5EF4-FFF2-40B4-BE49-F238E27FC236}">
                <a16:creationId xmlns:a16="http://schemas.microsoft.com/office/drawing/2014/main" id="{5382D46F-A3F9-3746-9C79-C9F9B602B2F7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990600"/>
            <a:ext cx="4648200" cy="4827588"/>
            <a:chOff x="2592" y="684"/>
            <a:chExt cx="2928" cy="3041"/>
          </a:xfrm>
        </p:grpSpPr>
        <p:grpSp>
          <p:nvGrpSpPr>
            <p:cNvPr id="16390" name="Group 52">
              <a:extLst>
                <a:ext uri="{FF2B5EF4-FFF2-40B4-BE49-F238E27FC236}">
                  <a16:creationId xmlns:a16="http://schemas.microsoft.com/office/drawing/2014/main" id="{40E1DEE9-A0FF-5541-B40A-182A2A6E08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684"/>
              <a:ext cx="2928" cy="2580"/>
              <a:chOff x="3456" y="684"/>
              <a:chExt cx="1760" cy="1820"/>
            </a:xfrm>
          </p:grpSpPr>
          <p:sp>
            <p:nvSpPr>
              <p:cNvPr id="13321" name="Line 53">
                <a:extLst>
                  <a:ext uri="{FF2B5EF4-FFF2-40B4-BE49-F238E27FC236}">
                    <a16:creationId xmlns:a16="http://schemas.microsoft.com/office/drawing/2014/main" id="{6F884994-2D59-F440-BB58-8984BE2F1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0" y="1088"/>
                <a:ext cx="208" cy="3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22" name="Line 54">
                <a:extLst>
                  <a:ext uri="{FF2B5EF4-FFF2-40B4-BE49-F238E27FC236}">
                    <a16:creationId xmlns:a16="http://schemas.microsoft.com/office/drawing/2014/main" id="{B852F124-CA29-204C-956E-59C2B7A0D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2" y="1080"/>
                <a:ext cx="256" cy="3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23" name="Line 55">
                <a:extLst>
                  <a:ext uri="{FF2B5EF4-FFF2-40B4-BE49-F238E27FC236}">
                    <a16:creationId xmlns:a16="http://schemas.microsoft.com/office/drawing/2014/main" id="{F1989994-D257-7B45-B557-BF8B0CAFD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1472"/>
                <a:ext cx="264" cy="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24" name="Line 56">
                <a:extLst>
                  <a:ext uri="{FF2B5EF4-FFF2-40B4-BE49-F238E27FC236}">
                    <a16:creationId xmlns:a16="http://schemas.microsoft.com/office/drawing/2014/main" id="{08EDEB0E-DF99-7E4E-B82D-BA08D74D2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96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25" name="Line 57">
                <a:extLst>
                  <a:ext uri="{FF2B5EF4-FFF2-40B4-BE49-F238E27FC236}">
                    <a16:creationId xmlns:a16="http://schemas.microsoft.com/office/drawing/2014/main" id="{B46C9023-349B-C242-A1F6-9E3BA0DCA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0" y="1472"/>
                <a:ext cx="256" cy="3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26" name="Line 58">
                <a:extLst>
                  <a:ext uri="{FF2B5EF4-FFF2-40B4-BE49-F238E27FC236}">
                    <a16:creationId xmlns:a16="http://schemas.microsoft.com/office/drawing/2014/main" id="{04A8CFA2-6508-D940-894C-6AE16E3DE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472"/>
                <a:ext cx="120" cy="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27" name="Line 59">
                <a:extLst>
                  <a:ext uri="{FF2B5EF4-FFF2-40B4-BE49-F238E27FC236}">
                    <a16:creationId xmlns:a16="http://schemas.microsoft.com/office/drawing/2014/main" id="{069CDE62-225A-6B41-B41E-893AAEB68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4" y="1920"/>
                <a:ext cx="456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28" name="Line 60">
                <a:extLst>
                  <a:ext uri="{FF2B5EF4-FFF2-40B4-BE49-F238E27FC236}">
                    <a16:creationId xmlns:a16="http://schemas.microsoft.com/office/drawing/2014/main" id="{0EEB8177-016D-A141-8EEA-3D352039FC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1920"/>
                <a:ext cx="12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29" name="Line 61">
                <a:extLst>
                  <a:ext uri="{FF2B5EF4-FFF2-40B4-BE49-F238E27FC236}">
                    <a16:creationId xmlns:a16="http://schemas.microsoft.com/office/drawing/2014/main" id="{2B2269F9-8728-8446-A904-467CB31B89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1912"/>
                <a:ext cx="152" cy="5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0" name="Line 62">
                <a:extLst>
                  <a:ext uri="{FF2B5EF4-FFF2-40B4-BE49-F238E27FC236}">
                    <a16:creationId xmlns:a16="http://schemas.microsoft.com/office/drawing/2014/main" id="{A195827C-1871-9642-935D-323CB7F10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08" y="1912"/>
                <a:ext cx="288" cy="4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1" name="Oval 63">
                <a:extLst>
                  <a:ext uri="{FF2B5EF4-FFF2-40B4-BE49-F238E27FC236}">
                    <a16:creationId xmlns:a16="http://schemas.microsoft.com/office/drawing/2014/main" id="{B740C11D-C68E-444A-84B8-B61DF0B24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10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2" name="Oval 64">
                <a:extLst>
                  <a:ext uri="{FF2B5EF4-FFF2-40B4-BE49-F238E27FC236}">
                    <a16:creationId xmlns:a16="http://schemas.microsoft.com/office/drawing/2014/main" id="{7FB1B948-B8B3-CD43-BFA6-C880B0F263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3" name="Oval 65">
                <a:extLst>
                  <a:ext uri="{FF2B5EF4-FFF2-40B4-BE49-F238E27FC236}">
                    <a16:creationId xmlns:a16="http://schemas.microsoft.com/office/drawing/2014/main" id="{254A13DD-1887-EE45-A021-F23F281CF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13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4" name="Oval 66">
                <a:extLst>
                  <a:ext uri="{FF2B5EF4-FFF2-40B4-BE49-F238E27FC236}">
                    <a16:creationId xmlns:a16="http://schemas.microsoft.com/office/drawing/2014/main" id="{496580C2-3A5C-D944-9C76-34BEA1328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5" name="Oval 67">
                <a:extLst>
                  <a:ext uri="{FF2B5EF4-FFF2-40B4-BE49-F238E27FC236}">
                    <a16:creationId xmlns:a16="http://schemas.microsoft.com/office/drawing/2014/main" id="{6E5EFCCC-77F1-6F48-99D6-70459EA85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6" name="Oval 68">
                <a:extLst>
                  <a:ext uri="{FF2B5EF4-FFF2-40B4-BE49-F238E27FC236}">
                    <a16:creationId xmlns:a16="http://schemas.microsoft.com/office/drawing/2014/main" id="{DA27D016-314C-704F-88C2-E64A9FB51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7" name="Oval 69">
                <a:extLst>
                  <a:ext uri="{FF2B5EF4-FFF2-40B4-BE49-F238E27FC236}">
                    <a16:creationId xmlns:a16="http://schemas.microsoft.com/office/drawing/2014/main" id="{9D3CBE45-6C5E-EA4A-87AB-4851F8A5B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8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8" name="Oval 70">
                <a:extLst>
                  <a:ext uri="{FF2B5EF4-FFF2-40B4-BE49-F238E27FC236}">
                    <a16:creationId xmlns:a16="http://schemas.microsoft.com/office/drawing/2014/main" id="{9B7D6E7F-6309-C243-B8AB-327BDB107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4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39" name="Oval 71">
                <a:extLst>
                  <a:ext uri="{FF2B5EF4-FFF2-40B4-BE49-F238E27FC236}">
                    <a16:creationId xmlns:a16="http://schemas.microsoft.com/office/drawing/2014/main" id="{D03171A1-2B33-6543-ADEF-251456B15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4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40" name="Oval 72">
                <a:extLst>
                  <a:ext uri="{FF2B5EF4-FFF2-40B4-BE49-F238E27FC236}">
                    <a16:creationId xmlns:a16="http://schemas.microsoft.com/office/drawing/2014/main" id="{843E4B9A-0B24-9E4E-9A7F-27E75F803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4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341" name="Oval 73">
                <a:extLst>
                  <a:ext uri="{FF2B5EF4-FFF2-40B4-BE49-F238E27FC236}">
                    <a16:creationId xmlns:a16="http://schemas.microsoft.com/office/drawing/2014/main" id="{6972ADE6-F54A-D14C-8BCB-934B512E7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0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55722" name="Text Box 74">
                <a:extLst>
                  <a:ext uri="{FF2B5EF4-FFF2-40B4-BE49-F238E27FC236}">
                    <a16:creationId xmlns:a16="http://schemas.microsoft.com/office/drawing/2014/main" id="{8C85304E-EB09-AE42-9D48-377CEF8E4D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0" y="684"/>
                <a:ext cx="13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</a:p>
            </p:txBody>
          </p:sp>
        </p:grpSp>
        <p:sp>
          <p:nvSpPr>
            <p:cNvPr id="16391" name="Text Box 75">
              <a:extLst>
                <a:ext uri="{FF2B5EF4-FFF2-40B4-BE49-F238E27FC236}">
                  <a16:creationId xmlns:a16="http://schemas.microsoft.com/office/drawing/2014/main" id="{4A7F8010-2EBD-8C4E-88C5-A86C54563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360"/>
              <a:ext cx="8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有根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1556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775EAC73-1302-4744-86DC-55FC70BB8E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69B89E-E270-4C43-A156-75C8E5917EE6}" type="slidenum">
              <a:rPr kumimoji="0" lang="zh-CN" altLang="en-US" sz="1200"/>
              <a:pPr/>
              <a:t>12</a:t>
            </a:fld>
            <a:endParaRPr kumimoji="0" lang="en-US" altLang="zh-CN" sz="12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38392D92-03BD-2945-A03D-2F9B2BB7C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漠视图</a:t>
            </a:r>
            <a:endParaRPr lang="en-US" altLang="zh-CN" sz="6000" dirty="0">
              <a:latin typeface="黑体" charset="0"/>
              <a:ea typeface="楷体_GB2312" charset="0"/>
            </a:endParaRP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A06DA8D5-F365-4949-98E8-9DE45D96A36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143000"/>
            <a:ext cx="8915400" cy="5029200"/>
          </a:xfrm>
        </p:spPr>
        <p:txBody>
          <a:bodyPr/>
          <a:lstStyle/>
          <a:p>
            <a:pPr marL="360363" indent="-360363">
              <a:lnSpc>
                <a:spcPct val="90000"/>
              </a:lnSpc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有向图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的漠视图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  <a:p>
            <a:pPr marL="360363" indent="-360363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删去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中自身到自身的弧；</a:t>
            </a:r>
          </a:p>
          <a:p>
            <a:pPr marL="360363" indent="-360363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中任意两点，若有弧，只保留一条；</a:t>
            </a:r>
          </a:p>
          <a:p>
            <a:pPr marL="360363" indent="-360363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删去弧的方向，即得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60363" indent="-360363">
              <a:lnSpc>
                <a:spcPct val="90000"/>
              </a:lnSpc>
            </a:pP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称有向图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是连通的，</a:t>
            </a:r>
            <a:b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如果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的漠视图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是连通的。</a:t>
            </a:r>
          </a:p>
          <a:p>
            <a:pPr marL="360363" indent="-360363">
              <a:lnSpc>
                <a:spcPct val="90000"/>
              </a:lnSpc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显然，若有向图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是强连通的，则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必有根,每点皆为根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若有向图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有根，则漠视图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必连通。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反之，不一定成立。亦即，若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连通，则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不一定有根； 若有根，则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未必强连通。 </a:t>
            </a:r>
          </a:p>
        </p:txBody>
      </p:sp>
      <p:grpSp>
        <p:nvGrpSpPr>
          <p:cNvPr id="105516" name="Group 44">
            <a:extLst>
              <a:ext uri="{FF2B5EF4-FFF2-40B4-BE49-F238E27FC236}">
                <a16:creationId xmlns:a16="http://schemas.microsoft.com/office/drawing/2014/main" id="{8C758F1B-EFA9-DF43-8CB7-6AACA9D86592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228600"/>
            <a:ext cx="2971800" cy="1600200"/>
            <a:chOff x="3792" y="144"/>
            <a:chExt cx="1872" cy="1008"/>
          </a:xfrm>
        </p:grpSpPr>
        <p:sp>
          <p:nvSpPr>
            <p:cNvPr id="14377" name="Line 39">
              <a:extLst>
                <a:ext uri="{FF2B5EF4-FFF2-40B4-BE49-F238E27FC236}">
                  <a16:creationId xmlns:a16="http://schemas.microsoft.com/office/drawing/2014/main" id="{4B860A27-3511-ED4F-80C4-0E7B56029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84"/>
              <a:ext cx="672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chemeClr val="accent1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78" name="Line 40">
              <a:extLst>
                <a:ext uri="{FF2B5EF4-FFF2-40B4-BE49-F238E27FC236}">
                  <a16:creationId xmlns:a16="http://schemas.microsoft.com/office/drawing/2014/main" id="{46B80643-4012-F24E-B2F0-D34420B69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84"/>
              <a:ext cx="576" cy="6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chemeClr val="accent1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5513" name="Text Box 41">
              <a:extLst>
                <a:ext uri="{FF2B5EF4-FFF2-40B4-BE49-F238E27FC236}">
                  <a16:creationId xmlns:a16="http://schemas.microsoft.com/office/drawing/2014/main" id="{61EE5B4A-7346-F044-8704-25A7B7950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8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14" name="Text Box 42">
              <a:extLst>
                <a:ext uri="{FF2B5EF4-FFF2-40B4-BE49-F238E27FC236}">
                  <a16:creationId xmlns:a16="http://schemas.microsoft.com/office/drawing/2014/main" id="{1914023E-8724-334B-9549-F346F3DD1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86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15" name="Text Box 43">
              <a:extLst>
                <a:ext uri="{FF2B5EF4-FFF2-40B4-BE49-F238E27FC236}">
                  <a16:creationId xmlns:a16="http://schemas.microsoft.com/office/drawing/2014/main" id="{2849BF5E-9254-3B47-97F7-45097C61F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4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5553" name="Group 81">
            <a:extLst>
              <a:ext uri="{FF2B5EF4-FFF2-40B4-BE49-F238E27FC236}">
                <a16:creationId xmlns:a16="http://schemas.microsoft.com/office/drawing/2014/main" id="{57297562-B7B8-5C4F-8B22-40FFBFDF1DF7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3603625"/>
            <a:ext cx="1595438" cy="1143000"/>
            <a:chOff x="2304" y="2097"/>
            <a:chExt cx="1005" cy="720"/>
          </a:xfrm>
        </p:grpSpPr>
        <p:sp>
          <p:nvSpPr>
            <p:cNvPr id="17444" name="Arc 54">
              <a:extLst>
                <a:ext uri="{FF2B5EF4-FFF2-40B4-BE49-F238E27FC236}">
                  <a16:creationId xmlns:a16="http://schemas.microsoft.com/office/drawing/2014/main" id="{F6A1E637-28A8-AD4F-864B-A3F24F13F8D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877" y="2334"/>
              <a:ext cx="382" cy="387"/>
            </a:xfrm>
            <a:custGeom>
              <a:avLst/>
              <a:gdLst>
                <a:gd name="T0" fmla="*/ 0 w 43060"/>
                <a:gd name="T1" fmla="*/ 0 h 43200"/>
                <a:gd name="T2" fmla="*/ 0 w 43060"/>
                <a:gd name="T3" fmla="*/ 0 h 43200"/>
                <a:gd name="T4" fmla="*/ 0 w 4306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060" h="43200" fill="none" extrusionOk="0">
                  <a:moveTo>
                    <a:pt x="0" y="19143"/>
                  </a:moveTo>
                  <a:cubicBezTo>
                    <a:pt x="1249" y="8235"/>
                    <a:pt x="10481" y="-1"/>
                    <a:pt x="21460" y="0"/>
                  </a:cubicBezTo>
                  <a:cubicBezTo>
                    <a:pt x="33389" y="0"/>
                    <a:pt x="43060" y="9670"/>
                    <a:pt x="43060" y="21600"/>
                  </a:cubicBezTo>
                  <a:cubicBezTo>
                    <a:pt x="43060" y="33529"/>
                    <a:pt x="33389" y="43200"/>
                    <a:pt x="21460" y="43200"/>
                  </a:cubicBezTo>
                  <a:cubicBezTo>
                    <a:pt x="10823" y="43200"/>
                    <a:pt x="1770" y="35457"/>
                    <a:pt x="121" y="24949"/>
                  </a:cubicBezTo>
                </a:path>
                <a:path w="43060" h="43200" stroke="0" extrusionOk="0">
                  <a:moveTo>
                    <a:pt x="0" y="19143"/>
                  </a:moveTo>
                  <a:cubicBezTo>
                    <a:pt x="1249" y="8235"/>
                    <a:pt x="10481" y="-1"/>
                    <a:pt x="21460" y="0"/>
                  </a:cubicBezTo>
                  <a:cubicBezTo>
                    <a:pt x="33389" y="0"/>
                    <a:pt x="43060" y="9670"/>
                    <a:pt x="43060" y="21600"/>
                  </a:cubicBezTo>
                  <a:cubicBezTo>
                    <a:pt x="43060" y="33529"/>
                    <a:pt x="33389" y="43200"/>
                    <a:pt x="21460" y="43200"/>
                  </a:cubicBezTo>
                  <a:cubicBezTo>
                    <a:pt x="10823" y="43200"/>
                    <a:pt x="1770" y="35457"/>
                    <a:pt x="121" y="24949"/>
                  </a:cubicBezTo>
                  <a:lnTo>
                    <a:pt x="21460" y="21600"/>
                  </a:lnTo>
                  <a:lnTo>
                    <a:pt x="0" y="1914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5" name="Arc 55">
              <a:extLst>
                <a:ext uri="{FF2B5EF4-FFF2-40B4-BE49-F238E27FC236}">
                  <a16:creationId xmlns:a16="http://schemas.microsoft.com/office/drawing/2014/main" id="{6F7A8E53-017B-9C45-80B2-85B4DA8A6D2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589" y="2097"/>
              <a:ext cx="720" cy="720"/>
            </a:xfrm>
            <a:custGeom>
              <a:avLst/>
              <a:gdLst>
                <a:gd name="T0" fmla="*/ 0 w 43129"/>
                <a:gd name="T1" fmla="*/ 0 h 43200"/>
                <a:gd name="T2" fmla="*/ 0 w 43129"/>
                <a:gd name="T3" fmla="*/ 0 h 43200"/>
                <a:gd name="T4" fmla="*/ 0 w 43129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29" h="43200" fill="none" extrusionOk="0">
                  <a:moveTo>
                    <a:pt x="1432" y="13683"/>
                  </a:moveTo>
                  <a:cubicBezTo>
                    <a:pt x="4684" y="5427"/>
                    <a:pt x="12655" y="-1"/>
                    <a:pt x="21529" y="0"/>
                  </a:cubicBezTo>
                  <a:cubicBezTo>
                    <a:pt x="33458" y="0"/>
                    <a:pt x="43129" y="9670"/>
                    <a:pt x="43129" y="21600"/>
                  </a:cubicBezTo>
                  <a:cubicBezTo>
                    <a:pt x="43129" y="33529"/>
                    <a:pt x="33458" y="43200"/>
                    <a:pt x="21529" y="43200"/>
                  </a:cubicBezTo>
                  <a:cubicBezTo>
                    <a:pt x="10277" y="43200"/>
                    <a:pt x="910" y="34563"/>
                    <a:pt x="-1" y="23349"/>
                  </a:cubicBezTo>
                </a:path>
                <a:path w="43129" h="43200" stroke="0" extrusionOk="0">
                  <a:moveTo>
                    <a:pt x="1432" y="13683"/>
                  </a:moveTo>
                  <a:cubicBezTo>
                    <a:pt x="4684" y="5427"/>
                    <a:pt x="12655" y="-1"/>
                    <a:pt x="21529" y="0"/>
                  </a:cubicBezTo>
                  <a:cubicBezTo>
                    <a:pt x="33458" y="0"/>
                    <a:pt x="43129" y="9670"/>
                    <a:pt x="43129" y="21600"/>
                  </a:cubicBezTo>
                  <a:cubicBezTo>
                    <a:pt x="43129" y="33529"/>
                    <a:pt x="33458" y="43200"/>
                    <a:pt x="21529" y="43200"/>
                  </a:cubicBezTo>
                  <a:cubicBezTo>
                    <a:pt x="10277" y="43200"/>
                    <a:pt x="910" y="34563"/>
                    <a:pt x="-1" y="23349"/>
                  </a:cubicBezTo>
                  <a:lnTo>
                    <a:pt x="21529" y="21600"/>
                  </a:lnTo>
                  <a:lnTo>
                    <a:pt x="1432" y="13683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47" name="Text Box 75">
              <a:extLst>
                <a:ext uri="{FF2B5EF4-FFF2-40B4-BE49-F238E27FC236}">
                  <a16:creationId xmlns:a16="http://schemas.microsoft.com/office/drawing/2014/main" id="{9C30DDE1-A978-E74E-90DD-E2F9CAEB6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4" y="2145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9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48" name="Text Box 76">
              <a:extLst>
                <a:ext uri="{FF2B5EF4-FFF2-40B4-BE49-F238E27FC236}">
                  <a16:creationId xmlns:a16="http://schemas.microsoft.com/office/drawing/2014/main" id="{368233B5-62A1-B24A-99B8-F80CCCCC0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131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5551" name="Group 79">
            <a:extLst>
              <a:ext uri="{FF2B5EF4-FFF2-40B4-BE49-F238E27FC236}">
                <a16:creationId xmlns:a16="http://schemas.microsoft.com/office/drawing/2014/main" id="{00E84DB3-12E7-A643-8AC5-939FD4DD9155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5257800"/>
            <a:ext cx="1212850" cy="1012825"/>
            <a:chOff x="7719" y="1699"/>
            <a:chExt cx="764" cy="638"/>
          </a:xfrm>
        </p:grpSpPr>
        <p:sp>
          <p:nvSpPr>
            <p:cNvPr id="17442" name="Arc 52">
              <a:extLst>
                <a:ext uri="{FF2B5EF4-FFF2-40B4-BE49-F238E27FC236}">
                  <a16:creationId xmlns:a16="http://schemas.microsoft.com/office/drawing/2014/main" id="{A51E6F25-D28D-614F-A1C9-DDC69962DC1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811" y="1905"/>
              <a:ext cx="672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43" name="Text Box 71">
              <a:extLst>
                <a:ext uri="{FF2B5EF4-FFF2-40B4-BE49-F238E27FC236}">
                  <a16:creationId xmlns:a16="http://schemas.microsoft.com/office/drawing/2014/main" id="{F57436B3-B6B4-624B-8EAC-ED76259F9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9" y="1699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5554" name="Group 82">
            <a:extLst>
              <a:ext uri="{FF2B5EF4-FFF2-40B4-BE49-F238E27FC236}">
                <a16:creationId xmlns:a16="http://schemas.microsoft.com/office/drawing/2014/main" id="{18A8EC25-4463-1448-A8D8-63103918A7F8}"/>
              </a:ext>
            </a:extLst>
          </p:cNvPr>
          <p:cNvGrpSpPr>
            <a:grpSpLocks/>
          </p:cNvGrpSpPr>
          <p:nvPr/>
        </p:nvGrpSpPr>
        <p:grpSpPr bwMode="auto">
          <a:xfrm>
            <a:off x="5099050" y="2819400"/>
            <a:ext cx="3525838" cy="4084638"/>
            <a:chOff x="3020" y="1603"/>
            <a:chExt cx="2221" cy="2573"/>
          </a:xfrm>
        </p:grpSpPr>
        <p:sp>
          <p:nvSpPr>
            <p:cNvPr id="17416" name="Arc 53">
              <a:extLst>
                <a:ext uri="{FF2B5EF4-FFF2-40B4-BE49-F238E27FC236}">
                  <a16:creationId xmlns:a16="http://schemas.microsoft.com/office/drawing/2014/main" id="{984F9E83-0B28-FE4A-AFC2-68E0A2E15BA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20" y="3393"/>
              <a:ext cx="672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6" name="Line 46">
              <a:extLst>
                <a:ext uri="{FF2B5EF4-FFF2-40B4-BE49-F238E27FC236}">
                  <a16:creationId xmlns:a16="http://schemas.microsoft.com/office/drawing/2014/main" id="{60DD7981-48F9-EF44-857C-F7DEC37E21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4" y="3345"/>
              <a:ext cx="67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47" name="Line 47">
              <a:extLst>
                <a:ext uri="{FF2B5EF4-FFF2-40B4-BE49-F238E27FC236}">
                  <a16:creationId xmlns:a16="http://schemas.microsoft.com/office/drawing/2014/main" id="{1E16954C-51EF-EF43-8342-C8A80D1AC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2" y="2577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48" name="Line 48">
              <a:extLst>
                <a:ext uri="{FF2B5EF4-FFF2-40B4-BE49-F238E27FC236}">
                  <a16:creationId xmlns:a16="http://schemas.microsoft.com/office/drawing/2014/main" id="{E2007A38-A309-5843-957C-832DFF0EF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6" y="2001"/>
              <a:ext cx="672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49" name="Line 49">
              <a:extLst>
                <a:ext uri="{FF2B5EF4-FFF2-40B4-BE49-F238E27FC236}">
                  <a16:creationId xmlns:a16="http://schemas.microsoft.com/office/drawing/2014/main" id="{1F149638-0871-A04E-9191-04F61810E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8" y="2009"/>
              <a:ext cx="624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50" name="Line 50">
              <a:extLst>
                <a:ext uri="{FF2B5EF4-FFF2-40B4-BE49-F238E27FC236}">
                  <a16:creationId xmlns:a16="http://schemas.microsoft.com/office/drawing/2014/main" id="{3DB67841-FDF2-FC42-AB28-AAF58FFAD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76" y="2577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51" name="Line 51">
              <a:extLst>
                <a:ext uri="{FF2B5EF4-FFF2-40B4-BE49-F238E27FC236}">
                  <a16:creationId xmlns:a16="http://schemas.microsoft.com/office/drawing/2014/main" id="{B49C2A1A-2F70-504F-BB9E-840B97653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4" y="2529"/>
              <a:ext cx="1392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52" name="Oval 56">
              <a:extLst>
                <a:ext uri="{FF2B5EF4-FFF2-40B4-BE49-F238E27FC236}">
                  <a16:creationId xmlns:a16="http://schemas.microsoft.com/office/drawing/2014/main" id="{49268E50-3776-614D-BB74-09E8051FD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1905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53" name="Oval 57">
              <a:extLst>
                <a:ext uri="{FF2B5EF4-FFF2-40B4-BE49-F238E27FC236}">
                  <a16:creationId xmlns:a16="http://schemas.microsoft.com/office/drawing/2014/main" id="{CF6679ED-46FA-6145-9572-227DD77EC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0" y="2433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54" name="Oval 58">
              <a:extLst>
                <a:ext uri="{FF2B5EF4-FFF2-40B4-BE49-F238E27FC236}">
                  <a16:creationId xmlns:a16="http://schemas.microsoft.com/office/drawing/2014/main" id="{1B1C721E-D59A-B942-A59C-E17F72B6D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" y="2433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55" name="Oval 59">
              <a:extLst>
                <a:ext uri="{FF2B5EF4-FFF2-40B4-BE49-F238E27FC236}">
                  <a16:creationId xmlns:a16="http://schemas.microsoft.com/office/drawing/2014/main" id="{427A9D2A-BC3B-0148-805F-D9C643909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" y="3777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56" name="Oval 60">
              <a:extLst>
                <a:ext uri="{FF2B5EF4-FFF2-40B4-BE49-F238E27FC236}">
                  <a16:creationId xmlns:a16="http://schemas.microsoft.com/office/drawing/2014/main" id="{317758D6-F430-6545-A025-B3B68A424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0" y="3249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4357" name="Oval 61">
              <a:extLst>
                <a:ext uri="{FF2B5EF4-FFF2-40B4-BE49-F238E27FC236}">
                  <a16:creationId xmlns:a16="http://schemas.microsoft.com/office/drawing/2014/main" id="{443A1CC6-720D-694E-8305-650EAEA56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" y="3249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5534" name="Text Box 62">
              <a:extLst>
                <a:ext uri="{FF2B5EF4-FFF2-40B4-BE49-F238E27FC236}">
                  <a16:creationId xmlns:a16="http://schemas.microsoft.com/office/drawing/2014/main" id="{610B58DD-5F1C-9D4E-979B-2D0CF02E9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" y="1603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5535" name="Text Box 63">
              <a:extLst>
                <a:ext uri="{FF2B5EF4-FFF2-40B4-BE49-F238E27FC236}">
                  <a16:creationId xmlns:a16="http://schemas.microsoft.com/office/drawing/2014/main" id="{20EF6355-A1A0-7740-AFE6-D53731BAB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" y="2275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5536" name="Text Box 64">
              <a:extLst>
                <a:ext uri="{FF2B5EF4-FFF2-40B4-BE49-F238E27FC236}">
                  <a16:creationId xmlns:a16="http://schemas.microsoft.com/office/drawing/2014/main" id="{A7C62C32-A2CF-524E-B546-5204FADBF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" y="3091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5537" name="Text Box 65">
              <a:extLst>
                <a:ext uri="{FF2B5EF4-FFF2-40B4-BE49-F238E27FC236}">
                  <a16:creationId xmlns:a16="http://schemas.microsoft.com/office/drawing/2014/main" id="{F3D4DBBB-DA82-5943-BB01-BC8135F5B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3811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5538" name="Text Box 66">
              <a:extLst>
                <a:ext uri="{FF2B5EF4-FFF2-40B4-BE49-F238E27FC236}">
                  <a16:creationId xmlns:a16="http://schemas.microsoft.com/office/drawing/2014/main" id="{F2D77014-8FDD-4B4C-9384-4D624D7AB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0" y="3139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05539" name="Text Box 67">
              <a:extLst>
                <a:ext uri="{FF2B5EF4-FFF2-40B4-BE49-F238E27FC236}">
                  <a16:creationId xmlns:a16="http://schemas.microsoft.com/office/drawing/2014/main" id="{8E32A74B-7131-3A41-BE76-E06E9BF26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356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05540" name="Text Box 68">
              <a:extLst>
                <a:ext uri="{FF2B5EF4-FFF2-40B4-BE49-F238E27FC236}">
                  <a16:creationId xmlns:a16="http://schemas.microsoft.com/office/drawing/2014/main" id="{D2CE7364-E130-9048-8E02-47320FB5B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0" y="1891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41" name="Text Box 69">
              <a:extLst>
                <a:ext uri="{FF2B5EF4-FFF2-40B4-BE49-F238E27FC236}">
                  <a16:creationId xmlns:a16="http://schemas.microsoft.com/office/drawing/2014/main" id="{4BD36D26-086A-A649-A7C9-1662CFEFA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4" y="2707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42" name="Text Box 70">
              <a:extLst>
                <a:ext uri="{FF2B5EF4-FFF2-40B4-BE49-F238E27FC236}">
                  <a16:creationId xmlns:a16="http://schemas.microsoft.com/office/drawing/2014/main" id="{4C609662-BCBB-7A4D-A291-111A148E8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619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44" name="Text Box 72">
              <a:extLst>
                <a:ext uri="{FF2B5EF4-FFF2-40B4-BE49-F238E27FC236}">
                  <a16:creationId xmlns:a16="http://schemas.microsoft.com/office/drawing/2014/main" id="{E844AB1B-5947-5847-A095-CECA44612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460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45" name="Text Box 73">
              <a:extLst>
                <a:ext uri="{FF2B5EF4-FFF2-40B4-BE49-F238E27FC236}">
                  <a16:creationId xmlns:a16="http://schemas.microsoft.com/office/drawing/2014/main" id="{165B4172-D7F8-DE4A-A78D-7219B7B51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755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46" name="Text Box 74">
              <a:extLst>
                <a:ext uri="{FF2B5EF4-FFF2-40B4-BE49-F238E27FC236}">
                  <a16:creationId xmlns:a16="http://schemas.microsoft.com/office/drawing/2014/main" id="{A99A6810-F1C4-C84B-BA70-B1FE3F4F3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28"/>
              <a:ext cx="31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5549" name="Text Box 77">
              <a:extLst>
                <a:ext uri="{FF2B5EF4-FFF2-40B4-BE49-F238E27FC236}">
                  <a16:creationId xmlns:a16="http://schemas.microsoft.com/office/drawing/2014/main" id="{6649C927-F000-7146-B955-0373B033A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563"/>
              <a:ext cx="40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10</a:t>
              </a:r>
              <a:endPara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5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5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71C1AB6D-ADC1-1B47-BB68-95FE683DCA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EBF5B1E-8B49-3A4D-A6ED-AE706823F896}" type="slidenum">
              <a:rPr kumimoji="0" lang="zh-CN" altLang="en-US" sz="1200"/>
              <a:pPr/>
              <a:t>13</a:t>
            </a:fld>
            <a:endParaRPr kumimoji="0" lang="en-US" altLang="zh-CN" sz="12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9DD67E64-EA67-3046-A66D-05FFDB2D2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定义4.3.8 有向树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2507F17B-319C-9443-8FA8-A552BA4092F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991600" cy="5257800"/>
          </a:xfrm>
        </p:spPr>
        <p:txBody>
          <a:bodyPr/>
          <a:lstStyle/>
          <a:p>
            <a:pPr marL="265113" indent="-265113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有向图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有向树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（或有根树），如果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中有一点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并且满足：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中每一点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v(v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都恰是</a:t>
            </a:r>
            <a:r>
              <a:rPr kumimoji="0" lang="zh-CN" altLang="en-US" sz="320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一条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的起点。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不是任一条弧的起点。  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是根。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265113" indent="-265113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从定义中我们可推出有向树有如下性质：</a:t>
            </a:r>
          </a:p>
          <a:p>
            <a:pPr marL="265113" indent="-265113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1)  每一点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v(v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恰有一条有向路；</a:t>
            </a:r>
          </a:p>
          <a:p>
            <a:pPr marL="265113" indent="-265113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2)  没有有向回路；</a:t>
            </a:r>
          </a:p>
          <a:p>
            <a:pPr marL="265113" indent="-265113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3) 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两点间最多有一条弧。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106509" name="Line 13">
            <a:extLst>
              <a:ext uri="{FF2B5EF4-FFF2-40B4-BE49-F238E27FC236}">
                <a16:creationId xmlns:a16="http://schemas.microsoft.com/office/drawing/2014/main" id="{045A80B5-6CA2-7645-BE1C-EE57EF7DC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1225" y="4773613"/>
            <a:ext cx="693738" cy="604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106514" name="Group 18">
            <a:extLst>
              <a:ext uri="{FF2B5EF4-FFF2-40B4-BE49-F238E27FC236}">
                <a16:creationId xmlns:a16="http://schemas.microsoft.com/office/drawing/2014/main" id="{7E30AF72-0E7C-2A49-A9E0-A0E3B406261B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343400"/>
            <a:ext cx="1981200" cy="2243138"/>
            <a:chOff x="3888" y="2736"/>
            <a:chExt cx="1248" cy="1413"/>
          </a:xfrm>
        </p:grpSpPr>
        <p:sp>
          <p:nvSpPr>
            <p:cNvPr id="15371" name="Oval 6">
              <a:extLst>
                <a:ext uri="{FF2B5EF4-FFF2-40B4-BE49-F238E27FC236}">
                  <a16:creationId xmlns:a16="http://schemas.microsoft.com/office/drawing/2014/main" id="{B5341327-6931-284F-B574-99D5256DB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2880"/>
              <a:ext cx="124" cy="12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2" name="Oval 7">
              <a:extLst>
                <a:ext uri="{FF2B5EF4-FFF2-40B4-BE49-F238E27FC236}">
                  <a16:creationId xmlns:a16="http://schemas.microsoft.com/office/drawing/2014/main" id="{513BF138-5503-9048-A9FF-77AC69429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88"/>
              <a:ext cx="125" cy="12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3" name="Oval 8">
              <a:extLst>
                <a:ext uri="{FF2B5EF4-FFF2-40B4-BE49-F238E27FC236}">
                  <a16:creationId xmlns:a16="http://schemas.microsoft.com/office/drawing/2014/main" id="{071B2EE8-D36A-1E48-8F46-07438807D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" y="3388"/>
              <a:ext cx="125" cy="12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4" name="Oval 9">
              <a:extLst>
                <a:ext uri="{FF2B5EF4-FFF2-40B4-BE49-F238E27FC236}">
                  <a16:creationId xmlns:a16="http://schemas.microsoft.com/office/drawing/2014/main" id="{BD757635-7F44-4641-83CC-3F9ACCF9F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4022"/>
              <a:ext cx="125" cy="12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5" name="Oval 10">
              <a:extLst>
                <a:ext uri="{FF2B5EF4-FFF2-40B4-BE49-F238E27FC236}">
                  <a16:creationId xmlns:a16="http://schemas.microsoft.com/office/drawing/2014/main" id="{D8175346-C053-3E46-B1BB-DEA5919A2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" y="4022"/>
              <a:ext cx="125" cy="12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6" name="Line 11">
              <a:extLst>
                <a:ext uri="{FF2B5EF4-FFF2-40B4-BE49-F238E27FC236}">
                  <a16:creationId xmlns:a16="http://schemas.microsoft.com/office/drawing/2014/main" id="{27B81512-FF9B-CB4A-BABB-931F9DF90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0" y="3515"/>
              <a:ext cx="125" cy="5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7" name="Line 12">
              <a:extLst>
                <a:ext uri="{FF2B5EF4-FFF2-40B4-BE49-F238E27FC236}">
                  <a16:creationId xmlns:a16="http://schemas.microsoft.com/office/drawing/2014/main" id="{E3B9660D-6338-B144-8055-EB9F0CD04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1" y="2996"/>
              <a:ext cx="499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8" name="Line 14">
              <a:extLst>
                <a:ext uri="{FF2B5EF4-FFF2-40B4-BE49-F238E27FC236}">
                  <a16:creationId xmlns:a16="http://schemas.microsoft.com/office/drawing/2014/main" id="{02F900D6-0DD1-DE40-B14A-DDF47105C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8" y="3515"/>
              <a:ext cx="136" cy="5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9" name="Line 15">
              <a:extLst>
                <a:ext uri="{FF2B5EF4-FFF2-40B4-BE49-F238E27FC236}">
                  <a16:creationId xmlns:a16="http://schemas.microsoft.com/office/drawing/2014/main" id="{D829E106-29AC-8444-AB90-1616BE7AD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8" y="4086"/>
              <a:ext cx="6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6513" name="Text Box 17">
              <a:extLst>
                <a:ext uri="{FF2B5EF4-FFF2-40B4-BE49-F238E27FC236}">
                  <a16:creationId xmlns:a16="http://schemas.microsoft.com/office/drawing/2014/main" id="{308A75D2-2BE0-2C4F-9D7B-44E40F733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1" y="2736"/>
              <a:ext cx="10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</a:p>
          </p:txBody>
        </p:sp>
      </p:grpSp>
      <p:sp>
        <p:nvSpPr>
          <p:cNvPr id="106515" name="Line 19">
            <a:extLst>
              <a:ext uri="{FF2B5EF4-FFF2-40B4-BE49-F238E27FC236}">
                <a16:creationId xmlns:a16="http://schemas.microsoft.com/office/drawing/2014/main" id="{CDF246AF-038A-0B47-8DD7-48136EE32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486400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6516" name="Line 20">
            <a:extLst>
              <a:ext uri="{FF2B5EF4-FFF2-40B4-BE49-F238E27FC236}">
                <a16:creationId xmlns:a16="http://schemas.microsoft.com/office/drawing/2014/main" id="{97B71DA7-0E81-2C41-972A-992346489A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5562600"/>
            <a:ext cx="13716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6517" name="Line 21">
            <a:extLst>
              <a:ext uri="{FF2B5EF4-FFF2-40B4-BE49-F238E27FC236}">
                <a16:creationId xmlns:a16="http://schemas.microsoft.com/office/drawing/2014/main" id="{A9828E76-F06F-9F4D-A8FC-178659891F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0800" y="5638800"/>
            <a:ext cx="1295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6519" name="Arc 23">
            <a:extLst>
              <a:ext uri="{FF2B5EF4-FFF2-40B4-BE49-F238E27FC236}">
                <a16:creationId xmlns:a16="http://schemas.microsoft.com/office/drawing/2014/main" id="{B51E794A-9E33-3842-BD48-88A5A05AE1B8}"/>
              </a:ext>
            </a:extLst>
          </p:cNvPr>
          <p:cNvSpPr>
            <a:spLocks/>
          </p:cNvSpPr>
          <p:nvPr/>
        </p:nvSpPr>
        <p:spPr bwMode="auto">
          <a:xfrm flipH="1" flipV="1">
            <a:off x="6172200" y="5562600"/>
            <a:ext cx="228600" cy="839788"/>
          </a:xfrm>
          <a:custGeom>
            <a:avLst/>
            <a:gdLst>
              <a:gd name="T0" fmla="*/ 0 w 22485"/>
              <a:gd name="T1" fmla="*/ 20603488 h 25678"/>
              <a:gd name="T2" fmla="*/ 236083694 w 22485"/>
              <a:gd name="T3" fmla="*/ 2147483647 h 25678"/>
              <a:gd name="T4" fmla="*/ 9455785 w 22485"/>
              <a:gd name="T5" fmla="*/ 2147483647 h 2567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85" h="25678" fill="none" extrusionOk="0">
                <a:moveTo>
                  <a:pt x="0" y="18"/>
                </a:moveTo>
                <a:cubicBezTo>
                  <a:pt x="294" y="6"/>
                  <a:pt x="589" y="-1"/>
                  <a:pt x="885" y="0"/>
                </a:cubicBezTo>
                <a:cubicBezTo>
                  <a:pt x="12814" y="0"/>
                  <a:pt x="22485" y="9670"/>
                  <a:pt x="22485" y="21600"/>
                </a:cubicBezTo>
                <a:cubicBezTo>
                  <a:pt x="22485" y="22968"/>
                  <a:pt x="22354" y="24333"/>
                  <a:pt x="22096" y="25677"/>
                </a:cubicBezTo>
              </a:path>
              <a:path w="22485" h="25678" stroke="0" extrusionOk="0">
                <a:moveTo>
                  <a:pt x="0" y="18"/>
                </a:moveTo>
                <a:cubicBezTo>
                  <a:pt x="294" y="6"/>
                  <a:pt x="589" y="-1"/>
                  <a:pt x="885" y="0"/>
                </a:cubicBezTo>
                <a:cubicBezTo>
                  <a:pt x="12814" y="0"/>
                  <a:pt x="22485" y="9670"/>
                  <a:pt x="22485" y="21600"/>
                </a:cubicBezTo>
                <a:cubicBezTo>
                  <a:pt x="22485" y="22968"/>
                  <a:pt x="22354" y="24333"/>
                  <a:pt x="22096" y="25677"/>
                </a:cubicBezTo>
                <a:lnTo>
                  <a:pt x="885" y="21600"/>
                </a:lnTo>
                <a:lnTo>
                  <a:pt x="0" y="18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EEA15C8E-9180-7648-ABD0-2BC91A7F81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78050D-547A-864C-886E-3B3A516CDB20}" type="slidenum">
              <a:rPr kumimoji="0" lang="zh-CN" altLang="en-US" sz="1200"/>
              <a:pPr/>
              <a:t>14</a:t>
            </a:fld>
            <a:endParaRPr kumimoji="0" lang="en-US" altLang="zh-CN" sz="1200" dirty="0"/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7E40B776-2DBF-254B-9B92-9491BD7EF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</a:rPr>
              <a:t>例：</a:t>
            </a:r>
          </a:p>
        </p:txBody>
      </p:sp>
      <p:grpSp>
        <p:nvGrpSpPr>
          <p:cNvPr id="119885" name="Group 77">
            <a:extLst>
              <a:ext uri="{FF2B5EF4-FFF2-40B4-BE49-F238E27FC236}">
                <a16:creationId xmlns:a16="http://schemas.microsoft.com/office/drawing/2014/main" id="{78FF9FEB-8E00-5243-9795-D7A378EDC29A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143000"/>
            <a:ext cx="5105400" cy="4945063"/>
            <a:chOff x="528" y="322"/>
            <a:chExt cx="3216" cy="3115"/>
          </a:xfrm>
        </p:grpSpPr>
        <p:grpSp>
          <p:nvGrpSpPr>
            <p:cNvPr id="21546" name="Group 4">
              <a:extLst>
                <a:ext uri="{FF2B5EF4-FFF2-40B4-BE49-F238E27FC236}">
                  <a16:creationId xmlns:a16="http://schemas.microsoft.com/office/drawing/2014/main" id="{D3D5714E-D7F6-1642-BBD2-3EC37DE5F4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322"/>
              <a:ext cx="2937" cy="2746"/>
              <a:chOff x="2832" y="1334"/>
              <a:chExt cx="2890" cy="2552"/>
            </a:xfrm>
          </p:grpSpPr>
          <p:sp>
            <p:nvSpPr>
              <p:cNvPr id="16429" name="Line 5">
                <a:extLst>
                  <a:ext uri="{FF2B5EF4-FFF2-40B4-BE49-F238E27FC236}">
                    <a16:creationId xmlns:a16="http://schemas.microsoft.com/office/drawing/2014/main" id="{57E208A8-821C-D643-AAA8-4172D4C95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88" y="3072"/>
                <a:ext cx="672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0" name="Line 6">
                <a:extLst>
                  <a:ext uri="{FF2B5EF4-FFF2-40B4-BE49-F238E27FC236}">
                    <a16:creationId xmlns:a16="http://schemas.microsoft.com/office/drawing/2014/main" id="{A8F7905D-4535-A546-B56F-43C83FFC9A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16" y="2304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1" name="Line 7">
                <a:extLst>
                  <a:ext uri="{FF2B5EF4-FFF2-40B4-BE49-F238E27FC236}">
                    <a16:creationId xmlns:a16="http://schemas.microsoft.com/office/drawing/2014/main" id="{1865BBB8-86C5-F64B-9657-9135052E19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1728"/>
                <a:ext cx="672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2" name="Line 8">
                <a:extLst>
                  <a:ext uri="{FF2B5EF4-FFF2-40B4-BE49-F238E27FC236}">
                    <a16:creationId xmlns:a16="http://schemas.microsoft.com/office/drawing/2014/main" id="{F79B15A5-506D-724C-B3E3-465519C9C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2" y="1736"/>
                <a:ext cx="624" cy="43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3" name="Line 9">
                <a:extLst>
                  <a:ext uri="{FF2B5EF4-FFF2-40B4-BE49-F238E27FC236}">
                    <a16:creationId xmlns:a16="http://schemas.microsoft.com/office/drawing/2014/main" id="{B0ED7C3B-C6B0-3F44-A865-47C0C4718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60" y="2304"/>
                <a:ext cx="0" cy="6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4" name="Line 10">
                <a:extLst>
                  <a:ext uri="{FF2B5EF4-FFF2-40B4-BE49-F238E27FC236}">
                    <a16:creationId xmlns:a16="http://schemas.microsoft.com/office/drawing/2014/main" id="{73881571-2F5C-6041-A8A7-43DBE856B4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256"/>
                <a:ext cx="1392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21554" name="Arc 11">
                <a:extLst>
                  <a:ext uri="{FF2B5EF4-FFF2-40B4-BE49-F238E27FC236}">
                    <a16:creationId xmlns:a16="http://schemas.microsoft.com/office/drawing/2014/main" id="{16E69102-8B0D-F045-B0F1-31D6CEF364C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608" y="3072"/>
                <a:ext cx="672" cy="43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5" name="Arc 12">
                <a:extLst>
                  <a:ext uri="{FF2B5EF4-FFF2-40B4-BE49-F238E27FC236}">
                    <a16:creationId xmlns:a16="http://schemas.microsoft.com/office/drawing/2014/main" id="{DFC065B6-B62D-4A42-AE2C-0C430B14477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704" y="3120"/>
                <a:ext cx="672" cy="4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6" name="Arc 13">
                <a:extLst>
                  <a:ext uri="{FF2B5EF4-FFF2-40B4-BE49-F238E27FC236}">
                    <a16:creationId xmlns:a16="http://schemas.microsoft.com/office/drawing/2014/main" id="{2E4871E2-6E6D-EF4F-B1B5-2597FBD0381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361" y="2061"/>
                <a:ext cx="382" cy="387"/>
              </a:xfrm>
              <a:custGeom>
                <a:avLst/>
                <a:gdLst>
                  <a:gd name="T0" fmla="*/ 0 w 43060"/>
                  <a:gd name="T1" fmla="*/ 0 h 43200"/>
                  <a:gd name="T2" fmla="*/ 0 w 43060"/>
                  <a:gd name="T3" fmla="*/ 0 h 43200"/>
                  <a:gd name="T4" fmla="*/ 0 w 43060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060" h="43200" fill="none" extrusionOk="0">
                    <a:moveTo>
                      <a:pt x="0" y="19143"/>
                    </a:moveTo>
                    <a:cubicBezTo>
                      <a:pt x="1249" y="8235"/>
                      <a:pt x="10481" y="-1"/>
                      <a:pt x="21460" y="0"/>
                    </a:cubicBezTo>
                    <a:cubicBezTo>
                      <a:pt x="33389" y="0"/>
                      <a:pt x="43060" y="9670"/>
                      <a:pt x="43060" y="21600"/>
                    </a:cubicBezTo>
                    <a:cubicBezTo>
                      <a:pt x="43060" y="33529"/>
                      <a:pt x="33389" y="43200"/>
                      <a:pt x="21460" y="43200"/>
                    </a:cubicBezTo>
                    <a:cubicBezTo>
                      <a:pt x="10823" y="43200"/>
                      <a:pt x="1770" y="35457"/>
                      <a:pt x="121" y="24949"/>
                    </a:cubicBezTo>
                  </a:path>
                  <a:path w="43060" h="43200" stroke="0" extrusionOk="0">
                    <a:moveTo>
                      <a:pt x="0" y="19143"/>
                    </a:moveTo>
                    <a:cubicBezTo>
                      <a:pt x="1249" y="8235"/>
                      <a:pt x="10481" y="-1"/>
                      <a:pt x="21460" y="0"/>
                    </a:cubicBezTo>
                    <a:cubicBezTo>
                      <a:pt x="33389" y="0"/>
                      <a:pt x="43060" y="9670"/>
                      <a:pt x="43060" y="21600"/>
                    </a:cubicBezTo>
                    <a:cubicBezTo>
                      <a:pt x="43060" y="33529"/>
                      <a:pt x="33389" y="43200"/>
                      <a:pt x="21460" y="43200"/>
                    </a:cubicBezTo>
                    <a:cubicBezTo>
                      <a:pt x="10823" y="43200"/>
                      <a:pt x="1770" y="35457"/>
                      <a:pt x="121" y="24949"/>
                    </a:cubicBezTo>
                    <a:lnTo>
                      <a:pt x="21460" y="21600"/>
                    </a:lnTo>
                    <a:lnTo>
                      <a:pt x="0" y="1914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7" name="Arc 14">
                <a:extLst>
                  <a:ext uri="{FF2B5EF4-FFF2-40B4-BE49-F238E27FC236}">
                    <a16:creationId xmlns:a16="http://schemas.microsoft.com/office/drawing/2014/main" id="{7A9E8679-3F77-2449-B889-12210C3258C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073" y="1824"/>
                <a:ext cx="720" cy="720"/>
              </a:xfrm>
              <a:custGeom>
                <a:avLst/>
                <a:gdLst>
                  <a:gd name="T0" fmla="*/ 0 w 43129"/>
                  <a:gd name="T1" fmla="*/ 0 h 43200"/>
                  <a:gd name="T2" fmla="*/ 0 w 43129"/>
                  <a:gd name="T3" fmla="*/ 0 h 43200"/>
                  <a:gd name="T4" fmla="*/ 0 w 43129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29" h="43200" fill="none" extrusionOk="0">
                    <a:moveTo>
                      <a:pt x="1432" y="13683"/>
                    </a:moveTo>
                    <a:cubicBezTo>
                      <a:pt x="4684" y="5427"/>
                      <a:pt x="12655" y="-1"/>
                      <a:pt x="21529" y="0"/>
                    </a:cubicBezTo>
                    <a:cubicBezTo>
                      <a:pt x="33458" y="0"/>
                      <a:pt x="43129" y="9670"/>
                      <a:pt x="43129" y="21600"/>
                    </a:cubicBezTo>
                    <a:cubicBezTo>
                      <a:pt x="43129" y="33529"/>
                      <a:pt x="33458" y="43200"/>
                      <a:pt x="21529" y="43200"/>
                    </a:cubicBezTo>
                    <a:cubicBezTo>
                      <a:pt x="10277" y="43200"/>
                      <a:pt x="910" y="34563"/>
                      <a:pt x="-1" y="23349"/>
                    </a:cubicBezTo>
                  </a:path>
                  <a:path w="43129" h="43200" stroke="0" extrusionOk="0">
                    <a:moveTo>
                      <a:pt x="1432" y="13683"/>
                    </a:moveTo>
                    <a:cubicBezTo>
                      <a:pt x="4684" y="5427"/>
                      <a:pt x="12655" y="-1"/>
                      <a:pt x="21529" y="0"/>
                    </a:cubicBezTo>
                    <a:cubicBezTo>
                      <a:pt x="33458" y="0"/>
                      <a:pt x="43129" y="9670"/>
                      <a:pt x="43129" y="21600"/>
                    </a:cubicBezTo>
                    <a:cubicBezTo>
                      <a:pt x="43129" y="33529"/>
                      <a:pt x="33458" y="43200"/>
                      <a:pt x="21529" y="43200"/>
                    </a:cubicBezTo>
                    <a:cubicBezTo>
                      <a:pt x="10277" y="43200"/>
                      <a:pt x="910" y="34563"/>
                      <a:pt x="-1" y="23349"/>
                    </a:cubicBezTo>
                    <a:lnTo>
                      <a:pt x="21529" y="21600"/>
                    </a:lnTo>
                    <a:lnTo>
                      <a:pt x="1432" y="1368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39" name="Oval 15">
                <a:extLst>
                  <a:ext uri="{FF2B5EF4-FFF2-40B4-BE49-F238E27FC236}">
                    <a16:creationId xmlns:a16="http://schemas.microsoft.com/office/drawing/2014/main" id="{ED54ED40-4330-204C-B2E6-A9DB1182C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1632"/>
                <a:ext cx="145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0" name="Oval 16">
                <a:extLst>
                  <a:ext uri="{FF2B5EF4-FFF2-40B4-BE49-F238E27FC236}">
                    <a16:creationId xmlns:a16="http://schemas.microsoft.com/office/drawing/2014/main" id="{4036A83C-9444-7348-A39B-10C376E9C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160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1" name="Oval 17">
                <a:extLst>
                  <a:ext uri="{FF2B5EF4-FFF2-40B4-BE49-F238E27FC236}">
                    <a16:creationId xmlns:a16="http://schemas.microsoft.com/office/drawing/2014/main" id="{0646C20D-B062-9F47-9147-F0061A8D0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" y="2160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2" name="Oval 18">
                <a:extLst>
                  <a:ext uri="{FF2B5EF4-FFF2-40B4-BE49-F238E27FC236}">
                    <a16:creationId xmlns:a16="http://schemas.microsoft.com/office/drawing/2014/main" id="{F46E94BC-DBAA-C241-AE96-38C280C04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504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3" name="Oval 19">
                <a:extLst>
                  <a:ext uri="{FF2B5EF4-FFF2-40B4-BE49-F238E27FC236}">
                    <a16:creationId xmlns:a16="http://schemas.microsoft.com/office/drawing/2014/main" id="{80976BEE-645D-D640-8544-BECB47D78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97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4" name="Oval 20">
                <a:extLst>
                  <a:ext uri="{FF2B5EF4-FFF2-40B4-BE49-F238E27FC236}">
                    <a16:creationId xmlns:a16="http://schemas.microsoft.com/office/drawing/2014/main" id="{3499D6A6-EFDA-C94F-BEA8-F48B12554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" y="297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4E67C8"/>
                  </a:solidFill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19829" name="Text Box 21">
                <a:extLst>
                  <a:ext uri="{FF2B5EF4-FFF2-40B4-BE49-F238E27FC236}">
                    <a16:creationId xmlns:a16="http://schemas.microsoft.com/office/drawing/2014/main" id="{FE3DE26E-4A65-FB45-956C-50D8A4D5D3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57" y="1334"/>
                <a:ext cx="296" cy="3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19830" name="Text Box 22">
                <a:extLst>
                  <a:ext uri="{FF2B5EF4-FFF2-40B4-BE49-F238E27FC236}">
                    <a16:creationId xmlns:a16="http://schemas.microsoft.com/office/drawing/2014/main" id="{C41A6BF5-A871-B941-910A-46928E2E0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25" y="2006"/>
                <a:ext cx="282" cy="3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19831" name="Text Box 23">
                <a:extLst>
                  <a:ext uri="{FF2B5EF4-FFF2-40B4-BE49-F238E27FC236}">
                    <a16:creationId xmlns:a16="http://schemas.microsoft.com/office/drawing/2014/main" id="{41F80FEC-529C-8C4F-84FB-CD885EB83B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26" y="2823"/>
                <a:ext cx="296" cy="3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</a:p>
            </p:txBody>
          </p:sp>
          <p:sp>
            <p:nvSpPr>
              <p:cNvPr id="119832" name="Text Box 24">
                <a:extLst>
                  <a:ext uri="{FF2B5EF4-FFF2-40B4-BE49-F238E27FC236}">
                    <a16:creationId xmlns:a16="http://schemas.microsoft.com/office/drawing/2014/main" id="{8774807E-8F35-0143-9A00-36B2AB554D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5" y="3544"/>
                <a:ext cx="298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</a:p>
            </p:txBody>
          </p:sp>
          <p:sp>
            <p:nvSpPr>
              <p:cNvPr id="119833" name="Text Box 25">
                <a:extLst>
                  <a:ext uri="{FF2B5EF4-FFF2-40B4-BE49-F238E27FC236}">
                    <a16:creationId xmlns:a16="http://schemas.microsoft.com/office/drawing/2014/main" id="{63AA0790-C252-144A-AAD8-D885C46624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5" y="2870"/>
                <a:ext cx="284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</a:p>
            </p:txBody>
          </p:sp>
          <p:sp>
            <p:nvSpPr>
              <p:cNvPr id="119834" name="Text Box 26">
                <a:extLst>
                  <a:ext uri="{FF2B5EF4-FFF2-40B4-BE49-F238E27FC236}">
                    <a16:creationId xmlns:a16="http://schemas.microsoft.com/office/drawing/2014/main" id="{BCB0EC49-2F90-2645-8834-984DA26FDA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054"/>
                <a:ext cx="265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  <p:sp>
            <p:nvSpPr>
              <p:cNvPr id="119835" name="Text Box 27">
                <a:extLst>
                  <a:ext uri="{FF2B5EF4-FFF2-40B4-BE49-F238E27FC236}">
                    <a16:creationId xmlns:a16="http://schemas.microsoft.com/office/drawing/2014/main" id="{DA4109DD-A5EA-5648-BFF7-90667A19E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5" y="1622"/>
                <a:ext cx="312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36" name="Text Box 28">
                <a:extLst>
                  <a:ext uri="{FF2B5EF4-FFF2-40B4-BE49-F238E27FC236}">
                    <a16:creationId xmlns:a16="http://schemas.microsoft.com/office/drawing/2014/main" id="{316E24FF-B191-D646-8358-54D1A33575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2438"/>
                <a:ext cx="312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37" name="Text Box 29">
                <a:extLst>
                  <a:ext uri="{FF2B5EF4-FFF2-40B4-BE49-F238E27FC236}">
                    <a16:creationId xmlns:a16="http://schemas.microsoft.com/office/drawing/2014/main" id="{2E174CC3-7FED-E84C-BB43-073E65AA3A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9" y="3351"/>
                <a:ext cx="312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38" name="Text Box 30">
                <a:extLst>
                  <a:ext uri="{FF2B5EF4-FFF2-40B4-BE49-F238E27FC236}">
                    <a16:creationId xmlns:a16="http://schemas.microsoft.com/office/drawing/2014/main" id="{64E1C9C8-82AF-174E-BC15-E1DEF9BA39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4" y="2870"/>
                <a:ext cx="312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39" name="Text Box 31">
                <a:extLst>
                  <a:ext uri="{FF2B5EF4-FFF2-40B4-BE49-F238E27FC236}">
                    <a16:creationId xmlns:a16="http://schemas.microsoft.com/office/drawing/2014/main" id="{9F67B4CC-041E-D541-96EC-6264E016C9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3" y="3158"/>
                <a:ext cx="312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5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40" name="Text Box 32">
                <a:extLst>
                  <a:ext uri="{FF2B5EF4-FFF2-40B4-BE49-F238E27FC236}">
                    <a16:creationId xmlns:a16="http://schemas.microsoft.com/office/drawing/2014/main" id="{0CB9A305-EE2C-8D4C-9DC1-AC81942FE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5" y="2486"/>
                <a:ext cx="312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6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41" name="Text Box 33">
                <a:extLst>
                  <a:ext uri="{FF2B5EF4-FFF2-40B4-BE49-F238E27FC236}">
                    <a16:creationId xmlns:a16="http://schemas.microsoft.com/office/drawing/2014/main" id="{25366B4B-5562-054F-A474-270B8A1E4A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3" y="1622"/>
                <a:ext cx="313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7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42" name="Text Box 34">
                <a:extLst>
                  <a:ext uri="{FF2B5EF4-FFF2-40B4-BE49-F238E27FC236}">
                    <a16:creationId xmlns:a16="http://schemas.microsoft.com/office/drawing/2014/main" id="{39B3D43C-DD68-0141-A9A6-DF13C4DB32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2006"/>
                <a:ext cx="312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9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43" name="Text Box 35">
                <a:extLst>
                  <a:ext uri="{FF2B5EF4-FFF2-40B4-BE49-F238E27FC236}">
                    <a16:creationId xmlns:a16="http://schemas.microsoft.com/office/drawing/2014/main" id="{2E493D78-A868-4844-81B9-FF07278BBA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863"/>
                <a:ext cx="312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8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9844" name="Text Box 36">
                <a:extLst>
                  <a:ext uri="{FF2B5EF4-FFF2-40B4-BE49-F238E27FC236}">
                    <a16:creationId xmlns:a16="http://schemas.microsoft.com/office/drawing/2014/main" id="{5DA8AF82-926B-9D4C-A2EC-E40E54B507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5" y="2294"/>
                <a:ext cx="397" cy="3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r>
                  <a:rPr lang="en-US" altLang="zh-CN" sz="3200" b="1" baseline="-25000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10</a:t>
                </a:r>
                <a:endParaRPr lang="en-US" altLang="zh-CN" sz="32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119845" name="Text Box 37">
              <a:extLst>
                <a:ext uri="{FF2B5EF4-FFF2-40B4-BE49-F238E27FC236}">
                  <a16:creationId xmlns:a16="http://schemas.microsoft.com/office/drawing/2014/main" id="{B4996C31-347D-AE42-AE0D-340A824D5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3072"/>
              <a:ext cx="26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l" eaLnBrk="1" hangingPunct="1">
                <a:defRPr/>
              </a:pPr>
              <a:r>
                <a:rPr kumimoji="1"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charset="0"/>
                  <a:ea typeface="楷体_GB2312" charset="0"/>
                  <a:cs typeface="楷体_GB2312" charset="0"/>
                </a:rPr>
                <a:t>有根</a:t>
              </a:r>
              <a:r>
                <a:rPr kumimoji="1"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charset="0"/>
                  <a:ea typeface="楷体_GB2312" charset="0"/>
                  <a:cs typeface="楷体_GB2312" charset="0"/>
                </a:rPr>
                <a:t>B </a:t>
              </a:r>
              <a:r>
                <a:rPr kumimoji="1"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charset="0"/>
                  <a:ea typeface="楷体_GB2312" charset="0"/>
                  <a:cs typeface="楷体_GB2312" charset="0"/>
                </a:rPr>
                <a:t>，但不是有向树</a:t>
              </a:r>
              <a:endParaRPr kumimoji="1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ea typeface="楷体_GB2312" charset="0"/>
                <a:cs typeface="楷体_GB2312" charset="0"/>
              </a:endParaRPr>
            </a:p>
          </p:txBody>
        </p:sp>
      </p:grpSp>
      <p:grpSp>
        <p:nvGrpSpPr>
          <p:cNvPr id="119886" name="Group 78">
            <a:extLst>
              <a:ext uri="{FF2B5EF4-FFF2-40B4-BE49-F238E27FC236}">
                <a16:creationId xmlns:a16="http://schemas.microsoft.com/office/drawing/2014/main" id="{95455EBD-BCF3-234B-B010-1580535DF4A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905000"/>
            <a:ext cx="3276600" cy="4032250"/>
            <a:chOff x="2064" y="1488"/>
            <a:chExt cx="2064" cy="2540"/>
          </a:xfrm>
        </p:grpSpPr>
        <p:grpSp>
          <p:nvGrpSpPr>
            <p:cNvPr id="21534" name="Group 39">
              <a:extLst>
                <a:ext uri="{FF2B5EF4-FFF2-40B4-BE49-F238E27FC236}">
                  <a16:creationId xmlns:a16="http://schemas.microsoft.com/office/drawing/2014/main" id="{D5087B32-82F2-5F44-B07A-23AD953F3D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488"/>
              <a:ext cx="2064" cy="2208"/>
              <a:chOff x="2880" y="912"/>
              <a:chExt cx="960" cy="960"/>
            </a:xfrm>
          </p:grpSpPr>
          <p:sp>
            <p:nvSpPr>
              <p:cNvPr id="16417" name="Oval 40">
                <a:extLst>
                  <a:ext uri="{FF2B5EF4-FFF2-40B4-BE49-F238E27FC236}">
                    <a16:creationId xmlns:a16="http://schemas.microsoft.com/office/drawing/2014/main" id="{296571C4-F56C-2645-BB64-62371C092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18" name="Oval 41">
                <a:extLst>
                  <a:ext uri="{FF2B5EF4-FFF2-40B4-BE49-F238E27FC236}">
                    <a16:creationId xmlns:a16="http://schemas.microsoft.com/office/drawing/2014/main" id="{BA467BDA-C336-3343-BA50-6D7249041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2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19" name="Oval 42">
                <a:extLst>
                  <a:ext uri="{FF2B5EF4-FFF2-40B4-BE49-F238E27FC236}">
                    <a16:creationId xmlns:a16="http://schemas.microsoft.com/office/drawing/2014/main" id="{1213805C-3C3E-6540-AF6B-B899A50EC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20" name="Oval 43">
                <a:extLst>
                  <a:ext uri="{FF2B5EF4-FFF2-40B4-BE49-F238E27FC236}">
                    <a16:creationId xmlns:a16="http://schemas.microsoft.com/office/drawing/2014/main" id="{544A04BB-A2FA-D946-BAF3-7B8C63694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77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21" name="Oval 44">
                <a:extLst>
                  <a:ext uri="{FF2B5EF4-FFF2-40B4-BE49-F238E27FC236}">
                    <a16:creationId xmlns:a16="http://schemas.microsoft.com/office/drawing/2014/main" id="{622A6804-F2C0-5A48-B2F1-C6CC7790D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77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22" name="Line 45">
                <a:extLst>
                  <a:ext uri="{FF2B5EF4-FFF2-40B4-BE49-F238E27FC236}">
                    <a16:creationId xmlns:a16="http://schemas.microsoft.com/office/drawing/2014/main" id="{5FE7C5CE-2A18-274E-AE13-6E0607FEA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8" y="1392"/>
                <a:ext cx="96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23" name="Line 46">
                <a:extLst>
                  <a:ext uri="{FF2B5EF4-FFF2-40B4-BE49-F238E27FC236}">
                    <a16:creationId xmlns:a16="http://schemas.microsoft.com/office/drawing/2014/main" id="{FA5F8A30-9A61-2F45-871C-69CD2D71D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36" y="1000"/>
                <a:ext cx="38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24" name="Line 47">
                <a:extLst>
                  <a:ext uri="{FF2B5EF4-FFF2-40B4-BE49-F238E27FC236}">
                    <a16:creationId xmlns:a16="http://schemas.microsoft.com/office/drawing/2014/main" id="{750D6765-3A9E-1E42-BF2A-82F3D62061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008"/>
                <a:ext cx="336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25" name="Line 48">
                <a:extLst>
                  <a:ext uri="{FF2B5EF4-FFF2-40B4-BE49-F238E27FC236}">
                    <a16:creationId xmlns:a16="http://schemas.microsoft.com/office/drawing/2014/main" id="{31475DB9-7A1E-DC4D-8996-7F1423D21B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8" y="1392"/>
                <a:ext cx="104" cy="3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26" name="Line 49">
                <a:extLst>
                  <a:ext uri="{FF2B5EF4-FFF2-40B4-BE49-F238E27FC236}">
                    <a16:creationId xmlns:a16="http://schemas.microsoft.com/office/drawing/2014/main" id="{C61C796E-1719-2948-9A76-5EE69D64D3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2" y="1824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</p:grpSp>
        <p:sp>
          <p:nvSpPr>
            <p:cNvPr id="119858" name="Rectangle 50">
              <a:extLst>
                <a:ext uri="{FF2B5EF4-FFF2-40B4-BE49-F238E27FC236}">
                  <a16:creationId xmlns:a16="http://schemas.microsoft.com/office/drawing/2014/main" id="{DC127C18-ABBD-3847-B551-C46559818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663"/>
              <a:ext cx="1401" cy="3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zh-CN" altLang="en-US" sz="32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charset="0"/>
                  <a:ea typeface="楷体_GB2312" charset="0"/>
                  <a:cs typeface="楷体_GB2312" charset="0"/>
                </a:rPr>
                <a:t>不是有向树</a:t>
              </a:r>
            </a:p>
          </p:txBody>
        </p:sp>
      </p:grpSp>
      <p:grpSp>
        <p:nvGrpSpPr>
          <p:cNvPr id="119887" name="Group 79">
            <a:extLst>
              <a:ext uri="{FF2B5EF4-FFF2-40B4-BE49-F238E27FC236}">
                <a16:creationId xmlns:a16="http://schemas.microsoft.com/office/drawing/2014/main" id="{1E184E52-6BD5-584B-B714-39EA8475A2F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066800"/>
            <a:ext cx="5334000" cy="4876801"/>
            <a:chOff x="1872" y="864"/>
            <a:chExt cx="3360" cy="3072"/>
          </a:xfrm>
        </p:grpSpPr>
        <p:grpSp>
          <p:nvGrpSpPr>
            <p:cNvPr id="21510" name="Group 52">
              <a:extLst>
                <a:ext uri="{FF2B5EF4-FFF2-40B4-BE49-F238E27FC236}">
                  <a16:creationId xmlns:a16="http://schemas.microsoft.com/office/drawing/2014/main" id="{A5D29A57-608C-9843-8308-5E4E7B6D8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864"/>
              <a:ext cx="3360" cy="2580"/>
              <a:chOff x="3456" y="684"/>
              <a:chExt cx="1760" cy="1820"/>
            </a:xfrm>
          </p:grpSpPr>
          <p:sp>
            <p:nvSpPr>
              <p:cNvPr id="16393" name="Line 53">
                <a:extLst>
                  <a:ext uri="{FF2B5EF4-FFF2-40B4-BE49-F238E27FC236}">
                    <a16:creationId xmlns:a16="http://schemas.microsoft.com/office/drawing/2014/main" id="{45A60BF4-E4F8-CB48-A186-275D29A04E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0" y="1088"/>
                <a:ext cx="208" cy="3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394" name="Line 54">
                <a:extLst>
                  <a:ext uri="{FF2B5EF4-FFF2-40B4-BE49-F238E27FC236}">
                    <a16:creationId xmlns:a16="http://schemas.microsoft.com/office/drawing/2014/main" id="{A7F05E2E-E18D-0E46-BF32-515976AF8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2" y="1080"/>
                <a:ext cx="256" cy="3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395" name="Line 55">
                <a:extLst>
                  <a:ext uri="{FF2B5EF4-FFF2-40B4-BE49-F238E27FC236}">
                    <a16:creationId xmlns:a16="http://schemas.microsoft.com/office/drawing/2014/main" id="{C32B3FED-D679-2745-9DC0-8CC0D5795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1472"/>
                <a:ext cx="264" cy="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396" name="Line 56">
                <a:extLst>
                  <a:ext uri="{FF2B5EF4-FFF2-40B4-BE49-F238E27FC236}">
                    <a16:creationId xmlns:a16="http://schemas.microsoft.com/office/drawing/2014/main" id="{9D9209B7-4204-4B47-AF7E-47105AC72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96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397" name="Line 57">
                <a:extLst>
                  <a:ext uri="{FF2B5EF4-FFF2-40B4-BE49-F238E27FC236}">
                    <a16:creationId xmlns:a16="http://schemas.microsoft.com/office/drawing/2014/main" id="{C58E7E4E-3A8A-3F44-A473-023865101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0" y="1472"/>
                <a:ext cx="256" cy="3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398" name="Line 58">
                <a:extLst>
                  <a:ext uri="{FF2B5EF4-FFF2-40B4-BE49-F238E27FC236}">
                    <a16:creationId xmlns:a16="http://schemas.microsoft.com/office/drawing/2014/main" id="{C07A2CE3-9AC6-1C4D-A78A-603F73CEB4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1472"/>
                <a:ext cx="120" cy="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399" name="Line 59">
                <a:extLst>
                  <a:ext uri="{FF2B5EF4-FFF2-40B4-BE49-F238E27FC236}">
                    <a16:creationId xmlns:a16="http://schemas.microsoft.com/office/drawing/2014/main" id="{5F189428-2C0D-D34E-B023-171BA93A1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4" y="1920"/>
                <a:ext cx="456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0" name="Line 60">
                <a:extLst>
                  <a:ext uri="{FF2B5EF4-FFF2-40B4-BE49-F238E27FC236}">
                    <a16:creationId xmlns:a16="http://schemas.microsoft.com/office/drawing/2014/main" id="{29669E0D-52A6-2F4E-BFBE-EBB689D86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1920"/>
                <a:ext cx="12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1" name="Line 61">
                <a:extLst>
                  <a:ext uri="{FF2B5EF4-FFF2-40B4-BE49-F238E27FC236}">
                    <a16:creationId xmlns:a16="http://schemas.microsoft.com/office/drawing/2014/main" id="{E647F7D1-C532-9E41-973C-ABA50E2D8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1912"/>
                <a:ext cx="152" cy="5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2" name="Line 62">
                <a:extLst>
                  <a:ext uri="{FF2B5EF4-FFF2-40B4-BE49-F238E27FC236}">
                    <a16:creationId xmlns:a16="http://schemas.microsoft.com/office/drawing/2014/main" id="{6DA990AF-F99E-684F-81E8-1A6A9223F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08" y="1912"/>
                <a:ext cx="288" cy="4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3" name="Oval 63">
                <a:extLst>
                  <a:ext uri="{FF2B5EF4-FFF2-40B4-BE49-F238E27FC236}">
                    <a16:creationId xmlns:a16="http://schemas.microsoft.com/office/drawing/2014/main" id="{C06842D4-1038-8041-9132-DE91225D8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10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4" name="Oval 64">
                <a:extLst>
                  <a:ext uri="{FF2B5EF4-FFF2-40B4-BE49-F238E27FC236}">
                    <a16:creationId xmlns:a16="http://schemas.microsoft.com/office/drawing/2014/main" id="{FD77580F-CD04-8143-BCDE-649AA7FBA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3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5" name="Oval 65">
                <a:extLst>
                  <a:ext uri="{FF2B5EF4-FFF2-40B4-BE49-F238E27FC236}">
                    <a16:creationId xmlns:a16="http://schemas.microsoft.com/office/drawing/2014/main" id="{CD4BDE99-B578-544D-AF82-1884FA305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13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6" name="Oval 66">
                <a:extLst>
                  <a:ext uri="{FF2B5EF4-FFF2-40B4-BE49-F238E27FC236}">
                    <a16:creationId xmlns:a16="http://schemas.microsoft.com/office/drawing/2014/main" id="{3E443964-9C88-3242-8201-050DDDAE3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7" name="Oval 67">
                <a:extLst>
                  <a:ext uri="{FF2B5EF4-FFF2-40B4-BE49-F238E27FC236}">
                    <a16:creationId xmlns:a16="http://schemas.microsoft.com/office/drawing/2014/main" id="{731178A9-9096-B047-A6A6-C1F76DCC1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8" name="Oval 68">
                <a:extLst>
                  <a:ext uri="{FF2B5EF4-FFF2-40B4-BE49-F238E27FC236}">
                    <a16:creationId xmlns:a16="http://schemas.microsoft.com/office/drawing/2014/main" id="{06535FA2-049F-E242-A18E-61AF50BBC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09" name="Oval 69">
                <a:extLst>
                  <a:ext uri="{FF2B5EF4-FFF2-40B4-BE49-F238E27FC236}">
                    <a16:creationId xmlns:a16="http://schemas.microsoft.com/office/drawing/2014/main" id="{6F7104F3-4E3C-E34A-AFAC-3A41A672B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8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10" name="Oval 70">
                <a:extLst>
                  <a:ext uri="{FF2B5EF4-FFF2-40B4-BE49-F238E27FC236}">
                    <a16:creationId xmlns:a16="http://schemas.microsoft.com/office/drawing/2014/main" id="{08AFBBA5-A37D-EE49-8E0E-52E4EAD39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4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11" name="Oval 71">
                <a:extLst>
                  <a:ext uri="{FF2B5EF4-FFF2-40B4-BE49-F238E27FC236}">
                    <a16:creationId xmlns:a16="http://schemas.microsoft.com/office/drawing/2014/main" id="{98323C3C-D535-C24B-A658-3EAA203C0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4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12" name="Oval 72">
                <a:extLst>
                  <a:ext uri="{FF2B5EF4-FFF2-40B4-BE49-F238E27FC236}">
                    <a16:creationId xmlns:a16="http://schemas.microsoft.com/office/drawing/2014/main" id="{DD6CC236-7071-1241-BE5E-03C46E4E3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4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13" name="Oval 73">
                <a:extLst>
                  <a:ext uri="{FF2B5EF4-FFF2-40B4-BE49-F238E27FC236}">
                    <a16:creationId xmlns:a16="http://schemas.microsoft.com/office/drawing/2014/main" id="{F49BAF1D-E86D-E44E-922F-C30C36265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0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19882" name="Text Box 74">
                <a:extLst>
                  <a:ext uri="{FF2B5EF4-FFF2-40B4-BE49-F238E27FC236}">
                    <a16:creationId xmlns:a16="http://schemas.microsoft.com/office/drawing/2014/main" id="{6F7FB22B-D31F-8049-891F-AAB4AC49D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0" y="684"/>
                <a:ext cx="120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en-US" altLang="zh-CN" sz="32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</a:p>
            </p:txBody>
          </p:sp>
        </p:grpSp>
        <p:sp>
          <p:nvSpPr>
            <p:cNvPr id="21511" name="Text Box 75">
              <a:extLst>
                <a:ext uri="{FF2B5EF4-FFF2-40B4-BE49-F238E27FC236}">
                  <a16:creationId xmlns:a16="http://schemas.microsoft.com/office/drawing/2014/main" id="{84F71B97-B53F-7345-A751-B8C4B34CF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" y="3571"/>
              <a:ext cx="216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有根</a:t>
              </a:r>
              <a:r>
                <a:rPr lang="en-US" altLang="zh-CN" sz="3200" dirty="0">
                  <a:latin typeface="Times New Roman" panose="02020603050405020304" pitchFamily="18" charset="0"/>
                  <a:ea typeface="楷体_GB2312" pitchFamily="49" charset="-122"/>
                </a:rPr>
                <a:t>r，</a:t>
              </a:r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是有向树</a:t>
              </a:r>
              <a:endParaRPr lang="en-US" altLang="zh-CN" sz="32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1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1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1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5">
            <a:extLst>
              <a:ext uri="{FF2B5EF4-FFF2-40B4-BE49-F238E27FC236}">
                <a16:creationId xmlns:a16="http://schemas.microsoft.com/office/drawing/2014/main" id="{6EB65D0E-3154-7346-AF1F-FB29238AAC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857E1F-6B92-174C-9977-ED7322147B1A}" type="slidenum">
              <a:rPr kumimoji="0" lang="zh-CN" altLang="en-US" sz="1200"/>
              <a:pPr/>
              <a:t>15</a:t>
            </a:fld>
            <a:endParaRPr kumimoji="0" lang="en-US" altLang="zh-CN" sz="12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BD03BD3C-5811-404E-B6B2-B0493FCF3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定理4.3.1（转化定理）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86D42029-4764-314C-969A-0A659B7CDDC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839200" cy="5029200"/>
          </a:xfrm>
        </p:spPr>
        <p:txBody>
          <a:bodyPr/>
          <a:lstStyle/>
          <a:p>
            <a:pPr marL="357188" indent="-357188" algn="just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对有向树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若无视各弧之方向，则得一树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反之，若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是树，可选取任一点做根，并适当指定各边之方向，则得一有向树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G。</a:t>
            </a:r>
          </a:p>
          <a:p>
            <a:pPr marL="357188" indent="-357188" algn="just"/>
            <a:r>
              <a:rPr kumimoji="0" lang="zh-CN" altLang="en-US" sz="320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1)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首先证第一个命题。</a:t>
            </a:r>
          </a:p>
          <a:p>
            <a:pPr marL="981075" lvl="1" indent="-358775">
              <a:buFont typeface="Wingdings" pitchFamily="2" charset="2"/>
              <a:buChar char="v"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因有向树有根，所以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是连通的，以下证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无回路。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981075" lvl="1" indent="-358775">
              <a:buFont typeface="Wingdings" pitchFamily="2" charset="2"/>
              <a:buChar char="v"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用反证法。假设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中有回路，设(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中一回路，其中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3。</a:t>
            </a:r>
          </a:p>
          <a:p>
            <a:pPr marL="981075" lvl="1" indent="-358775">
              <a:buFont typeface="Wingdings" pitchFamily="2" charset="2"/>
              <a:buNone/>
            </a:pPr>
            <a:r>
              <a:rPr kumimoji="0" lang="en-US" altLang="zh-CN" sz="1800"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4.3.2 Euler</a:t>
            </a:r>
            <a:r>
              <a:rPr kumimoji="0" lang="zh-CN" altLang="en-US" sz="1800"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路  </a:t>
            </a:r>
            <a:r>
              <a:rPr kumimoji="0" lang="en-US" altLang="zh-CN" sz="1800"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Euler</a:t>
            </a:r>
            <a:r>
              <a:rPr kumimoji="0" lang="zh-CN" altLang="en-US" sz="1800"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图</a:t>
            </a:r>
            <a:endParaRPr kumimoji="0"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F59D7F0C-DCFC-B541-A28F-14B4FAE74F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150783-291D-CD44-9738-8ED69F165A5B}" type="slidenum">
              <a:rPr kumimoji="0" lang="zh-CN" altLang="en-US" sz="1200"/>
              <a:pPr/>
              <a:t>16</a:t>
            </a:fld>
            <a:endParaRPr kumimoji="0" lang="en-US" altLang="zh-CN" sz="1200"/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1DB56965-0D85-1E4C-B007-FFBAFD608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定理4.3.1（转化定理）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AA98AF7-F25F-FB4D-AB0F-50B10331429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295400"/>
            <a:ext cx="5029200" cy="51054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在此路中，不妨假设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则在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中对应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的弧一定是从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的，又因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中除根外恰发一弧，所以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必是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的弧，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必是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的弧，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必是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的弧，而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矛盾。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18437" name="Rectangle 10">
            <a:extLst>
              <a:ext uri="{FF2B5EF4-FFF2-40B4-BE49-F238E27FC236}">
                <a16:creationId xmlns:a16="http://schemas.microsoft.com/office/drawing/2014/main" id="{C7925591-8A36-5C42-8275-9A1557548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71303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latin typeface="Times New Roman" panose="02020603050405020304" pitchFamily="18" charset="0"/>
              </a:rPr>
              <a:t>…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sp>
        <p:nvSpPr>
          <p:cNvPr id="18438" name="Rectangle 11">
            <a:extLst>
              <a:ext uri="{FF2B5EF4-FFF2-40B4-BE49-F238E27FC236}">
                <a16:creationId xmlns:a16="http://schemas.microsoft.com/office/drawing/2014/main" id="{8DE620E4-63F5-8F44-8733-4EDDA9CA2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61473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latin typeface="Times New Roman" panose="02020603050405020304" pitchFamily="18" charset="0"/>
              </a:rPr>
              <a:t>…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sp>
        <p:nvSpPr>
          <p:cNvPr id="18439" name="Line 12">
            <a:extLst>
              <a:ext uri="{FF2B5EF4-FFF2-40B4-BE49-F238E27FC236}">
                <a16:creationId xmlns:a16="http://schemas.microsoft.com/office/drawing/2014/main" id="{91C35837-3E14-0542-86B6-18942255B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9100" y="1646238"/>
            <a:ext cx="1066800" cy="685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40" name="Line 13">
            <a:extLst>
              <a:ext uri="{FF2B5EF4-FFF2-40B4-BE49-F238E27FC236}">
                <a16:creationId xmlns:a16="http://schemas.microsoft.com/office/drawing/2014/main" id="{7FE3BC9A-32E4-8144-BE59-F32C387730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2332038"/>
            <a:ext cx="457200" cy="990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41" name="Line 14">
            <a:extLst>
              <a:ext uri="{FF2B5EF4-FFF2-40B4-BE49-F238E27FC236}">
                <a16:creationId xmlns:a16="http://schemas.microsoft.com/office/drawing/2014/main" id="{60D25A30-6F22-9745-8CBC-2385EE7F06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78800" y="3335338"/>
            <a:ext cx="152400" cy="533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42" name="Line 16">
            <a:extLst>
              <a:ext uri="{FF2B5EF4-FFF2-40B4-BE49-F238E27FC236}">
                <a16:creationId xmlns:a16="http://schemas.microsoft.com/office/drawing/2014/main" id="{15F12D65-029B-3543-8D15-A932334E2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0300" y="4160838"/>
            <a:ext cx="533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43" name="Line 17">
            <a:extLst>
              <a:ext uri="{FF2B5EF4-FFF2-40B4-BE49-F238E27FC236}">
                <a16:creationId xmlns:a16="http://schemas.microsoft.com/office/drawing/2014/main" id="{D5597122-2FB0-8C48-943A-E15EC40F8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5700" y="3779838"/>
            <a:ext cx="1066800" cy="381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44" name="Line 18">
            <a:extLst>
              <a:ext uri="{FF2B5EF4-FFF2-40B4-BE49-F238E27FC236}">
                <a16:creationId xmlns:a16="http://schemas.microsoft.com/office/drawing/2014/main" id="{CACFECBB-F2E8-0743-9E04-AF1D33C4E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7700" y="3360738"/>
            <a:ext cx="3810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45" name="Line 19">
            <a:extLst>
              <a:ext uri="{FF2B5EF4-FFF2-40B4-BE49-F238E27FC236}">
                <a16:creationId xmlns:a16="http://schemas.microsoft.com/office/drawing/2014/main" id="{81383E61-D962-2940-A929-F6615A05F2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2300" y="2471738"/>
            <a:ext cx="76200" cy="533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46" name="Line 20">
            <a:extLst>
              <a:ext uri="{FF2B5EF4-FFF2-40B4-BE49-F238E27FC236}">
                <a16:creationId xmlns:a16="http://schemas.microsoft.com/office/drawing/2014/main" id="{2166DDF0-F02E-FE41-849B-652CF9E816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4700" y="1620838"/>
            <a:ext cx="8382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53" name="Line 21">
            <a:extLst>
              <a:ext uri="{FF2B5EF4-FFF2-40B4-BE49-F238E27FC236}">
                <a16:creationId xmlns:a16="http://schemas.microsoft.com/office/drawing/2014/main" id="{57154362-C886-4548-A2F6-E3688F90B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00" y="1671638"/>
            <a:ext cx="1066800" cy="685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54" name="Line 22">
            <a:extLst>
              <a:ext uri="{FF2B5EF4-FFF2-40B4-BE49-F238E27FC236}">
                <a16:creationId xmlns:a16="http://schemas.microsoft.com/office/drawing/2014/main" id="{B568F972-7855-2D40-BF02-57DBE4786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0" y="2433638"/>
            <a:ext cx="457200" cy="990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55" name="Line 23">
            <a:extLst>
              <a:ext uri="{FF2B5EF4-FFF2-40B4-BE49-F238E27FC236}">
                <a16:creationId xmlns:a16="http://schemas.microsoft.com/office/drawing/2014/main" id="{A0500C38-B661-1743-A5DA-1C108D68D8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3449638"/>
            <a:ext cx="152400" cy="482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56" name="Line 24">
            <a:extLst>
              <a:ext uri="{FF2B5EF4-FFF2-40B4-BE49-F238E27FC236}">
                <a16:creationId xmlns:a16="http://schemas.microsoft.com/office/drawing/2014/main" id="{F72C38AF-142D-C449-8E18-B825ABE0E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000" y="4160838"/>
            <a:ext cx="5334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57" name="Line 25">
            <a:extLst>
              <a:ext uri="{FF2B5EF4-FFF2-40B4-BE49-F238E27FC236}">
                <a16:creationId xmlns:a16="http://schemas.microsoft.com/office/drawing/2014/main" id="{028E8308-059B-4E40-8CD1-431753692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779838"/>
            <a:ext cx="10668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58" name="Line 26">
            <a:extLst>
              <a:ext uri="{FF2B5EF4-FFF2-40B4-BE49-F238E27FC236}">
                <a16:creationId xmlns:a16="http://schemas.microsoft.com/office/drawing/2014/main" id="{28561AD8-144A-DF42-A0FC-B2AB71BB3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3360738"/>
            <a:ext cx="3810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59" name="Line 27">
            <a:extLst>
              <a:ext uri="{FF2B5EF4-FFF2-40B4-BE49-F238E27FC236}">
                <a16:creationId xmlns:a16="http://schemas.microsoft.com/office/drawing/2014/main" id="{E97A68E2-B2D6-5C4C-8E40-80EE0D8BA0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2471738"/>
            <a:ext cx="76200" cy="5334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60" name="Line 28">
            <a:extLst>
              <a:ext uri="{FF2B5EF4-FFF2-40B4-BE49-F238E27FC236}">
                <a16:creationId xmlns:a16="http://schemas.microsoft.com/office/drawing/2014/main" id="{1A9DA384-D608-D042-AD34-4CAFF1C33C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4700" y="1620838"/>
            <a:ext cx="838200" cy="762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solidFill>
                <a:srgbClr val="4E67C8"/>
              </a:solidFill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55" name="Oval 4">
            <a:extLst>
              <a:ext uri="{FF2B5EF4-FFF2-40B4-BE49-F238E27FC236}">
                <a16:creationId xmlns:a16="http://schemas.microsoft.com/office/drawing/2014/main" id="{6F6D00DB-52BD-3B48-9764-99D689D5F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57003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56" name="Oval 5">
            <a:extLst>
              <a:ext uri="{FF2B5EF4-FFF2-40B4-BE49-F238E27FC236}">
                <a16:creationId xmlns:a16="http://schemas.microsoft.com/office/drawing/2014/main" id="{38DAABA8-FA49-4043-9340-D5B10FE77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25583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57" name="Oval 6">
            <a:extLst>
              <a:ext uri="{FF2B5EF4-FFF2-40B4-BE49-F238E27FC236}">
                <a16:creationId xmlns:a16="http://schemas.microsoft.com/office/drawing/2014/main" id="{74E8F883-DDF6-E747-82AB-8CDB163BF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324643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58" name="Oval 7">
            <a:extLst>
              <a:ext uri="{FF2B5EF4-FFF2-40B4-BE49-F238E27FC236}">
                <a16:creationId xmlns:a16="http://schemas.microsoft.com/office/drawing/2014/main" id="{A9B0FB2C-5BEC-904D-806F-AF6E4D04F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33203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59" name="Oval 8">
            <a:extLst>
              <a:ext uri="{FF2B5EF4-FFF2-40B4-BE49-F238E27FC236}">
                <a16:creationId xmlns:a16="http://schemas.microsoft.com/office/drawing/2014/main" id="{D6E58734-8ECE-B443-97AD-F7E445E5E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62743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8460" name="Oval 9">
            <a:extLst>
              <a:ext uri="{FF2B5EF4-FFF2-40B4-BE49-F238E27FC236}">
                <a16:creationId xmlns:a16="http://schemas.microsoft.com/office/drawing/2014/main" id="{43E366F4-EE41-054B-A3E0-0299390C7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084638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0862" name="Rectangle 30">
            <a:extLst>
              <a:ext uri="{FF2B5EF4-FFF2-40B4-BE49-F238E27FC236}">
                <a16:creationId xmlns:a16="http://schemas.microsoft.com/office/drawing/2014/main" id="{467A7063-4BD4-624E-AC9E-6828440B1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990600"/>
            <a:ext cx="15335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=v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=r</a:t>
            </a:r>
            <a:endParaRPr lang="zh-CN" altLang="en-US" sz="3200" b="1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0863" name="Rectangle 31">
            <a:extLst>
              <a:ext uri="{FF2B5EF4-FFF2-40B4-BE49-F238E27FC236}">
                <a16:creationId xmlns:a16="http://schemas.microsoft.com/office/drawing/2014/main" id="{CC82EEDE-6428-FE44-9596-9619A81F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1773238"/>
            <a:ext cx="5270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0864" name="Rectangle 32">
            <a:extLst>
              <a:ext uri="{FF2B5EF4-FFF2-40B4-BE49-F238E27FC236}">
                <a16:creationId xmlns:a16="http://schemas.microsoft.com/office/drawing/2014/main" id="{DF71F09D-8136-1346-A08F-A15A5DCA7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865438"/>
            <a:ext cx="5270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0865" name="Rectangle 33">
            <a:extLst>
              <a:ext uri="{FF2B5EF4-FFF2-40B4-BE49-F238E27FC236}">
                <a16:creationId xmlns:a16="http://schemas.microsoft.com/office/drawing/2014/main" id="{2F99B3B7-5656-994B-B97D-FDF6970E6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3581400"/>
            <a:ext cx="5413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0866" name="Rectangle 34">
            <a:extLst>
              <a:ext uri="{FF2B5EF4-FFF2-40B4-BE49-F238E27FC236}">
                <a16:creationId xmlns:a16="http://schemas.microsoft.com/office/drawing/2014/main" id="{A2E61003-FEE9-E642-8885-B28235CD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084638"/>
            <a:ext cx="769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k-1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0867" name="Rectangle 35">
            <a:extLst>
              <a:ext uri="{FF2B5EF4-FFF2-40B4-BE49-F238E27FC236}">
                <a16:creationId xmlns:a16="http://schemas.microsoft.com/office/drawing/2014/main" id="{46309CDE-1101-3249-81DC-41B8C55E1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798638"/>
            <a:ext cx="769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n-1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D75FCAAA-3274-6C4B-AA67-F546BA451D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03D741F-0457-C240-8BD0-917C84A54ACA}" type="slidenum">
              <a:rPr kumimoji="0" lang="zh-CN" altLang="en-US" sz="1200"/>
              <a:pPr/>
              <a:t>17</a:t>
            </a:fld>
            <a:endParaRPr kumimoji="0" lang="en-US" altLang="zh-CN" sz="1200"/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0D131ECF-C4D6-3B49-9199-76E8D538E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定理4.3.1（转化定理）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602970E-CC8A-1244-B2EA-1F2E0C2E0E3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5029200" cy="44958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不在此回路中，由有向树定义知，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或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恰发一弧，不妨设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中的边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的弧，则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已发弧，则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中的边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必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的弧，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的弧，又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于是，得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中一有向回路，矛盾。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74FD9A94-61AF-5249-A875-9A0F95C4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773363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latin typeface="Times New Roman" panose="02020603050405020304" pitchFamily="18" charset="0"/>
              </a:rPr>
              <a:t>…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DBCDE996-C204-1F41-BF04-185FF012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675063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latin typeface="Times New Roman" panose="02020603050405020304" pitchFamily="18" charset="0"/>
              </a:rPr>
              <a:t>…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sp>
        <p:nvSpPr>
          <p:cNvPr id="19463" name="Line 6">
            <a:extLst>
              <a:ext uri="{FF2B5EF4-FFF2-40B4-BE49-F238E27FC236}">
                <a16:creationId xmlns:a16="http://schemas.microsoft.com/office/drawing/2014/main" id="{E67A2907-17D1-E546-AA46-0F826293A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900" y="1706563"/>
            <a:ext cx="1066800" cy="685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64" name="Line 7">
            <a:extLst>
              <a:ext uri="{FF2B5EF4-FFF2-40B4-BE49-F238E27FC236}">
                <a16:creationId xmlns:a16="http://schemas.microsoft.com/office/drawing/2014/main" id="{57DCDD90-8229-CE45-9206-CF9D96B9A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800" y="2392363"/>
            <a:ext cx="457200" cy="990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65" name="Line 8">
            <a:extLst>
              <a:ext uri="{FF2B5EF4-FFF2-40B4-BE49-F238E27FC236}">
                <a16:creationId xmlns:a16="http://schemas.microsoft.com/office/drawing/2014/main" id="{E6B42C46-9CC7-BA44-A6AB-96288E475A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02600" y="3395663"/>
            <a:ext cx="152400" cy="533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66" name="Line 9">
            <a:extLst>
              <a:ext uri="{FF2B5EF4-FFF2-40B4-BE49-F238E27FC236}">
                <a16:creationId xmlns:a16="http://schemas.microsoft.com/office/drawing/2014/main" id="{6B0A93A5-C180-9548-A022-71461B0A6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4221163"/>
            <a:ext cx="533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67" name="Line 10">
            <a:extLst>
              <a:ext uri="{FF2B5EF4-FFF2-40B4-BE49-F238E27FC236}">
                <a16:creationId xmlns:a16="http://schemas.microsoft.com/office/drawing/2014/main" id="{3447FAC8-2A4A-084D-9F93-BE477C88F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500" y="3840163"/>
            <a:ext cx="1066800" cy="381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68" name="Line 11">
            <a:extLst>
              <a:ext uri="{FF2B5EF4-FFF2-40B4-BE49-F238E27FC236}">
                <a16:creationId xmlns:a16="http://schemas.microsoft.com/office/drawing/2014/main" id="{CE279FE9-2301-5744-ACB4-A5B19E284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3421063"/>
            <a:ext cx="3810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69" name="Line 12">
            <a:extLst>
              <a:ext uri="{FF2B5EF4-FFF2-40B4-BE49-F238E27FC236}">
                <a16:creationId xmlns:a16="http://schemas.microsoft.com/office/drawing/2014/main" id="{06CD89E7-634B-F24D-A740-3BBD0A3CE8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6100" y="2532063"/>
            <a:ext cx="76200" cy="533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70" name="Line 13">
            <a:extLst>
              <a:ext uri="{FF2B5EF4-FFF2-40B4-BE49-F238E27FC236}">
                <a16:creationId xmlns:a16="http://schemas.microsoft.com/office/drawing/2014/main" id="{825FC142-56EB-D14F-8A05-BCEDCF8B06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8500" y="1681163"/>
            <a:ext cx="8382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70" name="Line 14">
            <a:extLst>
              <a:ext uri="{FF2B5EF4-FFF2-40B4-BE49-F238E27FC236}">
                <a16:creationId xmlns:a16="http://schemas.microsoft.com/office/drawing/2014/main" id="{409D2C24-E884-F04D-B7FD-5AA9A9FC1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700" y="1731963"/>
            <a:ext cx="1066800" cy="685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71" name="Line 15">
            <a:extLst>
              <a:ext uri="{FF2B5EF4-FFF2-40B4-BE49-F238E27FC236}">
                <a16:creationId xmlns:a16="http://schemas.microsoft.com/office/drawing/2014/main" id="{C2160356-E62B-954C-A0D0-0905BEF99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493963"/>
            <a:ext cx="457200" cy="990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72" name="Line 16">
            <a:extLst>
              <a:ext uri="{FF2B5EF4-FFF2-40B4-BE49-F238E27FC236}">
                <a16:creationId xmlns:a16="http://schemas.microsoft.com/office/drawing/2014/main" id="{6D354D02-6F45-D145-A032-1FB94ECDA1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3509963"/>
            <a:ext cx="152400" cy="482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73" name="Line 17">
            <a:extLst>
              <a:ext uri="{FF2B5EF4-FFF2-40B4-BE49-F238E27FC236}">
                <a16:creationId xmlns:a16="http://schemas.microsoft.com/office/drawing/2014/main" id="{5E102BDB-E1D3-5F43-B8DD-0694ADFE9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6800" y="4221163"/>
            <a:ext cx="5334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74" name="Line 18">
            <a:extLst>
              <a:ext uri="{FF2B5EF4-FFF2-40B4-BE49-F238E27FC236}">
                <a16:creationId xmlns:a16="http://schemas.microsoft.com/office/drawing/2014/main" id="{689A61C9-8DF6-EE4A-AADC-C6B12BE36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852863"/>
            <a:ext cx="10668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75" name="Line 19">
            <a:extLst>
              <a:ext uri="{FF2B5EF4-FFF2-40B4-BE49-F238E27FC236}">
                <a16:creationId xmlns:a16="http://schemas.microsoft.com/office/drawing/2014/main" id="{5BC98478-8AD8-0B48-9E63-F18663AB0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3421063"/>
            <a:ext cx="3810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76" name="Line 20">
            <a:extLst>
              <a:ext uri="{FF2B5EF4-FFF2-40B4-BE49-F238E27FC236}">
                <a16:creationId xmlns:a16="http://schemas.microsoft.com/office/drawing/2014/main" id="{FA5DA8C7-6119-AE42-AFD9-856B5B534C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6100" y="2544763"/>
            <a:ext cx="76200" cy="5334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77" name="Line 21">
            <a:extLst>
              <a:ext uri="{FF2B5EF4-FFF2-40B4-BE49-F238E27FC236}">
                <a16:creationId xmlns:a16="http://schemas.microsoft.com/office/drawing/2014/main" id="{4E4CA62F-486C-DA44-AC97-C558D40A1A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8500" y="1681163"/>
            <a:ext cx="838200" cy="762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79" name="Oval 22">
            <a:extLst>
              <a:ext uri="{FF2B5EF4-FFF2-40B4-BE49-F238E27FC236}">
                <a16:creationId xmlns:a16="http://schemas.microsoft.com/office/drawing/2014/main" id="{B2704BE1-71F0-8448-9338-A23E7EC3B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630363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80" name="Oval 23">
            <a:extLst>
              <a:ext uri="{FF2B5EF4-FFF2-40B4-BE49-F238E27FC236}">
                <a16:creationId xmlns:a16="http://schemas.microsoft.com/office/drawing/2014/main" id="{CC0C000F-D19A-2949-AE89-22F7468D5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316163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81" name="Oval 24">
            <a:extLst>
              <a:ext uri="{FF2B5EF4-FFF2-40B4-BE49-F238E27FC236}">
                <a16:creationId xmlns:a16="http://schemas.microsoft.com/office/drawing/2014/main" id="{C956C1A6-BFF9-8C42-87CA-ED7A8CF98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306763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82" name="Oval 25">
            <a:extLst>
              <a:ext uri="{FF2B5EF4-FFF2-40B4-BE49-F238E27FC236}">
                <a16:creationId xmlns:a16="http://schemas.microsoft.com/office/drawing/2014/main" id="{AC747F71-5C4B-D74D-A302-82D1D9F39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392363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83" name="Oval 26">
            <a:extLst>
              <a:ext uri="{FF2B5EF4-FFF2-40B4-BE49-F238E27FC236}">
                <a16:creationId xmlns:a16="http://schemas.microsoft.com/office/drawing/2014/main" id="{7F36ADC6-0BA9-EB4F-A934-6F63FF4EB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687763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9484" name="Oval 27">
            <a:extLst>
              <a:ext uri="{FF2B5EF4-FFF2-40B4-BE49-F238E27FC236}">
                <a16:creationId xmlns:a16="http://schemas.microsoft.com/office/drawing/2014/main" id="{FDC206B6-00E7-0B43-AB64-97A0408EC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44963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21884" name="Rectangle 28">
            <a:extLst>
              <a:ext uri="{FF2B5EF4-FFF2-40B4-BE49-F238E27FC236}">
                <a16:creationId xmlns:a16="http://schemas.microsoft.com/office/drawing/2014/main" id="{60532EE7-C288-FE40-89EC-C6E5FA9A1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203325"/>
            <a:ext cx="1117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=v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zh-CN" altLang="en-US" sz="3200" b="1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1885" name="Rectangle 29">
            <a:extLst>
              <a:ext uri="{FF2B5EF4-FFF2-40B4-BE49-F238E27FC236}">
                <a16:creationId xmlns:a16="http://schemas.microsoft.com/office/drawing/2014/main" id="{DDF62991-1226-FF4A-9CE4-310B5E079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1833563"/>
            <a:ext cx="5270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1886" name="Rectangle 30">
            <a:extLst>
              <a:ext uri="{FF2B5EF4-FFF2-40B4-BE49-F238E27FC236}">
                <a16:creationId xmlns:a16="http://schemas.microsoft.com/office/drawing/2014/main" id="{10F10F94-2557-774D-B06B-22F54AB1E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925763"/>
            <a:ext cx="5270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1887" name="Rectangle 31">
            <a:extLst>
              <a:ext uri="{FF2B5EF4-FFF2-40B4-BE49-F238E27FC236}">
                <a16:creationId xmlns:a16="http://schemas.microsoft.com/office/drawing/2014/main" id="{01C9F132-5F5A-2F4B-B651-DD6CDAC07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3641725"/>
            <a:ext cx="5413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1888" name="Rectangle 32">
            <a:extLst>
              <a:ext uri="{FF2B5EF4-FFF2-40B4-BE49-F238E27FC236}">
                <a16:creationId xmlns:a16="http://schemas.microsoft.com/office/drawing/2014/main" id="{1CA7CD70-3BDF-974F-921C-E98885ACD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44963"/>
            <a:ext cx="769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k-1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1889" name="Rectangle 33">
            <a:extLst>
              <a:ext uri="{FF2B5EF4-FFF2-40B4-BE49-F238E27FC236}">
                <a16:creationId xmlns:a16="http://schemas.microsoft.com/office/drawing/2014/main" id="{0F3752E8-709F-A640-B080-3470C2231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858963"/>
            <a:ext cx="7699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2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200" b="1" baseline="-30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n-1</a:t>
            </a:r>
            <a:endParaRPr lang="zh-CN" altLang="en-US" sz="3200" b="1" baseline="-30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21890" name="Rectangle 34">
            <a:extLst>
              <a:ext uri="{FF2B5EF4-FFF2-40B4-BE49-F238E27FC236}">
                <a16:creationId xmlns:a16="http://schemas.microsoft.com/office/drawing/2014/main" id="{FDC491EA-95A6-6C47-8715-4EF94069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791200"/>
            <a:ext cx="868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>
                <a:solidFill>
                  <a:srgbClr val="484848"/>
                </a:solidFill>
                <a:latin typeface="Times New Roman" panose="02020603050405020304" pitchFamily="18" charset="0"/>
                <a:ea typeface="楷体_GB2312" pitchFamily="49" charset="-122"/>
              </a:rPr>
              <a:t>故假设不成立，此连通图</a:t>
            </a:r>
            <a:r>
              <a:rPr lang="en-US" altLang="zh-CN" sz="3200">
                <a:solidFill>
                  <a:srgbClr val="484848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3200" baseline="-30000">
                <a:solidFill>
                  <a:srgbClr val="484848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3200">
                <a:solidFill>
                  <a:srgbClr val="484848"/>
                </a:solidFill>
                <a:latin typeface="Times New Roman" panose="02020603050405020304" pitchFamily="18" charset="0"/>
                <a:ea typeface="楷体_GB2312" pitchFamily="49" charset="-122"/>
              </a:rPr>
              <a:t>无回路，故</a:t>
            </a:r>
            <a:r>
              <a:rPr lang="en-US" altLang="zh-CN" sz="3200">
                <a:solidFill>
                  <a:srgbClr val="484848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3200" baseline="-30000">
                <a:solidFill>
                  <a:srgbClr val="484848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3200">
                <a:solidFill>
                  <a:srgbClr val="484848"/>
                </a:solidFill>
                <a:latin typeface="Times New Roman" panose="02020603050405020304" pitchFamily="18" charset="0"/>
                <a:ea typeface="楷体_GB2312" pitchFamily="49" charset="-122"/>
              </a:rPr>
              <a:t>是树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9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84E10355-BC5C-1F43-99FE-6F48CDD9E5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6EBE4F-CAB3-2A4C-81B2-57D03C532643}" type="slidenum">
              <a:rPr kumimoji="0" lang="zh-CN" altLang="en-US" sz="1200"/>
              <a:pPr/>
              <a:t>18</a:t>
            </a:fld>
            <a:endParaRPr kumimoji="0" lang="en-US" altLang="zh-CN" sz="12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69917842-CC52-AC49-88DD-CF289D6362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定理4.3.1（转化定理）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0731EEF-85AD-7E44-8F8B-86550513BBD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763000" cy="4724400"/>
          </a:xfrm>
        </p:spPr>
        <p:txBody>
          <a:bodyPr/>
          <a:lstStyle/>
          <a:p>
            <a:pPr marL="265113" indent="-265113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再证第二个命题。 </a:t>
            </a:r>
          </a:p>
          <a:p>
            <a:pPr marL="265113" indent="-265113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任选树中一点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作为根，规定：将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中任意一边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改成从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的弧当且仅当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的简单路通过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即这条简单路形如：(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v,v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,r) 。</a:t>
            </a:r>
          </a:p>
          <a:p>
            <a:pPr marL="265113" indent="-265113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	(1)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首先证明上述规定的无矛盾性：对树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中任意一边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=r，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则按规定，将边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改成从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的弧；若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则往证：按规定，其方向或者从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或者从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二者必居其一。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>
            <a:extLst>
              <a:ext uri="{FF2B5EF4-FFF2-40B4-BE49-F238E27FC236}">
                <a16:creationId xmlns:a16="http://schemas.microsoft.com/office/drawing/2014/main" id="{C4351E02-42AD-EA43-B476-7B62672AC8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C433FD-31E1-E444-9FCF-2BE252C11A82}" type="slidenum">
              <a:rPr kumimoji="0" lang="zh-CN" altLang="en-US" sz="1200"/>
              <a:pPr/>
              <a:t>19</a:t>
            </a:fld>
            <a:endParaRPr kumimoji="0" lang="en-US" altLang="zh-CN" sz="1200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DA084BEF-D291-994B-940C-FECAA823D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定理4.3.1（转化定理）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84DC9B2-A90B-3E48-9208-C70513A3548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915400" cy="5257800"/>
          </a:xfrm>
        </p:spPr>
        <p:txBody>
          <a:bodyPr/>
          <a:lstStyle/>
          <a:p>
            <a:pPr marL="357188" indent="-357188">
              <a:lnSpc>
                <a:spcPct val="110000"/>
              </a:lnSpc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因为从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各恰有一条到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的简单路，分别设为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、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</a:p>
          <a:p>
            <a:pPr marL="357188" indent="-357188">
              <a:lnSpc>
                <a:spcPct val="11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则由于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所以可设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是这两条路中从左向右看第一对相同的点，亦即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但是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j-1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互不相同，所以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j-1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到自身的简单路，当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i=j=1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时，此路为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长度为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，即此路是回路，矛盾。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C567814D-E7C3-2643-B881-C5DFE50116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BBB3E8-2FEE-EE4D-AF12-027018911F03}" type="slidenum">
              <a:rPr kumimoji="0" lang="zh-CN" altLang="en-US" sz="1200"/>
              <a:pPr/>
              <a:t>20</a:t>
            </a:fld>
            <a:endParaRPr kumimoji="0" lang="en-US" altLang="zh-CN" sz="1200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34CE24BD-913B-1944-A83B-BE031FB1E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定理4.3.1（转化定理）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6F9B5CC-FEBE-B645-B9DD-48D05393301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763000" cy="52578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v=v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v,v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,r)， (v,v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,r)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是两条从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的简单路，由于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所以这是两条不同的从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的简单路。矛盾。</a:t>
            </a:r>
          </a:p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故由上面证明知，必有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v=v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或者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二者恰居其一。若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v=v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则按规定，边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改成从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的弧；若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则按规定，边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改成从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的弧。故按上述规定，树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中任一边都能改成一个有确定方向的弧，即，将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改成一个有向图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G。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>
            <a:extLst>
              <a:ext uri="{FF2B5EF4-FFF2-40B4-BE49-F238E27FC236}">
                <a16:creationId xmlns:a16="http://schemas.microsoft.com/office/drawing/2014/main" id="{A25D70B9-ADF6-E74B-864A-73750F0F0D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3077B0-2CAC-1444-8511-4A7C79CBF711}" type="slidenum">
              <a:rPr kumimoji="0" lang="zh-CN" altLang="en-US" sz="1200"/>
              <a:pPr/>
              <a:t>21</a:t>
            </a:fld>
            <a:endParaRPr kumimoji="0" lang="en-US" altLang="zh-CN" sz="120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57C7707A-09AA-8948-9594-6BFCA2664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定理4.3.1（转化定理）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60F28C4-5E1C-5041-BF99-B6739647BF3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839200" cy="52578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往证：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为根的有向树。</a:t>
            </a:r>
          </a:p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①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每一点</a:t>
            </a:r>
            <a:r>
              <a:rPr kumimoji="0" lang="en-US" altLang="zh-CN" sz="3200" u="sng">
                <a:latin typeface="Times New Roman" panose="02020603050405020304" pitchFamily="18" charset="0"/>
                <a:ea typeface="楷体_GB2312" pitchFamily="49" charset="-122"/>
              </a:rPr>
              <a:t>v 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 u="sng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u="sng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 u="sng">
                <a:latin typeface="Times New Roman" panose="02020603050405020304" pitchFamily="18" charset="0"/>
                <a:ea typeface="楷体_GB2312" pitchFamily="49" charset="-122"/>
              </a:rPr>
              <a:t>r)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恰是一弧的起点；</a:t>
            </a:r>
          </a:p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任取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中一点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由于在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中存在从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的简单路，故由上面的规定，在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必是某条弧的起点。若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是两条弧的起点，设这两条弧的终点分别为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于是，按着上面规定，在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有两条简单路：(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v,v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,r)， (v,v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,r)。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矛盾。故点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恰是一条弧的起点。 </a:t>
            </a: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6A0F899A-EFCB-8846-BC69-B9C315A8E2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2E88AB-BC80-D344-9B58-49341BFAC4EC}" type="slidenum">
              <a:rPr kumimoji="0" lang="zh-CN" altLang="en-US" sz="1200"/>
              <a:pPr/>
              <a:t>22</a:t>
            </a:fld>
            <a:endParaRPr kumimoji="0" lang="en-US" altLang="zh-CN" sz="1200"/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C240A84A-D894-2E4D-A103-44B029777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定理4.3.1（转化定理）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3BF98D5-F9A9-794D-848C-5398203E6A9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915400" cy="45720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②</a:t>
            </a:r>
            <a:r>
              <a:rPr kumimoji="0" lang="zh-CN" altLang="en-US" sz="32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 u="sng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不是任意一条弧的起点；</a:t>
            </a:r>
          </a:p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  由规定知，此结论显然成立。 </a:t>
            </a:r>
          </a:p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③</a:t>
            </a:r>
            <a:r>
              <a:rPr kumimoji="0" lang="en-US" altLang="zh-CN" sz="3200" u="sng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是根。</a:t>
            </a:r>
          </a:p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 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中任意一点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r) 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中恰有一条从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的简单路。按规定此简单路上诸边的方向都指向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中，这是一条从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的有向路。</a:t>
            </a:r>
          </a:p>
          <a:p>
            <a:pPr marL="0" indent="0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综上所述，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是一个有向树。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</a:t>
            </a: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9DBD6435-2039-6947-AEDF-05E844EFBC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96980D-2620-E14F-9994-91695F879EE8}" type="slidenum">
              <a:rPr kumimoji="0" lang="zh-CN" altLang="en-US" sz="1200"/>
              <a:pPr/>
              <a:t>23</a:t>
            </a:fld>
            <a:endParaRPr kumimoji="0" lang="en-US" altLang="zh-CN" sz="12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DE232BD7-AC2A-7647-8CA3-F3134DA45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§4.3.2  </a:t>
            </a:r>
            <a:r>
              <a:rPr lang="en-US" altLang="zh-CN" dirty="0">
                <a:latin typeface="Times New Roman" charset="0"/>
                <a:ea typeface="楷体_GB2312" charset="0"/>
              </a:rPr>
              <a:t>Euler</a:t>
            </a:r>
            <a:r>
              <a:rPr lang="zh-CN" altLang="en-US" dirty="0">
                <a:latin typeface="Times New Roman" charset="0"/>
                <a:ea typeface="楷体_GB2312" charset="0"/>
              </a:rPr>
              <a:t>路  </a:t>
            </a:r>
            <a:r>
              <a:rPr lang="en-US" altLang="zh-CN" dirty="0">
                <a:latin typeface="Times New Roman" charset="0"/>
                <a:ea typeface="楷体_GB2312" charset="0"/>
              </a:rPr>
              <a:t>Euler</a:t>
            </a:r>
            <a:r>
              <a:rPr lang="zh-CN" altLang="en-US" dirty="0">
                <a:latin typeface="Times New Roman" charset="0"/>
                <a:ea typeface="楷体_GB2312" charset="0"/>
              </a:rPr>
              <a:t>图</a:t>
            </a:r>
            <a:r>
              <a:rPr lang="zh-CN" altLang="en-US" dirty="0">
                <a:latin typeface="Times New Roman" charset="0"/>
                <a:ea typeface="楷体_GB2312" charset="0"/>
                <a:cs typeface="Times New Roman" charset="0"/>
              </a:rPr>
              <a:t> 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985CAE8E-6CFD-9E4A-B7FD-94E5A57DB77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763000" cy="609600"/>
          </a:xfrm>
        </p:spPr>
        <p:txBody>
          <a:bodyPr/>
          <a:lstStyle/>
          <a:p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Konigsberg Seven Bridges Problem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8746" name="Object 202">
            <a:extLst>
              <a:ext uri="{FF2B5EF4-FFF2-40B4-BE49-F238E27FC236}">
                <a16:creationId xmlns:a16="http://schemas.microsoft.com/office/drawing/2014/main" id="{5E42BCC0-7F25-5E4C-9382-B2A4E4B7EA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362200"/>
          <a:ext cx="42672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52900" imgH="1892300" progId="Visio.Drawing.6">
                  <p:embed/>
                </p:oleObj>
              </mc:Choice>
              <mc:Fallback>
                <p:oleObj r:id="rId3" imgW="4152900" imgH="1892300" progId="Visio.Drawing.6">
                  <p:embed/>
                  <p:pic>
                    <p:nvPicPr>
                      <p:cNvPr id="0" name="Object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362200"/>
                        <a:ext cx="42672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765" name="Group 221">
            <a:extLst>
              <a:ext uri="{FF2B5EF4-FFF2-40B4-BE49-F238E27FC236}">
                <a16:creationId xmlns:a16="http://schemas.microsoft.com/office/drawing/2014/main" id="{BC958F6F-B66C-604D-B365-8D972F67ABD7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362200"/>
            <a:ext cx="2814638" cy="3395663"/>
            <a:chOff x="3693" y="1413"/>
            <a:chExt cx="1773" cy="2139"/>
          </a:xfrm>
        </p:grpSpPr>
        <p:sp>
          <p:nvSpPr>
            <p:cNvPr id="25607" name="Line 209">
              <a:extLst>
                <a:ext uri="{FF2B5EF4-FFF2-40B4-BE49-F238E27FC236}">
                  <a16:creationId xmlns:a16="http://schemas.microsoft.com/office/drawing/2014/main" id="{174CA15F-00A5-1A40-BBE0-3A7EE8BEC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1767"/>
              <a:ext cx="1056" cy="72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5608" name="Line 210">
              <a:extLst>
                <a:ext uri="{FF2B5EF4-FFF2-40B4-BE49-F238E27FC236}">
                  <a16:creationId xmlns:a16="http://schemas.microsoft.com/office/drawing/2014/main" id="{7DE3553C-F9C8-8B49-A4CB-AF1965EC1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0" y="2553"/>
              <a:ext cx="1056" cy="72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5609" name="Line 211">
              <a:extLst>
                <a:ext uri="{FF2B5EF4-FFF2-40B4-BE49-F238E27FC236}">
                  <a16:creationId xmlns:a16="http://schemas.microsoft.com/office/drawing/2014/main" id="{B7840DB9-B2D2-FA49-88FC-462635AB3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514"/>
              <a:ext cx="1047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5610" name="Line 212">
              <a:extLst>
                <a:ext uri="{FF2B5EF4-FFF2-40B4-BE49-F238E27FC236}">
                  <a16:creationId xmlns:a16="http://schemas.microsoft.com/office/drawing/2014/main" id="{ECE55211-A28F-EB4B-90A1-02D9FFD5F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764"/>
              <a:ext cx="0" cy="154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0731" name="Arc 215">
              <a:extLst>
                <a:ext uri="{FF2B5EF4-FFF2-40B4-BE49-F238E27FC236}">
                  <a16:creationId xmlns:a16="http://schemas.microsoft.com/office/drawing/2014/main" id="{EEA27813-288B-3649-A489-A5FE0DFFD4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10" y="1775"/>
              <a:ext cx="192" cy="721"/>
            </a:xfrm>
            <a:custGeom>
              <a:avLst/>
              <a:gdLst>
                <a:gd name="T0" fmla="*/ 0 w 21600"/>
                <a:gd name="T1" fmla="*/ 0 h 43196"/>
                <a:gd name="T2" fmla="*/ 0 w 21600"/>
                <a:gd name="T3" fmla="*/ 0 h 43196"/>
                <a:gd name="T4" fmla="*/ 0 w 21600"/>
                <a:gd name="T5" fmla="*/ 0 h 431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70"/>
                    <a:pt x="12176" y="42973"/>
                    <a:pt x="408" y="43196"/>
                  </a:cubicBezTo>
                </a:path>
                <a:path w="21600" h="431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70"/>
                    <a:pt x="12176" y="42973"/>
                    <a:pt x="408" y="4319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2" name="Arc 216">
              <a:extLst>
                <a:ext uri="{FF2B5EF4-FFF2-40B4-BE49-F238E27FC236}">
                  <a16:creationId xmlns:a16="http://schemas.microsoft.com/office/drawing/2014/main" id="{6A08771F-E575-8647-936C-49A9A6EB37B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19" y="2543"/>
              <a:ext cx="192" cy="721"/>
            </a:xfrm>
            <a:custGeom>
              <a:avLst/>
              <a:gdLst>
                <a:gd name="T0" fmla="*/ 0 w 21600"/>
                <a:gd name="T1" fmla="*/ 0 h 43196"/>
                <a:gd name="T2" fmla="*/ 0 w 21600"/>
                <a:gd name="T3" fmla="*/ 0 h 43196"/>
                <a:gd name="T4" fmla="*/ 0 w 21600"/>
                <a:gd name="T5" fmla="*/ 0 h 431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70"/>
                    <a:pt x="12176" y="42973"/>
                    <a:pt x="408" y="43196"/>
                  </a:cubicBezTo>
                </a:path>
                <a:path w="21600" h="431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70"/>
                    <a:pt x="12176" y="42973"/>
                    <a:pt x="408" y="4319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3" name="Oval 204">
              <a:extLst>
                <a:ext uri="{FF2B5EF4-FFF2-40B4-BE49-F238E27FC236}">
                  <a16:creationId xmlns:a16="http://schemas.microsoft.com/office/drawing/2014/main" id="{476F7639-88DE-AE4B-8461-3DDA706A2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68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5614" name="Oval 205">
              <a:extLst>
                <a:ext uri="{FF2B5EF4-FFF2-40B4-BE49-F238E27FC236}">
                  <a16:creationId xmlns:a16="http://schemas.microsoft.com/office/drawing/2014/main" id="{E6836B33-AFC0-4F4B-B543-21B310D4E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45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5615" name="Oval 206">
              <a:extLst>
                <a:ext uri="{FF2B5EF4-FFF2-40B4-BE49-F238E27FC236}">
                  <a16:creationId xmlns:a16="http://schemas.microsoft.com/office/drawing/2014/main" id="{1F130513-B7C3-184F-91CD-7D066D54A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21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5616" name="Oval 207">
              <a:extLst>
                <a:ext uri="{FF2B5EF4-FFF2-40B4-BE49-F238E27FC236}">
                  <a16:creationId xmlns:a16="http://schemas.microsoft.com/office/drawing/2014/main" id="{B630A1D9-CC41-EA44-8EF5-52604B3E8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445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8761" name="Text Box 217">
              <a:extLst>
                <a:ext uri="{FF2B5EF4-FFF2-40B4-BE49-F238E27FC236}">
                  <a16:creationId xmlns:a16="http://schemas.microsoft.com/office/drawing/2014/main" id="{09E242A8-D800-3B43-9078-24C3EF802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3" y="236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8762" name="Text Box 218">
              <a:extLst>
                <a:ext uri="{FF2B5EF4-FFF2-40B4-BE49-F238E27FC236}">
                  <a16:creationId xmlns:a16="http://schemas.microsoft.com/office/drawing/2014/main" id="{B8E32DE0-09E7-074A-87FB-E4B3FB230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26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8763" name="Text Box 219">
              <a:extLst>
                <a:ext uri="{FF2B5EF4-FFF2-40B4-BE49-F238E27FC236}">
                  <a16:creationId xmlns:a16="http://schemas.microsoft.com/office/drawing/2014/main" id="{7B33FD38-15C2-1140-9F89-0AAE6C4B8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41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8764" name="Text Box 220">
              <a:extLst>
                <a:ext uri="{FF2B5EF4-FFF2-40B4-BE49-F238E27FC236}">
                  <a16:creationId xmlns:a16="http://schemas.microsoft.com/office/drawing/2014/main" id="{6DE76E6A-6EDF-4D43-9983-85443FED2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1" y="235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0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E6D80AA6-A288-5147-B13B-B20D16156F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E027AD-5559-EB4B-9B00-6336ACB92748}" type="slidenum">
              <a:rPr kumimoji="0" lang="zh-CN" altLang="en-US" sz="1200"/>
              <a:pPr/>
              <a:t>24</a:t>
            </a:fld>
            <a:endParaRPr kumimoji="0" lang="en-US" altLang="zh-CN" sz="1200"/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3303E7E1-86EA-DE4A-9600-5B708777E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90678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定义4.3.</a:t>
            </a:r>
            <a:r>
              <a:rPr lang="en-US" altLang="zh-CN" dirty="0">
                <a:latin typeface="Times New Roman" charset="0"/>
                <a:ea typeface="楷体_GB2312" charset="0"/>
              </a:rPr>
              <a:t>9  Euler</a:t>
            </a:r>
            <a:r>
              <a:rPr lang="zh-CN" altLang="en-US" dirty="0">
                <a:latin typeface="Times New Roman" charset="0"/>
                <a:ea typeface="楷体_GB2312" charset="0"/>
              </a:rPr>
              <a:t>路  </a:t>
            </a:r>
            <a:r>
              <a:rPr lang="en-US" altLang="zh-CN" dirty="0">
                <a:latin typeface="Times New Roman" charset="0"/>
                <a:ea typeface="楷体_GB2312" charset="0"/>
              </a:rPr>
              <a:t>Euler</a:t>
            </a:r>
            <a:r>
              <a:rPr lang="zh-CN" altLang="en-US" dirty="0">
                <a:latin typeface="Times New Roman" charset="0"/>
                <a:ea typeface="楷体_GB2312" charset="0"/>
              </a:rPr>
              <a:t>图</a:t>
            </a:r>
            <a:r>
              <a:rPr lang="zh-CN" altLang="en-US" dirty="0">
                <a:latin typeface="Times New Roman" charset="0"/>
                <a:ea typeface="楷体_GB2312" charset="0"/>
                <a:cs typeface="Times New Roman" charset="0"/>
              </a:rPr>
              <a:t> 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91F48940-4C64-6B4B-9ED9-667266B5C4B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915400" cy="2286000"/>
          </a:xfrm>
        </p:spPr>
        <p:txBody>
          <a:bodyPr/>
          <a:lstStyle/>
          <a:p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是有向图，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中一条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路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，就是一条有向路(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fin(e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)=init(e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而且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中每条弧在此有向路中恰出现一次。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137220" name="Group 4">
            <a:extLst>
              <a:ext uri="{FF2B5EF4-FFF2-40B4-BE49-F238E27FC236}">
                <a16:creationId xmlns:a16="http://schemas.microsoft.com/office/drawing/2014/main" id="{79BA40E6-850D-2040-A618-0E3284381811}"/>
              </a:ext>
            </a:extLst>
          </p:cNvPr>
          <p:cNvGrpSpPr>
            <a:grpSpLocks/>
          </p:cNvGrpSpPr>
          <p:nvPr/>
        </p:nvGrpSpPr>
        <p:grpSpPr bwMode="auto">
          <a:xfrm>
            <a:off x="1468438" y="3317875"/>
            <a:ext cx="6049962" cy="2016125"/>
            <a:chOff x="566" y="2224"/>
            <a:chExt cx="3811" cy="1270"/>
          </a:xfrm>
        </p:grpSpPr>
        <p:sp>
          <p:nvSpPr>
            <p:cNvPr id="26631" name="Oval 5">
              <a:extLst>
                <a:ext uri="{FF2B5EF4-FFF2-40B4-BE49-F238E27FC236}">
                  <a16:creationId xmlns:a16="http://schemas.microsoft.com/office/drawing/2014/main" id="{48A26575-698F-6548-A28F-AA8203071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8" y="2914"/>
              <a:ext cx="105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6632" name="Oval 6">
              <a:extLst>
                <a:ext uri="{FF2B5EF4-FFF2-40B4-BE49-F238E27FC236}">
                  <a16:creationId xmlns:a16="http://schemas.microsoft.com/office/drawing/2014/main" id="{D58F48A3-A9BB-404E-9878-7F96F296D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2904"/>
              <a:ext cx="106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2776" name="Arc 7">
              <a:extLst>
                <a:ext uri="{FF2B5EF4-FFF2-40B4-BE49-F238E27FC236}">
                  <a16:creationId xmlns:a16="http://schemas.microsoft.com/office/drawing/2014/main" id="{FF6AD212-864B-C94E-8EFC-FC4B5B48B1B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738" y="2609"/>
              <a:ext cx="843" cy="349"/>
            </a:xfrm>
            <a:custGeom>
              <a:avLst/>
              <a:gdLst>
                <a:gd name="T0" fmla="*/ 0 w 42677"/>
                <a:gd name="T1" fmla="*/ 0 h 21600"/>
                <a:gd name="T2" fmla="*/ 0 w 42677"/>
                <a:gd name="T3" fmla="*/ 0 h 21600"/>
                <a:gd name="T4" fmla="*/ 0 w 4267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677" h="21600" fill="none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</a:path>
                <a:path w="42677" h="21600" stroke="0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  <a:lnTo>
                    <a:pt x="21423" y="0"/>
                  </a:lnTo>
                  <a:lnTo>
                    <a:pt x="42677" y="3849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7" name="Arc 8">
              <a:extLst>
                <a:ext uri="{FF2B5EF4-FFF2-40B4-BE49-F238E27FC236}">
                  <a16:creationId xmlns:a16="http://schemas.microsoft.com/office/drawing/2014/main" id="{7D791421-1BB0-3842-91A4-946230B84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590"/>
              <a:ext cx="845" cy="303"/>
            </a:xfrm>
            <a:custGeom>
              <a:avLst/>
              <a:gdLst>
                <a:gd name="T0" fmla="*/ 0 w 43200"/>
                <a:gd name="T1" fmla="*/ 0 h 21956"/>
                <a:gd name="T2" fmla="*/ 0 w 43200"/>
                <a:gd name="T3" fmla="*/ 0 h 21956"/>
                <a:gd name="T4" fmla="*/ 0 w 43200"/>
                <a:gd name="T5" fmla="*/ 0 h 219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956" fill="none" extrusionOk="0">
                  <a:moveTo>
                    <a:pt x="2" y="21956"/>
                  </a:moveTo>
                  <a:cubicBezTo>
                    <a:pt x="0" y="21837"/>
                    <a:pt x="0" y="2171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956" stroke="0" extrusionOk="0">
                  <a:moveTo>
                    <a:pt x="2" y="21956"/>
                  </a:moveTo>
                  <a:cubicBezTo>
                    <a:pt x="0" y="21837"/>
                    <a:pt x="0" y="2171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2" y="2195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8" name="Arc 9">
              <a:extLst>
                <a:ext uri="{FF2B5EF4-FFF2-40B4-BE49-F238E27FC236}">
                  <a16:creationId xmlns:a16="http://schemas.microsoft.com/office/drawing/2014/main" id="{E863816F-ED27-544E-82E3-ACCC2E3F214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41" y="2894"/>
              <a:ext cx="860" cy="363"/>
            </a:xfrm>
            <a:custGeom>
              <a:avLst/>
              <a:gdLst>
                <a:gd name="T0" fmla="*/ 0 w 41008"/>
                <a:gd name="T1" fmla="*/ 0 h 21600"/>
                <a:gd name="T2" fmla="*/ 0 w 41008"/>
                <a:gd name="T3" fmla="*/ 0 h 21600"/>
                <a:gd name="T4" fmla="*/ 0 w 41008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008" h="21600" fill="none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9858" y="0"/>
                    <a:pt x="38269" y="6260"/>
                    <a:pt x="41008" y="15400"/>
                  </a:cubicBezTo>
                </a:path>
                <a:path w="41008" h="21600" stroke="0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9858" y="0"/>
                    <a:pt x="38269" y="6260"/>
                    <a:pt x="41008" y="15400"/>
                  </a:cubicBezTo>
                  <a:lnTo>
                    <a:pt x="20317" y="21600"/>
                  </a:lnTo>
                  <a:lnTo>
                    <a:pt x="-1" y="142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9" name="Arc 10">
              <a:extLst>
                <a:ext uri="{FF2B5EF4-FFF2-40B4-BE49-F238E27FC236}">
                  <a16:creationId xmlns:a16="http://schemas.microsoft.com/office/drawing/2014/main" id="{028FC02F-497E-4845-8E21-C33CA8B01D2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721" y="2875"/>
              <a:ext cx="839" cy="363"/>
            </a:xfrm>
            <a:custGeom>
              <a:avLst/>
              <a:gdLst>
                <a:gd name="T0" fmla="*/ 0 w 39973"/>
                <a:gd name="T1" fmla="*/ 0 h 21600"/>
                <a:gd name="T2" fmla="*/ 0 w 39973"/>
                <a:gd name="T3" fmla="*/ 0 h 21600"/>
                <a:gd name="T4" fmla="*/ 0 w 39973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973" h="21600" fill="none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8780" y="0"/>
                    <a:pt x="36464" y="4942"/>
                    <a:pt x="39973" y="12644"/>
                  </a:cubicBezTo>
                </a:path>
                <a:path w="39973" h="21600" stroke="0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8780" y="0"/>
                    <a:pt x="36464" y="4942"/>
                    <a:pt x="39973" y="12644"/>
                  </a:cubicBezTo>
                  <a:lnTo>
                    <a:pt x="20317" y="21600"/>
                  </a:lnTo>
                  <a:lnTo>
                    <a:pt x="-1" y="142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27" name="Text Box 11">
              <a:extLst>
                <a:ext uri="{FF2B5EF4-FFF2-40B4-BE49-F238E27FC236}">
                  <a16:creationId xmlns:a16="http://schemas.microsoft.com/office/drawing/2014/main" id="{BAAA5EB7-0DD2-304A-AAD0-679F46418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2754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7228" name="Text Box 12">
              <a:extLst>
                <a:ext uri="{FF2B5EF4-FFF2-40B4-BE49-F238E27FC236}">
                  <a16:creationId xmlns:a16="http://schemas.microsoft.com/office/drawing/2014/main" id="{18200EC9-8D85-F242-B3ED-1043ECF4D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7" y="2754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7229" name="Text Box 13">
              <a:extLst>
                <a:ext uri="{FF2B5EF4-FFF2-40B4-BE49-F238E27FC236}">
                  <a16:creationId xmlns:a16="http://schemas.microsoft.com/office/drawing/2014/main" id="{898D8450-B4E2-A54C-A647-69F2D79E9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5" y="2754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7230" name="Text Box 14">
              <a:extLst>
                <a:ext uri="{FF2B5EF4-FFF2-40B4-BE49-F238E27FC236}">
                  <a16:creationId xmlns:a16="http://schemas.microsoft.com/office/drawing/2014/main" id="{EAF5A915-622C-AA46-85A7-21ECFD4B8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" y="2754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37231" name="Text Box 15">
              <a:extLst>
                <a:ext uri="{FF2B5EF4-FFF2-40B4-BE49-F238E27FC236}">
                  <a16:creationId xmlns:a16="http://schemas.microsoft.com/office/drawing/2014/main" id="{D0257FE4-8810-2042-9F7C-1514DD022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2" y="2754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37232" name="Text Box 16">
              <a:extLst>
                <a:ext uri="{FF2B5EF4-FFF2-40B4-BE49-F238E27FC236}">
                  <a16:creationId xmlns:a16="http://schemas.microsoft.com/office/drawing/2014/main" id="{1B97AAB9-0509-D04D-BD49-9AB0CBC85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3" y="2224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7233" name="Text Box 17">
              <a:extLst>
                <a:ext uri="{FF2B5EF4-FFF2-40B4-BE49-F238E27FC236}">
                  <a16:creationId xmlns:a16="http://schemas.microsoft.com/office/drawing/2014/main" id="{EDE7CD79-ECF7-0546-AF02-50D5693F2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" y="3167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7234" name="Text Box 18">
              <a:extLst>
                <a:ext uri="{FF2B5EF4-FFF2-40B4-BE49-F238E27FC236}">
                  <a16:creationId xmlns:a16="http://schemas.microsoft.com/office/drawing/2014/main" id="{EB8EEA88-795F-E747-8D4A-AEE6706F5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" y="2224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7235" name="Text Box 19">
              <a:extLst>
                <a:ext uri="{FF2B5EF4-FFF2-40B4-BE49-F238E27FC236}">
                  <a16:creationId xmlns:a16="http://schemas.microsoft.com/office/drawing/2014/main" id="{9757E1F9-5A85-3748-BE40-881DB035B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5" y="3167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6646" name="Oval 20">
              <a:extLst>
                <a:ext uri="{FF2B5EF4-FFF2-40B4-BE49-F238E27FC236}">
                  <a16:creationId xmlns:a16="http://schemas.microsoft.com/office/drawing/2014/main" id="{7E10B08B-AF0E-2D48-B565-AA374F01B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" y="2904"/>
              <a:ext cx="106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6647" name="Oval 21">
              <a:extLst>
                <a:ext uri="{FF2B5EF4-FFF2-40B4-BE49-F238E27FC236}">
                  <a16:creationId xmlns:a16="http://schemas.microsoft.com/office/drawing/2014/main" id="{5A54FDE2-3B03-BA44-8173-9EF35A925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" y="2894"/>
              <a:ext cx="106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6648" name="Oval 22">
              <a:extLst>
                <a:ext uri="{FF2B5EF4-FFF2-40B4-BE49-F238E27FC236}">
                  <a16:creationId xmlns:a16="http://schemas.microsoft.com/office/drawing/2014/main" id="{33328335-CEAB-B647-BDEC-57FE2293F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9" y="2904"/>
              <a:ext cx="106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37239" name="Rectangle 23">
            <a:extLst>
              <a:ext uri="{FF2B5EF4-FFF2-40B4-BE49-F238E27FC236}">
                <a16:creationId xmlns:a16="http://schemas.microsoft.com/office/drawing/2014/main" id="{2AA9D646-CCC2-DF43-BCED-C81EA1F81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257800"/>
            <a:ext cx="8458200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63538" indent="-363538" algn="l">
              <a:buFont typeface="Wingdings" charset="0"/>
              <a:buChar char="Ø"/>
              <a:defRPr/>
            </a:pPr>
            <a:r>
              <a:rPr kumimoji="1" lang="zh-CN" altLang="en-US" sz="3200" dirty="0">
                <a:latin typeface="Times New Roman" charset="0"/>
                <a:ea typeface="楷体_GB2312" charset="0"/>
                <a:cs typeface="楷体_GB2312" charset="0"/>
              </a:rPr>
              <a:t>一个有向图，如果存在着</a:t>
            </a:r>
            <a:r>
              <a:rPr kumimoji="1" lang="en-US" altLang="zh-CN" sz="3200" dirty="0">
                <a:latin typeface="Times New Roman" charset="0"/>
                <a:ea typeface="楷体_GB2312" charset="0"/>
                <a:cs typeface="楷体_GB2312" charset="0"/>
              </a:rPr>
              <a:t>Euler</a:t>
            </a:r>
            <a:r>
              <a:rPr kumimoji="1" lang="zh-CN" altLang="en-US" sz="3200" dirty="0">
                <a:latin typeface="Times New Roman" charset="0"/>
                <a:ea typeface="楷体_GB2312" charset="0"/>
                <a:cs typeface="楷体_GB2312" charset="0"/>
              </a:rPr>
              <a:t>路，就称为</a:t>
            </a:r>
            <a:r>
              <a:rPr kumimoji="1" lang="en-US" altLang="zh-CN" sz="3200" dirty="0">
                <a:solidFill>
                  <a:srgbClr val="4E67C8"/>
                </a:solidFill>
                <a:latin typeface="Times New Roman" charset="0"/>
                <a:ea typeface="楷体_GB2312" charset="0"/>
                <a:cs typeface="楷体_GB2312" charset="0"/>
              </a:rPr>
              <a:t>Euler</a:t>
            </a:r>
            <a:r>
              <a:rPr kumimoji="1" lang="zh-CN" altLang="en-US" sz="3200" dirty="0">
                <a:solidFill>
                  <a:srgbClr val="4E67C8"/>
                </a:solidFill>
                <a:latin typeface="Times New Roman" charset="0"/>
                <a:ea typeface="楷体_GB2312" charset="0"/>
                <a:cs typeface="楷体_GB2312" charset="0"/>
              </a:rPr>
              <a:t>图</a:t>
            </a:r>
            <a:r>
              <a:rPr kumimoji="1" lang="zh-CN" altLang="en-US" sz="3200" dirty="0">
                <a:latin typeface="Times New Roman" charset="0"/>
                <a:ea typeface="楷体_GB2312" charset="0"/>
                <a:cs typeface="楷体_GB2312" charset="0"/>
              </a:rPr>
              <a:t>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 autoUpdateAnimBg="0"/>
      <p:bldP spid="13723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1B29E067-C1C7-3444-82A7-772E65BB3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81DAD7-C4CC-4249-9268-DDD238BFE426}" type="slidenum">
              <a:rPr kumimoji="0" lang="zh-CN" altLang="en-US" sz="1200"/>
              <a:pPr/>
              <a:t>25</a:t>
            </a:fld>
            <a:endParaRPr kumimoji="0" lang="en-US" altLang="zh-CN" sz="12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BCDC3F9B-3352-4C4D-B292-F13B5E8AE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定义</a:t>
            </a:r>
            <a:r>
              <a:rPr lang="zh-CN" altLang="en-US" dirty="0">
                <a:latin typeface="Times New Roman" charset="0"/>
                <a:ea typeface="楷体_GB2312" charset="0"/>
              </a:rPr>
              <a:t>4.3.10</a:t>
            </a:r>
            <a:endParaRPr lang="zh-CN" altLang="en-US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CBF6221-53E0-C843-8CBB-BFC88B7EF8B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4953000"/>
          </a:xfrm>
        </p:spPr>
        <p:txBody>
          <a:bodyPr/>
          <a:lstStyle/>
          <a:p>
            <a:pPr marL="381000" indent="-381000">
              <a:lnSpc>
                <a:spcPct val="120000"/>
              </a:lnSpc>
              <a:tabLst>
                <a:tab pos="1074738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是有向图：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说是</a:t>
            </a:r>
            <a:r>
              <a:rPr kumimoji="0" lang="zh-CN" altLang="en-US" sz="320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孤立的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的输入和输出次数全为0；</a:t>
            </a:r>
          </a:p>
          <a:p>
            <a:pPr marL="381000" indent="-381000">
              <a:lnSpc>
                <a:spcPct val="120000"/>
              </a:lnSpc>
              <a:buFont typeface="Wingdings" pitchFamily="2" charset="2"/>
              <a:buNone/>
              <a:tabLst>
                <a:tab pos="107473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	(2)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说是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平衡的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中每点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都有有限的输入次数和输出次数，而且输入次数和输出次数相等。 </a:t>
            </a:r>
          </a:p>
          <a:p>
            <a:pPr marL="381000" indent="-381000">
              <a:lnSpc>
                <a:spcPct val="120000"/>
              </a:lnSpc>
              <a:buFont typeface="Wingdings" pitchFamily="2" charset="2"/>
              <a:buNone/>
              <a:tabLst>
                <a:tab pos="1074738" algn="l"/>
              </a:tabLst>
            </a:pP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89A13323-697C-744F-8E72-8838BE9944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F17FA-99FB-8E4F-8661-BF5CF28C2B47}" type="slidenum">
              <a:rPr kumimoji="0" lang="zh-CN" altLang="en-US" sz="1200"/>
              <a:pPr/>
              <a:t>26</a:t>
            </a:fld>
            <a:endParaRPr kumimoji="0" lang="en-US" altLang="zh-CN" sz="1200"/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DB1C1803-B5DF-1444-A551-867D87A86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</a:rPr>
              <a:t>几个结论</a:t>
            </a:r>
            <a:endParaRPr lang="zh-CN" altLang="en-US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1199A90C-8DC4-4744-B899-C59441689EE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143000"/>
            <a:ext cx="8763000" cy="5334000"/>
          </a:xfrm>
        </p:spPr>
        <p:txBody>
          <a:bodyPr/>
          <a:lstStyle/>
          <a:p>
            <a:pPr marL="285750" indent="-285750" algn="just">
              <a:lnSpc>
                <a:spcPct val="125000"/>
              </a:lnSpc>
              <a:tabLst>
                <a:tab pos="0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一有限平衡有向图，其弧数必有限。</a:t>
            </a:r>
          </a:p>
          <a:p>
            <a:pPr marL="285750" indent="-285750" algn="just">
              <a:lnSpc>
                <a:spcPct val="125000"/>
              </a:lnSpc>
              <a:tabLst>
                <a:tab pos="0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一有向图若存在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路，则必平衡。</a:t>
            </a:r>
          </a:p>
          <a:p>
            <a:pPr marL="285750" indent="-285750" algn="just">
              <a:lnSpc>
                <a:spcPct val="125000"/>
              </a:lnSpc>
              <a:tabLst>
                <a:tab pos="0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一个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如果没有孤立点，则必强连通，此时，全部点出现在一条有向路上。</a:t>
            </a:r>
            <a:endParaRPr kumimoji="0" lang="zh-CN" altLang="en-US" sz="3200">
              <a:latin typeface="宋体" panose="02010600030101010101" pitchFamily="2" charset="-122"/>
              <a:ea typeface="楷体_GB2312" pitchFamily="49" charset="-122"/>
            </a:endParaRPr>
          </a:p>
          <a:p>
            <a:pPr marL="285750" indent="-285750" algn="just">
              <a:lnSpc>
                <a:spcPct val="125000"/>
              </a:lnSpc>
              <a:tabLst>
                <a:tab pos="0" algn="l"/>
              </a:tabLst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路实际上是一条封闭的一笔画路线。</a:t>
            </a:r>
          </a:p>
        </p:txBody>
      </p:sp>
      <p:grpSp>
        <p:nvGrpSpPr>
          <p:cNvPr id="147460" name="Group 4">
            <a:extLst>
              <a:ext uri="{FF2B5EF4-FFF2-40B4-BE49-F238E27FC236}">
                <a16:creationId xmlns:a16="http://schemas.microsoft.com/office/drawing/2014/main" id="{49827ED5-85A2-D842-99C9-1AC5384EA7A6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667000"/>
            <a:ext cx="6049963" cy="2016125"/>
            <a:chOff x="566" y="2224"/>
            <a:chExt cx="3811" cy="1270"/>
          </a:xfrm>
        </p:grpSpPr>
        <p:sp>
          <p:nvSpPr>
            <p:cNvPr id="28689" name="Oval 5">
              <a:extLst>
                <a:ext uri="{FF2B5EF4-FFF2-40B4-BE49-F238E27FC236}">
                  <a16:creationId xmlns:a16="http://schemas.microsoft.com/office/drawing/2014/main" id="{30DD10E5-A1D8-0041-AC0F-9E45D38FC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8" y="2914"/>
              <a:ext cx="105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90" name="Oval 6">
              <a:extLst>
                <a:ext uri="{FF2B5EF4-FFF2-40B4-BE49-F238E27FC236}">
                  <a16:creationId xmlns:a16="http://schemas.microsoft.com/office/drawing/2014/main" id="{7B09467F-7E36-8048-B5CD-15A2EC59C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2904"/>
              <a:ext cx="106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5858" name="Arc 7">
              <a:extLst>
                <a:ext uri="{FF2B5EF4-FFF2-40B4-BE49-F238E27FC236}">
                  <a16:creationId xmlns:a16="http://schemas.microsoft.com/office/drawing/2014/main" id="{E4E9D038-E571-BD46-A14A-82D81214A73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738" y="2609"/>
              <a:ext cx="843" cy="349"/>
            </a:xfrm>
            <a:custGeom>
              <a:avLst/>
              <a:gdLst>
                <a:gd name="T0" fmla="*/ 0 w 42677"/>
                <a:gd name="T1" fmla="*/ 0 h 21600"/>
                <a:gd name="T2" fmla="*/ 0 w 42677"/>
                <a:gd name="T3" fmla="*/ 0 h 21600"/>
                <a:gd name="T4" fmla="*/ 0 w 4267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677" h="21600" fill="none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</a:path>
                <a:path w="42677" h="21600" stroke="0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  <a:lnTo>
                    <a:pt x="21423" y="0"/>
                  </a:lnTo>
                  <a:lnTo>
                    <a:pt x="42677" y="3849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9" name="Arc 8">
              <a:extLst>
                <a:ext uri="{FF2B5EF4-FFF2-40B4-BE49-F238E27FC236}">
                  <a16:creationId xmlns:a16="http://schemas.microsoft.com/office/drawing/2014/main" id="{DDC9A625-0026-B047-9D53-D3ED46245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590"/>
              <a:ext cx="845" cy="303"/>
            </a:xfrm>
            <a:custGeom>
              <a:avLst/>
              <a:gdLst>
                <a:gd name="T0" fmla="*/ 0 w 43200"/>
                <a:gd name="T1" fmla="*/ 0 h 21956"/>
                <a:gd name="T2" fmla="*/ 0 w 43200"/>
                <a:gd name="T3" fmla="*/ 0 h 21956"/>
                <a:gd name="T4" fmla="*/ 0 w 43200"/>
                <a:gd name="T5" fmla="*/ 0 h 219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956" fill="none" extrusionOk="0">
                  <a:moveTo>
                    <a:pt x="2" y="21956"/>
                  </a:moveTo>
                  <a:cubicBezTo>
                    <a:pt x="0" y="21837"/>
                    <a:pt x="0" y="2171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956" stroke="0" extrusionOk="0">
                  <a:moveTo>
                    <a:pt x="2" y="21956"/>
                  </a:moveTo>
                  <a:cubicBezTo>
                    <a:pt x="0" y="21837"/>
                    <a:pt x="0" y="2171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2" y="2195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0" name="Arc 9">
              <a:extLst>
                <a:ext uri="{FF2B5EF4-FFF2-40B4-BE49-F238E27FC236}">
                  <a16:creationId xmlns:a16="http://schemas.microsoft.com/office/drawing/2014/main" id="{F4E6EA9C-40E5-8D4F-812B-E36F884F2A3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41" y="2894"/>
              <a:ext cx="860" cy="363"/>
            </a:xfrm>
            <a:custGeom>
              <a:avLst/>
              <a:gdLst>
                <a:gd name="T0" fmla="*/ 0 w 41008"/>
                <a:gd name="T1" fmla="*/ 0 h 21600"/>
                <a:gd name="T2" fmla="*/ 0 w 41008"/>
                <a:gd name="T3" fmla="*/ 0 h 21600"/>
                <a:gd name="T4" fmla="*/ 0 w 41008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008" h="21600" fill="none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9858" y="0"/>
                    <a:pt x="38269" y="6260"/>
                    <a:pt x="41008" y="15400"/>
                  </a:cubicBezTo>
                </a:path>
                <a:path w="41008" h="21600" stroke="0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9858" y="0"/>
                    <a:pt x="38269" y="6260"/>
                    <a:pt x="41008" y="15400"/>
                  </a:cubicBezTo>
                  <a:lnTo>
                    <a:pt x="20317" y="21600"/>
                  </a:lnTo>
                  <a:lnTo>
                    <a:pt x="-1" y="142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1" name="Arc 10">
              <a:extLst>
                <a:ext uri="{FF2B5EF4-FFF2-40B4-BE49-F238E27FC236}">
                  <a16:creationId xmlns:a16="http://schemas.microsoft.com/office/drawing/2014/main" id="{DBFDAC2E-1379-FD46-9698-74EA57F373D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721" y="2875"/>
              <a:ext cx="839" cy="363"/>
            </a:xfrm>
            <a:custGeom>
              <a:avLst/>
              <a:gdLst>
                <a:gd name="T0" fmla="*/ 0 w 39973"/>
                <a:gd name="T1" fmla="*/ 0 h 21600"/>
                <a:gd name="T2" fmla="*/ 0 w 39973"/>
                <a:gd name="T3" fmla="*/ 0 h 21600"/>
                <a:gd name="T4" fmla="*/ 0 w 39973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973" h="21600" fill="none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8780" y="0"/>
                    <a:pt x="36464" y="4942"/>
                    <a:pt x="39973" y="12644"/>
                  </a:cubicBezTo>
                </a:path>
                <a:path w="39973" h="21600" stroke="0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8780" y="0"/>
                    <a:pt x="36464" y="4942"/>
                    <a:pt x="39973" y="12644"/>
                  </a:cubicBezTo>
                  <a:lnTo>
                    <a:pt x="20317" y="21600"/>
                  </a:lnTo>
                  <a:lnTo>
                    <a:pt x="-1" y="142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467" name="Text Box 11">
              <a:extLst>
                <a:ext uri="{FF2B5EF4-FFF2-40B4-BE49-F238E27FC236}">
                  <a16:creationId xmlns:a16="http://schemas.microsoft.com/office/drawing/2014/main" id="{347669D5-8F19-4344-9384-527BBD6DA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2754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7468" name="Text Box 12">
              <a:extLst>
                <a:ext uri="{FF2B5EF4-FFF2-40B4-BE49-F238E27FC236}">
                  <a16:creationId xmlns:a16="http://schemas.microsoft.com/office/drawing/2014/main" id="{3395FE9C-B494-A444-9625-370ED56DC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7" y="2754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7469" name="Text Box 13">
              <a:extLst>
                <a:ext uri="{FF2B5EF4-FFF2-40B4-BE49-F238E27FC236}">
                  <a16:creationId xmlns:a16="http://schemas.microsoft.com/office/drawing/2014/main" id="{EC133776-0A92-694E-8FE7-E645F28E5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5" y="2754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47470" name="Text Box 14">
              <a:extLst>
                <a:ext uri="{FF2B5EF4-FFF2-40B4-BE49-F238E27FC236}">
                  <a16:creationId xmlns:a16="http://schemas.microsoft.com/office/drawing/2014/main" id="{0FA6F733-E102-A143-B74F-8816C1801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" y="2754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47471" name="Text Box 15">
              <a:extLst>
                <a:ext uri="{FF2B5EF4-FFF2-40B4-BE49-F238E27FC236}">
                  <a16:creationId xmlns:a16="http://schemas.microsoft.com/office/drawing/2014/main" id="{54BF5C9C-24D2-4644-9864-5E8C3ADE8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2" y="2754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47472" name="Text Box 16">
              <a:extLst>
                <a:ext uri="{FF2B5EF4-FFF2-40B4-BE49-F238E27FC236}">
                  <a16:creationId xmlns:a16="http://schemas.microsoft.com/office/drawing/2014/main" id="{999C8F4C-3460-2547-A76C-AFFD5895E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3" y="2224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7473" name="Text Box 17">
              <a:extLst>
                <a:ext uri="{FF2B5EF4-FFF2-40B4-BE49-F238E27FC236}">
                  <a16:creationId xmlns:a16="http://schemas.microsoft.com/office/drawing/2014/main" id="{15AC4E99-320F-3349-8AF4-B7234DAD9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" y="3167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7474" name="Text Box 18">
              <a:extLst>
                <a:ext uri="{FF2B5EF4-FFF2-40B4-BE49-F238E27FC236}">
                  <a16:creationId xmlns:a16="http://schemas.microsoft.com/office/drawing/2014/main" id="{D7E630E5-2E16-5B44-A4FD-061652CEB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" y="2224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47475" name="Text Box 19">
              <a:extLst>
                <a:ext uri="{FF2B5EF4-FFF2-40B4-BE49-F238E27FC236}">
                  <a16:creationId xmlns:a16="http://schemas.microsoft.com/office/drawing/2014/main" id="{BE45C4BD-DA7A-3A41-BBAB-17B57A184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5" y="3167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8704" name="Oval 20">
              <a:extLst>
                <a:ext uri="{FF2B5EF4-FFF2-40B4-BE49-F238E27FC236}">
                  <a16:creationId xmlns:a16="http://schemas.microsoft.com/office/drawing/2014/main" id="{7E3DA0A6-7EAD-504E-9AD1-C2C95E990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" y="2904"/>
              <a:ext cx="106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705" name="Oval 21">
              <a:extLst>
                <a:ext uri="{FF2B5EF4-FFF2-40B4-BE49-F238E27FC236}">
                  <a16:creationId xmlns:a16="http://schemas.microsoft.com/office/drawing/2014/main" id="{17C3B206-FC93-2F47-8A7E-B99C65FC8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" y="2894"/>
              <a:ext cx="106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706" name="Oval 22">
              <a:extLst>
                <a:ext uri="{FF2B5EF4-FFF2-40B4-BE49-F238E27FC236}">
                  <a16:creationId xmlns:a16="http://schemas.microsoft.com/office/drawing/2014/main" id="{1824AAF4-4A46-0545-A910-333145BA3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9" y="2904"/>
              <a:ext cx="106" cy="11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47501" name="Group 45">
            <a:extLst>
              <a:ext uri="{FF2B5EF4-FFF2-40B4-BE49-F238E27FC236}">
                <a16:creationId xmlns:a16="http://schemas.microsoft.com/office/drawing/2014/main" id="{B57559DA-F709-7243-B93C-EA65358B1DC2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386263"/>
            <a:ext cx="1828800" cy="1938337"/>
            <a:chOff x="5232" y="267"/>
            <a:chExt cx="1152" cy="1221"/>
          </a:xfrm>
        </p:grpSpPr>
        <p:sp>
          <p:nvSpPr>
            <p:cNvPr id="28679" name="Oval 30">
              <a:extLst>
                <a:ext uri="{FF2B5EF4-FFF2-40B4-BE49-F238E27FC236}">
                  <a16:creationId xmlns:a16="http://schemas.microsoft.com/office/drawing/2014/main" id="{41B686FB-1B27-0242-AE4D-75C7B68E7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" y="267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0" name="Oval 31">
              <a:extLst>
                <a:ext uri="{FF2B5EF4-FFF2-40B4-BE49-F238E27FC236}">
                  <a16:creationId xmlns:a16="http://schemas.microsoft.com/office/drawing/2014/main" id="{BC6D1518-3458-F842-844A-3691FEAAB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34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1" name="Oval 32">
              <a:extLst>
                <a:ext uri="{FF2B5EF4-FFF2-40B4-BE49-F238E27FC236}">
                  <a16:creationId xmlns:a16="http://schemas.microsoft.com/office/drawing/2014/main" id="{C3DA5D70-F929-544D-9C09-97588294B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8" y="134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2" name="Oval 33">
              <a:extLst>
                <a:ext uri="{FF2B5EF4-FFF2-40B4-BE49-F238E27FC236}">
                  <a16:creationId xmlns:a16="http://schemas.microsoft.com/office/drawing/2014/main" id="{640752C8-BB0C-C141-B5E2-441828E20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0" y="67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3" name="Oval 38">
              <a:extLst>
                <a:ext uri="{FF2B5EF4-FFF2-40B4-BE49-F238E27FC236}">
                  <a16:creationId xmlns:a16="http://schemas.microsoft.com/office/drawing/2014/main" id="{A6A74250-2ABC-5A42-B815-D5CAB5703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672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4" name="Line 40">
              <a:extLst>
                <a:ext uri="{FF2B5EF4-FFF2-40B4-BE49-F238E27FC236}">
                  <a16:creationId xmlns:a16="http://schemas.microsoft.com/office/drawing/2014/main" id="{AE1A06AA-544C-AB44-884C-AB09E9E0D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8" y="384"/>
              <a:ext cx="384" cy="28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5" name="Line 41">
              <a:extLst>
                <a:ext uri="{FF2B5EF4-FFF2-40B4-BE49-F238E27FC236}">
                  <a16:creationId xmlns:a16="http://schemas.microsoft.com/office/drawing/2014/main" id="{579EB761-3E08-9E4D-861D-5A1B19E33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28" y="816"/>
              <a:ext cx="192" cy="52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6" name="Line 42">
              <a:extLst>
                <a:ext uri="{FF2B5EF4-FFF2-40B4-BE49-F238E27FC236}">
                  <a16:creationId xmlns:a16="http://schemas.microsoft.com/office/drawing/2014/main" id="{3519C1C8-163B-F841-A6C6-5FE93C1DF7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16" y="1392"/>
              <a:ext cx="432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7" name="Line 43">
              <a:extLst>
                <a:ext uri="{FF2B5EF4-FFF2-40B4-BE49-F238E27FC236}">
                  <a16:creationId xmlns:a16="http://schemas.microsoft.com/office/drawing/2014/main" id="{0FC274DE-A1A9-3148-9AE0-6978D01352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4" y="816"/>
              <a:ext cx="144" cy="52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8688" name="Line 44">
              <a:extLst>
                <a:ext uri="{FF2B5EF4-FFF2-40B4-BE49-F238E27FC236}">
                  <a16:creationId xmlns:a16="http://schemas.microsoft.com/office/drawing/2014/main" id="{F7D295A3-0B1D-1043-BE82-AA719F73D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6" y="384"/>
              <a:ext cx="384" cy="28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7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7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75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7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4" dur="8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5" dur="8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8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51F8694D-9DEA-B047-A208-00CDF462FB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3D0477-08F7-2E40-83CD-34E1D88BCE12}" type="slidenum">
              <a:rPr kumimoji="0" lang="zh-CN" altLang="en-US" sz="1200"/>
              <a:pPr/>
              <a:t>27</a:t>
            </a:fld>
            <a:endParaRPr kumimoji="0" lang="en-US" altLang="zh-CN" sz="12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C1409C33-6B38-504D-92E6-7319A2960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pitchFamily="2" charset="-122"/>
                <a:ea typeface="+mj-ea"/>
              </a:rPr>
              <a:t>例</a:t>
            </a:r>
            <a:endParaRPr lang="en-US" altLang="zh-CN" sz="6000" dirty="0">
              <a:latin typeface="宋体" pitchFamily="2" charset="-122"/>
              <a:ea typeface="+mj-ea"/>
              <a:sym typeface="Symbol" pitchFamily="18" charset="2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14B9148-2F5F-9945-93EE-F529B413874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763000" cy="1752600"/>
          </a:xfrm>
        </p:spPr>
        <p:txBody>
          <a:bodyPr/>
          <a:lstStyle/>
          <a:p>
            <a:pPr marL="363538" indent="-363538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下图是一有限平衡有向图，（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20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）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是其中的一条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路。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36868" name="Group 74">
            <a:extLst>
              <a:ext uri="{FF2B5EF4-FFF2-40B4-BE49-F238E27FC236}">
                <a16:creationId xmlns:a16="http://schemas.microsoft.com/office/drawing/2014/main" id="{B418D969-53ED-2942-9AB2-CEAD5CFFDD4F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590800"/>
            <a:ext cx="6600825" cy="3298825"/>
            <a:chOff x="624" y="1618"/>
            <a:chExt cx="4158" cy="2078"/>
          </a:xfrm>
        </p:grpSpPr>
        <p:sp>
          <p:nvSpPr>
            <p:cNvPr id="36878" name="Arc 27">
              <a:extLst>
                <a:ext uri="{FF2B5EF4-FFF2-40B4-BE49-F238E27FC236}">
                  <a16:creationId xmlns:a16="http://schemas.microsoft.com/office/drawing/2014/main" id="{48BB3698-0D2E-324C-A22F-4B76780F90A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60" y="2753"/>
              <a:ext cx="723" cy="672"/>
            </a:xfrm>
            <a:custGeom>
              <a:avLst/>
              <a:gdLst>
                <a:gd name="T0" fmla="*/ 0 w 42844"/>
                <a:gd name="T1" fmla="*/ 0 h 43200"/>
                <a:gd name="T2" fmla="*/ 0 w 42844"/>
                <a:gd name="T3" fmla="*/ 0 h 43200"/>
                <a:gd name="T4" fmla="*/ 0 w 42844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844" h="43200" fill="none" extrusionOk="0">
                  <a:moveTo>
                    <a:pt x="42844" y="25505"/>
                  </a:moveTo>
                  <a:cubicBezTo>
                    <a:pt x="40959" y="35756"/>
                    <a:pt x="3202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798" y="-1"/>
                    <a:pt x="40606" y="7132"/>
                    <a:pt x="42727" y="17108"/>
                  </a:cubicBezTo>
                </a:path>
                <a:path w="42844" h="43200" stroke="0" extrusionOk="0">
                  <a:moveTo>
                    <a:pt x="42844" y="25505"/>
                  </a:moveTo>
                  <a:cubicBezTo>
                    <a:pt x="40959" y="35756"/>
                    <a:pt x="3202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798" y="-1"/>
                    <a:pt x="40606" y="7132"/>
                    <a:pt x="42727" y="17108"/>
                  </a:cubicBezTo>
                  <a:lnTo>
                    <a:pt x="21600" y="21600"/>
                  </a:lnTo>
                  <a:lnTo>
                    <a:pt x="42844" y="25505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2" name="Line 24">
              <a:extLst>
                <a:ext uri="{FF2B5EF4-FFF2-40B4-BE49-F238E27FC236}">
                  <a16:creationId xmlns:a16="http://schemas.microsoft.com/office/drawing/2014/main" id="{CAC245C7-D5AF-3948-9B91-BCFFD5D05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061"/>
              <a:ext cx="971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9713" name="Line 25">
              <a:extLst>
                <a:ext uri="{FF2B5EF4-FFF2-40B4-BE49-F238E27FC236}">
                  <a16:creationId xmlns:a16="http://schemas.microsoft.com/office/drawing/2014/main" id="{FABEAB5C-B932-BE48-8608-7AB958D21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3061"/>
              <a:ext cx="970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6881" name="Arc 8">
              <a:extLst>
                <a:ext uri="{FF2B5EF4-FFF2-40B4-BE49-F238E27FC236}">
                  <a16:creationId xmlns:a16="http://schemas.microsoft.com/office/drawing/2014/main" id="{AEDDAEBC-0298-D441-925A-98185242F05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833" y="2652"/>
              <a:ext cx="1006" cy="407"/>
            </a:xfrm>
            <a:custGeom>
              <a:avLst/>
              <a:gdLst>
                <a:gd name="T0" fmla="*/ 0 w 42677"/>
                <a:gd name="T1" fmla="*/ 0 h 21600"/>
                <a:gd name="T2" fmla="*/ 0 w 42677"/>
                <a:gd name="T3" fmla="*/ 0 h 21600"/>
                <a:gd name="T4" fmla="*/ 0 w 4267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677" h="21600" fill="none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</a:path>
                <a:path w="42677" h="21600" stroke="0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  <a:lnTo>
                    <a:pt x="21423" y="0"/>
                  </a:lnTo>
                  <a:lnTo>
                    <a:pt x="42677" y="3849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2" name="Arc 9">
              <a:extLst>
                <a:ext uri="{FF2B5EF4-FFF2-40B4-BE49-F238E27FC236}">
                  <a16:creationId xmlns:a16="http://schemas.microsoft.com/office/drawing/2014/main" id="{5D755489-3DB3-B746-96A6-D7398064C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630"/>
              <a:ext cx="1068" cy="353"/>
            </a:xfrm>
            <a:custGeom>
              <a:avLst/>
              <a:gdLst>
                <a:gd name="T0" fmla="*/ 0 w 43200"/>
                <a:gd name="T1" fmla="*/ 0 h 21956"/>
                <a:gd name="T2" fmla="*/ 0 w 43200"/>
                <a:gd name="T3" fmla="*/ 0 h 21956"/>
                <a:gd name="T4" fmla="*/ 0 w 43200"/>
                <a:gd name="T5" fmla="*/ 0 h 219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956" fill="none" extrusionOk="0">
                  <a:moveTo>
                    <a:pt x="2" y="21956"/>
                  </a:moveTo>
                  <a:cubicBezTo>
                    <a:pt x="0" y="21837"/>
                    <a:pt x="0" y="2171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956" stroke="0" extrusionOk="0">
                  <a:moveTo>
                    <a:pt x="2" y="21956"/>
                  </a:moveTo>
                  <a:cubicBezTo>
                    <a:pt x="0" y="21837"/>
                    <a:pt x="0" y="2171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2" y="2195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3" name="Arc 10">
              <a:extLst>
                <a:ext uri="{FF2B5EF4-FFF2-40B4-BE49-F238E27FC236}">
                  <a16:creationId xmlns:a16="http://schemas.microsoft.com/office/drawing/2014/main" id="{33FF08E5-1123-3745-9932-96E449051FF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99" y="2984"/>
              <a:ext cx="1087" cy="424"/>
            </a:xfrm>
            <a:custGeom>
              <a:avLst/>
              <a:gdLst>
                <a:gd name="T0" fmla="*/ 0 w 41008"/>
                <a:gd name="T1" fmla="*/ 0 h 21600"/>
                <a:gd name="T2" fmla="*/ 0 w 41008"/>
                <a:gd name="T3" fmla="*/ 0 h 21600"/>
                <a:gd name="T4" fmla="*/ 0 w 41008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008" h="21600" fill="none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9858" y="0"/>
                    <a:pt x="38269" y="6260"/>
                    <a:pt x="41008" y="15400"/>
                  </a:cubicBezTo>
                </a:path>
                <a:path w="41008" h="21600" stroke="0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9858" y="0"/>
                    <a:pt x="38269" y="6260"/>
                    <a:pt x="41008" y="15400"/>
                  </a:cubicBezTo>
                  <a:lnTo>
                    <a:pt x="20317" y="21600"/>
                  </a:lnTo>
                  <a:lnTo>
                    <a:pt x="-1" y="142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4" name="Arc 11">
              <a:extLst>
                <a:ext uri="{FF2B5EF4-FFF2-40B4-BE49-F238E27FC236}">
                  <a16:creationId xmlns:a16="http://schemas.microsoft.com/office/drawing/2014/main" id="{85E43EE6-B8C7-F140-8768-BDDC80A6258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811" y="2962"/>
              <a:ext cx="1060" cy="424"/>
            </a:xfrm>
            <a:custGeom>
              <a:avLst/>
              <a:gdLst>
                <a:gd name="T0" fmla="*/ 0 w 39973"/>
                <a:gd name="T1" fmla="*/ 0 h 21600"/>
                <a:gd name="T2" fmla="*/ 0 w 39973"/>
                <a:gd name="T3" fmla="*/ 0 h 21600"/>
                <a:gd name="T4" fmla="*/ 0 w 39973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973" h="21600" fill="none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8780" y="0"/>
                    <a:pt x="36464" y="4942"/>
                    <a:pt x="39973" y="12644"/>
                  </a:cubicBezTo>
                </a:path>
                <a:path w="39973" h="21600" stroke="0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8780" y="0"/>
                    <a:pt x="36464" y="4942"/>
                    <a:pt x="39973" y="12644"/>
                  </a:cubicBezTo>
                  <a:lnTo>
                    <a:pt x="20317" y="21600"/>
                  </a:lnTo>
                  <a:lnTo>
                    <a:pt x="-1" y="142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4" name="Text Box 12">
              <a:extLst>
                <a:ext uri="{FF2B5EF4-FFF2-40B4-BE49-F238E27FC236}">
                  <a16:creationId xmlns:a16="http://schemas.microsoft.com/office/drawing/2014/main" id="{AC04796C-517E-B347-9201-ABF64C54A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305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05" name="Text Box 13">
              <a:extLst>
                <a:ext uri="{FF2B5EF4-FFF2-40B4-BE49-F238E27FC236}">
                  <a16:creationId xmlns:a16="http://schemas.microsoft.com/office/drawing/2014/main" id="{78588DA8-27E9-204C-B5D9-0F9638794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0" y="315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06" name="Text Box 14">
              <a:extLst>
                <a:ext uri="{FF2B5EF4-FFF2-40B4-BE49-F238E27FC236}">
                  <a16:creationId xmlns:a16="http://schemas.microsoft.com/office/drawing/2014/main" id="{FD09BB2E-1422-6443-ACED-65144169D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2" y="2928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09" name="Text Box 17">
              <a:extLst>
                <a:ext uri="{FF2B5EF4-FFF2-40B4-BE49-F238E27FC236}">
                  <a16:creationId xmlns:a16="http://schemas.microsoft.com/office/drawing/2014/main" id="{50E806AC-87AA-464C-AB7A-91899395C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" y="2234"/>
              <a:ext cx="3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10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10" name="Text Box 18">
              <a:extLst>
                <a:ext uri="{FF2B5EF4-FFF2-40B4-BE49-F238E27FC236}">
                  <a16:creationId xmlns:a16="http://schemas.microsoft.com/office/drawing/2014/main" id="{2B65ABD4-4AF1-534D-A892-D0681826C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6" y="3331"/>
              <a:ext cx="48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e’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12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11" name="Text Box 19">
              <a:extLst>
                <a:ext uri="{FF2B5EF4-FFF2-40B4-BE49-F238E27FC236}">
                  <a16:creationId xmlns:a16="http://schemas.microsoft.com/office/drawing/2014/main" id="{532C6E05-B04A-EF41-92E5-D3A7D656B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9" y="2234"/>
              <a:ext cx="3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9724" name="Oval 21">
              <a:extLst>
                <a:ext uri="{FF2B5EF4-FFF2-40B4-BE49-F238E27FC236}">
                  <a16:creationId xmlns:a16="http://schemas.microsoft.com/office/drawing/2014/main" id="{2DF1DAC4-E5B5-3443-956C-6687EF7D4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2968"/>
              <a:ext cx="204" cy="1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CC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9725" name="Oval 23">
              <a:extLst>
                <a:ext uri="{FF2B5EF4-FFF2-40B4-BE49-F238E27FC236}">
                  <a16:creationId xmlns:a16="http://schemas.microsoft.com/office/drawing/2014/main" id="{465F8A51-5C9C-1343-B687-FFF1C76B1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2996"/>
              <a:ext cx="189" cy="1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CC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6893" name="Arc 26">
              <a:extLst>
                <a:ext uri="{FF2B5EF4-FFF2-40B4-BE49-F238E27FC236}">
                  <a16:creationId xmlns:a16="http://schemas.microsoft.com/office/drawing/2014/main" id="{2BECDA86-8C82-6B40-958F-5A9DB3495BF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73" y="2716"/>
              <a:ext cx="721" cy="672"/>
            </a:xfrm>
            <a:custGeom>
              <a:avLst/>
              <a:gdLst>
                <a:gd name="T0" fmla="*/ 0 w 42820"/>
                <a:gd name="T1" fmla="*/ 0 h 43200"/>
                <a:gd name="T2" fmla="*/ 0 w 42820"/>
                <a:gd name="T3" fmla="*/ 0 h 43200"/>
                <a:gd name="T4" fmla="*/ 0 w 4282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820" h="43200" fill="none" extrusionOk="0">
                  <a:moveTo>
                    <a:pt x="-1" y="17566"/>
                  </a:moveTo>
                  <a:cubicBezTo>
                    <a:pt x="1936" y="7375"/>
                    <a:pt x="10845" y="-1"/>
                    <a:pt x="21220" y="0"/>
                  </a:cubicBezTo>
                  <a:cubicBezTo>
                    <a:pt x="33149" y="0"/>
                    <a:pt x="42820" y="9670"/>
                    <a:pt x="42820" y="21600"/>
                  </a:cubicBezTo>
                  <a:cubicBezTo>
                    <a:pt x="42820" y="33529"/>
                    <a:pt x="33149" y="43200"/>
                    <a:pt x="21220" y="43200"/>
                  </a:cubicBezTo>
                  <a:cubicBezTo>
                    <a:pt x="10943" y="43200"/>
                    <a:pt x="2089" y="35959"/>
                    <a:pt x="49" y="25887"/>
                  </a:cubicBezTo>
                </a:path>
                <a:path w="42820" h="43200" stroke="0" extrusionOk="0">
                  <a:moveTo>
                    <a:pt x="-1" y="17566"/>
                  </a:moveTo>
                  <a:cubicBezTo>
                    <a:pt x="1936" y="7375"/>
                    <a:pt x="10845" y="-1"/>
                    <a:pt x="21220" y="0"/>
                  </a:cubicBezTo>
                  <a:cubicBezTo>
                    <a:pt x="33149" y="0"/>
                    <a:pt x="42820" y="9670"/>
                    <a:pt x="42820" y="21600"/>
                  </a:cubicBezTo>
                  <a:cubicBezTo>
                    <a:pt x="42820" y="33529"/>
                    <a:pt x="33149" y="43200"/>
                    <a:pt x="21220" y="43200"/>
                  </a:cubicBezTo>
                  <a:cubicBezTo>
                    <a:pt x="10943" y="43200"/>
                    <a:pt x="2089" y="35959"/>
                    <a:pt x="49" y="25887"/>
                  </a:cubicBezTo>
                  <a:lnTo>
                    <a:pt x="21220" y="21600"/>
                  </a:lnTo>
                  <a:lnTo>
                    <a:pt x="-1" y="175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4" name="Arc 28">
              <a:extLst>
                <a:ext uri="{FF2B5EF4-FFF2-40B4-BE49-F238E27FC236}">
                  <a16:creationId xmlns:a16="http://schemas.microsoft.com/office/drawing/2014/main" id="{AFF00883-D94F-3E46-BA4D-8BA2D154F37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594" y="2037"/>
              <a:ext cx="2305" cy="1099"/>
            </a:xfrm>
            <a:custGeom>
              <a:avLst/>
              <a:gdLst>
                <a:gd name="T0" fmla="*/ 0 w 42677"/>
                <a:gd name="T1" fmla="*/ 0 h 21600"/>
                <a:gd name="T2" fmla="*/ 0 w 42677"/>
                <a:gd name="T3" fmla="*/ 0 h 21600"/>
                <a:gd name="T4" fmla="*/ 0 w 4267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677" h="21600" fill="none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</a:path>
                <a:path w="42677" h="21600" stroke="0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  <a:lnTo>
                    <a:pt x="21423" y="0"/>
                  </a:lnTo>
                  <a:lnTo>
                    <a:pt x="42677" y="3849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8" name="Oval 30">
              <a:extLst>
                <a:ext uri="{FF2B5EF4-FFF2-40B4-BE49-F238E27FC236}">
                  <a16:creationId xmlns:a16="http://schemas.microsoft.com/office/drawing/2014/main" id="{CA8EBB83-FC86-D74F-AC58-133C35F38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7" y="2968"/>
              <a:ext cx="205" cy="1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CC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59424" name="Text Box 32">
              <a:extLst>
                <a:ext uri="{FF2B5EF4-FFF2-40B4-BE49-F238E27FC236}">
                  <a16:creationId xmlns:a16="http://schemas.microsoft.com/office/drawing/2014/main" id="{DC435E31-CEAF-724F-9D43-45A794CD1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14"/>
              <a:ext cx="3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00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25" name="Text Box 33">
              <a:extLst>
                <a:ext uri="{FF2B5EF4-FFF2-40B4-BE49-F238E27FC236}">
                  <a16:creationId xmlns:a16="http://schemas.microsoft.com/office/drawing/2014/main" id="{0497F491-5FCB-D245-92C4-CBCEE8FB7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2682"/>
              <a:ext cx="3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01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26" name="Text Box 34">
              <a:extLst>
                <a:ext uri="{FF2B5EF4-FFF2-40B4-BE49-F238E27FC236}">
                  <a16:creationId xmlns:a16="http://schemas.microsoft.com/office/drawing/2014/main" id="{ABE15C77-097E-B845-8A8D-A704BCF31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6" y="1618"/>
              <a:ext cx="3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20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28" name="Text Box 36">
              <a:extLst>
                <a:ext uri="{FF2B5EF4-FFF2-40B4-BE49-F238E27FC236}">
                  <a16:creationId xmlns:a16="http://schemas.microsoft.com/office/drawing/2014/main" id="{88527163-7C66-034E-B3C7-1D5E25A2D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" y="2402"/>
              <a:ext cx="3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22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29" name="Text Box 37">
              <a:extLst>
                <a:ext uri="{FF2B5EF4-FFF2-40B4-BE49-F238E27FC236}">
                  <a16:creationId xmlns:a16="http://schemas.microsoft.com/office/drawing/2014/main" id="{453CF4C0-9FE4-D547-AE2C-7457F7578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1" y="2682"/>
              <a:ext cx="3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12</a:t>
              </a:r>
              <a:endPara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59430" name="Text Box 38">
              <a:extLst>
                <a:ext uri="{FF2B5EF4-FFF2-40B4-BE49-F238E27FC236}">
                  <a16:creationId xmlns:a16="http://schemas.microsoft.com/office/drawing/2014/main" id="{1B446031-059F-454C-9AC4-404885F4B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9" y="3331"/>
              <a:ext cx="48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e’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01</a:t>
              </a:r>
            </a:p>
          </p:txBody>
        </p:sp>
      </p:grpSp>
      <p:sp>
        <p:nvSpPr>
          <p:cNvPr id="59457" name="Arc 65">
            <a:extLst>
              <a:ext uri="{FF2B5EF4-FFF2-40B4-BE49-F238E27FC236}">
                <a16:creationId xmlns:a16="http://schemas.microsoft.com/office/drawing/2014/main" id="{4DAA8267-35C8-EC45-B053-1B7B22BFE79A}"/>
              </a:ext>
            </a:extLst>
          </p:cNvPr>
          <p:cNvSpPr>
            <a:spLocks/>
          </p:cNvSpPr>
          <p:nvPr/>
        </p:nvSpPr>
        <p:spPr bwMode="auto">
          <a:xfrm flipH="1">
            <a:off x="6276975" y="4376738"/>
            <a:ext cx="1147763" cy="1066800"/>
          </a:xfrm>
          <a:custGeom>
            <a:avLst/>
            <a:gdLst>
              <a:gd name="T0" fmla="*/ 2147483647 w 42844"/>
              <a:gd name="T1" fmla="*/ 2147483647 h 43200"/>
              <a:gd name="T2" fmla="*/ 2147483647 w 42844"/>
              <a:gd name="T3" fmla="*/ 2147483647 h 43200"/>
              <a:gd name="T4" fmla="*/ 2147483647 w 42844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844" h="43200" fill="none" extrusionOk="0">
                <a:moveTo>
                  <a:pt x="42844" y="25505"/>
                </a:moveTo>
                <a:cubicBezTo>
                  <a:pt x="40959" y="35756"/>
                  <a:pt x="3202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798" y="-1"/>
                  <a:pt x="40606" y="7132"/>
                  <a:pt x="42727" y="17108"/>
                </a:cubicBezTo>
              </a:path>
              <a:path w="42844" h="43200" stroke="0" extrusionOk="0">
                <a:moveTo>
                  <a:pt x="42844" y="25505"/>
                </a:moveTo>
                <a:cubicBezTo>
                  <a:pt x="40959" y="35756"/>
                  <a:pt x="3202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798" y="-1"/>
                  <a:pt x="40606" y="7132"/>
                  <a:pt x="42727" y="17108"/>
                </a:cubicBezTo>
                <a:lnTo>
                  <a:pt x="21600" y="21600"/>
                </a:lnTo>
                <a:lnTo>
                  <a:pt x="42844" y="25505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58" name="Line 66">
            <a:extLst>
              <a:ext uri="{FF2B5EF4-FFF2-40B4-BE49-F238E27FC236}">
                <a16:creationId xmlns:a16="http://schemas.microsoft.com/office/drawing/2014/main" id="{5381BB2B-0972-2448-814E-9415A7433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738" y="4851400"/>
            <a:ext cx="1541462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9459" name="Line 67">
            <a:extLst>
              <a:ext uri="{FF2B5EF4-FFF2-40B4-BE49-F238E27FC236}">
                <a16:creationId xmlns:a16="http://schemas.microsoft.com/office/drawing/2014/main" id="{570863D5-D33E-A04C-9554-02DBEA0F6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0113" y="4851400"/>
            <a:ext cx="1385887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59460" name="Arc 68">
            <a:extLst>
              <a:ext uri="{FF2B5EF4-FFF2-40B4-BE49-F238E27FC236}">
                <a16:creationId xmlns:a16="http://schemas.microsoft.com/office/drawing/2014/main" id="{3EA70B3B-FE6B-A845-9386-44F7D59DBB35}"/>
              </a:ext>
            </a:extLst>
          </p:cNvPr>
          <p:cNvSpPr>
            <a:spLocks/>
          </p:cNvSpPr>
          <p:nvPr/>
        </p:nvSpPr>
        <p:spPr bwMode="auto">
          <a:xfrm flipH="1" flipV="1">
            <a:off x="4502150" y="4216400"/>
            <a:ext cx="1597025" cy="646113"/>
          </a:xfrm>
          <a:custGeom>
            <a:avLst/>
            <a:gdLst>
              <a:gd name="T0" fmla="*/ 2147483647 w 42677"/>
              <a:gd name="T1" fmla="*/ 2147483647 h 21600"/>
              <a:gd name="T2" fmla="*/ 0 w 42677"/>
              <a:gd name="T3" fmla="*/ 2147483647 h 21600"/>
              <a:gd name="T4" fmla="*/ 2147483647 w 42677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677" h="21600" fill="none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</a:path>
              <a:path w="42677" h="21600" stroke="0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  <a:lnTo>
                  <a:pt x="21423" y="0"/>
                </a:lnTo>
                <a:lnTo>
                  <a:pt x="42677" y="3849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61" name="Arc 69">
            <a:extLst>
              <a:ext uri="{FF2B5EF4-FFF2-40B4-BE49-F238E27FC236}">
                <a16:creationId xmlns:a16="http://schemas.microsoft.com/office/drawing/2014/main" id="{D1EC573F-F8E8-D44A-BA3A-66182E6F9262}"/>
              </a:ext>
            </a:extLst>
          </p:cNvPr>
          <p:cNvSpPr>
            <a:spLocks/>
          </p:cNvSpPr>
          <p:nvPr/>
        </p:nvSpPr>
        <p:spPr bwMode="auto">
          <a:xfrm>
            <a:off x="2687638" y="4181475"/>
            <a:ext cx="1695450" cy="560388"/>
          </a:xfrm>
          <a:custGeom>
            <a:avLst/>
            <a:gdLst>
              <a:gd name="T0" fmla="*/ 7133096 w 43200"/>
              <a:gd name="T1" fmla="*/ 2147483647 h 21956"/>
              <a:gd name="T2" fmla="*/ 2147483647 w 43200"/>
              <a:gd name="T3" fmla="*/ 2147483647 h 21956"/>
              <a:gd name="T4" fmla="*/ 2147483647 w 43200"/>
              <a:gd name="T5" fmla="*/ 2147483647 h 219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1956" fill="none" extrusionOk="0">
                <a:moveTo>
                  <a:pt x="2" y="21956"/>
                </a:moveTo>
                <a:cubicBezTo>
                  <a:pt x="0" y="21837"/>
                  <a:pt x="0" y="2171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1956" stroke="0" extrusionOk="0">
                <a:moveTo>
                  <a:pt x="2" y="21956"/>
                </a:moveTo>
                <a:cubicBezTo>
                  <a:pt x="0" y="21837"/>
                  <a:pt x="0" y="2171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2" y="21956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62" name="Arc 70">
            <a:extLst>
              <a:ext uri="{FF2B5EF4-FFF2-40B4-BE49-F238E27FC236}">
                <a16:creationId xmlns:a16="http://schemas.microsoft.com/office/drawing/2014/main" id="{FD3902B9-EBBC-FA4A-8144-D5D82838E7E5}"/>
              </a:ext>
            </a:extLst>
          </p:cNvPr>
          <p:cNvSpPr>
            <a:spLocks/>
          </p:cNvSpPr>
          <p:nvPr/>
        </p:nvSpPr>
        <p:spPr bwMode="auto">
          <a:xfrm flipV="1">
            <a:off x="2716213" y="4729163"/>
            <a:ext cx="1725612" cy="673100"/>
          </a:xfrm>
          <a:custGeom>
            <a:avLst/>
            <a:gdLst>
              <a:gd name="T0" fmla="*/ 0 w 41008"/>
              <a:gd name="T1" fmla="*/ 2147483647 h 21600"/>
              <a:gd name="T2" fmla="*/ 2147483647 w 41008"/>
              <a:gd name="T3" fmla="*/ 2147483647 h 21600"/>
              <a:gd name="T4" fmla="*/ 2147483647 w 41008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008" h="21600" fill="none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9858" y="0"/>
                  <a:pt x="38269" y="6260"/>
                  <a:pt x="41008" y="15400"/>
                </a:cubicBezTo>
              </a:path>
              <a:path w="41008" h="21600" stroke="0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9858" y="0"/>
                  <a:pt x="38269" y="6260"/>
                  <a:pt x="41008" y="15400"/>
                </a:cubicBezTo>
                <a:lnTo>
                  <a:pt x="20317" y="21600"/>
                </a:lnTo>
                <a:lnTo>
                  <a:pt x="-1" y="14266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63" name="Arc 71">
            <a:extLst>
              <a:ext uri="{FF2B5EF4-FFF2-40B4-BE49-F238E27FC236}">
                <a16:creationId xmlns:a16="http://schemas.microsoft.com/office/drawing/2014/main" id="{D0296833-E473-F147-92D0-E57469206D2A}"/>
              </a:ext>
            </a:extLst>
          </p:cNvPr>
          <p:cNvSpPr>
            <a:spLocks/>
          </p:cNvSpPr>
          <p:nvPr/>
        </p:nvSpPr>
        <p:spPr bwMode="auto">
          <a:xfrm flipV="1">
            <a:off x="4467225" y="4708525"/>
            <a:ext cx="1682750" cy="673100"/>
          </a:xfrm>
          <a:custGeom>
            <a:avLst/>
            <a:gdLst>
              <a:gd name="T0" fmla="*/ 0 w 39973"/>
              <a:gd name="T1" fmla="*/ 2147483647 h 21600"/>
              <a:gd name="T2" fmla="*/ 2147483647 w 39973"/>
              <a:gd name="T3" fmla="*/ 2147483647 h 21600"/>
              <a:gd name="T4" fmla="*/ 2147483647 w 39973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973" h="21600" fill="none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8780" y="0"/>
                  <a:pt x="36464" y="4942"/>
                  <a:pt x="39973" y="12644"/>
                </a:cubicBezTo>
              </a:path>
              <a:path w="39973" h="21600" stroke="0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8780" y="0"/>
                  <a:pt x="36464" y="4942"/>
                  <a:pt x="39973" y="12644"/>
                </a:cubicBezTo>
                <a:lnTo>
                  <a:pt x="20317" y="21600"/>
                </a:lnTo>
                <a:lnTo>
                  <a:pt x="-1" y="14266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64" name="Arc 72">
            <a:extLst>
              <a:ext uri="{FF2B5EF4-FFF2-40B4-BE49-F238E27FC236}">
                <a16:creationId xmlns:a16="http://schemas.microsoft.com/office/drawing/2014/main" id="{CF790D14-BEF0-6843-BED6-5AE96615C1CD}"/>
              </a:ext>
            </a:extLst>
          </p:cNvPr>
          <p:cNvSpPr>
            <a:spLocks/>
          </p:cNvSpPr>
          <p:nvPr/>
        </p:nvSpPr>
        <p:spPr bwMode="auto">
          <a:xfrm flipH="1">
            <a:off x="1390650" y="4318000"/>
            <a:ext cx="1144588" cy="1066800"/>
          </a:xfrm>
          <a:custGeom>
            <a:avLst/>
            <a:gdLst>
              <a:gd name="T0" fmla="*/ 0 w 42820"/>
              <a:gd name="T1" fmla="*/ 2147483647 h 43200"/>
              <a:gd name="T2" fmla="*/ 25534978 w 42820"/>
              <a:gd name="T3" fmla="*/ 2147483647 h 43200"/>
              <a:gd name="T4" fmla="*/ 2147483647 w 42820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820" h="43200" fill="none" extrusionOk="0">
                <a:moveTo>
                  <a:pt x="-1" y="17566"/>
                </a:moveTo>
                <a:cubicBezTo>
                  <a:pt x="1936" y="7375"/>
                  <a:pt x="10845" y="-1"/>
                  <a:pt x="21220" y="0"/>
                </a:cubicBezTo>
                <a:cubicBezTo>
                  <a:pt x="33149" y="0"/>
                  <a:pt x="42820" y="9670"/>
                  <a:pt x="42820" y="21600"/>
                </a:cubicBezTo>
                <a:cubicBezTo>
                  <a:pt x="42820" y="33529"/>
                  <a:pt x="33149" y="43200"/>
                  <a:pt x="21220" y="43200"/>
                </a:cubicBezTo>
                <a:cubicBezTo>
                  <a:pt x="10943" y="43200"/>
                  <a:pt x="2089" y="35959"/>
                  <a:pt x="49" y="25887"/>
                </a:cubicBezTo>
              </a:path>
              <a:path w="42820" h="43200" stroke="0" extrusionOk="0">
                <a:moveTo>
                  <a:pt x="-1" y="17566"/>
                </a:moveTo>
                <a:cubicBezTo>
                  <a:pt x="1936" y="7375"/>
                  <a:pt x="10845" y="-1"/>
                  <a:pt x="21220" y="0"/>
                </a:cubicBezTo>
                <a:cubicBezTo>
                  <a:pt x="33149" y="0"/>
                  <a:pt x="42820" y="9670"/>
                  <a:pt x="42820" y="21600"/>
                </a:cubicBezTo>
                <a:cubicBezTo>
                  <a:pt x="42820" y="33529"/>
                  <a:pt x="33149" y="43200"/>
                  <a:pt x="21220" y="43200"/>
                </a:cubicBezTo>
                <a:cubicBezTo>
                  <a:pt x="10943" y="43200"/>
                  <a:pt x="2089" y="35959"/>
                  <a:pt x="49" y="25887"/>
                </a:cubicBezTo>
                <a:lnTo>
                  <a:pt x="21220" y="21600"/>
                </a:lnTo>
                <a:lnTo>
                  <a:pt x="-1" y="17566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65" name="Arc 73">
            <a:extLst>
              <a:ext uri="{FF2B5EF4-FFF2-40B4-BE49-F238E27FC236}">
                <a16:creationId xmlns:a16="http://schemas.microsoft.com/office/drawing/2014/main" id="{027DE145-674F-6A43-A43C-C000EA22EC64}"/>
              </a:ext>
            </a:extLst>
          </p:cNvPr>
          <p:cNvSpPr>
            <a:spLocks/>
          </p:cNvSpPr>
          <p:nvPr/>
        </p:nvSpPr>
        <p:spPr bwMode="auto">
          <a:xfrm flipH="1" flipV="1">
            <a:off x="2520950" y="3240088"/>
            <a:ext cx="3659188" cy="1744662"/>
          </a:xfrm>
          <a:custGeom>
            <a:avLst/>
            <a:gdLst>
              <a:gd name="T0" fmla="*/ 2147483647 w 42677"/>
              <a:gd name="T1" fmla="*/ 2147483647 h 21600"/>
              <a:gd name="T2" fmla="*/ 0 w 42677"/>
              <a:gd name="T3" fmla="*/ 2147483647 h 21600"/>
              <a:gd name="T4" fmla="*/ 2147483647 w 42677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677" h="21600" fill="none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</a:path>
              <a:path w="42677" h="21600" stroke="0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  <a:lnTo>
                  <a:pt x="21423" y="0"/>
                </a:lnTo>
                <a:lnTo>
                  <a:pt x="42677" y="3849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>
            <a:extLst>
              <a:ext uri="{FF2B5EF4-FFF2-40B4-BE49-F238E27FC236}">
                <a16:creationId xmlns:a16="http://schemas.microsoft.com/office/drawing/2014/main" id="{575591F2-3B1D-CE48-BF72-B9D247C8C86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5D8C35-2660-3444-BB20-E4BCCEB2D23A}" type="slidenum">
              <a:rPr kumimoji="0" lang="zh-CN" altLang="en-US" sz="1200"/>
              <a:pPr/>
              <a:t>28</a:t>
            </a:fld>
            <a:endParaRPr kumimoji="0" lang="en-US" altLang="zh-CN" sz="120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BF3F3502-583B-FE4D-9EB3-10C7EDC79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定理</a:t>
            </a:r>
            <a:r>
              <a:rPr lang="zh-CN" altLang="en-US" dirty="0">
                <a:latin typeface="Times New Roman" charset="0"/>
                <a:ea typeface="楷体_GB2312" charset="0"/>
              </a:rPr>
              <a:t>4.3.2</a:t>
            </a:r>
            <a:endParaRPr lang="en-US" altLang="zh-CN" sz="6000" dirty="0">
              <a:latin typeface="宋体" charset="0"/>
              <a:ea typeface="楷体_GB2312" charset="0"/>
              <a:sym typeface="Symbol" charset="0"/>
            </a:endParaRP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54D9BBDB-B16B-DA4F-87E4-CD5A16EE40B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143000"/>
            <a:ext cx="8839200" cy="5029200"/>
          </a:xfrm>
        </p:spPr>
        <p:txBody>
          <a:bodyPr/>
          <a:lstStyle/>
          <a:p>
            <a:pPr marL="363538" indent="-363538">
              <a:lnSpc>
                <a:spcPct val="90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是无孤立点的有限有向图。于是，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路当且仅当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是平衡的，并且强连通。</a:t>
            </a:r>
          </a:p>
          <a:p>
            <a:pPr marL="363538" indent="-363538" algn="just">
              <a:lnSpc>
                <a:spcPct val="9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必要性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显然。</a:t>
            </a:r>
          </a:p>
          <a:p>
            <a:pPr marL="363538" indent="-363538"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充分性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由于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没有孤立点，且平衡，所以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的任一点至少发出一条弧。于是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中存在至少一条有向路，并且在该有向路中没有弧被重复使用。令</a:t>
            </a:r>
          </a:p>
          <a:p>
            <a:pPr marL="363538" indent="-363538"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 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L=（e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, 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）  </a:t>
            </a:r>
          </a:p>
          <a:p>
            <a:pPr marL="363538" indent="-363538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是如此有向路中最长者。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往证：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就是一条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路。  </a:t>
            </a:r>
          </a:p>
        </p:txBody>
      </p:sp>
      <p:sp>
        <p:nvSpPr>
          <p:cNvPr id="109573" name="Oval 5">
            <a:extLst>
              <a:ext uri="{FF2B5EF4-FFF2-40B4-BE49-F238E27FC236}">
                <a16:creationId xmlns:a16="http://schemas.microsoft.com/office/drawing/2014/main" id="{B54C44A7-EC57-DD47-9150-97CA0F12E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800600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9576" name="Oval 8">
            <a:extLst>
              <a:ext uri="{FF2B5EF4-FFF2-40B4-BE49-F238E27FC236}">
                <a16:creationId xmlns:a16="http://schemas.microsoft.com/office/drawing/2014/main" id="{A0DAD859-FFF4-9B4C-8F28-93D28DF30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0" y="4870450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9578" name="Line 10">
            <a:extLst>
              <a:ext uri="{FF2B5EF4-FFF2-40B4-BE49-F238E27FC236}">
                <a16:creationId xmlns:a16="http://schemas.microsoft.com/office/drawing/2014/main" id="{087FBAAA-AF2A-9649-8F75-EFC5B42C8B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4953000"/>
            <a:ext cx="457200" cy="990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9582" name="Line 14">
            <a:extLst>
              <a:ext uri="{FF2B5EF4-FFF2-40B4-BE49-F238E27FC236}">
                <a16:creationId xmlns:a16="http://schemas.microsoft.com/office/drawing/2014/main" id="{E974A1EC-F04B-E442-80A1-6AF3107770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72400" y="5029200"/>
            <a:ext cx="304800" cy="9144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109590" name="Group 22">
            <a:extLst>
              <a:ext uri="{FF2B5EF4-FFF2-40B4-BE49-F238E27FC236}">
                <a16:creationId xmlns:a16="http://schemas.microsoft.com/office/drawing/2014/main" id="{45DF9463-0301-E74E-97B2-D919122DCA40}"/>
              </a:ext>
            </a:extLst>
          </p:cNvPr>
          <p:cNvGrpSpPr>
            <a:grpSpLocks/>
          </p:cNvGrpSpPr>
          <p:nvPr/>
        </p:nvGrpSpPr>
        <p:grpSpPr bwMode="auto">
          <a:xfrm>
            <a:off x="6275388" y="5029200"/>
            <a:ext cx="2003425" cy="1600200"/>
            <a:chOff x="3953" y="3168"/>
            <a:chExt cx="1262" cy="1008"/>
          </a:xfrm>
        </p:grpSpPr>
        <p:sp>
          <p:nvSpPr>
            <p:cNvPr id="30746" name="Oval 6">
              <a:extLst>
                <a:ext uri="{FF2B5EF4-FFF2-40B4-BE49-F238E27FC236}">
                  <a16:creationId xmlns:a16="http://schemas.microsoft.com/office/drawing/2014/main" id="{81A0311B-D0AB-5647-A0AF-9954BB4DE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4032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0747" name="Oval 7">
              <a:extLst>
                <a:ext uri="{FF2B5EF4-FFF2-40B4-BE49-F238E27FC236}">
                  <a16:creationId xmlns:a16="http://schemas.microsoft.com/office/drawing/2014/main" id="{B7A1C3A4-A49B-264F-A82C-1AC43E71B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3744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0748" name="Oval 9">
              <a:extLst>
                <a:ext uri="{FF2B5EF4-FFF2-40B4-BE49-F238E27FC236}">
                  <a16:creationId xmlns:a16="http://schemas.microsoft.com/office/drawing/2014/main" id="{1BBF7821-B8D8-0246-9811-4587A1FEA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744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0749" name="Line 11">
              <a:extLst>
                <a:ext uri="{FF2B5EF4-FFF2-40B4-BE49-F238E27FC236}">
                  <a16:creationId xmlns:a16="http://schemas.microsoft.com/office/drawing/2014/main" id="{A3083C3B-DC08-B942-A61F-48E96E4F9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840"/>
              <a:ext cx="432" cy="24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0750" name="Line 12">
              <a:extLst>
                <a:ext uri="{FF2B5EF4-FFF2-40B4-BE49-F238E27FC236}">
                  <a16:creationId xmlns:a16="http://schemas.microsoft.com/office/drawing/2014/main" id="{549DD399-5D57-F14E-8B90-ECFF5B4099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3840"/>
              <a:ext cx="480" cy="24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9583" name="Text Box 15">
              <a:extLst>
                <a:ext uri="{FF2B5EF4-FFF2-40B4-BE49-F238E27FC236}">
                  <a16:creationId xmlns:a16="http://schemas.microsoft.com/office/drawing/2014/main" id="{B0B23CC4-F9EA-7846-9641-126CBE4FA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3" y="3168"/>
              <a:ext cx="17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9584" name="Text Box 16">
              <a:extLst>
                <a:ext uri="{FF2B5EF4-FFF2-40B4-BE49-F238E27FC236}">
                  <a16:creationId xmlns:a16="http://schemas.microsoft.com/office/drawing/2014/main" id="{FE3B97FD-8931-CA40-902D-1A9A278FD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5" y="3859"/>
              <a:ext cx="17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9585" name="Text Box 17">
              <a:extLst>
                <a:ext uri="{FF2B5EF4-FFF2-40B4-BE49-F238E27FC236}">
                  <a16:creationId xmlns:a16="http://schemas.microsoft.com/office/drawing/2014/main" id="{6B19921D-9B7D-5A4E-8336-CFC11DCEC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907"/>
              <a:ext cx="17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9586" name="Text Box 18">
              <a:extLst>
                <a:ext uri="{FF2B5EF4-FFF2-40B4-BE49-F238E27FC236}">
                  <a16:creationId xmlns:a16="http://schemas.microsoft.com/office/drawing/2014/main" id="{19BAE809-FE86-BC4A-857E-479E5675E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283"/>
              <a:ext cx="17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109581" name="Line 13">
            <a:extLst>
              <a:ext uri="{FF2B5EF4-FFF2-40B4-BE49-F238E27FC236}">
                <a16:creationId xmlns:a16="http://schemas.microsoft.com/office/drawing/2014/main" id="{D7F35F66-4B7B-6249-B11A-BA52F49B3F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4419600"/>
            <a:ext cx="228600" cy="3810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9587" name="Line 19">
            <a:extLst>
              <a:ext uri="{FF2B5EF4-FFF2-40B4-BE49-F238E27FC236}">
                <a16:creationId xmlns:a16="http://schemas.microsoft.com/office/drawing/2014/main" id="{3A87DBFF-E29E-5845-AB63-9B8AE246FC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78725" y="4267200"/>
            <a:ext cx="152400" cy="609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109610" name="Group 42">
            <a:extLst>
              <a:ext uri="{FF2B5EF4-FFF2-40B4-BE49-F238E27FC236}">
                <a16:creationId xmlns:a16="http://schemas.microsoft.com/office/drawing/2014/main" id="{3FA7397B-0BAC-564B-A2C0-79B0EFECFD96}"/>
              </a:ext>
            </a:extLst>
          </p:cNvPr>
          <p:cNvGrpSpPr>
            <a:grpSpLocks/>
          </p:cNvGrpSpPr>
          <p:nvPr/>
        </p:nvGrpSpPr>
        <p:grpSpPr bwMode="auto">
          <a:xfrm>
            <a:off x="6269038" y="4800600"/>
            <a:ext cx="2003425" cy="1828800"/>
            <a:chOff x="5554" y="528"/>
            <a:chExt cx="1262" cy="1152"/>
          </a:xfrm>
        </p:grpSpPr>
        <p:grpSp>
          <p:nvGrpSpPr>
            <p:cNvPr id="37900" name="Group 43">
              <a:extLst>
                <a:ext uri="{FF2B5EF4-FFF2-40B4-BE49-F238E27FC236}">
                  <a16:creationId xmlns:a16="http://schemas.microsoft.com/office/drawing/2014/main" id="{85454B45-6D51-1849-B01F-5096ADA7E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4" y="672"/>
              <a:ext cx="1262" cy="1008"/>
              <a:chOff x="3953" y="3168"/>
              <a:chExt cx="1262" cy="1008"/>
            </a:xfrm>
          </p:grpSpPr>
          <p:sp>
            <p:nvSpPr>
              <p:cNvPr id="30737" name="Oval 44">
                <a:extLst>
                  <a:ext uri="{FF2B5EF4-FFF2-40B4-BE49-F238E27FC236}">
                    <a16:creationId xmlns:a16="http://schemas.microsoft.com/office/drawing/2014/main" id="{F11872B7-F7C5-A343-9E67-5B6275C30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4032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0738" name="Oval 45">
                <a:extLst>
                  <a:ext uri="{FF2B5EF4-FFF2-40B4-BE49-F238E27FC236}">
                    <a16:creationId xmlns:a16="http://schemas.microsoft.com/office/drawing/2014/main" id="{904C09BA-5ACE-A449-A7FC-8C107986D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3744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0739" name="Oval 46">
                <a:extLst>
                  <a:ext uri="{FF2B5EF4-FFF2-40B4-BE49-F238E27FC236}">
                    <a16:creationId xmlns:a16="http://schemas.microsoft.com/office/drawing/2014/main" id="{3180ABFD-E8BD-5A42-94A7-29E8C3388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744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0740" name="Line 47">
                <a:extLst>
                  <a:ext uri="{FF2B5EF4-FFF2-40B4-BE49-F238E27FC236}">
                    <a16:creationId xmlns:a16="http://schemas.microsoft.com/office/drawing/2014/main" id="{2B5070C9-123F-744F-B233-5BE77DBA7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840"/>
                <a:ext cx="432" cy="24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0741" name="Line 48">
                <a:extLst>
                  <a:ext uri="{FF2B5EF4-FFF2-40B4-BE49-F238E27FC236}">
                    <a16:creationId xmlns:a16="http://schemas.microsoft.com/office/drawing/2014/main" id="{BD3229C1-372D-5441-BC78-7BF83FBB5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3840"/>
                <a:ext cx="480" cy="24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09617" name="Text Box 49">
                <a:extLst>
                  <a:ext uri="{FF2B5EF4-FFF2-40B4-BE49-F238E27FC236}">
                    <a16:creationId xmlns:a16="http://schemas.microsoft.com/office/drawing/2014/main" id="{5ECBA36D-4B23-A24A-AE00-DD91EE589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3" y="3168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09618" name="Text Box 50">
                <a:extLst>
                  <a:ext uri="{FF2B5EF4-FFF2-40B4-BE49-F238E27FC236}">
                    <a16:creationId xmlns:a16="http://schemas.microsoft.com/office/drawing/2014/main" id="{6469AE07-66EF-C541-85D9-8F02E04189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5" y="3859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09619" name="Text Box 51">
                <a:extLst>
                  <a:ext uri="{FF2B5EF4-FFF2-40B4-BE49-F238E27FC236}">
                    <a16:creationId xmlns:a16="http://schemas.microsoft.com/office/drawing/2014/main" id="{23A9D5BE-7D8D-0340-83BF-3B805EDED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907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09620" name="Text Box 52">
                <a:extLst>
                  <a:ext uri="{FF2B5EF4-FFF2-40B4-BE49-F238E27FC236}">
                    <a16:creationId xmlns:a16="http://schemas.microsoft.com/office/drawing/2014/main" id="{6E12DBC7-AEB2-8046-839A-D58856B613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3283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30734" name="Oval 53">
              <a:extLst>
                <a:ext uri="{FF2B5EF4-FFF2-40B4-BE49-F238E27FC236}">
                  <a16:creationId xmlns:a16="http://schemas.microsoft.com/office/drawing/2014/main" id="{DB1B467E-D719-C043-B370-3F5A0A19A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1" y="528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0735" name="Line 54">
              <a:extLst>
                <a:ext uri="{FF2B5EF4-FFF2-40B4-BE49-F238E27FC236}">
                  <a16:creationId xmlns:a16="http://schemas.microsoft.com/office/drawing/2014/main" id="{41B7F4EC-F644-2E4A-A146-FC5E82A4F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33" y="624"/>
              <a:ext cx="528" cy="62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0736" name="Line 55">
              <a:extLst>
                <a:ext uri="{FF2B5EF4-FFF2-40B4-BE49-F238E27FC236}">
                  <a16:creationId xmlns:a16="http://schemas.microsoft.com/office/drawing/2014/main" id="{40401842-F2EF-AB40-82F1-F0ACB684D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57" y="624"/>
              <a:ext cx="432" cy="62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 animBg="1"/>
      <p:bldP spid="109573" grpId="1" animBg="1"/>
      <p:bldP spid="109576" grpId="0" animBg="1"/>
      <p:bldP spid="109576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>
            <a:extLst>
              <a:ext uri="{FF2B5EF4-FFF2-40B4-BE49-F238E27FC236}">
                <a16:creationId xmlns:a16="http://schemas.microsoft.com/office/drawing/2014/main" id="{1B240FD6-C687-F14F-BAD9-6FC541E8ED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56A5E2-1BBB-E149-90BA-A14A667941F2}" type="slidenum">
              <a:rPr kumimoji="0" lang="zh-CN" altLang="en-US" sz="1200"/>
              <a:pPr/>
              <a:t>29</a:t>
            </a:fld>
            <a:endParaRPr kumimoji="0" lang="en-US" altLang="zh-CN" sz="12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2180B785-BAE6-6742-B246-17C33C19E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定理</a:t>
            </a:r>
            <a:r>
              <a:rPr lang="zh-CN" altLang="en-US" dirty="0">
                <a:latin typeface="Times New Roman" charset="0"/>
                <a:ea typeface="楷体_GB2312" charset="0"/>
              </a:rPr>
              <a:t>4.3.2</a:t>
            </a:r>
            <a:endParaRPr lang="en-US" altLang="zh-CN" sz="6000" dirty="0">
              <a:latin typeface="宋体" charset="0"/>
              <a:ea typeface="楷体_GB2312" charset="0"/>
              <a:sym typeface="Symbol" charset="0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3F4A0CF3-DF84-CD42-9BEA-4B6A22D765C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19200"/>
            <a:ext cx="8839200" cy="4419600"/>
          </a:xfrm>
        </p:spPr>
        <p:txBody>
          <a:bodyPr/>
          <a:lstStyle/>
          <a:p>
            <a:pPr marL="449263" indent="-449263"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1) 证明 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init(e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)=fin(e</a:t>
            </a:r>
            <a:r>
              <a:rPr kumimoji="0"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449263" indent="-449263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v=fin(e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的输出次数为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 (k≥1)，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的输入次数也为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 。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49263" indent="-449263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①</a:t>
            </a:r>
            <a:r>
              <a:rPr kumimoji="0" lang="zh-CN" altLang="en-US" sz="3200" i="1">
                <a:latin typeface="Times New Roman" panose="02020603050405020304" pitchFamily="18" charset="0"/>
                <a:ea typeface="楷体_GB2312" pitchFamily="49" charset="-122"/>
              </a:rPr>
              <a:t>证明由</a:t>
            </a:r>
            <a:r>
              <a:rPr kumimoji="0"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i="1">
                <a:latin typeface="Times New Roman" panose="02020603050405020304" pitchFamily="18" charset="0"/>
                <a:ea typeface="楷体_GB2312" pitchFamily="49" charset="-122"/>
              </a:rPr>
              <a:t>发出的</a:t>
            </a:r>
            <a:r>
              <a:rPr kumimoji="0"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 i="1">
                <a:latin typeface="Times New Roman" panose="02020603050405020304" pitchFamily="18" charset="0"/>
                <a:ea typeface="楷体_GB2312" pitchFamily="49" charset="-122"/>
              </a:rPr>
              <a:t>条弧必然全部出现在</a:t>
            </a:r>
            <a:r>
              <a:rPr kumimoji="0"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 i="1">
                <a:latin typeface="Times New Roman" panose="02020603050405020304" pitchFamily="18" charset="0"/>
                <a:ea typeface="楷体_GB2312" pitchFamily="49" charset="-122"/>
              </a:rPr>
              <a:t>中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449263" indent="-449263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反证法，若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中，且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init(e)=v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b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就是一条</a:t>
            </a:r>
            <a:b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更长的由无重复弧</a:t>
            </a:r>
            <a:b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构成的有向路，矛盾。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31749" name="Oval 4">
            <a:extLst>
              <a:ext uri="{FF2B5EF4-FFF2-40B4-BE49-F238E27FC236}">
                <a16:creationId xmlns:a16="http://schemas.microsoft.com/office/drawing/2014/main" id="{8FAD3362-B977-5640-9917-884FDC52A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188" y="4618038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1750" name="Oval 5">
            <a:extLst>
              <a:ext uri="{FF2B5EF4-FFF2-40B4-BE49-F238E27FC236}">
                <a16:creationId xmlns:a16="http://schemas.microsoft.com/office/drawing/2014/main" id="{C124471C-2ED9-0341-A692-0817D7C6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38" y="4687888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1751" name="Line 6">
            <a:extLst>
              <a:ext uri="{FF2B5EF4-FFF2-40B4-BE49-F238E27FC236}">
                <a16:creationId xmlns:a16="http://schemas.microsoft.com/office/drawing/2014/main" id="{0181772C-A3FA-9A47-ABA1-670AD9292C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9188" y="4770438"/>
            <a:ext cx="457200" cy="990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1752" name="Line 7">
            <a:extLst>
              <a:ext uri="{FF2B5EF4-FFF2-40B4-BE49-F238E27FC236}">
                <a16:creationId xmlns:a16="http://schemas.microsoft.com/office/drawing/2014/main" id="{34659153-EC45-604D-9B42-8A06513F78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70788" y="4846638"/>
            <a:ext cx="304800" cy="9144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1753" name="Oval 9">
            <a:extLst>
              <a:ext uri="{FF2B5EF4-FFF2-40B4-BE49-F238E27FC236}">
                <a16:creationId xmlns:a16="http://schemas.microsoft.com/office/drawing/2014/main" id="{D393FB69-B19A-E349-8674-F8613E9B8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188" y="6218238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1754" name="Oval 10">
            <a:extLst>
              <a:ext uri="{FF2B5EF4-FFF2-40B4-BE49-F238E27FC236}">
                <a16:creationId xmlns:a16="http://schemas.microsoft.com/office/drawing/2014/main" id="{CBA4F8A0-2DBB-FE48-A4B4-74DD2734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5761038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1755" name="Oval 11">
            <a:extLst>
              <a:ext uri="{FF2B5EF4-FFF2-40B4-BE49-F238E27FC236}">
                <a16:creationId xmlns:a16="http://schemas.microsoft.com/office/drawing/2014/main" id="{B7CE6F01-BAD8-6F4F-AE28-E1F4439C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988" y="5761038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1756" name="Line 12">
            <a:extLst>
              <a:ext uri="{FF2B5EF4-FFF2-40B4-BE49-F238E27FC236}">
                <a16:creationId xmlns:a16="http://schemas.microsoft.com/office/drawing/2014/main" id="{A2E3A865-C236-5C47-AA7F-3E422923D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5388" y="5913438"/>
            <a:ext cx="685800" cy="3810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31757" name="Line 13">
            <a:extLst>
              <a:ext uri="{FF2B5EF4-FFF2-40B4-BE49-F238E27FC236}">
                <a16:creationId xmlns:a16="http://schemas.microsoft.com/office/drawing/2014/main" id="{0B7AB6C4-3823-E04F-97F4-D82DF3F4B8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3588" y="5913438"/>
            <a:ext cx="762000" cy="3810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606" name="Text Box 14">
            <a:extLst>
              <a:ext uri="{FF2B5EF4-FFF2-40B4-BE49-F238E27FC236}">
                <a16:creationId xmlns:a16="http://schemas.microsoft.com/office/drawing/2014/main" id="{AE921975-6311-DC42-8F0A-7634C11C3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3775" y="4846638"/>
            <a:ext cx="27781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10607" name="Text Box 15">
            <a:extLst>
              <a:ext uri="{FF2B5EF4-FFF2-40B4-BE49-F238E27FC236}">
                <a16:creationId xmlns:a16="http://schemas.microsoft.com/office/drawing/2014/main" id="{CA00C849-217C-B142-82A6-7BB6EBA7C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575" y="5943600"/>
            <a:ext cx="27781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10608" name="Text Box 16">
            <a:extLst>
              <a:ext uri="{FF2B5EF4-FFF2-40B4-BE49-F238E27FC236}">
                <a16:creationId xmlns:a16="http://schemas.microsoft.com/office/drawing/2014/main" id="{44FF059F-6442-DE42-8B01-1550B9834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388" y="6019800"/>
            <a:ext cx="2778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0609" name="Text Box 17">
            <a:extLst>
              <a:ext uri="{FF2B5EF4-FFF2-40B4-BE49-F238E27FC236}">
                <a16:creationId xmlns:a16="http://schemas.microsoft.com/office/drawing/2014/main" id="{CA1AB37B-A52B-794D-9197-33793C2D2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5029200"/>
            <a:ext cx="2778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10615" name="Text Box 23">
            <a:extLst>
              <a:ext uri="{FF2B5EF4-FFF2-40B4-BE49-F238E27FC236}">
                <a16:creationId xmlns:a16="http://schemas.microsoft.com/office/drawing/2014/main" id="{43AE1F1A-76A6-F645-BD0E-5B8D6B812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988" y="4465638"/>
            <a:ext cx="1778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endParaRPr kumimoji="0"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0611" name="Line 19">
            <a:extLst>
              <a:ext uri="{FF2B5EF4-FFF2-40B4-BE49-F238E27FC236}">
                <a16:creationId xmlns:a16="http://schemas.microsoft.com/office/drawing/2014/main" id="{2867A7F1-C9B0-CB4E-B339-E44FB24200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18388" y="4084638"/>
            <a:ext cx="111125" cy="609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616" name="Line 24">
            <a:extLst>
              <a:ext uri="{FF2B5EF4-FFF2-40B4-BE49-F238E27FC236}">
                <a16:creationId xmlns:a16="http://schemas.microsoft.com/office/drawing/2014/main" id="{A8D486EE-AC50-3748-9002-D434A229A6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0475" y="4389438"/>
            <a:ext cx="228600" cy="3048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617" name="Line 25">
            <a:extLst>
              <a:ext uri="{FF2B5EF4-FFF2-40B4-BE49-F238E27FC236}">
                <a16:creationId xmlns:a16="http://schemas.microsoft.com/office/drawing/2014/main" id="{6A47824B-7374-1B49-B7FA-F87CD3FA62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89788" y="4694238"/>
            <a:ext cx="304800" cy="762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110623" name="Group 31">
            <a:extLst>
              <a:ext uri="{FF2B5EF4-FFF2-40B4-BE49-F238E27FC236}">
                <a16:creationId xmlns:a16="http://schemas.microsoft.com/office/drawing/2014/main" id="{8C2FA0FB-7A65-3B4E-A8BB-09C63C854CBE}"/>
              </a:ext>
            </a:extLst>
          </p:cNvPr>
          <p:cNvGrpSpPr>
            <a:grpSpLocks/>
          </p:cNvGrpSpPr>
          <p:nvPr/>
        </p:nvGrpSpPr>
        <p:grpSpPr bwMode="auto">
          <a:xfrm>
            <a:off x="7304088" y="4808538"/>
            <a:ext cx="611187" cy="342900"/>
            <a:chOff x="4728" y="3144"/>
            <a:chExt cx="385" cy="216"/>
          </a:xfrm>
        </p:grpSpPr>
        <p:sp>
          <p:nvSpPr>
            <p:cNvPr id="31773" name="Line 26">
              <a:extLst>
                <a:ext uri="{FF2B5EF4-FFF2-40B4-BE49-F238E27FC236}">
                  <a16:creationId xmlns:a16="http://schemas.microsoft.com/office/drawing/2014/main" id="{086B22D3-E73C-0D4C-A3CE-99509C4B2F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8" y="3168"/>
              <a:ext cx="144" cy="19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1774" name="Line 27">
              <a:extLst>
                <a:ext uri="{FF2B5EF4-FFF2-40B4-BE49-F238E27FC236}">
                  <a16:creationId xmlns:a16="http://schemas.microsoft.com/office/drawing/2014/main" id="{F859904E-3F04-6347-851A-9EC1BF300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21" y="3144"/>
              <a:ext cx="192" cy="9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0625" name="Rectangle 33">
            <a:extLst>
              <a:ext uri="{FF2B5EF4-FFF2-40B4-BE49-F238E27FC236}">
                <a16:creationId xmlns:a16="http://schemas.microsoft.com/office/drawing/2014/main" id="{1E80585B-D122-5749-90C3-A5B73B71B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3886200"/>
            <a:ext cx="1571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endParaRPr kumimoji="0" lang="zh-CN" altLang="en-US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0626" name="Line 34">
            <a:extLst>
              <a:ext uri="{FF2B5EF4-FFF2-40B4-BE49-F238E27FC236}">
                <a16:creationId xmlns:a16="http://schemas.microsoft.com/office/drawing/2014/main" id="{92402879-CCA6-2946-880F-DDC31221CC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7125" y="4760913"/>
            <a:ext cx="457200" cy="990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627" name="Line 35">
            <a:extLst>
              <a:ext uri="{FF2B5EF4-FFF2-40B4-BE49-F238E27FC236}">
                <a16:creationId xmlns:a16="http://schemas.microsoft.com/office/drawing/2014/main" id="{2DE2A147-8DD4-3544-8F78-1CBFDDA9D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3325" y="5908675"/>
            <a:ext cx="685800" cy="3810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628" name="Line 36">
            <a:extLst>
              <a:ext uri="{FF2B5EF4-FFF2-40B4-BE49-F238E27FC236}">
                <a16:creationId xmlns:a16="http://schemas.microsoft.com/office/drawing/2014/main" id="{D9857201-FE7B-5848-B318-5F00AF9C2B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1525" y="5908675"/>
            <a:ext cx="762000" cy="3810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629" name="Line 37">
            <a:extLst>
              <a:ext uri="{FF2B5EF4-FFF2-40B4-BE49-F238E27FC236}">
                <a16:creationId xmlns:a16="http://schemas.microsoft.com/office/drawing/2014/main" id="{D559430B-D8EC-8543-BA2B-A971D90CBF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78725" y="4835525"/>
            <a:ext cx="304800" cy="9144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0630" name="Line 38">
            <a:extLst>
              <a:ext uri="{FF2B5EF4-FFF2-40B4-BE49-F238E27FC236}">
                <a16:creationId xmlns:a16="http://schemas.microsoft.com/office/drawing/2014/main" id="{90A4057C-F7FE-6A43-A516-982774AE33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13625" y="4073525"/>
            <a:ext cx="111125" cy="609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15" grpId="0"/>
      <p:bldP spid="1106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>
            <a:extLst>
              <a:ext uri="{FF2B5EF4-FFF2-40B4-BE49-F238E27FC236}">
                <a16:creationId xmlns:a16="http://schemas.microsoft.com/office/drawing/2014/main" id="{CD93D64F-02AD-A54D-9E16-CC82DFBA41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20A8A5-F4EC-FE40-8DF2-9A5AA47943F9}" type="slidenum">
              <a:rPr kumimoji="0" lang="zh-CN" altLang="en-US" sz="1200"/>
              <a:pPr/>
              <a:t>30</a:t>
            </a:fld>
            <a:endParaRPr kumimoji="0" lang="en-US" altLang="zh-CN" sz="1200"/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A5E469D4-552D-4548-9137-AE7892568CB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"/>
            <a:ext cx="8763000" cy="1295400"/>
          </a:xfrm>
        </p:spPr>
        <p:txBody>
          <a:bodyPr/>
          <a:lstStyle/>
          <a:p>
            <a:pPr marL="623888" indent="-623888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②</a:t>
            </a:r>
            <a:r>
              <a:rPr kumimoji="0" lang="zh-CN" altLang="en-US" sz="3200" i="1">
                <a:latin typeface="宋体" panose="02010600030101010101" pitchFamily="2" charset="-122"/>
                <a:ea typeface="楷体_GB2312" pitchFamily="49" charset="-122"/>
              </a:rPr>
              <a:t>证明由</a:t>
            </a:r>
            <a:r>
              <a:rPr kumimoji="0"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i="1">
                <a:latin typeface="宋体" panose="02010600030101010101" pitchFamily="2" charset="-122"/>
                <a:ea typeface="楷体_GB2312" pitchFamily="49" charset="-122"/>
              </a:rPr>
              <a:t>发出的</a:t>
            </a:r>
            <a:r>
              <a:rPr kumimoji="0"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 i="1">
                <a:latin typeface="宋体" panose="02010600030101010101" pitchFamily="2" charset="-122"/>
                <a:ea typeface="楷体_GB2312" pitchFamily="49" charset="-122"/>
              </a:rPr>
              <a:t>条弧中，必有</a:t>
            </a:r>
            <a:r>
              <a:rPr kumimoji="0"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i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i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i="1">
                <a:latin typeface="宋体" panose="02010600030101010101" pitchFamily="2" charset="-122"/>
                <a:ea typeface="楷体_GB2312" pitchFamily="49" charset="-122"/>
              </a:rPr>
              <a:t>即证：</a:t>
            </a:r>
            <a:r>
              <a:rPr kumimoji="0" lang="zh-CN" altLang="en-US" sz="32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init(e</a:t>
            </a:r>
            <a:r>
              <a:rPr kumimoji="0" lang="en-US" altLang="zh-CN" sz="3200" i="1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i="1">
                <a:latin typeface="Times New Roman" panose="02020603050405020304" pitchFamily="18" charset="0"/>
                <a:ea typeface="楷体_GB2312" pitchFamily="49" charset="-122"/>
              </a:rPr>
              <a:t>)=v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</a:p>
        </p:txBody>
      </p:sp>
      <p:sp>
        <p:nvSpPr>
          <p:cNvPr id="111620" name="Rectangle 4">
            <a:extLst>
              <a:ext uri="{FF2B5EF4-FFF2-40B4-BE49-F238E27FC236}">
                <a16:creationId xmlns:a16="http://schemas.microsoft.com/office/drawing/2014/main" id="{279956D9-8BA5-2042-AAF9-9587B38E2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8763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6575" indent="-536575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0000"/>
              </a:lnSpc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反证法，若从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发出的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条弧中无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则设这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条弧是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i1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,e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i2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,…,e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ik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其中2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m，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i1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,e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i2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,…,e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ik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从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发出且都在有向路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中, 则必有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i1-1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,e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i2-1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,…,e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ik-1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发到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且1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m-1，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即至少有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条弧发到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这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条弧中不包括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也发到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b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于是至少有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条弧发到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b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的输入次数至少是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k+1，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而输出</a:t>
            </a:r>
            <a:b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次数是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k，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矛盾。 </a:t>
            </a:r>
          </a:p>
          <a:p>
            <a:pPr algn="l">
              <a:lnSpc>
                <a:spcPct val="11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kumimoji="0" lang="zh-CN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③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类似地可证得：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中发到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条弧</a:t>
            </a:r>
            <a:b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也都出现在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中，并且这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条弧中</a:t>
            </a:r>
            <a:b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必有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1622" name="Oval 6">
            <a:extLst>
              <a:ext uri="{FF2B5EF4-FFF2-40B4-BE49-F238E27FC236}">
                <a16:creationId xmlns:a16="http://schemas.microsoft.com/office/drawing/2014/main" id="{9859EBC5-A156-0649-A51A-6EBA3756B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613" y="4495800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1623" name="Oval 7">
            <a:extLst>
              <a:ext uri="{FF2B5EF4-FFF2-40B4-BE49-F238E27FC236}">
                <a16:creationId xmlns:a16="http://schemas.microsoft.com/office/drawing/2014/main" id="{8D0FE85B-8C6A-7E47-9371-2B1D4C26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663" y="4565650"/>
            <a:ext cx="158750" cy="1587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1624" name="Line 8">
            <a:extLst>
              <a:ext uri="{FF2B5EF4-FFF2-40B4-BE49-F238E27FC236}">
                <a16:creationId xmlns:a16="http://schemas.microsoft.com/office/drawing/2014/main" id="{CC849D6A-CBB7-9D42-9231-A36527C6DF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7613" y="4648200"/>
            <a:ext cx="457200" cy="990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1625" name="Line 9">
            <a:extLst>
              <a:ext uri="{FF2B5EF4-FFF2-40B4-BE49-F238E27FC236}">
                <a16:creationId xmlns:a16="http://schemas.microsoft.com/office/drawing/2014/main" id="{7040D541-6261-4549-8661-A4537C76FD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69213" y="4724400"/>
            <a:ext cx="304800" cy="9144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111626" name="Group 10">
            <a:extLst>
              <a:ext uri="{FF2B5EF4-FFF2-40B4-BE49-F238E27FC236}">
                <a16:creationId xmlns:a16="http://schemas.microsoft.com/office/drawing/2014/main" id="{00CC8E5F-0724-1A46-AFEB-3FD4FAF350FA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724400"/>
            <a:ext cx="2003425" cy="1600200"/>
            <a:chOff x="3953" y="3168"/>
            <a:chExt cx="1262" cy="1008"/>
          </a:xfrm>
        </p:grpSpPr>
        <p:sp>
          <p:nvSpPr>
            <p:cNvPr id="32799" name="Oval 11">
              <a:extLst>
                <a:ext uri="{FF2B5EF4-FFF2-40B4-BE49-F238E27FC236}">
                  <a16:creationId xmlns:a16="http://schemas.microsoft.com/office/drawing/2014/main" id="{0B695E3A-B136-4C4B-8DE6-C1F506F1B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4032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2800" name="Oval 12">
              <a:extLst>
                <a:ext uri="{FF2B5EF4-FFF2-40B4-BE49-F238E27FC236}">
                  <a16:creationId xmlns:a16="http://schemas.microsoft.com/office/drawing/2014/main" id="{512FF270-175F-544F-9251-92C5FFEF1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3744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2801" name="Oval 13">
              <a:extLst>
                <a:ext uri="{FF2B5EF4-FFF2-40B4-BE49-F238E27FC236}">
                  <a16:creationId xmlns:a16="http://schemas.microsoft.com/office/drawing/2014/main" id="{6230B4D4-90F9-484D-AF67-E958D662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744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2802" name="Line 14">
              <a:extLst>
                <a:ext uri="{FF2B5EF4-FFF2-40B4-BE49-F238E27FC236}">
                  <a16:creationId xmlns:a16="http://schemas.microsoft.com/office/drawing/2014/main" id="{CD37FE5E-AFF6-6C4D-B425-6943B50E6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840"/>
              <a:ext cx="432" cy="24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2803" name="Line 15">
              <a:extLst>
                <a:ext uri="{FF2B5EF4-FFF2-40B4-BE49-F238E27FC236}">
                  <a16:creationId xmlns:a16="http://schemas.microsoft.com/office/drawing/2014/main" id="{304ABA8B-EB5D-BC45-B733-86EBF5909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3840"/>
              <a:ext cx="480" cy="24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1632" name="Text Box 16">
              <a:extLst>
                <a:ext uri="{FF2B5EF4-FFF2-40B4-BE49-F238E27FC236}">
                  <a16:creationId xmlns:a16="http://schemas.microsoft.com/office/drawing/2014/main" id="{25AB273A-04F9-8C48-A2DD-0BC0BE733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3" y="3168"/>
              <a:ext cx="17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1633" name="Text Box 17">
              <a:extLst>
                <a:ext uri="{FF2B5EF4-FFF2-40B4-BE49-F238E27FC236}">
                  <a16:creationId xmlns:a16="http://schemas.microsoft.com/office/drawing/2014/main" id="{15985575-7292-CD4B-B7ED-03A6BB2B5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5" y="3859"/>
              <a:ext cx="17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1634" name="Text Box 18">
              <a:extLst>
                <a:ext uri="{FF2B5EF4-FFF2-40B4-BE49-F238E27FC236}">
                  <a16:creationId xmlns:a16="http://schemas.microsoft.com/office/drawing/2014/main" id="{ECD5EAB1-4E71-E94B-AB4F-D613BD48B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907"/>
              <a:ext cx="17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1635" name="Text Box 19">
              <a:extLst>
                <a:ext uri="{FF2B5EF4-FFF2-40B4-BE49-F238E27FC236}">
                  <a16:creationId xmlns:a16="http://schemas.microsoft.com/office/drawing/2014/main" id="{12E6E197-A14A-8244-986E-93483D80F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283"/>
              <a:ext cx="17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111637" name="Line 21">
            <a:extLst>
              <a:ext uri="{FF2B5EF4-FFF2-40B4-BE49-F238E27FC236}">
                <a16:creationId xmlns:a16="http://schemas.microsoft.com/office/drawing/2014/main" id="{09478BE3-A386-C642-93ED-33D9B9A5BF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75538" y="3962400"/>
            <a:ext cx="152400" cy="609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1641" name="Text Box 25">
            <a:extLst>
              <a:ext uri="{FF2B5EF4-FFF2-40B4-BE49-F238E27FC236}">
                <a16:creationId xmlns:a16="http://schemas.microsoft.com/office/drawing/2014/main" id="{CC99D71C-2457-2848-AE9B-5856C2998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3200" y="4373563"/>
            <a:ext cx="1778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endParaRPr kumimoji="0"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11642" name="Line 26">
            <a:extLst>
              <a:ext uri="{FF2B5EF4-FFF2-40B4-BE49-F238E27FC236}">
                <a16:creationId xmlns:a16="http://schemas.microsoft.com/office/drawing/2014/main" id="{6340BF54-C2C0-D54B-99A7-A7C8C488EA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4278313"/>
            <a:ext cx="228600" cy="3048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1643" name="Line 27">
            <a:extLst>
              <a:ext uri="{FF2B5EF4-FFF2-40B4-BE49-F238E27FC236}">
                <a16:creationId xmlns:a16="http://schemas.microsoft.com/office/drawing/2014/main" id="{A39CFCCE-04F2-0044-881A-DDF392FCDE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75513" y="4583113"/>
            <a:ext cx="304800" cy="762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111645" name="Group 29">
            <a:extLst>
              <a:ext uri="{FF2B5EF4-FFF2-40B4-BE49-F238E27FC236}">
                <a16:creationId xmlns:a16="http://schemas.microsoft.com/office/drawing/2014/main" id="{76FE7649-B251-9C42-A1A6-57C75E90069D}"/>
              </a:ext>
            </a:extLst>
          </p:cNvPr>
          <p:cNvGrpSpPr>
            <a:grpSpLocks/>
          </p:cNvGrpSpPr>
          <p:nvPr/>
        </p:nvGrpSpPr>
        <p:grpSpPr bwMode="auto">
          <a:xfrm>
            <a:off x="7413625" y="4724400"/>
            <a:ext cx="611188" cy="342900"/>
            <a:chOff x="4728" y="3144"/>
            <a:chExt cx="385" cy="216"/>
          </a:xfrm>
        </p:grpSpPr>
        <p:sp>
          <p:nvSpPr>
            <p:cNvPr id="32797" name="Line 30">
              <a:extLst>
                <a:ext uri="{FF2B5EF4-FFF2-40B4-BE49-F238E27FC236}">
                  <a16:creationId xmlns:a16="http://schemas.microsoft.com/office/drawing/2014/main" id="{7E00185A-ABBF-E843-BF80-CC6E07838D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8" y="3168"/>
              <a:ext cx="144" cy="19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2798" name="Line 31">
              <a:extLst>
                <a:ext uri="{FF2B5EF4-FFF2-40B4-BE49-F238E27FC236}">
                  <a16:creationId xmlns:a16="http://schemas.microsoft.com/office/drawing/2014/main" id="{E5951DE4-0740-BB4A-B6E6-374971F60C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21" y="3144"/>
              <a:ext cx="192" cy="9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11661" name="Group 45">
            <a:extLst>
              <a:ext uri="{FF2B5EF4-FFF2-40B4-BE49-F238E27FC236}">
                <a16:creationId xmlns:a16="http://schemas.microsoft.com/office/drawing/2014/main" id="{C27A6992-769F-5C44-8FE6-89706FB1F413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495800"/>
            <a:ext cx="2003425" cy="1828800"/>
            <a:chOff x="5554" y="528"/>
            <a:chExt cx="1262" cy="1152"/>
          </a:xfrm>
        </p:grpSpPr>
        <p:grpSp>
          <p:nvGrpSpPr>
            <p:cNvPr id="40975" name="Group 32">
              <a:extLst>
                <a:ext uri="{FF2B5EF4-FFF2-40B4-BE49-F238E27FC236}">
                  <a16:creationId xmlns:a16="http://schemas.microsoft.com/office/drawing/2014/main" id="{30B99385-3BD1-5F47-9ECA-036233758E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4" y="672"/>
              <a:ext cx="1262" cy="1008"/>
              <a:chOff x="3953" y="3168"/>
              <a:chExt cx="1262" cy="1008"/>
            </a:xfrm>
          </p:grpSpPr>
          <p:sp>
            <p:nvSpPr>
              <p:cNvPr id="32788" name="Oval 33">
                <a:extLst>
                  <a:ext uri="{FF2B5EF4-FFF2-40B4-BE49-F238E27FC236}">
                    <a16:creationId xmlns:a16="http://schemas.microsoft.com/office/drawing/2014/main" id="{D3260725-EE07-F44B-9F1C-3CF018EFF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4032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2789" name="Oval 34">
                <a:extLst>
                  <a:ext uri="{FF2B5EF4-FFF2-40B4-BE49-F238E27FC236}">
                    <a16:creationId xmlns:a16="http://schemas.microsoft.com/office/drawing/2014/main" id="{7A2EEC95-2B0B-714C-999B-3ED4FCCA2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3744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2790" name="Oval 35">
                <a:extLst>
                  <a:ext uri="{FF2B5EF4-FFF2-40B4-BE49-F238E27FC236}">
                    <a16:creationId xmlns:a16="http://schemas.microsoft.com/office/drawing/2014/main" id="{632E368D-EFD2-F042-ACA1-9110B83DF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744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2791" name="Line 36">
                <a:extLst>
                  <a:ext uri="{FF2B5EF4-FFF2-40B4-BE49-F238E27FC236}">
                    <a16:creationId xmlns:a16="http://schemas.microsoft.com/office/drawing/2014/main" id="{53555856-4755-EE4C-ABA4-C28BA7ED0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840"/>
                <a:ext cx="432" cy="24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2792" name="Line 37">
                <a:extLst>
                  <a:ext uri="{FF2B5EF4-FFF2-40B4-BE49-F238E27FC236}">
                    <a16:creationId xmlns:a16="http://schemas.microsoft.com/office/drawing/2014/main" id="{19FA8473-EDCE-2B49-A58C-B832A5EAE6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3840"/>
                <a:ext cx="480" cy="24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11654" name="Text Box 38">
                <a:extLst>
                  <a:ext uri="{FF2B5EF4-FFF2-40B4-BE49-F238E27FC236}">
                    <a16:creationId xmlns:a16="http://schemas.microsoft.com/office/drawing/2014/main" id="{28ED9960-1AE8-EB45-BC8B-60D2E7D5CE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3" y="3168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1655" name="Text Box 39">
                <a:extLst>
                  <a:ext uri="{FF2B5EF4-FFF2-40B4-BE49-F238E27FC236}">
                    <a16:creationId xmlns:a16="http://schemas.microsoft.com/office/drawing/2014/main" id="{8A1B719A-4C9C-B446-8770-7BC40CEF38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5" y="3859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1656" name="Text Box 40">
                <a:extLst>
                  <a:ext uri="{FF2B5EF4-FFF2-40B4-BE49-F238E27FC236}">
                    <a16:creationId xmlns:a16="http://schemas.microsoft.com/office/drawing/2014/main" id="{94AB3246-7777-D24B-BFEF-E8E9EB205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907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11657" name="Text Box 41">
                <a:extLst>
                  <a:ext uri="{FF2B5EF4-FFF2-40B4-BE49-F238E27FC236}">
                    <a16:creationId xmlns:a16="http://schemas.microsoft.com/office/drawing/2014/main" id="{792092E1-FA43-8C43-8458-10F0CCAFBE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3283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32785" name="Oval 42">
              <a:extLst>
                <a:ext uri="{FF2B5EF4-FFF2-40B4-BE49-F238E27FC236}">
                  <a16:creationId xmlns:a16="http://schemas.microsoft.com/office/drawing/2014/main" id="{9D58B4C6-04D5-F845-ADDF-EF87A153A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1" y="528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2786" name="Line 43">
              <a:extLst>
                <a:ext uri="{FF2B5EF4-FFF2-40B4-BE49-F238E27FC236}">
                  <a16:creationId xmlns:a16="http://schemas.microsoft.com/office/drawing/2014/main" id="{3C273A16-A12F-FE49-B8DB-351C1D3A1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33" y="624"/>
              <a:ext cx="528" cy="62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2787" name="Line 44">
              <a:extLst>
                <a:ext uri="{FF2B5EF4-FFF2-40B4-BE49-F238E27FC236}">
                  <a16:creationId xmlns:a16="http://schemas.microsoft.com/office/drawing/2014/main" id="{D4EBC519-76E3-B645-A993-669E98EEC8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57" y="624"/>
              <a:ext cx="432" cy="62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2" grpId="0" animBg="1"/>
      <p:bldP spid="111623" grpId="0" animBg="1"/>
      <p:bldP spid="11164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5">
            <a:extLst>
              <a:ext uri="{FF2B5EF4-FFF2-40B4-BE49-F238E27FC236}">
                <a16:creationId xmlns:a16="http://schemas.microsoft.com/office/drawing/2014/main" id="{C1121AEE-4A6D-674D-B146-810B901FF9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694213-C33F-684C-8DB4-30D4A6D6A19E}" type="slidenum">
              <a:rPr kumimoji="0" lang="zh-CN" altLang="en-US" sz="1200"/>
              <a:pPr/>
              <a:t>31</a:t>
            </a:fld>
            <a:endParaRPr kumimoji="0" lang="en-US" altLang="zh-CN" sz="1200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FC413C8D-5643-F04A-A9E6-BD33785FF69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0"/>
            <a:ext cx="8915400" cy="6781800"/>
          </a:xfrm>
        </p:spPr>
        <p:txBody>
          <a:bodyPr/>
          <a:lstStyle/>
          <a:p>
            <a:pPr marL="363538" indent="-363538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2)最后证明：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的每条弧恰在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中出现一次。</a:t>
            </a:r>
          </a:p>
          <a:p>
            <a:pPr marL="363538" indent="-363538" algn="just">
              <a:spcBef>
                <a:spcPct val="0"/>
              </a:spcBef>
              <a:buClrTx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因为已知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中的弧无重复，所以只需证：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的每条弧都在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中出现即可。</a:t>
            </a:r>
          </a:p>
          <a:p>
            <a:pPr marL="363538" indent="-363538" algn="just">
              <a:buClrTx/>
              <a:buFontTx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对于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若顶点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中，则用1)中的方法可以证明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出发的所有弧都在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中。</a:t>
            </a:r>
          </a:p>
          <a:p>
            <a:pPr marL="363538" indent="-363538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任取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u=init(e)，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任取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中一点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强连通，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v，u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间有有向路(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init(e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)=v，fin(e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)=u，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b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发出的弧，所以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中，因此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fin(e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)=init(e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b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同理，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的终点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中。由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的任意性，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中弧均出现在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中。</a:t>
            </a:r>
          </a:p>
          <a:p>
            <a:pPr marL="363538" indent="-363538" algn="just">
              <a:spcBef>
                <a:spcPct val="0"/>
              </a:spcBef>
              <a:buClrTx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综上，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是一条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路。 </a:t>
            </a:r>
          </a:p>
        </p:txBody>
      </p:sp>
      <p:grpSp>
        <p:nvGrpSpPr>
          <p:cNvPr id="112645" name="Group 5">
            <a:extLst>
              <a:ext uri="{FF2B5EF4-FFF2-40B4-BE49-F238E27FC236}">
                <a16:creationId xmlns:a16="http://schemas.microsoft.com/office/drawing/2014/main" id="{F367F160-3220-BC40-92FB-1115190B5EE9}"/>
              </a:ext>
            </a:extLst>
          </p:cNvPr>
          <p:cNvGrpSpPr>
            <a:grpSpLocks/>
          </p:cNvGrpSpPr>
          <p:nvPr/>
        </p:nvGrpSpPr>
        <p:grpSpPr bwMode="auto">
          <a:xfrm>
            <a:off x="6378575" y="4724400"/>
            <a:ext cx="2003425" cy="1828800"/>
            <a:chOff x="5554" y="528"/>
            <a:chExt cx="1262" cy="1152"/>
          </a:xfrm>
        </p:grpSpPr>
        <p:grpSp>
          <p:nvGrpSpPr>
            <p:cNvPr id="43026" name="Group 6">
              <a:extLst>
                <a:ext uri="{FF2B5EF4-FFF2-40B4-BE49-F238E27FC236}">
                  <a16:creationId xmlns:a16="http://schemas.microsoft.com/office/drawing/2014/main" id="{E1A7F444-8ACF-7143-9342-59323F6217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4" y="672"/>
              <a:ext cx="1262" cy="1008"/>
              <a:chOff x="3953" y="3168"/>
              <a:chExt cx="1262" cy="1008"/>
            </a:xfrm>
          </p:grpSpPr>
          <p:sp>
            <p:nvSpPr>
              <p:cNvPr id="33815" name="Oval 7">
                <a:extLst>
                  <a:ext uri="{FF2B5EF4-FFF2-40B4-BE49-F238E27FC236}">
                    <a16:creationId xmlns:a16="http://schemas.microsoft.com/office/drawing/2014/main" id="{6045542A-2C74-CC43-AFB0-01409DB9C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4032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3816" name="Oval 8">
                <a:extLst>
                  <a:ext uri="{FF2B5EF4-FFF2-40B4-BE49-F238E27FC236}">
                    <a16:creationId xmlns:a16="http://schemas.microsoft.com/office/drawing/2014/main" id="{14F65C23-BDE6-7049-8230-275C8B8A9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3744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3817" name="Oval 9">
                <a:extLst>
                  <a:ext uri="{FF2B5EF4-FFF2-40B4-BE49-F238E27FC236}">
                    <a16:creationId xmlns:a16="http://schemas.microsoft.com/office/drawing/2014/main" id="{6721FA2B-EE4B-2646-962C-44223A928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744"/>
                <a:ext cx="100" cy="10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3818" name="Line 10">
                <a:extLst>
                  <a:ext uri="{FF2B5EF4-FFF2-40B4-BE49-F238E27FC236}">
                    <a16:creationId xmlns:a16="http://schemas.microsoft.com/office/drawing/2014/main" id="{5ED97544-7747-7448-BD2E-874212031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840"/>
                <a:ext cx="432" cy="24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3819" name="Line 11">
                <a:extLst>
                  <a:ext uri="{FF2B5EF4-FFF2-40B4-BE49-F238E27FC236}">
                    <a16:creationId xmlns:a16="http://schemas.microsoft.com/office/drawing/2014/main" id="{014ED447-D27F-AE4C-8B77-9171215E3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3840"/>
                <a:ext cx="480" cy="24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12652" name="Text Box 12">
                <a:extLst>
                  <a:ext uri="{FF2B5EF4-FFF2-40B4-BE49-F238E27FC236}">
                    <a16:creationId xmlns:a16="http://schemas.microsoft.com/office/drawing/2014/main" id="{655DA81E-C518-C243-AE98-FA32D2DA17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3" y="3168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2653" name="Text Box 13">
                <a:extLst>
                  <a:ext uri="{FF2B5EF4-FFF2-40B4-BE49-F238E27FC236}">
                    <a16:creationId xmlns:a16="http://schemas.microsoft.com/office/drawing/2014/main" id="{2799D29B-2277-1047-A2CB-723B9D44AD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5" y="3859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2654" name="Text Box 14">
                <a:extLst>
                  <a:ext uri="{FF2B5EF4-FFF2-40B4-BE49-F238E27FC236}">
                    <a16:creationId xmlns:a16="http://schemas.microsoft.com/office/drawing/2014/main" id="{AA56776A-D3EB-FF44-8611-80371D7C7A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907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12655" name="Text Box 15">
                <a:extLst>
                  <a:ext uri="{FF2B5EF4-FFF2-40B4-BE49-F238E27FC236}">
                    <a16:creationId xmlns:a16="http://schemas.microsoft.com/office/drawing/2014/main" id="{D7BB84F4-B063-D144-BEEC-651CBCD855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3283"/>
                <a:ext cx="17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33812" name="Oval 16">
              <a:extLst>
                <a:ext uri="{FF2B5EF4-FFF2-40B4-BE49-F238E27FC236}">
                  <a16:creationId xmlns:a16="http://schemas.microsoft.com/office/drawing/2014/main" id="{8DFC06E6-32D1-764F-B997-2E968C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1" y="528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13" name="Line 17">
              <a:extLst>
                <a:ext uri="{FF2B5EF4-FFF2-40B4-BE49-F238E27FC236}">
                  <a16:creationId xmlns:a16="http://schemas.microsoft.com/office/drawing/2014/main" id="{FA1CD0E4-B93D-6D42-B70B-2366904210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33" y="624"/>
              <a:ext cx="528" cy="62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14" name="Line 18">
              <a:extLst>
                <a:ext uri="{FF2B5EF4-FFF2-40B4-BE49-F238E27FC236}">
                  <a16:creationId xmlns:a16="http://schemas.microsoft.com/office/drawing/2014/main" id="{EF57D51A-A1B1-484C-8548-77B23F0A0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57" y="624"/>
              <a:ext cx="432" cy="62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12665" name="Group 25">
            <a:extLst>
              <a:ext uri="{FF2B5EF4-FFF2-40B4-BE49-F238E27FC236}">
                <a16:creationId xmlns:a16="http://schemas.microsoft.com/office/drawing/2014/main" id="{B91B3C51-817A-164F-B22B-EF306583C863}"/>
              </a:ext>
            </a:extLst>
          </p:cNvPr>
          <p:cNvGrpSpPr>
            <a:grpSpLocks/>
          </p:cNvGrpSpPr>
          <p:nvPr/>
        </p:nvGrpSpPr>
        <p:grpSpPr bwMode="auto">
          <a:xfrm>
            <a:off x="5710238" y="4343400"/>
            <a:ext cx="392112" cy="1219200"/>
            <a:chOff x="3597" y="2736"/>
            <a:chExt cx="247" cy="768"/>
          </a:xfrm>
        </p:grpSpPr>
        <p:grpSp>
          <p:nvGrpSpPr>
            <p:cNvPr id="43022" name="Group 23">
              <a:extLst>
                <a:ext uri="{FF2B5EF4-FFF2-40B4-BE49-F238E27FC236}">
                  <a16:creationId xmlns:a16="http://schemas.microsoft.com/office/drawing/2014/main" id="{1F6D1A7A-9973-DC40-9019-AF7B9D6528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7" y="2832"/>
              <a:ext cx="195" cy="672"/>
              <a:chOff x="3597" y="2832"/>
              <a:chExt cx="195" cy="672"/>
            </a:xfrm>
          </p:grpSpPr>
          <p:sp>
            <p:nvSpPr>
              <p:cNvPr id="33809" name="Line 19">
                <a:extLst>
                  <a:ext uri="{FF2B5EF4-FFF2-40B4-BE49-F238E27FC236}">
                    <a16:creationId xmlns:a16="http://schemas.microsoft.com/office/drawing/2014/main" id="{1D7EC76A-D0B8-0F4F-A698-80882FFE2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8" y="2832"/>
                <a:ext cx="144" cy="672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12660" name="Rectangle 20">
                <a:extLst>
                  <a:ext uri="{FF2B5EF4-FFF2-40B4-BE49-F238E27FC236}">
                    <a16:creationId xmlns:a16="http://schemas.microsoft.com/office/drawing/2014/main" id="{DF5F3C5C-70B0-304E-88BC-905610E53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7" y="2947"/>
                <a:ext cx="99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e</a:t>
                </a:r>
                <a:endParaRPr kumimoji="0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08" name="Oval 21">
              <a:extLst>
                <a:ext uri="{FF2B5EF4-FFF2-40B4-BE49-F238E27FC236}">
                  <a16:creationId xmlns:a16="http://schemas.microsoft.com/office/drawing/2014/main" id="{DA777B7B-4910-1344-8C6C-36E702F50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2662" name="Rectangle 22">
            <a:extLst>
              <a:ext uri="{FF2B5EF4-FFF2-40B4-BE49-F238E27FC236}">
                <a16:creationId xmlns:a16="http://schemas.microsoft.com/office/drawing/2014/main" id="{C9BB79BD-CA3C-F841-A107-B88B624EB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163" y="3992563"/>
            <a:ext cx="1984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12664" name="Rectangle 24">
            <a:extLst>
              <a:ext uri="{FF2B5EF4-FFF2-40B4-BE49-F238E27FC236}">
                <a16:creationId xmlns:a16="http://schemas.microsoft.com/office/drawing/2014/main" id="{BD8835E5-70AD-A146-867C-A7B24AC15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4525963"/>
            <a:ext cx="1778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</a:p>
        </p:txBody>
      </p:sp>
      <p:grpSp>
        <p:nvGrpSpPr>
          <p:cNvPr id="112669" name="Group 29">
            <a:extLst>
              <a:ext uri="{FF2B5EF4-FFF2-40B4-BE49-F238E27FC236}">
                <a16:creationId xmlns:a16="http://schemas.microsoft.com/office/drawing/2014/main" id="{18D11853-A7FE-614C-AF94-74FBBD59FDCE}"/>
              </a:ext>
            </a:extLst>
          </p:cNvPr>
          <p:cNvGrpSpPr>
            <a:grpSpLocks/>
          </p:cNvGrpSpPr>
          <p:nvPr/>
        </p:nvGrpSpPr>
        <p:grpSpPr bwMode="auto">
          <a:xfrm>
            <a:off x="6088063" y="3956050"/>
            <a:ext cx="1303337" cy="768350"/>
            <a:chOff x="3835" y="2492"/>
            <a:chExt cx="821" cy="484"/>
          </a:xfrm>
        </p:grpSpPr>
        <p:sp>
          <p:nvSpPr>
            <p:cNvPr id="33804" name="Oval 26">
              <a:extLst>
                <a:ext uri="{FF2B5EF4-FFF2-40B4-BE49-F238E27FC236}">
                  <a16:creationId xmlns:a16="http://schemas.microsoft.com/office/drawing/2014/main" id="{B2FFE840-8B19-E242-8186-6E02BB2DE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492"/>
              <a:ext cx="100" cy="1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05" name="Line 27">
              <a:extLst>
                <a:ext uri="{FF2B5EF4-FFF2-40B4-BE49-F238E27FC236}">
                  <a16:creationId xmlns:a16="http://schemas.microsoft.com/office/drawing/2014/main" id="{5F93FEF7-473F-7445-9EE2-13050892E4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0" y="2544"/>
              <a:ext cx="336" cy="43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06" name="Line 28">
              <a:extLst>
                <a:ext uri="{FF2B5EF4-FFF2-40B4-BE49-F238E27FC236}">
                  <a16:creationId xmlns:a16="http://schemas.microsoft.com/office/drawing/2014/main" id="{99E946D2-CF34-EC48-B8DB-B81AB11BDF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5" y="2544"/>
              <a:ext cx="384" cy="19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2670" name="Rectangle 30">
            <a:extLst>
              <a:ext uri="{FF2B5EF4-FFF2-40B4-BE49-F238E27FC236}">
                <a16:creationId xmlns:a16="http://schemas.microsoft.com/office/drawing/2014/main" id="{69B3D881-F385-614E-90CC-401A1A1B6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3962400"/>
            <a:ext cx="3968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’</a:t>
            </a:r>
          </a:p>
        </p:txBody>
      </p:sp>
      <p:sp>
        <p:nvSpPr>
          <p:cNvPr id="112671" name="Rectangle 31">
            <a:extLst>
              <a:ext uri="{FF2B5EF4-FFF2-40B4-BE49-F238E27FC236}">
                <a16:creationId xmlns:a16="http://schemas.microsoft.com/office/drawing/2014/main" id="{2D25D1A8-C6FE-FC48-9D99-7E6165CC3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525" y="3657600"/>
            <a:ext cx="3968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’</a:t>
            </a:r>
          </a:p>
        </p:txBody>
      </p:sp>
      <p:sp>
        <p:nvSpPr>
          <p:cNvPr id="112672" name="Rectangle 32">
            <a:extLst>
              <a:ext uri="{FF2B5EF4-FFF2-40B4-BE49-F238E27FC236}">
                <a16:creationId xmlns:a16="http://schemas.microsoft.com/office/drawing/2014/main" id="{E33D87D0-9B15-D14B-A165-561C969F1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1488" y="3611563"/>
            <a:ext cx="4175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’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1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autoUpdateAnimBg="0"/>
      <p:bldP spid="112662" grpId="0"/>
      <p:bldP spid="112664" grpId="0"/>
      <p:bldP spid="112670" grpId="0"/>
      <p:bldP spid="112671" grpId="0"/>
      <p:bldP spid="11267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F96DF13C-D326-3C4B-8DD4-CBB3561DE17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5B41EF-017B-A14B-B524-40280576E667}" type="slidenum">
              <a:rPr kumimoji="0" lang="zh-CN" altLang="en-US" sz="1200"/>
              <a:pPr/>
              <a:t>32</a:t>
            </a:fld>
            <a:endParaRPr kumimoji="0" lang="en-US" altLang="zh-CN" sz="1200"/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37DEB66F-3B60-D846-88AF-471F9B010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2588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推论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4696851-8167-BF44-8269-809DA7F2CF8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915400" cy="4495800"/>
          </a:xfrm>
        </p:spPr>
        <p:txBody>
          <a:bodyPr/>
          <a:lstStyle/>
          <a:p>
            <a:pPr marL="363538" indent="-363538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是无孤立点的有限有向图，于是，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路当且仅当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平衡，并且将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漠视为图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时是连通的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>
    <p:blinds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>
            <a:extLst>
              <a:ext uri="{FF2B5EF4-FFF2-40B4-BE49-F238E27FC236}">
                <a16:creationId xmlns:a16="http://schemas.microsoft.com/office/drawing/2014/main" id="{F91755E2-09C7-E54A-AD69-A0D0A9E055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113524A-4021-9F4C-B144-39A352733838}" type="slidenum">
              <a:rPr kumimoji="0" lang="zh-CN" altLang="en-US" sz="1200"/>
              <a:pPr/>
              <a:t>33</a:t>
            </a:fld>
            <a:endParaRPr kumimoji="0" lang="en-US" altLang="zh-CN" sz="1200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18AC1BE9-FDC3-D246-9E84-AA4F8FF8C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定理4.3.3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A0E94B1-77E4-554C-8C8F-FB7C1E4A3D9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915400" cy="2895600"/>
          </a:xfrm>
        </p:spPr>
        <p:txBody>
          <a:bodyPr/>
          <a:lstStyle/>
          <a:p>
            <a:pPr marL="363538" indent="-363538"/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设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是无孤立点的有限有向图，并且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有一条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Euler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路</a:t>
            </a:r>
            <a:r>
              <a:rPr kumimoji="0" lang="zh-CN" altLang="en-US" sz="3200" dirty="0">
                <a:latin typeface="+mj-ea"/>
                <a:ea typeface="+mj-ea"/>
              </a:rPr>
              <a:t>(</a:t>
            </a:r>
            <a:r>
              <a:rPr kumimoji="0" lang="en-US" altLang="zh-CN" sz="3200" dirty="0">
                <a:latin typeface="+mj-ea"/>
                <a:ea typeface="+mj-ea"/>
              </a:rPr>
              <a:t>e</a:t>
            </a:r>
            <a:r>
              <a:rPr kumimoji="0" lang="en-US" altLang="zh-CN" sz="3200" baseline="-30000" dirty="0">
                <a:latin typeface="+mj-ea"/>
                <a:ea typeface="+mj-ea"/>
              </a:rPr>
              <a:t>1</a:t>
            </a:r>
            <a:r>
              <a:rPr kumimoji="0" lang="en-US" altLang="zh-CN" sz="3200" dirty="0">
                <a:latin typeface="+mj-ea"/>
                <a:ea typeface="+mj-ea"/>
              </a:rPr>
              <a:t> , … , </a:t>
            </a:r>
            <a:r>
              <a:rPr kumimoji="0" lang="en-US" altLang="zh-CN" sz="3200" dirty="0" err="1">
                <a:latin typeface="+mj-ea"/>
                <a:ea typeface="+mj-ea"/>
              </a:rPr>
              <a:t>e</a:t>
            </a:r>
            <a:r>
              <a:rPr kumimoji="0" lang="en-US" altLang="zh-CN" sz="3200" baseline="-30000" dirty="0" err="1">
                <a:latin typeface="+mj-ea"/>
                <a:ea typeface="+mj-ea"/>
              </a:rPr>
              <a:t>m</a:t>
            </a:r>
            <a:r>
              <a:rPr kumimoji="0" lang="en-US" altLang="zh-CN" sz="3200" dirty="0">
                <a:latin typeface="+mj-ea"/>
                <a:ea typeface="+mj-ea"/>
              </a:rPr>
              <a:t>)。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令</a:t>
            </a:r>
            <a:r>
              <a:rPr kumimoji="0" lang="en-US" altLang="zh-CN" sz="3200" dirty="0">
                <a:latin typeface="+mj-ea"/>
                <a:ea typeface="+mj-ea"/>
              </a:rPr>
              <a:t>r=fin(</a:t>
            </a:r>
            <a:r>
              <a:rPr kumimoji="0" lang="en-US" altLang="zh-CN" sz="3200" dirty="0" err="1">
                <a:latin typeface="+mj-ea"/>
                <a:ea typeface="+mj-ea"/>
              </a:rPr>
              <a:t>e</a:t>
            </a:r>
            <a:r>
              <a:rPr kumimoji="0" lang="en-US" altLang="zh-CN" sz="3200" baseline="-30000" dirty="0" err="1">
                <a:latin typeface="+mj-ea"/>
                <a:ea typeface="+mj-ea"/>
              </a:rPr>
              <a:t>m</a:t>
            </a:r>
            <a:r>
              <a:rPr kumimoji="0" lang="en-US" altLang="zh-CN" sz="3200" dirty="0">
                <a:latin typeface="+mj-ea"/>
                <a:ea typeface="+mj-ea"/>
              </a:rPr>
              <a:t>)=</a:t>
            </a:r>
            <a:r>
              <a:rPr kumimoji="0" lang="en-US" altLang="zh-CN" sz="3200" dirty="0" err="1">
                <a:latin typeface="+mj-ea"/>
                <a:ea typeface="+mj-ea"/>
              </a:rPr>
              <a:t>init</a:t>
            </a:r>
            <a:r>
              <a:rPr kumimoji="0" lang="en-US" altLang="zh-CN" sz="3200" dirty="0">
                <a:latin typeface="+mj-ea"/>
                <a:ea typeface="+mj-ea"/>
              </a:rPr>
              <a:t>(e</a:t>
            </a:r>
            <a:r>
              <a:rPr kumimoji="0" lang="en-US" altLang="zh-CN" sz="3200" baseline="-30000" dirty="0">
                <a:latin typeface="+mj-ea"/>
                <a:ea typeface="+mj-ea"/>
              </a:rPr>
              <a:t>1</a:t>
            </a:r>
            <a:r>
              <a:rPr kumimoji="0" lang="en-US" altLang="zh-CN" sz="3200" dirty="0">
                <a:latin typeface="+mj-ea"/>
                <a:ea typeface="+mj-ea"/>
              </a:rPr>
              <a:t>)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对每个点</a:t>
            </a:r>
            <a:r>
              <a:rPr kumimoji="0"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kumimoji="0"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  <a:sym typeface="Symbol" pitchFamily="2" charset="2"/>
              </a:rPr>
              <a:t></a:t>
            </a:r>
            <a:r>
              <a:rPr kumimoji="0"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令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e[v]=</a:t>
            </a:r>
            <a:r>
              <a:rPr kumimoji="0" lang="en-US" altLang="zh-CN" sz="3200" dirty="0" err="1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kumimoji="0" lang="en-US" altLang="zh-CN" sz="3200" baseline="-300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其中</a:t>
            </a:r>
            <a:r>
              <a:rPr kumimoji="0" lang="en-US" altLang="zh-CN" sz="3200" dirty="0" err="1">
                <a:latin typeface="+mj-ea"/>
                <a:ea typeface="+mj-ea"/>
              </a:rPr>
              <a:t>i</a:t>
            </a:r>
            <a:r>
              <a:rPr kumimoji="0" lang="en-US" altLang="zh-CN" sz="3200" dirty="0">
                <a:latin typeface="+mj-ea"/>
                <a:ea typeface="+mj-ea"/>
              </a:rPr>
              <a:t>=max{j | </a:t>
            </a:r>
            <a:r>
              <a:rPr kumimoji="0" lang="en-US" altLang="zh-CN" sz="3200" dirty="0" err="1">
                <a:latin typeface="+mj-ea"/>
                <a:ea typeface="+mj-ea"/>
              </a:rPr>
              <a:t>init</a:t>
            </a:r>
            <a:r>
              <a:rPr kumimoji="0" lang="en-US" altLang="zh-CN" sz="3200" dirty="0">
                <a:latin typeface="+mj-ea"/>
                <a:ea typeface="+mj-ea"/>
              </a:rPr>
              <a:t>(</a:t>
            </a:r>
            <a:r>
              <a:rPr kumimoji="0" lang="en-US" altLang="zh-CN" sz="3200" dirty="0" err="1">
                <a:latin typeface="+mj-ea"/>
                <a:ea typeface="+mj-ea"/>
              </a:rPr>
              <a:t>e</a:t>
            </a:r>
            <a:r>
              <a:rPr kumimoji="0" lang="en-US" altLang="zh-CN" sz="3200" baseline="-30000" dirty="0" err="1">
                <a:latin typeface="+mj-ea"/>
                <a:ea typeface="+mj-ea"/>
              </a:rPr>
              <a:t>j</a:t>
            </a:r>
            <a:r>
              <a:rPr kumimoji="0" lang="en-US" altLang="zh-CN" sz="3200" dirty="0">
                <a:latin typeface="+mj-ea"/>
                <a:ea typeface="+mj-ea"/>
              </a:rPr>
              <a:t>)=</a:t>
            </a:r>
            <a:r>
              <a:rPr kumimoji="0" lang="en-US" altLang="zh-CN" sz="3200">
                <a:latin typeface="+mj-ea"/>
                <a:ea typeface="+mj-ea"/>
              </a:rPr>
              <a:t>v}。</a:t>
            </a:r>
            <a:r>
              <a:rPr kumimoji="0" lang="en-US" altLang="zh-CN" sz="3200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的全部点和全部弧</a:t>
            </a:r>
            <a:r>
              <a:rPr kumimoji="0" lang="zh-CN" altLang="en-US" sz="3200" dirty="0">
                <a:latin typeface="+mj-ea"/>
                <a:ea typeface="+mj-ea"/>
              </a:rPr>
              <a:t>{</a:t>
            </a:r>
            <a:r>
              <a:rPr kumimoji="0" lang="en-US" altLang="zh-CN" sz="3200" dirty="0">
                <a:latin typeface="+mj-ea"/>
                <a:ea typeface="+mj-ea"/>
              </a:rPr>
              <a:t>e[v] | </a:t>
            </a:r>
            <a:r>
              <a:rPr kumimoji="0" lang="en-US" altLang="zh-CN" sz="3200" dirty="0" err="1">
                <a:latin typeface="+mj-ea"/>
                <a:ea typeface="+mj-ea"/>
              </a:rPr>
              <a:t>v</a:t>
            </a:r>
            <a:r>
              <a:rPr kumimoji="0" lang="en-US" altLang="zh-CN" sz="3200" dirty="0" err="1">
                <a:latin typeface="+mj-ea"/>
                <a:ea typeface="+mj-ea"/>
                <a:sym typeface="Symbol" pitchFamily="2" charset="2"/>
              </a:rPr>
              <a:t></a:t>
            </a:r>
            <a:r>
              <a:rPr kumimoji="0" lang="en-US" altLang="zh-CN" sz="3200" dirty="0" err="1">
                <a:latin typeface="+mj-ea"/>
                <a:ea typeface="+mj-ea"/>
              </a:rPr>
              <a:t>r</a:t>
            </a:r>
            <a:r>
              <a:rPr kumimoji="0" lang="en-US" altLang="zh-CN" sz="3200" dirty="0">
                <a:latin typeface="+mj-ea"/>
                <a:ea typeface="+mj-ea"/>
              </a:rPr>
              <a:t>}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作成的有向图</a:t>
            </a:r>
            <a:r>
              <a:rPr kumimoji="0" lang="en-US" altLang="zh-CN" sz="3200" dirty="0">
                <a:latin typeface="+mj-ea"/>
                <a:ea typeface="+mj-ea"/>
              </a:rPr>
              <a:t>G’，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是一个以</a:t>
            </a:r>
            <a:r>
              <a: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为根的有向树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15809" name="Group 97">
            <a:extLst>
              <a:ext uri="{FF2B5EF4-FFF2-40B4-BE49-F238E27FC236}">
                <a16:creationId xmlns:a16="http://schemas.microsoft.com/office/drawing/2014/main" id="{D4D5D38A-C67C-804E-BB8D-33DCE4538216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4049713"/>
            <a:ext cx="4657725" cy="2503487"/>
            <a:chOff x="2730" y="2311"/>
            <a:chExt cx="2934" cy="1577"/>
          </a:xfrm>
        </p:grpSpPr>
        <p:sp>
          <p:nvSpPr>
            <p:cNvPr id="45076" name="Arc 61">
              <a:extLst>
                <a:ext uri="{FF2B5EF4-FFF2-40B4-BE49-F238E27FC236}">
                  <a16:creationId xmlns:a16="http://schemas.microsoft.com/office/drawing/2014/main" id="{7A1A4BB8-F94E-C64D-BAD2-382AFC52CC2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45" y="3147"/>
              <a:ext cx="494" cy="503"/>
            </a:xfrm>
            <a:custGeom>
              <a:avLst/>
              <a:gdLst>
                <a:gd name="T0" fmla="*/ 0 w 42844"/>
                <a:gd name="T1" fmla="*/ 0 h 43200"/>
                <a:gd name="T2" fmla="*/ 0 w 42844"/>
                <a:gd name="T3" fmla="*/ 0 h 43200"/>
                <a:gd name="T4" fmla="*/ 0 w 42844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844" h="43200" fill="none" extrusionOk="0">
                  <a:moveTo>
                    <a:pt x="42844" y="25505"/>
                  </a:moveTo>
                  <a:cubicBezTo>
                    <a:pt x="40959" y="35756"/>
                    <a:pt x="3202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798" y="-1"/>
                    <a:pt x="40606" y="7132"/>
                    <a:pt x="42727" y="17108"/>
                  </a:cubicBezTo>
                </a:path>
                <a:path w="42844" h="43200" stroke="0" extrusionOk="0">
                  <a:moveTo>
                    <a:pt x="42844" y="25505"/>
                  </a:moveTo>
                  <a:cubicBezTo>
                    <a:pt x="40959" y="35756"/>
                    <a:pt x="3202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798" y="-1"/>
                    <a:pt x="40606" y="7132"/>
                    <a:pt x="42727" y="17108"/>
                  </a:cubicBezTo>
                  <a:lnTo>
                    <a:pt x="21600" y="21600"/>
                  </a:lnTo>
                  <a:lnTo>
                    <a:pt x="42844" y="25505"/>
                  </a:lnTo>
                  <a:close/>
                </a:path>
              </a:pathLst>
            </a:cu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2" name="Line 62">
              <a:extLst>
                <a:ext uri="{FF2B5EF4-FFF2-40B4-BE49-F238E27FC236}">
                  <a16:creationId xmlns:a16="http://schemas.microsoft.com/office/drawing/2014/main" id="{8B6C67BE-07B3-9D44-A596-5181773B7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3377"/>
              <a:ext cx="664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5863" name="Line 63">
              <a:extLst>
                <a:ext uri="{FF2B5EF4-FFF2-40B4-BE49-F238E27FC236}">
                  <a16:creationId xmlns:a16="http://schemas.microsoft.com/office/drawing/2014/main" id="{0E8A8C95-4763-B247-B2C4-DB2B28AE2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" y="3377"/>
              <a:ext cx="664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5079" name="Arc 64">
              <a:extLst>
                <a:ext uri="{FF2B5EF4-FFF2-40B4-BE49-F238E27FC236}">
                  <a16:creationId xmlns:a16="http://schemas.microsoft.com/office/drawing/2014/main" id="{D4408590-BB4B-494F-9616-A067E801D36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274" y="3071"/>
              <a:ext cx="688" cy="304"/>
            </a:xfrm>
            <a:custGeom>
              <a:avLst/>
              <a:gdLst>
                <a:gd name="T0" fmla="*/ 0 w 42677"/>
                <a:gd name="T1" fmla="*/ 0 h 21600"/>
                <a:gd name="T2" fmla="*/ 0 w 42677"/>
                <a:gd name="T3" fmla="*/ 0 h 21600"/>
                <a:gd name="T4" fmla="*/ 0 w 4267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677" h="21600" fill="none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</a:path>
                <a:path w="42677" h="21600" stroke="0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  <a:lnTo>
                    <a:pt x="21423" y="0"/>
                  </a:lnTo>
                  <a:lnTo>
                    <a:pt x="42677" y="3849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0" name="Arc 65">
              <a:extLst>
                <a:ext uri="{FF2B5EF4-FFF2-40B4-BE49-F238E27FC236}">
                  <a16:creationId xmlns:a16="http://schemas.microsoft.com/office/drawing/2014/main" id="{DCD4542D-B45A-394F-A3D4-E4B595B51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54"/>
              <a:ext cx="731" cy="265"/>
            </a:xfrm>
            <a:custGeom>
              <a:avLst/>
              <a:gdLst>
                <a:gd name="T0" fmla="*/ 0 w 43200"/>
                <a:gd name="T1" fmla="*/ 0 h 21956"/>
                <a:gd name="T2" fmla="*/ 0 w 43200"/>
                <a:gd name="T3" fmla="*/ 0 h 21956"/>
                <a:gd name="T4" fmla="*/ 0 w 43200"/>
                <a:gd name="T5" fmla="*/ 0 h 219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956" fill="none" extrusionOk="0">
                  <a:moveTo>
                    <a:pt x="2" y="21956"/>
                  </a:moveTo>
                  <a:cubicBezTo>
                    <a:pt x="0" y="21837"/>
                    <a:pt x="0" y="2171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956" stroke="0" extrusionOk="0">
                  <a:moveTo>
                    <a:pt x="2" y="21956"/>
                  </a:moveTo>
                  <a:cubicBezTo>
                    <a:pt x="0" y="21837"/>
                    <a:pt x="0" y="2171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2" y="2195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1" name="Arc 66">
              <a:extLst>
                <a:ext uri="{FF2B5EF4-FFF2-40B4-BE49-F238E27FC236}">
                  <a16:creationId xmlns:a16="http://schemas.microsoft.com/office/drawing/2014/main" id="{D251B59F-D34E-2542-85B9-B566055A6E1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98" y="3319"/>
              <a:ext cx="744" cy="317"/>
            </a:xfrm>
            <a:custGeom>
              <a:avLst/>
              <a:gdLst>
                <a:gd name="T0" fmla="*/ 0 w 41008"/>
                <a:gd name="T1" fmla="*/ 0 h 21600"/>
                <a:gd name="T2" fmla="*/ 0 w 41008"/>
                <a:gd name="T3" fmla="*/ 0 h 21600"/>
                <a:gd name="T4" fmla="*/ 0 w 41008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008" h="21600" fill="none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9858" y="0"/>
                    <a:pt x="38269" y="6260"/>
                    <a:pt x="41008" y="15400"/>
                  </a:cubicBezTo>
                </a:path>
                <a:path w="41008" h="21600" stroke="0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9858" y="0"/>
                    <a:pt x="38269" y="6260"/>
                    <a:pt x="41008" y="15400"/>
                  </a:cubicBezTo>
                  <a:lnTo>
                    <a:pt x="20317" y="21600"/>
                  </a:lnTo>
                  <a:lnTo>
                    <a:pt x="-1" y="142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Arc 67">
              <a:extLst>
                <a:ext uri="{FF2B5EF4-FFF2-40B4-BE49-F238E27FC236}">
                  <a16:creationId xmlns:a16="http://schemas.microsoft.com/office/drawing/2014/main" id="{A2487BD9-77CA-1049-92DD-3B87183060D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59" y="3303"/>
              <a:ext cx="725" cy="317"/>
            </a:xfrm>
            <a:custGeom>
              <a:avLst/>
              <a:gdLst>
                <a:gd name="T0" fmla="*/ 0 w 39973"/>
                <a:gd name="T1" fmla="*/ 0 h 21600"/>
                <a:gd name="T2" fmla="*/ 0 w 39973"/>
                <a:gd name="T3" fmla="*/ 0 h 21600"/>
                <a:gd name="T4" fmla="*/ 0 w 39973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973" h="21600" fill="none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8780" y="0"/>
                    <a:pt x="36464" y="4942"/>
                    <a:pt x="39973" y="12644"/>
                  </a:cubicBezTo>
                </a:path>
                <a:path w="39973" h="21600" stroke="0" extrusionOk="0">
                  <a:moveTo>
                    <a:pt x="-1" y="14266"/>
                  </a:moveTo>
                  <a:cubicBezTo>
                    <a:pt x="3089" y="5705"/>
                    <a:pt x="11215" y="-1"/>
                    <a:pt x="20317" y="0"/>
                  </a:cubicBezTo>
                  <a:cubicBezTo>
                    <a:pt x="28780" y="0"/>
                    <a:pt x="36464" y="4942"/>
                    <a:pt x="39973" y="12644"/>
                  </a:cubicBezTo>
                  <a:lnTo>
                    <a:pt x="20317" y="21600"/>
                  </a:lnTo>
                  <a:lnTo>
                    <a:pt x="-1" y="14266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780" name="Text Box 68">
              <a:extLst>
                <a:ext uri="{FF2B5EF4-FFF2-40B4-BE49-F238E27FC236}">
                  <a16:creationId xmlns:a16="http://schemas.microsoft.com/office/drawing/2014/main" id="{D8E46C9F-48A9-4B40-83AC-4C9543907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7" y="3421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0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81" name="Text Box 69">
              <a:extLst>
                <a:ext uri="{FF2B5EF4-FFF2-40B4-BE49-F238E27FC236}">
                  <a16:creationId xmlns:a16="http://schemas.microsoft.com/office/drawing/2014/main" id="{48916B5F-F3C0-0A42-B447-483098B5C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" y="3447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82" name="Text Box 70">
              <a:extLst>
                <a:ext uri="{FF2B5EF4-FFF2-40B4-BE49-F238E27FC236}">
                  <a16:creationId xmlns:a16="http://schemas.microsoft.com/office/drawing/2014/main" id="{811B8B74-A155-A941-B609-2E549B691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1" y="3447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83" name="Text Box 71">
              <a:extLst>
                <a:ext uri="{FF2B5EF4-FFF2-40B4-BE49-F238E27FC236}">
                  <a16:creationId xmlns:a16="http://schemas.microsoft.com/office/drawing/2014/main" id="{08EF1917-FA88-C94D-AAAD-AF7FDA214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" y="2764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10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84" name="Text Box 72">
              <a:extLst>
                <a:ext uri="{FF2B5EF4-FFF2-40B4-BE49-F238E27FC236}">
                  <a16:creationId xmlns:a16="http://schemas.microsoft.com/office/drawing/2014/main" id="{932C6D5E-73E4-1943-9F86-08F07D9DC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3586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e’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12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85" name="Text Box 73">
              <a:extLst>
                <a:ext uri="{FF2B5EF4-FFF2-40B4-BE49-F238E27FC236}">
                  <a16:creationId xmlns:a16="http://schemas.microsoft.com/office/drawing/2014/main" id="{C3D78929-FF35-464C-9CCA-81DC44B9D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" y="2772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21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45089" name="Arc 76">
              <a:extLst>
                <a:ext uri="{FF2B5EF4-FFF2-40B4-BE49-F238E27FC236}">
                  <a16:creationId xmlns:a16="http://schemas.microsoft.com/office/drawing/2014/main" id="{33BD91D3-231C-0644-8682-3AFF2770655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932" y="3119"/>
              <a:ext cx="494" cy="503"/>
            </a:xfrm>
            <a:custGeom>
              <a:avLst/>
              <a:gdLst>
                <a:gd name="T0" fmla="*/ 0 w 42820"/>
                <a:gd name="T1" fmla="*/ 0 h 43200"/>
                <a:gd name="T2" fmla="*/ 0 w 42820"/>
                <a:gd name="T3" fmla="*/ 0 h 43200"/>
                <a:gd name="T4" fmla="*/ 0 w 4282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820" h="43200" fill="none" extrusionOk="0">
                  <a:moveTo>
                    <a:pt x="-1" y="17566"/>
                  </a:moveTo>
                  <a:cubicBezTo>
                    <a:pt x="1936" y="7375"/>
                    <a:pt x="10845" y="-1"/>
                    <a:pt x="21220" y="0"/>
                  </a:cubicBezTo>
                  <a:cubicBezTo>
                    <a:pt x="33149" y="0"/>
                    <a:pt x="42820" y="9670"/>
                    <a:pt x="42820" y="21600"/>
                  </a:cubicBezTo>
                  <a:cubicBezTo>
                    <a:pt x="42820" y="33529"/>
                    <a:pt x="33149" y="43200"/>
                    <a:pt x="21220" y="43200"/>
                  </a:cubicBezTo>
                  <a:cubicBezTo>
                    <a:pt x="10943" y="43200"/>
                    <a:pt x="2089" y="35959"/>
                    <a:pt x="49" y="25887"/>
                  </a:cubicBezTo>
                </a:path>
                <a:path w="42820" h="43200" stroke="0" extrusionOk="0">
                  <a:moveTo>
                    <a:pt x="-1" y="17566"/>
                  </a:moveTo>
                  <a:cubicBezTo>
                    <a:pt x="1936" y="7375"/>
                    <a:pt x="10845" y="-1"/>
                    <a:pt x="21220" y="0"/>
                  </a:cubicBezTo>
                  <a:cubicBezTo>
                    <a:pt x="33149" y="0"/>
                    <a:pt x="42820" y="9670"/>
                    <a:pt x="42820" y="21600"/>
                  </a:cubicBezTo>
                  <a:cubicBezTo>
                    <a:pt x="42820" y="33529"/>
                    <a:pt x="33149" y="43200"/>
                    <a:pt x="21220" y="43200"/>
                  </a:cubicBezTo>
                  <a:cubicBezTo>
                    <a:pt x="10943" y="43200"/>
                    <a:pt x="2089" y="35959"/>
                    <a:pt x="49" y="25887"/>
                  </a:cubicBezTo>
                  <a:lnTo>
                    <a:pt x="21220" y="21600"/>
                  </a:lnTo>
                  <a:lnTo>
                    <a:pt x="-1" y="17566"/>
                  </a:lnTo>
                  <a:close/>
                </a:path>
              </a:pathLst>
            </a:cu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0" name="Arc 77">
              <a:extLst>
                <a:ext uri="{FF2B5EF4-FFF2-40B4-BE49-F238E27FC236}">
                  <a16:creationId xmlns:a16="http://schemas.microsoft.com/office/drawing/2014/main" id="{C0B6C6A0-D2F3-8342-A239-651E15D2AF0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426" y="2610"/>
              <a:ext cx="1577" cy="823"/>
            </a:xfrm>
            <a:custGeom>
              <a:avLst/>
              <a:gdLst>
                <a:gd name="T0" fmla="*/ 0 w 42677"/>
                <a:gd name="T1" fmla="*/ 0 h 21600"/>
                <a:gd name="T2" fmla="*/ 0 w 42677"/>
                <a:gd name="T3" fmla="*/ 0 h 21600"/>
                <a:gd name="T4" fmla="*/ 0 w 4267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677" h="21600" fill="none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</a:path>
                <a:path w="42677" h="21600" stroke="0" extrusionOk="0">
                  <a:moveTo>
                    <a:pt x="42677" y="3849"/>
                  </a:moveTo>
                  <a:cubicBezTo>
                    <a:pt x="40816" y="14126"/>
                    <a:pt x="31867" y="21599"/>
                    <a:pt x="21423" y="21600"/>
                  </a:cubicBezTo>
                  <a:cubicBezTo>
                    <a:pt x="10561" y="21600"/>
                    <a:pt x="1389" y="13534"/>
                    <a:pt x="0" y="2761"/>
                  </a:cubicBezTo>
                  <a:lnTo>
                    <a:pt x="21423" y="0"/>
                  </a:lnTo>
                  <a:lnTo>
                    <a:pt x="42677" y="3849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791" name="Text Box 79">
              <a:extLst>
                <a:ext uri="{FF2B5EF4-FFF2-40B4-BE49-F238E27FC236}">
                  <a16:creationId xmlns:a16="http://schemas.microsoft.com/office/drawing/2014/main" id="{29FE4E25-58E7-EB43-8DD5-1C050CCE8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2933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00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92" name="Text Box 80">
              <a:extLst>
                <a:ext uri="{FF2B5EF4-FFF2-40B4-BE49-F238E27FC236}">
                  <a16:creationId xmlns:a16="http://schemas.microsoft.com/office/drawing/2014/main" id="{2A96BC22-FD82-EE4F-8D3D-4ABEC344A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088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01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93" name="Text Box 81">
              <a:extLst>
                <a:ext uri="{FF2B5EF4-FFF2-40B4-BE49-F238E27FC236}">
                  <a16:creationId xmlns:a16="http://schemas.microsoft.com/office/drawing/2014/main" id="{91194828-1629-0844-904C-0F06D8574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4" y="2311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20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94" name="Text Box 82">
              <a:extLst>
                <a:ext uri="{FF2B5EF4-FFF2-40B4-BE49-F238E27FC236}">
                  <a16:creationId xmlns:a16="http://schemas.microsoft.com/office/drawing/2014/main" id="{1B845885-16F1-BF44-AE9C-5F220F9A0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5" y="2930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22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95" name="Text Box 83">
              <a:extLst>
                <a:ext uri="{FF2B5EF4-FFF2-40B4-BE49-F238E27FC236}">
                  <a16:creationId xmlns:a16="http://schemas.microsoft.com/office/drawing/2014/main" id="{94BF9791-E6E1-DE4F-91B4-7003A1A04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3092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12</a:t>
              </a: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5796" name="Text Box 84">
              <a:extLst>
                <a:ext uri="{FF2B5EF4-FFF2-40B4-BE49-F238E27FC236}">
                  <a16:creationId xmlns:a16="http://schemas.microsoft.com/office/drawing/2014/main" id="{559A2BF8-850C-A143-B743-92B57799B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8" y="3600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e’</a:t>
              </a:r>
              <a:r>
                <a:rPr lang="en-US" altLang="zh-CN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01</a:t>
              </a:r>
            </a:p>
          </p:txBody>
        </p:sp>
      </p:grpSp>
      <p:sp>
        <p:nvSpPr>
          <p:cNvPr id="115797" name="Rectangle 85">
            <a:extLst>
              <a:ext uri="{FF2B5EF4-FFF2-40B4-BE49-F238E27FC236}">
                <a16:creationId xmlns:a16="http://schemas.microsoft.com/office/drawing/2014/main" id="{FD6869F1-3CBA-3B46-B295-CC07FE078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81400"/>
            <a:ext cx="6248400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3538" indent="-363538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00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’,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’,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20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是其中的一条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路。</a:t>
            </a:r>
          </a:p>
        </p:txBody>
      </p:sp>
      <p:sp>
        <p:nvSpPr>
          <p:cNvPr id="115798" name="Arc 86">
            <a:extLst>
              <a:ext uri="{FF2B5EF4-FFF2-40B4-BE49-F238E27FC236}">
                <a16:creationId xmlns:a16="http://schemas.microsoft.com/office/drawing/2014/main" id="{AC36B67A-86CA-124E-B3C4-0CC92258AF1E}"/>
              </a:ext>
            </a:extLst>
          </p:cNvPr>
          <p:cNvSpPr>
            <a:spLocks/>
          </p:cNvSpPr>
          <p:nvPr/>
        </p:nvSpPr>
        <p:spPr bwMode="auto">
          <a:xfrm flipH="1">
            <a:off x="7631113" y="5386388"/>
            <a:ext cx="784225" cy="798512"/>
          </a:xfrm>
          <a:custGeom>
            <a:avLst/>
            <a:gdLst>
              <a:gd name="T0" fmla="*/ 2147483647 w 42844"/>
              <a:gd name="T1" fmla="*/ 2147483647 h 43200"/>
              <a:gd name="T2" fmla="*/ 2147483647 w 42844"/>
              <a:gd name="T3" fmla="*/ 1997058050 h 43200"/>
              <a:gd name="T4" fmla="*/ 2147483647 w 42844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844" h="43200" fill="none" extrusionOk="0">
                <a:moveTo>
                  <a:pt x="42844" y="25505"/>
                </a:moveTo>
                <a:cubicBezTo>
                  <a:pt x="40959" y="35756"/>
                  <a:pt x="3202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798" y="-1"/>
                  <a:pt x="40606" y="7132"/>
                  <a:pt x="42727" y="17108"/>
                </a:cubicBezTo>
              </a:path>
              <a:path w="42844" h="43200" stroke="0" extrusionOk="0">
                <a:moveTo>
                  <a:pt x="42844" y="25505"/>
                </a:moveTo>
                <a:cubicBezTo>
                  <a:pt x="40959" y="35756"/>
                  <a:pt x="3202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798" y="-1"/>
                  <a:pt x="40606" y="7132"/>
                  <a:pt x="42727" y="17108"/>
                </a:cubicBezTo>
                <a:lnTo>
                  <a:pt x="21600" y="21600"/>
                </a:lnTo>
                <a:lnTo>
                  <a:pt x="42844" y="25505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99" name="Line 87">
            <a:extLst>
              <a:ext uri="{FF2B5EF4-FFF2-40B4-BE49-F238E27FC236}">
                <a16:creationId xmlns:a16="http://schemas.microsoft.com/office/drawing/2014/main" id="{37C6617F-0308-0243-A553-D9E5A6E2F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9388" y="5751513"/>
            <a:ext cx="1054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800" name="Line 88">
            <a:extLst>
              <a:ext uri="{FF2B5EF4-FFF2-40B4-BE49-F238E27FC236}">
                <a16:creationId xmlns:a16="http://schemas.microsoft.com/office/drawing/2014/main" id="{1AC253B2-A400-6546-8960-0A7B3D297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4138" y="5751513"/>
            <a:ext cx="1054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5801" name="Arc 89">
            <a:extLst>
              <a:ext uri="{FF2B5EF4-FFF2-40B4-BE49-F238E27FC236}">
                <a16:creationId xmlns:a16="http://schemas.microsoft.com/office/drawing/2014/main" id="{C33EE8C6-A159-8E44-832A-CE642C643CE1}"/>
              </a:ext>
            </a:extLst>
          </p:cNvPr>
          <p:cNvSpPr>
            <a:spLocks/>
          </p:cNvSpPr>
          <p:nvPr/>
        </p:nvSpPr>
        <p:spPr bwMode="auto">
          <a:xfrm flipH="1" flipV="1">
            <a:off x="6419850" y="5253038"/>
            <a:ext cx="1092200" cy="482600"/>
          </a:xfrm>
          <a:custGeom>
            <a:avLst/>
            <a:gdLst>
              <a:gd name="T0" fmla="*/ 2147483647 w 42677"/>
              <a:gd name="T1" fmla="*/ 959144442 h 21600"/>
              <a:gd name="T2" fmla="*/ 0 w 42677"/>
              <a:gd name="T3" fmla="*/ 688265687 h 21600"/>
              <a:gd name="T4" fmla="*/ 2147483647 w 42677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677" h="21600" fill="none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</a:path>
              <a:path w="42677" h="21600" stroke="0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  <a:lnTo>
                  <a:pt x="21423" y="0"/>
                </a:lnTo>
                <a:lnTo>
                  <a:pt x="42677" y="3849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802" name="Arc 90">
            <a:extLst>
              <a:ext uri="{FF2B5EF4-FFF2-40B4-BE49-F238E27FC236}">
                <a16:creationId xmlns:a16="http://schemas.microsoft.com/office/drawing/2014/main" id="{67193014-0F58-3C4D-8A61-AFAD7C85987C}"/>
              </a:ext>
            </a:extLst>
          </p:cNvPr>
          <p:cNvSpPr>
            <a:spLocks/>
          </p:cNvSpPr>
          <p:nvPr/>
        </p:nvSpPr>
        <p:spPr bwMode="auto">
          <a:xfrm>
            <a:off x="5187950" y="5226050"/>
            <a:ext cx="1160463" cy="420688"/>
          </a:xfrm>
          <a:custGeom>
            <a:avLst/>
            <a:gdLst>
              <a:gd name="T0" fmla="*/ 1570198 w 43200"/>
              <a:gd name="T1" fmla="*/ 2147483647 h 21956"/>
              <a:gd name="T2" fmla="*/ 2147483647 w 43200"/>
              <a:gd name="T3" fmla="*/ 2147483647 h 21956"/>
              <a:gd name="T4" fmla="*/ 2147483647 w 43200"/>
              <a:gd name="T5" fmla="*/ 2147483647 h 219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1956" fill="none" extrusionOk="0">
                <a:moveTo>
                  <a:pt x="2" y="21956"/>
                </a:moveTo>
                <a:cubicBezTo>
                  <a:pt x="0" y="21837"/>
                  <a:pt x="0" y="2171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1956" stroke="0" extrusionOk="0">
                <a:moveTo>
                  <a:pt x="2" y="21956"/>
                </a:moveTo>
                <a:cubicBezTo>
                  <a:pt x="0" y="21837"/>
                  <a:pt x="0" y="2171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2" y="21956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803" name="Arc 91">
            <a:extLst>
              <a:ext uri="{FF2B5EF4-FFF2-40B4-BE49-F238E27FC236}">
                <a16:creationId xmlns:a16="http://schemas.microsoft.com/office/drawing/2014/main" id="{608DC1CE-1D1B-514D-B897-0371EF595A1E}"/>
              </a:ext>
            </a:extLst>
          </p:cNvPr>
          <p:cNvSpPr>
            <a:spLocks/>
          </p:cNvSpPr>
          <p:nvPr/>
        </p:nvSpPr>
        <p:spPr bwMode="auto">
          <a:xfrm flipV="1">
            <a:off x="5175250" y="5659438"/>
            <a:ext cx="1181100" cy="503237"/>
          </a:xfrm>
          <a:custGeom>
            <a:avLst/>
            <a:gdLst>
              <a:gd name="T0" fmla="*/ 0 w 41008"/>
              <a:gd name="T1" fmla="*/ 2147483647 h 21600"/>
              <a:gd name="T2" fmla="*/ 2147483647 w 41008"/>
              <a:gd name="T3" fmla="*/ 2147483647 h 21600"/>
              <a:gd name="T4" fmla="*/ 2147483647 w 41008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008" h="21600" fill="none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9858" y="0"/>
                  <a:pt x="38269" y="6260"/>
                  <a:pt x="41008" y="15400"/>
                </a:cubicBezTo>
              </a:path>
              <a:path w="41008" h="21600" stroke="0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9858" y="0"/>
                  <a:pt x="38269" y="6260"/>
                  <a:pt x="41008" y="15400"/>
                </a:cubicBezTo>
                <a:lnTo>
                  <a:pt x="20317" y="21600"/>
                </a:lnTo>
                <a:lnTo>
                  <a:pt x="-1" y="14266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804" name="Arc 92">
            <a:extLst>
              <a:ext uri="{FF2B5EF4-FFF2-40B4-BE49-F238E27FC236}">
                <a16:creationId xmlns:a16="http://schemas.microsoft.com/office/drawing/2014/main" id="{66C4B348-1266-6D4F-BED8-078D3556E457}"/>
              </a:ext>
            </a:extLst>
          </p:cNvPr>
          <p:cNvSpPr>
            <a:spLocks/>
          </p:cNvSpPr>
          <p:nvPr/>
        </p:nvSpPr>
        <p:spPr bwMode="auto">
          <a:xfrm flipV="1">
            <a:off x="6383338" y="5634038"/>
            <a:ext cx="1150937" cy="503237"/>
          </a:xfrm>
          <a:custGeom>
            <a:avLst/>
            <a:gdLst>
              <a:gd name="T0" fmla="*/ 0 w 39973"/>
              <a:gd name="T1" fmla="*/ 2147483647 h 21600"/>
              <a:gd name="T2" fmla="*/ 2147483647 w 39973"/>
              <a:gd name="T3" fmla="*/ 2147483647 h 21600"/>
              <a:gd name="T4" fmla="*/ 2147483647 w 39973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973" h="21600" fill="none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8780" y="0"/>
                  <a:pt x="36464" y="4942"/>
                  <a:pt x="39973" y="12644"/>
                </a:cubicBezTo>
              </a:path>
              <a:path w="39973" h="21600" stroke="0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8780" y="0"/>
                  <a:pt x="36464" y="4942"/>
                  <a:pt x="39973" y="12644"/>
                </a:cubicBezTo>
                <a:lnTo>
                  <a:pt x="20317" y="21600"/>
                </a:lnTo>
                <a:lnTo>
                  <a:pt x="-1" y="14266"/>
                </a:lnTo>
                <a:close/>
              </a:path>
            </a:pathLst>
          </a:custGeom>
          <a:noFill/>
          <a:ln w="38100">
            <a:solidFill>
              <a:schemeClr val="accent3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805" name="Arc 93">
            <a:extLst>
              <a:ext uri="{FF2B5EF4-FFF2-40B4-BE49-F238E27FC236}">
                <a16:creationId xmlns:a16="http://schemas.microsoft.com/office/drawing/2014/main" id="{FACF0372-45C4-894E-804C-AFA3EEEDF0FD}"/>
              </a:ext>
            </a:extLst>
          </p:cNvPr>
          <p:cNvSpPr>
            <a:spLocks/>
          </p:cNvSpPr>
          <p:nvPr/>
        </p:nvSpPr>
        <p:spPr bwMode="auto">
          <a:xfrm flipH="1">
            <a:off x="4276725" y="5341938"/>
            <a:ext cx="784225" cy="798512"/>
          </a:xfrm>
          <a:custGeom>
            <a:avLst/>
            <a:gdLst>
              <a:gd name="T0" fmla="*/ 0 w 42820"/>
              <a:gd name="T1" fmla="*/ 2050636985 h 43200"/>
              <a:gd name="T2" fmla="*/ 5626988 w 42820"/>
              <a:gd name="T3" fmla="*/ 2147483647 h 43200"/>
              <a:gd name="T4" fmla="*/ 2147483647 w 42820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820" h="43200" fill="none" extrusionOk="0">
                <a:moveTo>
                  <a:pt x="-1" y="17566"/>
                </a:moveTo>
                <a:cubicBezTo>
                  <a:pt x="1936" y="7375"/>
                  <a:pt x="10845" y="-1"/>
                  <a:pt x="21220" y="0"/>
                </a:cubicBezTo>
                <a:cubicBezTo>
                  <a:pt x="33149" y="0"/>
                  <a:pt x="42820" y="9670"/>
                  <a:pt x="42820" y="21600"/>
                </a:cubicBezTo>
                <a:cubicBezTo>
                  <a:pt x="42820" y="33529"/>
                  <a:pt x="33149" y="43200"/>
                  <a:pt x="21220" y="43200"/>
                </a:cubicBezTo>
                <a:cubicBezTo>
                  <a:pt x="10943" y="43200"/>
                  <a:pt x="2089" y="35959"/>
                  <a:pt x="49" y="25887"/>
                </a:cubicBezTo>
              </a:path>
              <a:path w="42820" h="43200" stroke="0" extrusionOk="0">
                <a:moveTo>
                  <a:pt x="-1" y="17566"/>
                </a:moveTo>
                <a:cubicBezTo>
                  <a:pt x="1936" y="7375"/>
                  <a:pt x="10845" y="-1"/>
                  <a:pt x="21220" y="0"/>
                </a:cubicBezTo>
                <a:cubicBezTo>
                  <a:pt x="33149" y="0"/>
                  <a:pt x="42820" y="9670"/>
                  <a:pt x="42820" y="21600"/>
                </a:cubicBezTo>
                <a:cubicBezTo>
                  <a:pt x="42820" y="33529"/>
                  <a:pt x="33149" y="43200"/>
                  <a:pt x="21220" y="43200"/>
                </a:cubicBezTo>
                <a:cubicBezTo>
                  <a:pt x="10943" y="43200"/>
                  <a:pt x="2089" y="35959"/>
                  <a:pt x="49" y="25887"/>
                </a:cubicBezTo>
                <a:lnTo>
                  <a:pt x="21220" y="21600"/>
                </a:lnTo>
                <a:lnTo>
                  <a:pt x="-1" y="17566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806" name="Arc 94">
            <a:extLst>
              <a:ext uri="{FF2B5EF4-FFF2-40B4-BE49-F238E27FC236}">
                <a16:creationId xmlns:a16="http://schemas.microsoft.com/office/drawing/2014/main" id="{84C0BEFF-DD8F-EB4E-B710-3F442C0BEBA1}"/>
              </a:ext>
            </a:extLst>
          </p:cNvPr>
          <p:cNvSpPr>
            <a:spLocks/>
          </p:cNvSpPr>
          <p:nvPr/>
        </p:nvSpPr>
        <p:spPr bwMode="auto">
          <a:xfrm flipH="1" flipV="1">
            <a:off x="5060950" y="4533900"/>
            <a:ext cx="2503488" cy="1306513"/>
          </a:xfrm>
          <a:custGeom>
            <a:avLst/>
            <a:gdLst>
              <a:gd name="T0" fmla="*/ 2147483647 w 42677"/>
              <a:gd name="T1" fmla="*/ 2147483647 h 21600"/>
              <a:gd name="T2" fmla="*/ 0 w 42677"/>
              <a:gd name="T3" fmla="*/ 2147483647 h 21600"/>
              <a:gd name="T4" fmla="*/ 2147483647 w 42677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677" h="21600" fill="none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</a:path>
              <a:path w="42677" h="21600" stroke="0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  <a:lnTo>
                  <a:pt x="21423" y="0"/>
                </a:lnTo>
                <a:lnTo>
                  <a:pt x="42677" y="3849"/>
                </a:lnTo>
                <a:close/>
              </a:path>
            </a:pathLst>
          </a:custGeom>
          <a:noFill/>
          <a:ln w="38100">
            <a:solidFill>
              <a:schemeClr val="accent3">
                <a:lumMod val="75000"/>
              </a:schemeClr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5807" name="Group 95">
            <a:extLst>
              <a:ext uri="{FF2B5EF4-FFF2-40B4-BE49-F238E27FC236}">
                <a16:creationId xmlns:a16="http://schemas.microsoft.com/office/drawing/2014/main" id="{54E12D1C-C38F-E341-AF3B-08409F855DA6}"/>
              </a:ext>
            </a:extLst>
          </p:cNvPr>
          <p:cNvGrpSpPr>
            <a:grpSpLocks/>
          </p:cNvGrpSpPr>
          <p:nvPr/>
        </p:nvGrpSpPr>
        <p:grpSpPr bwMode="auto">
          <a:xfrm>
            <a:off x="5043488" y="5630863"/>
            <a:ext cx="2659062" cy="266700"/>
            <a:chOff x="3411" y="3307"/>
            <a:chExt cx="1675" cy="168"/>
          </a:xfrm>
        </p:grpSpPr>
        <p:sp>
          <p:nvSpPr>
            <p:cNvPr id="35858" name="Oval 74">
              <a:extLst>
                <a:ext uri="{FF2B5EF4-FFF2-40B4-BE49-F238E27FC236}">
                  <a16:creationId xmlns:a16="http://schemas.microsoft.com/office/drawing/2014/main" id="{0010004A-57C6-5D4A-A385-38D168A1C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3307"/>
              <a:ext cx="140" cy="14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5859" name="Oval 75">
              <a:extLst>
                <a:ext uri="{FF2B5EF4-FFF2-40B4-BE49-F238E27FC236}">
                  <a16:creationId xmlns:a16="http://schemas.microsoft.com/office/drawing/2014/main" id="{7AC0705A-6BA0-ED45-BEC0-200EC9466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" y="3328"/>
              <a:ext cx="128" cy="14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5860" name="Oval 78">
              <a:extLst>
                <a:ext uri="{FF2B5EF4-FFF2-40B4-BE49-F238E27FC236}">
                  <a16:creationId xmlns:a16="http://schemas.microsoft.com/office/drawing/2014/main" id="{03578B67-60F5-5C4E-9DC3-378BD8CD6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3307"/>
              <a:ext cx="140" cy="14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15810" name="Rectangle 98">
            <a:extLst>
              <a:ext uri="{FF2B5EF4-FFF2-40B4-BE49-F238E27FC236}">
                <a16:creationId xmlns:a16="http://schemas.microsoft.com/office/drawing/2014/main" id="{42425ADE-E84B-3B4F-A9FE-5E3E68CA3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648200"/>
            <a:ext cx="4011613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所以，用点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以及弧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’, e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20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作成以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r=v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为根的有向树。</a:t>
            </a:r>
          </a:p>
          <a:p>
            <a:pPr algn="l"/>
            <a:r>
              <a:rPr lang="zh-CN" altLang="en-US" sz="1600">
                <a:latin typeface="Times New Roman" panose="02020603050405020304" pitchFamily="18" charset="0"/>
                <a:ea typeface="楷体_GB2312" pitchFamily="49" charset="-122"/>
              </a:rPr>
              <a:t>			    </a:t>
            </a:r>
            <a:r>
              <a:rPr lang="zh-CN" altLang="en-US" sz="1600"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定理</a:t>
            </a:r>
            <a:r>
              <a:rPr lang="en-US" altLang="zh-CN" sz="1600"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4.3.4</a:t>
            </a:r>
            <a:endParaRPr lang="en-US" altLang="zh-CN" sz="16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1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1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1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97" grpId="0"/>
      <p:bldP spid="11581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>
            <a:extLst>
              <a:ext uri="{FF2B5EF4-FFF2-40B4-BE49-F238E27FC236}">
                <a16:creationId xmlns:a16="http://schemas.microsoft.com/office/drawing/2014/main" id="{ABD62500-DE61-0A4A-869A-87BAB105097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50B90A-78DD-C748-9E16-D53E6797F313}" type="slidenum">
              <a:rPr kumimoji="0" lang="zh-CN" altLang="en-US" sz="1200"/>
              <a:pPr/>
              <a:t>34</a:t>
            </a:fld>
            <a:endParaRPr kumimoji="0" lang="en-US" altLang="zh-CN" sz="1200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6E8D6B90-2310-FA49-ABE3-CCC7004E0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证明：</a:t>
            </a:r>
            <a:endParaRPr lang="zh-CN" altLang="en-US" dirty="0">
              <a:latin typeface="Times New Roman" charset="0"/>
              <a:ea typeface="楷体_GB2312" charset="0"/>
              <a:cs typeface="Times New Roman" charset="0"/>
            </a:endParaRP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4741F447-12BA-CA47-A002-8F009591922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763000" cy="5105400"/>
          </a:xfrm>
        </p:spPr>
        <p:txBody>
          <a:bodyPr/>
          <a:lstStyle/>
          <a:p>
            <a:pPr marL="536575" indent="-536575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e[v]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的定义知：</a:t>
            </a:r>
          </a:p>
          <a:p>
            <a:pPr marL="536575" indent="-536575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对每个点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恰有一弧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e[v]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发出，</a:t>
            </a:r>
          </a:p>
          <a:p>
            <a:pPr marL="536575" indent="-536575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不发出任何弧。</a:t>
            </a:r>
          </a:p>
          <a:p>
            <a:pPr marL="536575" indent="-536575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下面我们证明：</a:t>
            </a:r>
          </a:p>
          <a:p>
            <a:pPr marL="536575" indent="-536575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是根。</a:t>
            </a:r>
          </a:p>
          <a:p>
            <a:pPr marL="536575" indent="-536575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	先证：有向图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中无有向回路。</a:t>
            </a:r>
          </a:p>
          <a:p>
            <a:pPr marL="536575" indent="-536575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若不然，设有一个有向回路(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e[v],e[v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],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fin(e[v])=init(e[v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])=v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e[v]=e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，e[v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]=e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因为弧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发到点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j+1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发出的弧，但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发出的弧中下标最大者，所以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k。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5">
            <a:extLst>
              <a:ext uri="{FF2B5EF4-FFF2-40B4-BE49-F238E27FC236}">
                <a16:creationId xmlns:a16="http://schemas.microsoft.com/office/drawing/2014/main" id="{92674BA2-A26B-B943-8F83-2E1502D2F6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820EC3-5DF4-3043-9048-86C49EB8321D}" type="slidenum">
              <a:rPr kumimoji="0" lang="zh-CN" altLang="en-US" sz="1200"/>
              <a:pPr/>
              <a:t>35</a:t>
            </a:fld>
            <a:endParaRPr kumimoji="0" lang="en-US" altLang="zh-CN" sz="1200"/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1A0BD37E-47F3-1A46-ABE3-B8632FB3F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证明：</a:t>
            </a:r>
            <a:endParaRPr lang="zh-CN" altLang="en-US" dirty="0">
              <a:latin typeface="Times New Roman" charset="0"/>
              <a:ea typeface="楷体_GB2312" charset="0"/>
              <a:cs typeface="Times New Roman" charset="0"/>
            </a:endParaRP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98BA3CAD-1212-F649-84AE-D4CF935686F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143000"/>
            <a:ext cx="8763000" cy="5105400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而此有向回路又可写成：</a:t>
            </a:r>
          </a:p>
          <a:p>
            <a:pPr marL="0" indent="0" algn="just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e[v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],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e[v]）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与上面同样的推理，可得：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j 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矛盾。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再证：对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中任一点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v，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中，有一条从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的有向路。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出发可以这样走下去：</a:t>
            </a:r>
          </a:p>
          <a:p>
            <a:pPr marL="0" indent="0" algn="just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fin(e[v]) 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fin(e([fin(e[v])])) 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显然，此有向路上的点没有重复(否则，将出现有向回路)，由于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有限，故最后必然停止在不发出弧的点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上，故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是一个有向树。 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>
            <a:extLst>
              <a:ext uri="{FF2B5EF4-FFF2-40B4-BE49-F238E27FC236}">
                <a16:creationId xmlns:a16="http://schemas.microsoft.com/office/drawing/2014/main" id="{034142E2-7A06-6C4C-A1A1-E6B35BA8EC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152492-9484-CE4D-8679-A1154811C5DB}" type="slidenum">
              <a:rPr kumimoji="0" lang="zh-CN" altLang="en-US" sz="1200"/>
              <a:pPr/>
              <a:t>36</a:t>
            </a:fld>
            <a:endParaRPr kumimoji="0" lang="en-US" altLang="zh-CN" sz="12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477B07C1-F951-244C-9B50-F953CA988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定理4.3.4 </a:t>
            </a:r>
            <a:endParaRPr lang="zh-CN" altLang="en-US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EC00249-0B58-454D-8823-4BB85A82C9A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839200" cy="5105400"/>
          </a:xfrm>
        </p:spPr>
        <p:txBody>
          <a:bodyPr>
            <a:noAutofit/>
          </a:bodyPr>
          <a:lstStyle/>
          <a:p>
            <a:pPr marL="363538" indent="-363538">
              <a:spcBef>
                <a:spcPct val="0"/>
              </a:spcBef>
              <a:tabLst>
                <a:tab pos="812800" algn="l"/>
                <a:tab pos="1698625" algn="l"/>
              </a:tabLst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是有限平衡有向图，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的有向支撑树，设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的根为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r，G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中点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v(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r)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发出的弧为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e[v]。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中发出的任一条弧，如果从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开始任一条有向路：</a:t>
            </a:r>
            <a:b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L=(e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e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3538" indent="-363538">
              <a:spcBef>
                <a:spcPct val="0"/>
              </a:spcBef>
              <a:buFont typeface="Wingdings" pitchFamily="2" charset="2"/>
              <a:buNone/>
              <a:tabLst>
                <a:tab pos="812800" algn="l"/>
                <a:tab pos="1698625" algn="l"/>
              </a:tabLst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	满足：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时。</a:t>
            </a:r>
          </a:p>
          <a:p>
            <a:pPr marL="363538" indent="-363538">
              <a:spcBef>
                <a:spcPct val="0"/>
              </a:spcBef>
              <a:buFont typeface="Wingdings" pitchFamily="2" charset="2"/>
              <a:buNone/>
              <a:tabLst>
                <a:tab pos="812800" algn="l"/>
                <a:tab pos="1698625" algn="l"/>
              </a:tabLst>
            </a:pP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	(2)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=e[v]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当且仅当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init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)=v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并且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中由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发出的弧都出现在(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中。</a:t>
            </a:r>
          </a:p>
          <a:p>
            <a:pPr marL="363538" indent="-363538">
              <a:spcBef>
                <a:spcPct val="0"/>
              </a:spcBef>
              <a:buFont typeface="Wingdings 2" pitchFamily="2" charset="2"/>
              <a:buNone/>
              <a:tabLst>
                <a:tab pos="812800" algn="l"/>
                <a:tab pos="1698625" algn="l"/>
              </a:tabLst>
            </a:pP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	(3)L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终止在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当且仅当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中从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的终点发出的弧都已经在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中出现。</a:t>
            </a:r>
          </a:p>
          <a:p>
            <a:pPr marL="363538" indent="-363538">
              <a:spcBef>
                <a:spcPct val="0"/>
              </a:spcBef>
              <a:tabLst>
                <a:tab pos="812800" algn="l"/>
                <a:tab pos="1698625" algn="l"/>
              </a:tabLst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则有向路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是一条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路。 			      </a:t>
            </a:r>
            <a:endParaRPr kumimoji="0"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3538" indent="-363538" algn="r">
              <a:spcBef>
                <a:spcPct val="0"/>
              </a:spcBef>
              <a:buFont typeface="Georgia" panose="02040502050405020303" pitchFamily="18" charset="0"/>
              <a:buNone/>
              <a:tabLst>
                <a:tab pos="812800" algn="l"/>
                <a:tab pos="1698625" algn="l"/>
              </a:tabLst>
            </a:pP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例题</a:t>
            </a:r>
            <a:endParaRPr kumimoji="0" lang="zh-CN" altLang="en-US" sz="1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>
            <a:extLst>
              <a:ext uri="{FF2B5EF4-FFF2-40B4-BE49-F238E27FC236}">
                <a16:creationId xmlns:a16="http://schemas.microsoft.com/office/drawing/2014/main" id="{4EDA4C8B-B6C1-D542-A87E-67D4484AC3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786C2C-F95E-D84E-ABA0-62115288AA9A}" type="slidenum">
              <a:rPr kumimoji="0" lang="zh-CN" altLang="en-US" sz="1200"/>
              <a:pPr/>
              <a:t>37</a:t>
            </a:fld>
            <a:endParaRPr kumimoji="0" lang="en-US" altLang="zh-CN" sz="1200"/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AED0D39F-3BBF-9548-99D9-A5B787EFD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证明：</a:t>
            </a:r>
            <a:endParaRPr lang="zh-CN" altLang="en-US" dirty="0">
              <a:latin typeface="Times New Roman" charset="0"/>
              <a:ea typeface="楷体_GB2312" charset="0"/>
              <a:cs typeface="Times New Roman" charset="0"/>
            </a:endParaRP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C1DFCCFC-4F9D-134A-ADAF-F3DF660F386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295400"/>
            <a:ext cx="8839200" cy="5181600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先证：</a:t>
            </a: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fin(e</a:t>
            </a:r>
            <a:r>
              <a:rPr kumimoji="0" lang="en-US" altLang="zh-CN" sz="28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)=init(e</a:t>
            </a:r>
            <a:r>
              <a:rPr kumimoji="0" lang="en-US" altLang="zh-CN" sz="28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)=r。</a:t>
            </a:r>
          </a:p>
          <a:p>
            <a:pPr marL="0" indent="0" algn="just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由条件(3)知，由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fin(e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发出的弧，都在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中。</a:t>
            </a:r>
          </a:p>
          <a:p>
            <a:pPr marL="0" indent="0" algn="just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仿照定理4.3.2的证明，不难得到结论：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fin(e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发出的弧中，有一条是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fin(e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)=init(e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)。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再证：</a:t>
            </a: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中每条弧恰在</a:t>
            </a: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中出现一次。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由条件(1)知，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中的弧无重复，所以只需证：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中每条弧都出现在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中。 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若不然，设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不在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中，令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fin(e)=v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的平衡性知，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中有一条由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发出的弧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不在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中，由于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发出的弧都在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中，故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由条件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知，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e[v]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不在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>
            <a:extLst>
              <a:ext uri="{FF2B5EF4-FFF2-40B4-BE49-F238E27FC236}">
                <a16:creationId xmlns:a16="http://schemas.microsoft.com/office/drawing/2014/main" id="{321F2DA9-407B-8241-BF97-E031411F94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4F3C0F-26E4-6C47-9CFB-8BBAFAE535F2}" type="slidenum">
              <a:rPr kumimoji="0" lang="zh-CN" altLang="en-US" sz="1200"/>
              <a:pPr/>
              <a:t>38</a:t>
            </a:fld>
            <a:endParaRPr kumimoji="0" lang="en-US" altLang="zh-CN" sz="1200"/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272DA76F-C1CA-F143-9770-B8DF241CC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证明：</a:t>
            </a:r>
            <a:endParaRPr lang="zh-CN" altLang="en-US" dirty="0">
              <a:latin typeface="Times New Roman" charset="0"/>
              <a:ea typeface="楷体_GB2312" charset="0"/>
              <a:cs typeface="Times New Roman" charset="0"/>
            </a:endParaRP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6CC2B624-12A2-9044-80C3-47B4A16A658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381000" y="1295400"/>
            <a:ext cx="8458200" cy="5105400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同理，若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fin(e[v])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e[fin(e[v])]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于是，得一有向路：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=(e,e[v],e[fin(e[v])],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并且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中的弧不在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中的弧都是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的弧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以外)，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不能无限延长，最终必然沿着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的一条有向路到达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于是，根据上面的推理，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有一条从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发出的弧不在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中，与条件(3)矛盾。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中弧均出现在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中。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综上，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是一条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Number Placeholder 5">
            <a:extLst>
              <a:ext uri="{FF2B5EF4-FFF2-40B4-BE49-F238E27FC236}">
                <a16:creationId xmlns:a16="http://schemas.microsoft.com/office/drawing/2014/main" id="{3B872ABE-BA66-3641-A094-0821DDC2B5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1A451F-FEF3-2242-9276-7EC47F1B93FB}" type="slidenum">
              <a:rPr kumimoji="0" lang="zh-CN" altLang="en-US" sz="1200"/>
              <a:pPr/>
              <a:t>39</a:t>
            </a:fld>
            <a:endParaRPr kumimoji="0" lang="en-US" altLang="zh-CN" sz="1200"/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B3C8DA0C-C342-AD4E-9342-4497C0E64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pitchFamily="2" charset="-122"/>
                <a:ea typeface="+mj-ea"/>
              </a:rPr>
              <a:t>例：</a:t>
            </a:r>
            <a:endParaRPr lang="en-US" altLang="zh-CN" sz="6000" dirty="0">
              <a:latin typeface="宋体" pitchFamily="2" charset="-122"/>
              <a:ea typeface="+mj-ea"/>
              <a:sym typeface="Symbol" pitchFamily="18" charset="2"/>
            </a:endParaRPr>
          </a:p>
        </p:txBody>
      </p:sp>
      <p:sp>
        <p:nvSpPr>
          <p:cNvPr id="134154" name="Arc 10">
            <a:extLst>
              <a:ext uri="{FF2B5EF4-FFF2-40B4-BE49-F238E27FC236}">
                <a16:creationId xmlns:a16="http://schemas.microsoft.com/office/drawing/2014/main" id="{BDFDEF49-DF1A-E545-85E1-1B36BE8356B8}"/>
              </a:ext>
            </a:extLst>
          </p:cNvPr>
          <p:cNvSpPr>
            <a:spLocks/>
          </p:cNvSpPr>
          <p:nvPr/>
        </p:nvSpPr>
        <p:spPr bwMode="auto">
          <a:xfrm flipV="1">
            <a:off x="4475163" y="5432425"/>
            <a:ext cx="1365250" cy="576263"/>
          </a:xfrm>
          <a:custGeom>
            <a:avLst/>
            <a:gdLst>
              <a:gd name="T0" fmla="*/ 0 w 41008"/>
              <a:gd name="T1" fmla="*/ 2147483647 h 21600"/>
              <a:gd name="T2" fmla="*/ 2147483647 w 41008"/>
              <a:gd name="T3" fmla="*/ 2147483647 h 21600"/>
              <a:gd name="T4" fmla="*/ 2147483647 w 41008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008" h="21600" fill="none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9858" y="0"/>
                  <a:pt x="38269" y="6260"/>
                  <a:pt x="41008" y="15400"/>
                </a:cubicBezTo>
              </a:path>
              <a:path w="41008" h="21600" stroke="0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9858" y="0"/>
                  <a:pt x="38269" y="6260"/>
                  <a:pt x="41008" y="15400"/>
                </a:cubicBezTo>
                <a:lnTo>
                  <a:pt x="20317" y="21600"/>
                </a:lnTo>
                <a:lnTo>
                  <a:pt x="-1" y="14266"/>
                </a:lnTo>
                <a:close/>
              </a:path>
            </a:pathLst>
          </a:custGeom>
          <a:noFill/>
          <a:ln w="38100">
            <a:solidFill>
              <a:srgbClr val="00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9" name="Arc 5">
            <a:extLst>
              <a:ext uri="{FF2B5EF4-FFF2-40B4-BE49-F238E27FC236}">
                <a16:creationId xmlns:a16="http://schemas.microsoft.com/office/drawing/2014/main" id="{F218291B-5980-B948-8CF3-FD26D042EDAC}"/>
              </a:ext>
            </a:extLst>
          </p:cNvPr>
          <p:cNvSpPr>
            <a:spLocks/>
          </p:cNvSpPr>
          <p:nvPr/>
        </p:nvSpPr>
        <p:spPr bwMode="auto">
          <a:xfrm flipH="1">
            <a:off x="7315200" y="5118100"/>
            <a:ext cx="908050" cy="914400"/>
          </a:xfrm>
          <a:custGeom>
            <a:avLst/>
            <a:gdLst>
              <a:gd name="T0" fmla="*/ 2147483647 w 42844"/>
              <a:gd name="T1" fmla="*/ 2147483647 h 43200"/>
              <a:gd name="T2" fmla="*/ 2147483647 w 42844"/>
              <a:gd name="T3" fmla="*/ 2147483647 h 43200"/>
              <a:gd name="T4" fmla="*/ 2147483647 w 42844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844" h="43200" fill="none" extrusionOk="0">
                <a:moveTo>
                  <a:pt x="42844" y="25505"/>
                </a:moveTo>
                <a:cubicBezTo>
                  <a:pt x="40959" y="35756"/>
                  <a:pt x="3202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798" y="-1"/>
                  <a:pt x="40606" y="7132"/>
                  <a:pt x="42727" y="17108"/>
                </a:cubicBezTo>
              </a:path>
              <a:path w="42844" h="43200" stroke="0" extrusionOk="0">
                <a:moveTo>
                  <a:pt x="42844" y="25505"/>
                </a:moveTo>
                <a:cubicBezTo>
                  <a:pt x="40959" y="35756"/>
                  <a:pt x="3202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798" y="-1"/>
                  <a:pt x="40606" y="7132"/>
                  <a:pt x="42727" y="17108"/>
                </a:cubicBezTo>
                <a:lnTo>
                  <a:pt x="21600" y="21600"/>
                </a:lnTo>
                <a:lnTo>
                  <a:pt x="42844" y="25505"/>
                </a:lnTo>
                <a:close/>
              </a:path>
            </a:pathLst>
          </a:cu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0" name="Line 6">
            <a:extLst>
              <a:ext uri="{FF2B5EF4-FFF2-40B4-BE49-F238E27FC236}">
                <a16:creationId xmlns:a16="http://schemas.microsoft.com/office/drawing/2014/main" id="{AD760128-541A-2D4E-9DA5-224840FE1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5372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4151" name="Line 7">
            <a:extLst>
              <a:ext uri="{FF2B5EF4-FFF2-40B4-BE49-F238E27FC236}">
                <a16:creationId xmlns:a16="http://schemas.microsoft.com/office/drawing/2014/main" id="{FCD03372-8008-654F-A34E-786C4AB9C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0900" y="5537200"/>
            <a:ext cx="1219200" cy="0"/>
          </a:xfrm>
          <a:prstGeom prst="line">
            <a:avLst/>
          </a:prstGeom>
          <a:noFill/>
          <a:ln w="38100">
            <a:solidFill>
              <a:srgbClr val="40E2F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4152" name="Arc 8">
            <a:extLst>
              <a:ext uri="{FF2B5EF4-FFF2-40B4-BE49-F238E27FC236}">
                <a16:creationId xmlns:a16="http://schemas.microsoft.com/office/drawing/2014/main" id="{69F9E76B-463F-494A-ABC5-72DFD293597A}"/>
              </a:ext>
            </a:extLst>
          </p:cNvPr>
          <p:cNvSpPr>
            <a:spLocks/>
          </p:cNvSpPr>
          <p:nvPr/>
        </p:nvSpPr>
        <p:spPr bwMode="auto">
          <a:xfrm flipH="1" flipV="1">
            <a:off x="5899150" y="4979988"/>
            <a:ext cx="1263650" cy="554037"/>
          </a:xfrm>
          <a:custGeom>
            <a:avLst/>
            <a:gdLst>
              <a:gd name="T0" fmla="*/ 2147483647 w 42677"/>
              <a:gd name="T1" fmla="*/ 1666044355 h 21600"/>
              <a:gd name="T2" fmla="*/ 0 w 42677"/>
              <a:gd name="T3" fmla="*/ 1195540129 h 21600"/>
              <a:gd name="T4" fmla="*/ 2147483647 w 42677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677" h="21600" fill="none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</a:path>
              <a:path w="42677" h="21600" stroke="0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  <a:lnTo>
                  <a:pt x="21423" y="0"/>
                </a:lnTo>
                <a:lnTo>
                  <a:pt x="42677" y="3849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3" name="Arc 9">
            <a:extLst>
              <a:ext uri="{FF2B5EF4-FFF2-40B4-BE49-F238E27FC236}">
                <a16:creationId xmlns:a16="http://schemas.microsoft.com/office/drawing/2014/main" id="{51F3EC78-AC64-5F44-978F-169F10D63CC7}"/>
              </a:ext>
            </a:extLst>
          </p:cNvPr>
          <p:cNvSpPr>
            <a:spLocks/>
          </p:cNvSpPr>
          <p:nvPr/>
        </p:nvSpPr>
        <p:spPr bwMode="auto">
          <a:xfrm>
            <a:off x="4475163" y="4949825"/>
            <a:ext cx="1341437" cy="481013"/>
          </a:xfrm>
          <a:custGeom>
            <a:avLst/>
            <a:gdLst>
              <a:gd name="T0" fmla="*/ 2784662 w 43200"/>
              <a:gd name="T1" fmla="*/ 2147483647 h 21956"/>
              <a:gd name="T2" fmla="*/ 2147483647 w 43200"/>
              <a:gd name="T3" fmla="*/ 2147483647 h 21956"/>
              <a:gd name="T4" fmla="*/ 2147483647 w 43200"/>
              <a:gd name="T5" fmla="*/ 2147483647 h 219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1956" fill="none" extrusionOk="0">
                <a:moveTo>
                  <a:pt x="2" y="21956"/>
                </a:moveTo>
                <a:cubicBezTo>
                  <a:pt x="0" y="21837"/>
                  <a:pt x="0" y="2171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1956" stroke="0" extrusionOk="0">
                <a:moveTo>
                  <a:pt x="2" y="21956"/>
                </a:moveTo>
                <a:cubicBezTo>
                  <a:pt x="0" y="21837"/>
                  <a:pt x="0" y="2171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2" y="21956"/>
                </a:lnTo>
                <a:close/>
              </a:path>
            </a:pathLst>
          </a:custGeom>
          <a:noFill/>
          <a:ln w="38100">
            <a:solidFill>
              <a:srgbClr val="00CC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5" name="Arc 11">
            <a:extLst>
              <a:ext uri="{FF2B5EF4-FFF2-40B4-BE49-F238E27FC236}">
                <a16:creationId xmlns:a16="http://schemas.microsoft.com/office/drawing/2014/main" id="{C847CD99-D14D-C84B-8F60-1A92DD059276}"/>
              </a:ext>
            </a:extLst>
          </p:cNvPr>
          <p:cNvSpPr>
            <a:spLocks/>
          </p:cNvSpPr>
          <p:nvPr/>
        </p:nvSpPr>
        <p:spPr bwMode="auto">
          <a:xfrm flipV="1">
            <a:off x="5872163" y="5402263"/>
            <a:ext cx="1331912" cy="576262"/>
          </a:xfrm>
          <a:custGeom>
            <a:avLst/>
            <a:gdLst>
              <a:gd name="T0" fmla="*/ 0 w 39973"/>
              <a:gd name="T1" fmla="*/ 2147483647 h 21600"/>
              <a:gd name="T2" fmla="*/ 2147483647 w 39973"/>
              <a:gd name="T3" fmla="*/ 2147483647 h 21600"/>
              <a:gd name="T4" fmla="*/ 2147483647 w 39973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973" h="21600" fill="none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8780" y="0"/>
                  <a:pt x="36464" y="4942"/>
                  <a:pt x="39973" y="12644"/>
                </a:cubicBezTo>
              </a:path>
              <a:path w="39973" h="21600" stroke="0" extrusionOk="0">
                <a:moveTo>
                  <a:pt x="-1" y="14266"/>
                </a:moveTo>
                <a:cubicBezTo>
                  <a:pt x="3089" y="5705"/>
                  <a:pt x="11215" y="-1"/>
                  <a:pt x="20317" y="0"/>
                </a:cubicBezTo>
                <a:cubicBezTo>
                  <a:pt x="28780" y="0"/>
                  <a:pt x="36464" y="4942"/>
                  <a:pt x="39973" y="12644"/>
                </a:cubicBezTo>
                <a:lnTo>
                  <a:pt x="20317" y="21600"/>
                </a:lnTo>
                <a:lnTo>
                  <a:pt x="-1" y="14266"/>
                </a:lnTo>
                <a:close/>
              </a:path>
            </a:pathLst>
          </a:custGeom>
          <a:noFill/>
          <a:ln w="38100">
            <a:solidFill>
              <a:srgbClr val="00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6" name="Text Box 12">
            <a:extLst>
              <a:ext uri="{FF2B5EF4-FFF2-40B4-BE49-F238E27FC236}">
                <a16:creationId xmlns:a16="http://schemas.microsoft.com/office/drawing/2014/main" id="{AAB6E79A-8783-6C47-A7C2-56EE484CD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257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57" name="Text Box 13">
            <a:extLst>
              <a:ext uri="{FF2B5EF4-FFF2-40B4-BE49-F238E27FC236}">
                <a16:creationId xmlns:a16="http://schemas.microsoft.com/office/drawing/2014/main" id="{EB4CFDEB-1E13-D141-9B94-EA387F397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050" y="5638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58" name="Text Box 14">
            <a:extLst>
              <a:ext uri="{FF2B5EF4-FFF2-40B4-BE49-F238E27FC236}">
                <a16:creationId xmlns:a16="http://schemas.microsoft.com/office/drawing/2014/main" id="{2462E3CC-2235-2540-8A26-62B599FB2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3340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59" name="Text Box 15">
            <a:extLst>
              <a:ext uri="{FF2B5EF4-FFF2-40B4-BE49-F238E27FC236}">
                <a16:creationId xmlns:a16="http://schemas.microsoft.com/office/drawing/2014/main" id="{09070790-105E-A743-BAB4-C2AA8CF1D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6963" y="4495800"/>
            <a:ext cx="522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10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60" name="Text Box 16">
            <a:extLst>
              <a:ext uri="{FF2B5EF4-FFF2-40B4-BE49-F238E27FC236}">
                <a16:creationId xmlns:a16="http://schemas.microsoft.com/office/drawing/2014/main" id="{6E3CE667-C4DE-DA4E-8314-65425296B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5916613"/>
            <a:ext cx="623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e’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12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61" name="Text Box 17">
            <a:extLst>
              <a:ext uri="{FF2B5EF4-FFF2-40B4-BE49-F238E27FC236}">
                <a16:creationId xmlns:a16="http://schemas.microsoft.com/office/drawing/2014/main" id="{B3FB01EC-F33F-5F43-905E-1FD9AB2B2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525" y="44958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21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62" name="Oval 18">
            <a:extLst>
              <a:ext uri="{FF2B5EF4-FFF2-40B4-BE49-F238E27FC236}">
                <a16:creationId xmlns:a16="http://schemas.microsoft.com/office/drawing/2014/main" id="{C25B2B1B-F2A3-6442-854C-FE6D0E368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825" y="5410200"/>
            <a:ext cx="257175" cy="2667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4163" name="Oval 19">
            <a:extLst>
              <a:ext uri="{FF2B5EF4-FFF2-40B4-BE49-F238E27FC236}">
                <a16:creationId xmlns:a16="http://schemas.microsoft.com/office/drawing/2014/main" id="{34FC3C62-67F5-284B-B413-C9B90CA49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4863" y="5448300"/>
            <a:ext cx="236537" cy="2667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4164" name="Arc 20">
            <a:extLst>
              <a:ext uri="{FF2B5EF4-FFF2-40B4-BE49-F238E27FC236}">
                <a16:creationId xmlns:a16="http://schemas.microsoft.com/office/drawing/2014/main" id="{F9E10F31-F681-FB4D-ACF5-252880032032}"/>
              </a:ext>
            </a:extLst>
          </p:cNvPr>
          <p:cNvSpPr>
            <a:spLocks/>
          </p:cNvSpPr>
          <p:nvPr/>
        </p:nvSpPr>
        <p:spPr bwMode="auto">
          <a:xfrm flipH="1">
            <a:off x="3436938" y="5067300"/>
            <a:ext cx="906462" cy="914400"/>
          </a:xfrm>
          <a:custGeom>
            <a:avLst/>
            <a:gdLst>
              <a:gd name="T0" fmla="*/ 0 w 42820"/>
              <a:gd name="T1" fmla="*/ 2147483647 h 43200"/>
              <a:gd name="T2" fmla="*/ 10036812 w 42820"/>
              <a:gd name="T3" fmla="*/ 2147483647 h 43200"/>
              <a:gd name="T4" fmla="*/ 2147483647 w 42820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820" h="43200" fill="none" extrusionOk="0">
                <a:moveTo>
                  <a:pt x="-1" y="17566"/>
                </a:moveTo>
                <a:cubicBezTo>
                  <a:pt x="1936" y="7375"/>
                  <a:pt x="10845" y="-1"/>
                  <a:pt x="21220" y="0"/>
                </a:cubicBezTo>
                <a:cubicBezTo>
                  <a:pt x="33149" y="0"/>
                  <a:pt x="42820" y="9670"/>
                  <a:pt x="42820" y="21600"/>
                </a:cubicBezTo>
                <a:cubicBezTo>
                  <a:pt x="42820" y="33529"/>
                  <a:pt x="33149" y="43200"/>
                  <a:pt x="21220" y="43200"/>
                </a:cubicBezTo>
                <a:cubicBezTo>
                  <a:pt x="10943" y="43200"/>
                  <a:pt x="2089" y="35959"/>
                  <a:pt x="49" y="25887"/>
                </a:cubicBezTo>
              </a:path>
              <a:path w="42820" h="43200" stroke="0" extrusionOk="0">
                <a:moveTo>
                  <a:pt x="-1" y="17566"/>
                </a:moveTo>
                <a:cubicBezTo>
                  <a:pt x="1936" y="7375"/>
                  <a:pt x="10845" y="-1"/>
                  <a:pt x="21220" y="0"/>
                </a:cubicBezTo>
                <a:cubicBezTo>
                  <a:pt x="33149" y="0"/>
                  <a:pt x="42820" y="9670"/>
                  <a:pt x="42820" y="21600"/>
                </a:cubicBezTo>
                <a:cubicBezTo>
                  <a:pt x="42820" y="33529"/>
                  <a:pt x="33149" y="43200"/>
                  <a:pt x="21220" y="43200"/>
                </a:cubicBezTo>
                <a:cubicBezTo>
                  <a:pt x="10943" y="43200"/>
                  <a:pt x="2089" y="35959"/>
                  <a:pt x="49" y="25887"/>
                </a:cubicBezTo>
                <a:lnTo>
                  <a:pt x="21220" y="21600"/>
                </a:lnTo>
                <a:lnTo>
                  <a:pt x="-1" y="17566"/>
                </a:lnTo>
                <a:close/>
              </a:path>
            </a:pathLst>
          </a:custGeom>
          <a:noFill/>
          <a:ln w="28575">
            <a:solidFill>
              <a:srgbClr val="00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5" name="Arc 21">
            <a:extLst>
              <a:ext uri="{FF2B5EF4-FFF2-40B4-BE49-F238E27FC236}">
                <a16:creationId xmlns:a16="http://schemas.microsoft.com/office/drawing/2014/main" id="{684512E8-CBD0-4C4A-B190-C30BD555674B}"/>
              </a:ext>
            </a:extLst>
          </p:cNvPr>
          <p:cNvSpPr>
            <a:spLocks/>
          </p:cNvSpPr>
          <p:nvPr/>
        </p:nvSpPr>
        <p:spPr bwMode="auto">
          <a:xfrm flipH="1" flipV="1">
            <a:off x="4343400" y="4143375"/>
            <a:ext cx="2895600" cy="1495425"/>
          </a:xfrm>
          <a:custGeom>
            <a:avLst/>
            <a:gdLst>
              <a:gd name="T0" fmla="*/ 2147483647 w 42677"/>
              <a:gd name="T1" fmla="*/ 2147483647 h 21600"/>
              <a:gd name="T2" fmla="*/ 0 w 42677"/>
              <a:gd name="T3" fmla="*/ 2147483647 h 21600"/>
              <a:gd name="T4" fmla="*/ 2147483647 w 42677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677" h="21600" fill="none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</a:path>
              <a:path w="42677" h="21600" stroke="0" extrusionOk="0">
                <a:moveTo>
                  <a:pt x="42677" y="3849"/>
                </a:moveTo>
                <a:cubicBezTo>
                  <a:pt x="40816" y="14126"/>
                  <a:pt x="31867" y="21599"/>
                  <a:pt x="21423" y="21600"/>
                </a:cubicBezTo>
                <a:cubicBezTo>
                  <a:pt x="10561" y="21600"/>
                  <a:pt x="1389" y="13534"/>
                  <a:pt x="0" y="2761"/>
                </a:cubicBezTo>
                <a:lnTo>
                  <a:pt x="21423" y="0"/>
                </a:lnTo>
                <a:lnTo>
                  <a:pt x="42677" y="3849"/>
                </a:lnTo>
                <a:close/>
              </a:path>
            </a:pathLst>
          </a:custGeom>
          <a:noFill/>
          <a:ln w="38100">
            <a:solidFill>
              <a:srgbClr val="00CC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6" name="Oval 22">
            <a:extLst>
              <a:ext uri="{FF2B5EF4-FFF2-40B4-BE49-F238E27FC236}">
                <a16:creationId xmlns:a16="http://schemas.microsoft.com/office/drawing/2014/main" id="{81C4FBF9-C023-6642-BE9B-3C0F83962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410200"/>
            <a:ext cx="257175" cy="2667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4167" name="Text Box 23">
            <a:extLst>
              <a:ext uri="{FF2B5EF4-FFF2-40B4-BE49-F238E27FC236}">
                <a16:creationId xmlns:a16="http://schemas.microsoft.com/office/drawing/2014/main" id="{3FFCBEF6-1F5E-634E-A21B-BF2C3786A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8768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00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68" name="Text Box 24">
            <a:extLst>
              <a:ext uri="{FF2B5EF4-FFF2-40B4-BE49-F238E27FC236}">
                <a16:creationId xmlns:a16="http://schemas.microsoft.com/office/drawing/2014/main" id="{D85A0D26-DCCF-0D4D-81EC-D965E1D27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1054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01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69" name="Text Box 25">
            <a:extLst>
              <a:ext uri="{FF2B5EF4-FFF2-40B4-BE49-F238E27FC236}">
                <a16:creationId xmlns:a16="http://schemas.microsoft.com/office/drawing/2014/main" id="{435721D6-7CB6-3C4A-A3A2-B699D038F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6576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20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70" name="Text Box 26">
            <a:extLst>
              <a:ext uri="{FF2B5EF4-FFF2-40B4-BE49-F238E27FC236}">
                <a16:creationId xmlns:a16="http://schemas.microsoft.com/office/drawing/2014/main" id="{3214C92B-94EE-544C-B6D9-A8CE45F09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7244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22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71" name="Text Box 27">
            <a:extLst>
              <a:ext uri="{FF2B5EF4-FFF2-40B4-BE49-F238E27FC236}">
                <a16:creationId xmlns:a16="http://schemas.microsoft.com/office/drawing/2014/main" id="{3FF9ECBE-DE03-C24F-8455-06B189E4F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105400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12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4172" name="Text Box 28">
            <a:extLst>
              <a:ext uri="{FF2B5EF4-FFF2-40B4-BE49-F238E27FC236}">
                <a16:creationId xmlns:a16="http://schemas.microsoft.com/office/drawing/2014/main" id="{77F0DB01-A0F3-A84B-B924-2C1D2FC18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943600"/>
            <a:ext cx="623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e’</a:t>
            </a:r>
            <a:r>
              <a:rPr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01</a:t>
            </a:r>
          </a:p>
        </p:txBody>
      </p:sp>
      <p:sp>
        <p:nvSpPr>
          <p:cNvPr id="134175" name="Rectangle 31">
            <a:extLst>
              <a:ext uri="{FF2B5EF4-FFF2-40B4-BE49-F238E27FC236}">
                <a16:creationId xmlns:a16="http://schemas.microsoft.com/office/drawing/2014/main" id="{D5394AB8-4F8E-4549-93A9-F08C05801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944" y="287121"/>
            <a:ext cx="50292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>
                <a:schemeClr val="tx2"/>
              </a:buClr>
              <a:buFont typeface="Wingding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</a:rPr>
              <a:t>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  <a:p>
            <a:pPr algn="just" eaLnBrk="0" hangingPunct="0"/>
            <a:r>
              <a:rPr lang="en-US" altLang="zh-CN" sz="2800" dirty="0">
                <a:latin typeface="Times New Roman" panose="02020603050405020304" pitchFamily="18" charset="0"/>
              </a:rPr>
              <a:t>(e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  <a:p>
            <a:pPr algn="just" eaLnBrk="0" hangingPunct="0"/>
            <a:r>
              <a:rPr lang="en-US" altLang="zh-CN" sz="2800" dirty="0">
                <a:latin typeface="Times New Roman" panose="02020603050405020304" pitchFamily="18" charset="0"/>
              </a:rPr>
              <a:t>(e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  <a:p>
            <a:pPr algn="just" eaLnBrk="0" hangingPunct="0"/>
            <a:r>
              <a:rPr lang="en-US" altLang="zh-CN" sz="2800" dirty="0">
                <a:latin typeface="Times New Roman" panose="02020603050405020304" pitchFamily="18" charset="0"/>
              </a:rPr>
              <a:t>(e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  <a:p>
            <a:pPr algn="just" eaLnBrk="0" hangingPunct="0"/>
            <a:r>
              <a:rPr lang="en-US" altLang="zh-CN" sz="2800" dirty="0">
                <a:latin typeface="Times New Roman" panose="02020603050405020304" pitchFamily="18" charset="0"/>
              </a:rPr>
              <a:t>(e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  <a:p>
            <a:pPr algn="just" eaLnBrk="0" hangingPunct="0"/>
            <a:r>
              <a:rPr lang="en-US" altLang="zh-CN" sz="2800" dirty="0">
                <a:latin typeface="Times New Roman" panose="02020603050405020304" pitchFamily="18" charset="0"/>
              </a:rPr>
              <a:t>(e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  <a:p>
            <a:pPr algn="just" eaLnBrk="0" hangingPunct="0"/>
            <a:r>
              <a:rPr lang="en-US" altLang="zh-CN" sz="2800" dirty="0">
                <a:latin typeface="Times New Roman" panose="02020603050405020304" pitchFamily="18" charset="0"/>
              </a:rPr>
              <a:t>(e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  <a:p>
            <a:pPr algn="l" eaLnBrk="0" hangingPunct="0"/>
            <a:r>
              <a:rPr lang="en-US" altLang="zh-CN" sz="2800" dirty="0">
                <a:latin typeface="Times New Roman" panose="02020603050405020304" pitchFamily="18" charset="0"/>
              </a:rPr>
              <a:t>(e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sz="2800" dirty="0">
                <a:latin typeface="Times New Roman" panose="02020603050405020304" pitchFamily="18" charset="0"/>
              </a:rPr>
              <a:t>’,e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00</a:t>
            </a:r>
            <a:r>
              <a:rPr lang="en-US" altLang="zh-CN" sz="2800" dirty="0">
                <a:latin typeface="Times New Roman" panose="02020603050405020304" pitchFamily="18" charset="0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34178" name="Rectangle 34">
            <a:extLst>
              <a:ext uri="{FF2B5EF4-FFF2-40B4-BE49-F238E27FC236}">
                <a16:creationId xmlns:a16="http://schemas.microsoft.com/office/drawing/2014/main" id="{743B0C95-E22F-0A4E-9A08-49E9E0921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914400"/>
            <a:ext cx="38862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3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有向图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G，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命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G’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中由顶点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01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,e</a:t>
            </a:r>
            <a:r>
              <a:rPr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21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组成的有向支撑树(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r=v</a:t>
            </a:r>
            <a:r>
              <a:rPr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)。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从弧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出发，可按定理4.3.4的形成规则得出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路。</a:t>
            </a:r>
          </a:p>
        </p:txBody>
      </p:sp>
      <p:sp>
        <p:nvSpPr>
          <p:cNvPr id="134179" name="Text Box 35">
            <a:extLst>
              <a:ext uri="{FF2B5EF4-FFF2-40B4-BE49-F238E27FC236}">
                <a16:creationId xmlns:a16="http://schemas.microsoft.com/office/drawing/2014/main" id="{287A0BA9-BE36-CA4D-9808-4A8050705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096000"/>
            <a:ext cx="1208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lang="zh-CN" altLang="en-US" sz="1600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hlinkClick r:id="rId3" action="ppaction://hlinksldjump"/>
              </a:rPr>
              <a:t>七座桥问题</a:t>
            </a:r>
            <a:endParaRPr lang="zh-CN" altLang="en-US" sz="1600" b="1"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3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13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13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3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3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13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13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13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3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4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4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4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4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4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4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341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41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6" grpId="0"/>
      <p:bldP spid="134157" grpId="0"/>
      <p:bldP spid="134158" grpId="0"/>
      <p:bldP spid="134159" grpId="0"/>
      <p:bldP spid="134160" grpId="0"/>
      <p:bldP spid="134161" grpId="0"/>
      <p:bldP spid="134162" grpId="0" animBg="1"/>
      <p:bldP spid="134163" grpId="0" animBg="1"/>
      <p:bldP spid="134166" grpId="0" animBg="1"/>
      <p:bldP spid="134167" grpId="0"/>
      <p:bldP spid="134168" grpId="0"/>
      <p:bldP spid="134169" grpId="0"/>
      <p:bldP spid="134170" grpId="0"/>
      <p:bldP spid="134171" grpId="0"/>
      <p:bldP spid="134172" grpId="0"/>
      <p:bldP spid="134175" grpId="0" uiExpand="1" build="p" autoUpdateAnimBg="0"/>
      <p:bldP spid="13417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3">
            <a:extLst>
              <a:ext uri="{FF2B5EF4-FFF2-40B4-BE49-F238E27FC236}">
                <a16:creationId xmlns:a16="http://schemas.microsoft.com/office/drawing/2014/main" id="{142DC73F-2991-DC4F-A88F-C48A07268A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BC8B6E-A656-844F-9E02-D761BFA2615D}" type="slidenum">
              <a:rPr kumimoji="0" lang="zh-CN" altLang="en-US" sz="1200"/>
              <a:pPr/>
              <a:t>40</a:t>
            </a:fld>
            <a:endParaRPr kumimoji="0" lang="en-US" altLang="zh-CN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1D7A2-A57E-A14B-87DB-6CCCB9ED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</a:rPr>
              <a:t>思考题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7B7D854E-C758-F940-BB69-F0D34085CC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1600200"/>
            <a:ext cx="6400800" cy="3475038"/>
          </a:xfrm>
        </p:spPr>
        <p:txBody>
          <a:bodyPr/>
          <a:lstStyle/>
          <a:p>
            <a:r>
              <a:rPr kumimoji="0" lang="en-US" altLang="zh-CN" sz="3600">
                <a:latin typeface="Arial" panose="020B0604020202020204" pitchFamily="34" charset="0"/>
                <a:ea typeface="楷体_GB2312" pitchFamily="49" charset="-122"/>
              </a:rPr>
              <a:t>P115-3</a:t>
            </a:r>
            <a:endParaRPr kumimoji="0" lang="zh-CN" altLang="en-US" sz="360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03101F-9696-B349-8929-B1822FBDC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869"/>
            <a:ext cx="9144000" cy="4994531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5">
            <a:extLst>
              <a:ext uri="{FF2B5EF4-FFF2-40B4-BE49-F238E27FC236}">
                <a16:creationId xmlns:a16="http://schemas.microsoft.com/office/drawing/2014/main" id="{C8D347F9-9CCA-AE4D-B234-87B9B06B24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FC8473-18FF-D945-853E-C984CF888AC3}" type="slidenum">
              <a:rPr kumimoji="0" lang="zh-CN" altLang="en-US" sz="1200"/>
              <a:pPr/>
              <a:t>41</a:t>
            </a:fld>
            <a:endParaRPr kumimoji="0" lang="en-US" altLang="zh-CN" sz="1200"/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F3163FBD-03B0-F949-90C1-C8D2166F8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4400" dirty="0">
                <a:latin typeface="Times New Roman" charset="0"/>
                <a:ea typeface="楷体_GB2312" charset="0"/>
              </a:rPr>
              <a:t>§4.3.3无向图 无向图中的</a:t>
            </a:r>
            <a:r>
              <a:rPr lang="en-US" altLang="zh-CN" sz="4400" dirty="0">
                <a:latin typeface="Times New Roman" charset="0"/>
                <a:ea typeface="楷体_GB2312" charset="0"/>
              </a:rPr>
              <a:t>Euler</a:t>
            </a:r>
            <a:r>
              <a:rPr lang="zh-CN" altLang="en-US" sz="4400" dirty="0">
                <a:latin typeface="Times New Roman" charset="0"/>
                <a:ea typeface="楷体_GB2312" charset="0"/>
              </a:rPr>
              <a:t>路 </a:t>
            </a:r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B0A3586C-3652-2F4F-B680-9578F30C556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763000" cy="5105400"/>
          </a:xfrm>
        </p:spPr>
        <p:txBody>
          <a:bodyPr/>
          <a:lstStyle/>
          <a:p>
            <a:pPr marL="363538" indent="-363538" algn="just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定义4.3.11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容许有平行边和反身边的图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G=(P, L)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无向图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为(节)点集，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称为线集（包括平行边和反身边）。</a:t>
            </a:r>
          </a:p>
        </p:txBody>
      </p:sp>
      <p:grpSp>
        <p:nvGrpSpPr>
          <p:cNvPr id="56324" name="Group 18">
            <a:extLst>
              <a:ext uri="{FF2B5EF4-FFF2-40B4-BE49-F238E27FC236}">
                <a16:creationId xmlns:a16="http://schemas.microsoft.com/office/drawing/2014/main" id="{D7F06271-A195-6149-B57D-17C4D4284360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048000"/>
            <a:ext cx="4419600" cy="2895600"/>
            <a:chOff x="1200" y="1920"/>
            <a:chExt cx="2784" cy="1824"/>
          </a:xfrm>
        </p:grpSpPr>
        <p:sp>
          <p:nvSpPr>
            <p:cNvPr id="56325" name="Arc 4">
              <a:extLst>
                <a:ext uri="{FF2B5EF4-FFF2-40B4-BE49-F238E27FC236}">
                  <a16:creationId xmlns:a16="http://schemas.microsoft.com/office/drawing/2014/main" id="{FEBF3472-41AE-B545-AD54-CD48A6F0806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00" y="2252"/>
              <a:ext cx="816" cy="1444"/>
            </a:xfrm>
            <a:custGeom>
              <a:avLst/>
              <a:gdLst>
                <a:gd name="T0" fmla="*/ 0 w 21600"/>
                <a:gd name="T1" fmla="*/ 0 h 41711"/>
                <a:gd name="T2" fmla="*/ 0 w 21600"/>
                <a:gd name="T3" fmla="*/ 0 h 41711"/>
                <a:gd name="T4" fmla="*/ 0 w 21600"/>
                <a:gd name="T5" fmla="*/ 0 h 417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1711" fill="none" extrusionOk="0">
                  <a:moveTo>
                    <a:pt x="7282" y="-1"/>
                  </a:moveTo>
                  <a:cubicBezTo>
                    <a:pt x="15869" y="3074"/>
                    <a:pt x="21600" y="11213"/>
                    <a:pt x="21600" y="20335"/>
                  </a:cubicBezTo>
                  <a:cubicBezTo>
                    <a:pt x="21600" y="31065"/>
                    <a:pt x="13722" y="40169"/>
                    <a:pt x="3102" y="41710"/>
                  </a:cubicBezTo>
                </a:path>
                <a:path w="21600" h="41711" stroke="0" extrusionOk="0">
                  <a:moveTo>
                    <a:pt x="7282" y="-1"/>
                  </a:moveTo>
                  <a:cubicBezTo>
                    <a:pt x="15869" y="3074"/>
                    <a:pt x="21600" y="11213"/>
                    <a:pt x="21600" y="20335"/>
                  </a:cubicBezTo>
                  <a:cubicBezTo>
                    <a:pt x="21600" y="31065"/>
                    <a:pt x="13722" y="40169"/>
                    <a:pt x="3102" y="41710"/>
                  </a:cubicBezTo>
                  <a:lnTo>
                    <a:pt x="0" y="20335"/>
                  </a:lnTo>
                  <a:lnTo>
                    <a:pt x="7282" y="-1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9" name="Oval 5">
              <a:extLst>
                <a:ext uri="{FF2B5EF4-FFF2-40B4-BE49-F238E27FC236}">
                  <a16:creationId xmlns:a16="http://schemas.microsoft.com/office/drawing/2014/main" id="{68AB4305-0F87-1E46-9677-FB44300DA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920"/>
              <a:ext cx="720" cy="720"/>
            </a:xfrm>
            <a:prstGeom prst="ellips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chemeClr val="folHlink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  <p:sp>
          <p:nvSpPr>
            <p:cNvPr id="44040" name="Line 7">
              <a:extLst>
                <a:ext uri="{FF2B5EF4-FFF2-40B4-BE49-F238E27FC236}">
                  <a16:creationId xmlns:a16="http://schemas.microsoft.com/office/drawing/2014/main" id="{B1019015-AAF9-E144-A014-E260D19AF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256"/>
              <a:ext cx="144" cy="139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4041" name="Line 8">
              <a:extLst>
                <a:ext uri="{FF2B5EF4-FFF2-40B4-BE49-F238E27FC236}">
                  <a16:creationId xmlns:a16="http://schemas.microsoft.com/office/drawing/2014/main" id="{EA716643-44DF-6B48-8F64-1F18B9537E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3696"/>
              <a:ext cx="1728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4042" name="Line 9">
              <a:extLst>
                <a:ext uri="{FF2B5EF4-FFF2-40B4-BE49-F238E27FC236}">
                  <a16:creationId xmlns:a16="http://schemas.microsoft.com/office/drawing/2014/main" id="{7DE7ADD8-9305-3A4F-A85E-B0E760675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256"/>
              <a:ext cx="1776" cy="139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4043" name="Line 10">
              <a:extLst>
                <a:ext uri="{FF2B5EF4-FFF2-40B4-BE49-F238E27FC236}">
                  <a16:creationId xmlns:a16="http://schemas.microsoft.com/office/drawing/2014/main" id="{EA18061F-EC45-EC4C-9B4C-F870E6101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304"/>
              <a:ext cx="1344" cy="134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4044" name="Oval 11">
              <a:extLst>
                <a:ext uri="{FF2B5EF4-FFF2-40B4-BE49-F238E27FC236}">
                  <a16:creationId xmlns:a16="http://schemas.microsoft.com/office/drawing/2014/main" id="{8C6ACD67-B1E8-B64C-9D51-1F6406566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16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4045" name="Oval 15">
              <a:extLst>
                <a:ext uri="{FF2B5EF4-FFF2-40B4-BE49-F238E27FC236}">
                  <a16:creationId xmlns:a16="http://schemas.microsoft.com/office/drawing/2014/main" id="{45091BDF-A6DE-6945-B84D-64BF447BD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591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4046" name="Oval 16">
              <a:extLst>
                <a:ext uri="{FF2B5EF4-FFF2-40B4-BE49-F238E27FC236}">
                  <a16:creationId xmlns:a16="http://schemas.microsoft.com/office/drawing/2014/main" id="{9F8C3C6E-2F57-404E-B7CD-2C4B79AB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217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4047" name="Oval 17">
              <a:extLst>
                <a:ext uri="{FF2B5EF4-FFF2-40B4-BE49-F238E27FC236}">
                  <a16:creationId xmlns:a16="http://schemas.microsoft.com/office/drawing/2014/main" id="{05354706-90DF-D445-A2ED-67A9A3177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60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>
            <a:extLst>
              <a:ext uri="{FF2B5EF4-FFF2-40B4-BE49-F238E27FC236}">
                <a16:creationId xmlns:a16="http://schemas.microsoft.com/office/drawing/2014/main" id="{019E669C-7B1A-6F42-9EC0-857AD0692A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A8BA28-4D3E-F74C-B472-C6D2D2C9BC58}" type="slidenum">
              <a:rPr kumimoji="0" lang="zh-CN" altLang="en-US" sz="1200"/>
              <a:pPr/>
              <a:t>42</a:t>
            </a:fld>
            <a:endParaRPr kumimoji="0" lang="en-US" altLang="zh-CN" sz="1200"/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B7DC76FC-6FBD-B844-86F1-8B70D063B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定义4.3.12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5069C672-6752-F64B-B759-1D1B38D1663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425575"/>
            <a:ext cx="8839200" cy="4594225"/>
          </a:xfrm>
        </p:spPr>
        <p:txBody>
          <a:bodyPr>
            <a:spAutoFit/>
          </a:bodyPr>
          <a:lstStyle/>
          <a:p>
            <a:pPr marL="363538" indent="-363538">
              <a:spcBef>
                <a:spcPct val="0"/>
              </a:spcBef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G=(P, L)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为无向图，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如果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W(G-{l})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W(G)，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则称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断线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63538" indent="-363538">
              <a:spcBef>
                <a:spcPct val="0"/>
              </a:spcBef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对于断线，下述结论是明显的。</a:t>
            </a:r>
          </a:p>
          <a:p>
            <a:pPr marL="363538" indent="-363538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(1) 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的断线的充要条件是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不在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的回路上。</a:t>
            </a:r>
          </a:p>
          <a:p>
            <a:pPr marL="363538" indent="-363538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(2) 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P=S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∪S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，S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∩S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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T={l | l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G, x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y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 x, y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的端点}仅有一个元素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的断线。</a:t>
            </a:r>
          </a:p>
          <a:p>
            <a:pPr marL="363538" indent="-363538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(3) 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=(S, L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是无向图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G=(P, L)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的子图，若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的断线，且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的断线。</a:t>
            </a:r>
          </a:p>
          <a:p>
            <a:pPr marL="363538" indent="-363538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(4) 若有限无向图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的的每点的度都是偶数，则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中无断线。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C2DA9E1D-A6F9-AE4D-8D65-C017EABAC5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C7B9BF-B02F-A14D-BA4E-3ADC13F50205}" type="slidenum">
              <a:rPr kumimoji="0" lang="zh-CN" altLang="en-US" sz="1200"/>
              <a:pPr/>
              <a:t>43</a:t>
            </a:fld>
            <a:endParaRPr kumimoji="0" lang="en-US" altLang="zh-CN" sz="1200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EA4876B0-D929-9948-A846-70F869E04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定义4.3.12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95658EA2-C981-FC48-AF33-62123952475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530350"/>
            <a:ext cx="8686800" cy="4032250"/>
          </a:xfrm>
        </p:spPr>
        <p:txBody>
          <a:bodyPr>
            <a:spAutoFit/>
          </a:bodyPr>
          <a:lstStyle/>
          <a:p>
            <a:pPr marL="363538" indent="-363538">
              <a:spcBef>
                <a:spcPct val="0"/>
              </a:spcBef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在无向图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中讨论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路问题，是考虑能否对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中的线加上适当的方向，使之构成的有向图为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图。即若无向图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中存在无重复线的路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L=(l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满足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中所有线都在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中，且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的起点与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的终点相同，则称无向图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图。反之，若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L=(l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是无向图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路，则沿着路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的走向对各线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加方向，得到有向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5">
            <a:extLst>
              <a:ext uri="{FF2B5EF4-FFF2-40B4-BE49-F238E27FC236}">
                <a16:creationId xmlns:a16="http://schemas.microsoft.com/office/drawing/2014/main" id="{857D22E9-BDE0-474C-9B5D-6EC221A4F7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64B203-8B3F-F24F-8604-3C6BD64B5F89}" type="slidenum">
              <a:rPr kumimoji="0" lang="zh-CN" altLang="en-US" sz="1200"/>
              <a:pPr/>
              <a:t>44</a:t>
            </a:fld>
            <a:endParaRPr kumimoji="0" lang="en-US" altLang="zh-CN" sz="1200"/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4AC28214-3150-7B49-BC3F-12A370062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定理4.3.5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BA24474D-DEA7-4241-BBC5-0B5076E1047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686800" cy="2100263"/>
          </a:xfrm>
        </p:spPr>
        <p:txBody>
          <a:bodyPr>
            <a:spAutoFit/>
          </a:bodyPr>
          <a:lstStyle/>
          <a:p>
            <a:pPr marL="363538" indent="-363538">
              <a:spcBef>
                <a:spcPct val="0"/>
              </a:spcBef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有限无向图。则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路当且仅当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中每点的度是偶数，并且漠视为图后是连通的。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3538" indent="-363538" algn="just">
              <a:spcBef>
                <a:spcPct val="0"/>
              </a:spcBef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仿照定理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4.3.2 及其推论可证得。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8DABAB56-71D4-A840-9B55-B63A5741BD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FD2686-FB32-5348-8316-728075C56F63}" type="slidenum">
              <a:rPr kumimoji="0" lang="zh-CN" altLang="en-US" sz="1200"/>
              <a:pPr/>
              <a:t>45</a:t>
            </a:fld>
            <a:endParaRPr kumimoji="0" lang="en-US" altLang="zh-CN" sz="12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DA78BC08-4865-F942-85D5-6EA9D054D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Times New Roman" charset="0"/>
                <a:ea typeface="楷体_GB2312" charset="0"/>
              </a:rPr>
              <a:t>Konigsberg</a:t>
            </a:r>
            <a:r>
              <a:rPr lang="zh-CN" altLang="en-US" dirty="0">
                <a:latin typeface="宋体" charset="0"/>
                <a:ea typeface="楷体_GB2312" charset="0"/>
              </a:rPr>
              <a:t>城七桥问题</a:t>
            </a:r>
          </a:p>
        </p:txBody>
      </p:sp>
      <p:graphicFrame>
        <p:nvGraphicFramePr>
          <p:cNvPr id="67589" name="Object 5">
            <a:extLst>
              <a:ext uri="{FF2B5EF4-FFF2-40B4-BE49-F238E27FC236}">
                <a16:creationId xmlns:a16="http://schemas.microsoft.com/office/drawing/2014/main" id="{1FEF94BD-A78F-394B-A518-BDC0F0CC44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2057400"/>
          <a:ext cx="42672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52900" imgH="1892300" progId="Visio.Drawing.6">
                  <p:embed/>
                </p:oleObj>
              </mc:Choice>
              <mc:Fallback>
                <p:oleObj r:id="rId3" imgW="4152900" imgH="18923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57400"/>
                        <a:ext cx="42672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590" name="Group 6">
            <a:extLst>
              <a:ext uri="{FF2B5EF4-FFF2-40B4-BE49-F238E27FC236}">
                <a16:creationId xmlns:a16="http://schemas.microsoft.com/office/drawing/2014/main" id="{28915AF2-4F32-E447-8538-45AD552D559E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2057400"/>
            <a:ext cx="2814638" cy="3395663"/>
            <a:chOff x="3693" y="1413"/>
            <a:chExt cx="1773" cy="2139"/>
          </a:xfrm>
        </p:grpSpPr>
        <p:sp>
          <p:nvSpPr>
            <p:cNvPr id="48134" name="Line 7">
              <a:extLst>
                <a:ext uri="{FF2B5EF4-FFF2-40B4-BE49-F238E27FC236}">
                  <a16:creationId xmlns:a16="http://schemas.microsoft.com/office/drawing/2014/main" id="{1C58444A-83D0-A34F-BD3A-501652087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1767"/>
              <a:ext cx="1056" cy="72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8135" name="Line 8">
              <a:extLst>
                <a:ext uri="{FF2B5EF4-FFF2-40B4-BE49-F238E27FC236}">
                  <a16:creationId xmlns:a16="http://schemas.microsoft.com/office/drawing/2014/main" id="{2550D606-828A-EC42-96B8-AEA6BB337F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0" y="2553"/>
              <a:ext cx="1056" cy="72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8136" name="Line 9">
              <a:extLst>
                <a:ext uri="{FF2B5EF4-FFF2-40B4-BE49-F238E27FC236}">
                  <a16:creationId xmlns:a16="http://schemas.microsoft.com/office/drawing/2014/main" id="{B6175AAC-80CB-834E-9159-2988AE733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514"/>
              <a:ext cx="1047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8137" name="Line 10">
              <a:extLst>
                <a:ext uri="{FF2B5EF4-FFF2-40B4-BE49-F238E27FC236}">
                  <a16:creationId xmlns:a16="http://schemas.microsoft.com/office/drawing/2014/main" id="{7D753E7C-1D0B-C44E-A27A-AE7F21D30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764"/>
              <a:ext cx="0" cy="154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61450" name="Arc 11">
              <a:extLst>
                <a:ext uri="{FF2B5EF4-FFF2-40B4-BE49-F238E27FC236}">
                  <a16:creationId xmlns:a16="http://schemas.microsoft.com/office/drawing/2014/main" id="{D991AB6A-F247-844A-B43D-280A5019DAC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10" y="1775"/>
              <a:ext cx="192" cy="721"/>
            </a:xfrm>
            <a:custGeom>
              <a:avLst/>
              <a:gdLst>
                <a:gd name="T0" fmla="*/ 0 w 21600"/>
                <a:gd name="T1" fmla="*/ 0 h 43196"/>
                <a:gd name="T2" fmla="*/ 0 w 21600"/>
                <a:gd name="T3" fmla="*/ 0 h 43196"/>
                <a:gd name="T4" fmla="*/ 0 w 21600"/>
                <a:gd name="T5" fmla="*/ 0 h 431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70"/>
                    <a:pt x="12176" y="42973"/>
                    <a:pt x="408" y="43196"/>
                  </a:cubicBezTo>
                </a:path>
                <a:path w="21600" h="431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70"/>
                    <a:pt x="12176" y="42973"/>
                    <a:pt x="408" y="4319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1" name="Arc 12">
              <a:extLst>
                <a:ext uri="{FF2B5EF4-FFF2-40B4-BE49-F238E27FC236}">
                  <a16:creationId xmlns:a16="http://schemas.microsoft.com/office/drawing/2014/main" id="{299FA1DA-A97E-FF4E-97F1-8D8A3980C9C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19" y="2543"/>
              <a:ext cx="192" cy="721"/>
            </a:xfrm>
            <a:custGeom>
              <a:avLst/>
              <a:gdLst>
                <a:gd name="T0" fmla="*/ 0 w 21600"/>
                <a:gd name="T1" fmla="*/ 0 h 43196"/>
                <a:gd name="T2" fmla="*/ 0 w 21600"/>
                <a:gd name="T3" fmla="*/ 0 h 43196"/>
                <a:gd name="T4" fmla="*/ 0 w 21600"/>
                <a:gd name="T5" fmla="*/ 0 h 431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70"/>
                    <a:pt x="12176" y="42973"/>
                    <a:pt x="408" y="43196"/>
                  </a:cubicBezTo>
                </a:path>
                <a:path w="21600" h="431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370"/>
                    <a:pt x="12176" y="42973"/>
                    <a:pt x="408" y="4319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0" name="Oval 13">
              <a:extLst>
                <a:ext uri="{FF2B5EF4-FFF2-40B4-BE49-F238E27FC236}">
                  <a16:creationId xmlns:a16="http://schemas.microsoft.com/office/drawing/2014/main" id="{3AAC4C5E-6577-534C-8EE0-0EED12311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680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8141" name="Oval 14">
              <a:extLst>
                <a:ext uri="{FF2B5EF4-FFF2-40B4-BE49-F238E27FC236}">
                  <a16:creationId xmlns:a16="http://schemas.microsoft.com/office/drawing/2014/main" id="{133BC313-19BF-5340-8138-59253B39E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445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8142" name="Oval 15">
              <a:extLst>
                <a:ext uri="{FF2B5EF4-FFF2-40B4-BE49-F238E27FC236}">
                  <a16:creationId xmlns:a16="http://schemas.microsoft.com/office/drawing/2014/main" id="{A7DD5180-0DE3-F44A-AE6F-617D0AF44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21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8143" name="Oval 16">
              <a:extLst>
                <a:ext uri="{FF2B5EF4-FFF2-40B4-BE49-F238E27FC236}">
                  <a16:creationId xmlns:a16="http://schemas.microsoft.com/office/drawing/2014/main" id="{74A4B645-2F1C-2241-9087-528D08A80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445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67601" name="Text Box 17">
              <a:extLst>
                <a:ext uri="{FF2B5EF4-FFF2-40B4-BE49-F238E27FC236}">
                  <a16:creationId xmlns:a16="http://schemas.microsoft.com/office/drawing/2014/main" id="{FBD6EBD7-1939-9849-AAE8-7D9BCBCCD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3" y="2361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7602" name="Text Box 18">
              <a:extLst>
                <a:ext uri="{FF2B5EF4-FFF2-40B4-BE49-F238E27FC236}">
                  <a16:creationId xmlns:a16="http://schemas.microsoft.com/office/drawing/2014/main" id="{1A39C4FF-354C-9C48-AFFF-AC76CD3FF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26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7603" name="Text Box 19">
              <a:extLst>
                <a:ext uri="{FF2B5EF4-FFF2-40B4-BE49-F238E27FC236}">
                  <a16:creationId xmlns:a16="http://schemas.microsoft.com/office/drawing/2014/main" id="{941324E9-9DBD-B644-8F48-D822A37BD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41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7604" name="Text Box 20">
              <a:extLst>
                <a:ext uri="{FF2B5EF4-FFF2-40B4-BE49-F238E27FC236}">
                  <a16:creationId xmlns:a16="http://schemas.microsoft.com/office/drawing/2014/main" id="{54A6C139-38CA-3141-A733-0F8485E85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1" y="235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5">
            <a:extLst>
              <a:ext uri="{FF2B5EF4-FFF2-40B4-BE49-F238E27FC236}">
                <a16:creationId xmlns:a16="http://schemas.microsoft.com/office/drawing/2014/main" id="{6271BDFA-1B99-3E47-88AB-957FD5F046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B5C76C-367E-734B-A20E-A4745AFA757D}" type="slidenum">
              <a:rPr kumimoji="0" lang="zh-CN" altLang="en-US" sz="1200"/>
              <a:pPr/>
              <a:t>46</a:t>
            </a:fld>
            <a:endParaRPr kumimoji="0" lang="en-US" altLang="zh-CN" sz="1200"/>
          </a:p>
        </p:txBody>
      </p:sp>
      <p:sp>
        <p:nvSpPr>
          <p:cNvPr id="144386" name="Rectangle 2">
            <a:extLst>
              <a:ext uri="{FF2B5EF4-FFF2-40B4-BE49-F238E27FC236}">
                <a16:creationId xmlns:a16="http://schemas.microsoft.com/office/drawing/2014/main" id="{D316EE27-7E61-754C-9115-FA4F3E13F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推论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00D441C-3CF4-7549-BB27-0DAF54C8C57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58900"/>
            <a:ext cx="8915400" cy="5094288"/>
          </a:xfrm>
        </p:spPr>
        <p:txBody>
          <a:bodyPr>
            <a:spAutoFit/>
          </a:bodyPr>
          <a:lstStyle/>
          <a:p>
            <a:pPr marL="363538" indent="-363538">
              <a:spcBef>
                <a:spcPct val="0"/>
              </a:spcBef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漠视图为连通图的无向图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有一条点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v(u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的路经过所有线恰好一次，当且仅当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中仅有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的度数为奇数。</a:t>
            </a:r>
          </a:p>
          <a:p>
            <a:pPr marL="363538" indent="-363538">
              <a:spcBef>
                <a:spcPct val="0"/>
              </a:spcBef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证明：充分性；</a:t>
            </a:r>
          </a:p>
          <a:p>
            <a:pPr marL="363538" indent="-363538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之间再加一线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uv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连接起来，得到无向图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中每点的度是偶数，并且漠视为图后是连通的。于是由定理4.3.5知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图。从而有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L=(l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线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uv(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vu)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为某个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删除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即得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到点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路经过所有线恰好一次的路。</a:t>
            </a:r>
          </a:p>
        </p:txBody>
      </p:sp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5">
            <a:extLst>
              <a:ext uri="{FF2B5EF4-FFF2-40B4-BE49-F238E27FC236}">
                <a16:creationId xmlns:a16="http://schemas.microsoft.com/office/drawing/2014/main" id="{EB32B18C-9BA6-1542-8E15-C0B24BBF1A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395220-2AF1-9141-84A6-ADC06DE3EA10}" type="slidenum">
              <a:rPr kumimoji="0" lang="zh-CN" altLang="en-US" sz="1200"/>
              <a:pPr/>
              <a:t>47</a:t>
            </a:fld>
            <a:endParaRPr kumimoji="0" lang="en-US" altLang="zh-CN" sz="1200"/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7246918F-8447-6340-86C4-555EF4545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推论</a:t>
            </a:r>
          </a:p>
        </p:txBody>
      </p:sp>
      <p:sp>
        <p:nvSpPr>
          <p:cNvPr id="64515" name="矩形 2">
            <a:extLst>
              <a:ext uri="{FF2B5EF4-FFF2-40B4-BE49-F238E27FC236}">
                <a16:creationId xmlns:a16="http://schemas.microsoft.com/office/drawing/2014/main" id="{27D9818E-4363-7541-8E00-F5AD1D29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08100"/>
            <a:ext cx="86868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必要性；</a:t>
            </a:r>
          </a:p>
          <a:p>
            <a:pPr algn="just"/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因为从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v(u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v)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有一条经过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中所有线恰好一次的路，不妨设该路为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L=(l</a:t>
            </a:r>
            <a:r>
              <a:rPr kumimoji="0" lang="en-US" altLang="zh-CN" sz="3200" baseline="-300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…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的起点，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的终点。在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之间再加一线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把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u、v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连接起来，得到无向图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’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’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=(l</a:t>
            </a:r>
            <a:r>
              <a:rPr kumimoji="0" lang="en-US" altLang="zh-CN" sz="3200" baseline="-300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…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,l)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’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中的一条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Euler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路。因为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漠视为图后是连通的，所以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’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漠视为图后是连通的，即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’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中无孤立点，根据定理4.3.5知， 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’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中每个点的度都是偶数，而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solidFill>
                  <a:srgbClr val="525252"/>
                </a:solidFill>
                <a:ea typeface="楷体_GB2312" pitchFamily="49" charset="-122"/>
              </a:rPr>
              <a:t>’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相比，仅缺少线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l，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于是，在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中仅有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solidFill>
                  <a:srgbClr val="525252"/>
                </a:solidFill>
                <a:latin typeface="Times New Roman" panose="02020603050405020304" pitchFamily="18" charset="0"/>
                <a:ea typeface="楷体_GB2312" pitchFamily="49" charset="-122"/>
              </a:rPr>
              <a:t>的度数为奇数。</a:t>
            </a:r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5">
            <a:extLst>
              <a:ext uri="{FF2B5EF4-FFF2-40B4-BE49-F238E27FC236}">
                <a16:creationId xmlns:a16="http://schemas.microsoft.com/office/drawing/2014/main" id="{D186FBEB-E9D3-B545-B340-B4AFBEA9F2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FCCB160-74B2-1A4E-9BC2-7A857B4C263A}" type="slidenum">
              <a:rPr kumimoji="0" lang="zh-CN" altLang="en-US" sz="1200"/>
              <a:pPr/>
              <a:t>48</a:t>
            </a:fld>
            <a:endParaRPr kumimoji="0" lang="en-US" altLang="zh-CN" sz="1200"/>
          </a:p>
        </p:txBody>
      </p:sp>
      <p:sp>
        <p:nvSpPr>
          <p:cNvPr id="146434" name="Rectangle 2">
            <a:extLst>
              <a:ext uri="{FF2B5EF4-FFF2-40B4-BE49-F238E27FC236}">
                <a16:creationId xmlns:a16="http://schemas.microsoft.com/office/drawing/2014/main" id="{FBA3D95D-957F-1942-BD37-C9691E613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 err="1">
                <a:latin typeface="Times New Roman" charset="0"/>
                <a:ea typeface="楷体_GB2312" charset="0"/>
              </a:rPr>
              <a:t>Fleury</a:t>
            </a:r>
            <a:r>
              <a:rPr lang="zh-CN" altLang="en-US" dirty="0">
                <a:latin typeface="Times New Roman" charset="0"/>
                <a:ea typeface="楷体_GB2312" charset="0"/>
              </a:rPr>
              <a:t>算法 </a:t>
            </a:r>
          </a:p>
        </p:txBody>
      </p:sp>
      <p:sp>
        <p:nvSpPr>
          <p:cNvPr id="146437" name="Rectangle 5">
            <a:extLst>
              <a:ext uri="{FF2B5EF4-FFF2-40B4-BE49-F238E27FC236}">
                <a16:creationId xmlns:a16="http://schemas.microsoft.com/office/drawing/2014/main" id="{8AAE867E-7B26-1745-8059-1C9A0CDFC8A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686800" cy="4648200"/>
          </a:xfrm>
        </p:spPr>
        <p:txBody>
          <a:bodyPr/>
          <a:lstStyle/>
          <a:p>
            <a:pPr marL="476250" indent="-476250">
              <a:buFont typeface="Wingdings" pitchFamily="2" charset="2"/>
              <a:buAutoNum type="arabicPeriod"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任取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=(v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)；</a:t>
            </a:r>
          </a:p>
          <a:p>
            <a:pPr marL="476250" indent="-476250">
              <a:buFont typeface="Wingdings" pitchFamily="2" charset="2"/>
              <a:buAutoNum type="arabicPeriod"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假设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=(v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已经确定，其中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之间的线记为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，k=0,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,i-1。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按如下规划选取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中的线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  <a:p>
            <a:pPr marL="476250" indent="-476250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	(1) 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的一个端点为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marL="476250" indent="-476250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(2)  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=L-{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}，G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=(P,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中有以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为端点的线，则以非断线为优先取之。如果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中无以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为端点的线，则算法停。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7" grpId="0" build="p" autoUpdateAnimBg="0"/>
    </p:bldLst>
  </p:timing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>
          <a:solidFill>
            <a:schemeClr val="tx1"/>
          </a:solidFill>
          <a:round/>
          <a:headEnd/>
          <a:tailEnd/>
        </a:ln>
      </a:spPr>
      <a:bodyPr/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气流.thmx</Template>
  <TotalTime>7974</TotalTime>
  <Words>5973</Words>
  <Application>Microsoft Office PowerPoint</Application>
  <PresentationFormat>全屏显示(4:3)</PresentationFormat>
  <Paragraphs>478</Paragraphs>
  <Slides>48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0" baseType="lpstr">
      <vt:lpstr>黑体</vt:lpstr>
      <vt:lpstr>楷体</vt:lpstr>
      <vt:lpstr>楷体_GB2312</vt:lpstr>
      <vt:lpstr>宋体</vt:lpstr>
      <vt:lpstr>Arial</vt:lpstr>
      <vt:lpstr>Georgia</vt:lpstr>
      <vt:lpstr>Times New Roman</vt:lpstr>
      <vt:lpstr>Trebuchet MS</vt:lpstr>
      <vt:lpstr>Wingdings</vt:lpstr>
      <vt:lpstr>Wingdings 2</vt:lpstr>
      <vt:lpstr>气流</vt:lpstr>
      <vt:lpstr>Visio.Drawing.6</vt:lpstr>
      <vt:lpstr>§4.3 有向图 Euler路 </vt:lpstr>
      <vt:lpstr>§4.3.1  有向图与有向树 </vt:lpstr>
      <vt:lpstr>例： </vt:lpstr>
      <vt:lpstr>PowerPoint 演示文稿</vt:lpstr>
      <vt:lpstr>定义4.3.2 </vt:lpstr>
      <vt:lpstr>定义4.3.3 有向路</vt:lpstr>
      <vt:lpstr>定义4.3.4 简单有向路</vt:lpstr>
      <vt:lpstr>定义4.3.5 有向回路</vt:lpstr>
      <vt:lpstr>例：</vt:lpstr>
      <vt:lpstr>定义</vt:lpstr>
      <vt:lpstr>例：</vt:lpstr>
      <vt:lpstr>漠视图</vt:lpstr>
      <vt:lpstr>定义4.3.8 有向树</vt:lpstr>
      <vt:lpstr>例：</vt:lpstr>
      <vt:lpstr>定理4.3.1（转化定理）</vt:lpstr>
      <vt:lpstr>定理4.3.1（转化定理）</vt:lpstr>
      <vt:lpstr>定理4.3.1（转化定理）</vt:lpstr>
      <vt:lpstr>定理4.3.1（转化定理）</vt:lpstr>
      <vt:lpstr>定理4.3.1（转化定理）</vt:lpstr>
      <vt:lpstr>定理4.3.1（转化定理）</vt:lpstr>
      <vt:lpstr>定理4.3.1（转化定理）</vt:lpstr>
      <vt:lpstr>定理4.3.1（转化定理）</vt:lpstr>
      <vt:lpstr>§4.3.2  Euler路  Euler图 </vt:lpstr>
      <vt:lpstr>定义4.3.9  Euler路  Euler图 </vt:lpstr>
      <vt:lpstr>定义4.3.10</vt:lpstr>
      <vt:lpstr>几个结论</vt:lpstr>
      <vt:lpstr>例</vt:lpstr>
      <vt:lpstr>定理4.3.2</vt:lpstr>
      <vt:lpstr>定理4.3.2</vt:lpstr>
      <vt:lpstr>PowerPoint 演示文稿</vt:lpstr>
      <vt:lpstr>PowerPoint 演示文稿</vt:lpstr>
      <vt:lpstr>推论</vt:lpstr>
      <vt:lpstr>定理4.3.3</vt:lpstr>
      <vt:lpstr>证明：</vt:lpstr>
      <vt:lpstr>证明：</vt:lpstr>
      <vt:lpstr>定理4.3.4 </vt:lpstr>
      <vt:lpstr>证明：</vt:lpstr>
      <vt:lpstr>证明：</vt:lpstr>
      <vt:lpstr>例：</vt:lpstr>
      <vt:lpstr>思考题</vt:lpstr>
      <vt:lpstr>§4.3.3无向图 无向图中的Euler路 </vt:lpstr>
      <vt:lpstr>定义4.3.12</vt:lpstr>
      <vt:lpstr>定义4.3.12</vt:lpstr>
      <vt:lpstr>定理4.3.5</vt:lpstr>
      <vt:lpstr>Konigsberg城七桥问题</vt:lpstr>
      <vt:lpstr>推论</vt:lpstr>
      <vt:lpstr>推论</vt:lpstr>
      <vt:lpstr>Fleury算法 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图与网络 </dc:title>
  <dc:creator>sunjigui</dc:creator>
  <cp:lastModifiedBy>chuanbo Gao</cp:lastModifiedBy>
  <cp:revision>336</cp:revision>
  <cp:lastPrinted>1601-01-01T00:00:00Z</cp:lastPrinted>
  <dcterms:created xsi:type="dcterms:W3CDTF">2002-08-29T00:33:30Z</dcterms:created>
  <dcterms:modified xsi:type="dcterms:W3CDTF">2026-05-07T06:05:48Z</dcterms:modified>
</cp:coreProperties>
</file>