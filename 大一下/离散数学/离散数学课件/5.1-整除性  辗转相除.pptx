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notesMasterIdLst>
    <p:notesMasterId r:id="rId36"/>
  </p:notesMasterIdLst>
  <p:sldIdLst>
    <p:sldId id="259" r:id="rId2"/>
    <p:sldId id="258" r:id="rId3"/>
    <p:sldId id="260" r:id="rId4"/>
    <p:sldId id="261" r:id="rId5"/>
    <p:sldId id="316" r:id="rId6"/>
    <p:sldId id="317" r:id="rId7"/>
    <p:sldId id="262" r:id="rId8"/>
    <p:sldId id="298" r:id="rId9"/>
    <p:sldId id="318" r:id="rId10"/>
    <p:sldId id="319" r:id="rId11"/>
    <p:sldId id="320" r:id="rId12"/>
    <p:sldId id="321" r:id="rId13"/>
    <p:sldId id="322" r:id="rId14"/>
    <p:sldId id="299" r:id="rId15"/>
    <p:sldId id="300" r:id="rId16"/>
    <p:sldId id="323" r:id="rId17"/>
    <p:sldId id="324" r:id="rId18"/>
    <p:sldId id="326" r:id="rId19"/>
    <p:sldId id="327" r:id="rId20"/>
    <p:sldId id="328" r:id="rId21"/>
    <p:sldId id="329" r:id="rId22"/>
    <p:sldId id="330" r:id="rId23"/>
    <p:sldId id="331" r:id="rId24"/>
    <p:sldId id="332" r:id="rId25"/>
    <p:sldId id="333" r:id="rId26"/>
    <p:sldId id="334" r:id="rId27"/>
    <p:sldId id="336" r:id="rId28"/>
    <p:sldId id="335" r:id="rId29"/>
    <p:sldId id="337" r:id="rId30"/>
    <p:sldId id="338" r:id="rId31"/>
    <p:sldId id="301" r:id="rId32"/>
    <p:sldId id="339" r:id="rId33"/>
    <p:sldId id="341" r:id="rId34"/>
    <p:sldId id="340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45"/>
    <p:restoredTop sz="81211"/>
  </p:normalViewPr>
  <p:slideViewPr>
    <p:cSldViewPr>
      <p:cViewPr varScale="1">
        <p:scale>
          <a:sx n="88" d="100"/>
          <a:sy n="88" d="100"/>
        </p:scale>
        <p:origin x="216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Relationship Id="rId4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2BB2B14-DE79-014E-831B-F908820C727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0AE043C8-0F0D-2148-BC8A-253A0820F91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9EB53F6D-460D-FB43-B060-DF09576B6B5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48FDBEBF-74E6-3F45-84D3-930735DED17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7110" name="Rectangle 6">
            <a:extLst>
              <a:ext uri="{FF2B5EF4-FFF2-40B4-BE49-F238E27FC236}">
                <a16:creationId xmlns:a16="http://schemas.microsoft.com/office/drawing/2014/main" id="{E5524E3F-1BD6-1540-A349-301C9A5662F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id="{D75F9331-4037-624E-80BE-AB1F3FD533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fld id="{40A7D611-642B-F34A-A596-9019D2DACD52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09D665F4-C582-FC4E-B844-EF7D4AB9C1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C07A808-DD2D-A049-B7DA-D1FB45B17544}" type="slidenum">
              <a:rPr lang="zh-CN" altLang="en-US" sz="1200">
                <a:latin typeface="Times New Roman" panose="02020603050405020304" pitchFamily="18" charset="0"/>
              </a:rPr>
              <a:pPr/>
              <a:t>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AB11B38E-BE3D-EC42-B13B-DF5ED49868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7B32B999-0D6E-214B-A00C-1405248FCF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b(q+1)&gt;a, 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则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bq+b&gt;a, 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则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a-bq&lt;b.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DA0B2B69-CBD9-2041-BBAB-A9941687BC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AC75DEE-2F49-C345-AC01-31CEEDE18C10}" type="slidenum">
              <a:rPr lang="zh-CN" altLang="en-US" sz="1200">
                <a:latin typeface="Times New Roman" panose="02020603050405020304" pitchFamily="18" charset="0"/>
              </a:rPr>
              <a:pPr/>
              <a:t>5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E3AEBFAE-E0C6-ED49-8345-BBAB613667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9D12C80E-0B2D-2A42-AC68-4490644B71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97BAFFA5-4BC1-374D-851E-6F9E9D2AAC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B1A51A2-2E2F-EA41-BD2A-86320C7AEBE4}" type="slidenum">
              <a:rPr lang="zh-CN" altLang="en-US" sz="1200">
                <a:latin typeface="Times New Roman" panose="02020603050405020304" pitchFamily="18" charset="0"/>
              </a:rPr>
              <a:pPr/>
              <a:t>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9E39BB65-D8CB-0141-8033-B0A05EE599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48DD72F0-71BA-D440-9B6C-A2CBB53830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D1855022-27D1-6A4A-B95B-AFDAF1AAF3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87F54B6-99E8-1B4B-B65F-B042E4F126F7}" type="slidenum">
              <a:rPr lang="zh-CN" altLang="en-US" sz="1200">
                <a:latin typeface="Times New Roman" panose="02020603050405020304" pitchFamily="18" charset="0"/>
              </a:rPr>
              <a:pPr/>
              <a:t>10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6E35D493-72F9-714E-B3E8-76A6D8DDA6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A1C79DC5-C8E0-4A4B-8DAC-08C57C478E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ea typeface="宋体" charset="0"/>
              </a:rPr>
              <a:t>由性质</a:t>
            </a:r>
            <a:r>
              <a:rPr lang="en-US" altLang="zh-CN">
                <a:ea typeface="宋体" charset="0"/>
              </a:rPr>
              <a:t>4</a:t>
            </a:r>
            <a:r>
              <a:rPr lang="zh-CN" altLang="en-US">
                <a:ea typeface="宋体" charset="0"/>
              </a:rPr>
              <a:t>，因为</a:t>
            </a:r>
            <a:r>
              <a:rPr lang="en-US" altLang="zh-CN">
                <a:ea typeface="宋体" charset="0"/>
              </a:rPr>
              <a:t>b</a:t>
            </a:r>
            <a:r>
              <a:rPr lang="zh-CN" altLang="en-US">
                <a:ea typeface="宋体" charset="0"/>
              </a:rPr>
              <a:t>、</a:t>
            </a:r>
            <a:r>
              <a:rPr lang="en-US" altLang="zh-CN">
                <a:ea typeface="宋体" charset="0"/>
              </a:rPr>
              <a:t>c</a:t>
            </a:r>
            <a:r>
              <a:rPr lang="zh-CN" altLang="en-US">
                <a:ea typeface="宋体" charset="0"/>
              </a:rPr>
              <a:t>、</a:t>
            </a:r>
            <a:r>
              <a:rPr lang="en-US" altLang="zh-CN">
                <a:ea typeface="宋体" charset="0"/>
              </a:rPr>
              <a:t>d</a:t>
            </a:r>
            <a:r>
              <a:rPr lang="zh-CN" altLang="en-US">
                <a:ea typeface="宋体" charset="0"/>
              </a:rPr>
              <a:t>、</a:t>
            </a:r>
            <a:r>
              <a:rPr lang="en-US" altLang="zh-CN">
                <a:ea typeface="宋体" charset="0"/>
              </a:rPr>
              <a:t>f</a:t>
            </a:r>
            <a:r>
              <a:rPr lang="zh-CN" altLang="en-US">
                <a:ea typeface="宋体" charset="0"/>
              </a:rPr>
              <a:t>都是</a:t>
            </a:r>
            <a:r>
              <a:rPr lang="en-US" altLang="zh-CN">
                <a:ea typeface="宋体" charset="0"/>
              </a:rPr>
              <a:t>a</a:t>
            </a:r>
            <a:r>
              <a:rPr lang="zh-CN" altLang="en-US">
                <a:ea typeface="宋体" charset="0"/>
              </a:rPr>
              <a:t>的倍数，则</a:t>
            </a:r>
            <a:r>
              <a:rPr lang="en-US" altLang="zh-CN" sz="1400">
                <a:latin typeface="Times New Roman" charset="0"/>
                <a:ea typeface="宋体" charset="0"/>
              </a:rPr>
              <a:t>b-c+d-f</a:t>
            </a:r>
            <a:r>
              <a:rPr lang="zh-CN" altLang="en-US" sz="1400">
                <a:latin typeface="Times New Roman" charset="0"/>
                <a:ea typeface="宋体" charset="0"/>
              </a:rPr>
              <a:t>是</a:t>
            </a:r>
            <a:r>
              <a:rPr lang="en-US" altLang="zh-CN" sz="1400">
                <a:latin typeface="Times New Roman" charset="0"/>
                <a:ea typeface="宋体" charset="0"/>
              </a:rPr>
              <a:t>a</a:t>
            </a:r>
            <a:r>
              <a:rPr lang="zh-CN" altLang="en-US" sz="1400">
                <a:latin typeface="Times New Roman" charset="0"/>
                <a:ea typeface="宋体" charset="0"/>
              </a:rPr>
              <a:t>的倍数，</a:t>
            </a:r>
            <a:r>
              <a:rPr lang="en-US" altLang="zh-CN" sz="1400">
                <a:latin typeface="Times New Roman" charset="0"/>
                <a:ea typeface="宋体" charset="0"/>
              </a:rPr>
              <a:t>e</a:t>
            </a:r>
            <a:r>
              <a:rPr lang="zh-CN" altLang="en-US" sz="1400">
                <a:latin typeface="Times New Roman" charset="0"/>
                <a:ea typeface="宋体" charset="0"/>
              </a:rPr>
              <a:t>等于这个式子，则</a:t>
            </a:r>
            <a:r>
              <a:rPr lang="en-US" altLang="zh-CN" sz="1400">
                <a:latin typeface="Times New Roman" charset="0"/>
                <a:ea typeface="宋体" charset="0"/>
              </a:rPr>
              <a:t>e</a:t>
            </a:r>
            <a:r>
              <a:rPr lang="zh-CN" altLang="en-US" sz="1400">
                <a:latin typeface="Times New Roman" charset="0"/>
                <a:ea typeface="宋体" charset="0"/>
              </a:rPr>
              <a:t>也是。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E0055286-A104-454D-A09D-F98CC289F8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7B15DC3-D815-6047-BB58-B22B13BEF9C7}" type="slidenum">
              <a:rPr lang="zh-CN" altLang="en-US" sz="1200">
                <a:latin typeface="Times New Roman" panose="02020603050405020304" pitchFamily="18" charset="0"/>
              </a:rPr>
              <a:pPr/>
              <a:t>11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3C8ABC62-A5CB-274E-87B1-D1823B6F8C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6B7E255F-33E4-D04F-B31B-92C542A11C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altLang="zh-CN">
                <a:ea typeface="宋体" charset="0"/>
              </a:rPr>
              <a:t>a|b, </a:t>
            </a:r>
            <a:r>
              <a:rPr lang="zh-CN" altLang="en-US">
                <a:ea typeface="宋体" charset="0"/>
              </a:rPr>
              <a:t>则</a:t>
            </a:r>
            <a:r>
              <a:rPr lang="en-US" altLang="zh-CN">
                <a:ea typeface="宋体" charset="0"/>
              </a:rPr>
              <a:t>a</a:t>
            </a:r>
            <a:r>
              <a:rPr lang="zh-CN" altLang="en-US">
                <a:ea typeface="宋体" charset="0"/>
              </a:rPr>
              <a:t>不为</a:t>
            </a:r>
            <a:r>
              <a:rPr lang="en-US" altLang="zh-CN">
                <a:ea typeface="宋体" charset="0"/>
              </a:rPr>
              <a:t>0</a:t>
            </a:r>
            <a:r>
              <a:rPr lang="zh-CN" altLang="en-US">
                <a:ea typeface="宋体" charset="0"/>
              </a:rPr>
              <a:t>；</a:t>
            </a:r>
            <a:r>
              <a:rPr lang="en-US" altLang="zh-CN">
                <a:ea typeface="宋体" charset="0"/>
              </a:rPr>
              <a:t>b|a, </a:t>
            </a:r>
            <a:r>
              <a:rPr lang="zh-CN" altLang="en-US">
                <a:ea typeface="宋体" charset="0"/>
              </a:rPr>
              <a:t>则</a:t>
            </a:r>
            <a:r>
              <a:rPr lang="en-US" altLang="zh-CN">
                <a:ea typeface="宋体" charset="0"/>
              </a:rPr>
              <a:t>b</a:t>
            </a:r>
            <a:r>
              <a:rPr lang="zh-CN" altLang="en-US">
                <a:ea typeface="宋体" charset="0"/>
              </a:rPr>
              <a:t>不为</a:t>
            </a:r>
            <a:r>
              <a:rPr lang="en-US" altLang="zh-CN">
                <a:ea typeface="宋体" charset="0"/>
              </a:rPr>
              <a:t>0</a:t>
            </a:r>
            <a:r>
              <a:rPr lang="zh-CN" altLang="en-US">
                <a:ea typeface="宋体" charset="0"/>
              </a:rPr>
              <a:t>。所以，</a:t>
            </a:r>
            <a:r>
              <a:rPr lang="en-US" altLang="zh-CN">
                <a:ea typeface="宋体" charset="0"/>
              </a:rPr>
              <a:t>a</a:t>
            </a:r>
            <a:r>
              <a:rPr lang="zh-CN" altLang="en-US">
                <a:ea typeface="宋体" charset="0"/>
              </a:rPr>
              <a:t>、</a:t>
            </a:r>
            <a:r>
              <a:rPr lang="en-US" altLang="zh-CN">
                <a:ea typeface="宋体" charset="0"/>
              </a:rPr>
              <a:t>b</a:t>
            </a:r>
            <a:r>
              <a:rPr lang="zh-CN" altLang="en-US">
                <a:ea typeface="宋体" charset="0"/>
              </a:rPr>
              <a:t>都不为</a:t>
            </a:r>
            <a:r>
              <a:rPr lang="en-US" altLang="zh-CN">
                <a:ea typeface="宋体" charset="0"/>
              </a:rPr>
              <a:t>0</a:t>
            </a:r>
            <a:r>
              <a:rPr lang="zh-CN" altLang="en-US">
                <a:ea typeface="宋体" charset="0"/>
              </a:rPr>
              <a:t>。又因为</a:t>
            </a:r>
            <a:r>
              <a:rPr lang="en-US" altLang="zh-CN">
                <a:ea typeface="宋体" charset="0"/>
              </a:rPr>
              <a:t>0|0</a:t>
            </a:r>
            <a:r>
              <a:rPr lang="zh-CN" altLang="en-US">
                <a:ea typeface="宋体" charset="0"/>
              </a:rPr>
              <a:t>，所以也可能</a:t>
            </a:r>
            <a:r>
              <a:rPr lang="en-US" altLang="zh-CN">
                <a:ea typeface="宋体" charset="0"/>
              </a:rPr>
              <a:t>a=b=0.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A6E5D198-7678-B64D-8143-4D2F389E13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8CD938B-DAD7-7E4C-AC50-0348A276851B}" type="slidenum">
              <a:rPr lang="zh-CN" altLang="en-US" sz="1200">
                <a:latin typeface="Times New Roman" panose="02020603050405020304" pitchFamily="18" charset="0"/>
              </a:rPr>
              <a:pPr/>
              <a:t>14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84E693EF-BC21-BB4C-88B7-E0BE40EE6B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C8F2F2AF-0262-CB43-8E37-7AFD5B52DE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 sz="1400" dirty="0">
                <a:latin typeface="宋体" charset="0"/>
                <a:ea typeface="宋体" charset="0"/>
              </a:rPr>
              <a:t>最高公因数的定义只是说，如果有那样的</a:t>
            </a:r>
            <a:r>
              <a:rPr lang="en-US" altLang="zh-CN" sz="1400" dirty="0">
                <a:latin typeface="Times New Roman" charset="0"/>
                <a:ea typeface="宋体" charset="0"/>
              </a:rPr>
              <a:t>d</a:t>
            </a:r>
            <a:r>
              <a:rPr lang="en-US" altLang="zh-CN" sz="1400" dirty="0">
                <a:latin typeface="宋体" charset="0"/>
                <a:ea typeface="宋体" charset="0"/>
              </a:rPr>
              <a:t>，</a:t>
            </a:r>
            <a:r>
              <a:rPr lang="zh-CN" altLang="en-US" sz="1400" dirty="0">
                <a:latin typeface="宋体" charset="0"/>
                <a:ea typeface="宋体" charset="0"/>
              </a:rPr>
              <a:t>则</a:t>
            </a:r>
            <a:r>
              <a:rPr lang="en-US" altLang="zh-CN" sz="1400" dirty="0">
                <a:latin typeface="Times New Roman" charset="0"/>
                <a:ea typeface="宋体" charset="0"/>
              </a:rPr>
              <a:t>d</a:t>
            </a:r>
            <a:r>
              <a:rPr lang="zh-CN" altLang="en-US" sz="1400" dirty="0">
                <a:latin typeface="宋体" charset="0"/>
                <a:ea typeface="宋体" charset="0"/>
              </a:rPr>
              <a:t>叫做</a:t>
            </a:r>
            <a:r>
              <a:rPr lang="en-US" altLang="zh-CN" sz="1400" dirty="0" err="1">
                <a:latin typeface="Times New Roman" charset="0"/>
                <a:ea typeface="宋体" charset="0"/>
              </a:rPr>
              <a:t>a</a:t>
            </a:r>
            <a:r>
              <a:rPr lang="en-US" altLang="zh-CN" sz="1400" dirty="0" err="1">
                <a:latin typeface="宋体" charset="0"/>
                <a:ea typeface="宋体" charset="0"/>
              </a:rPr>
              <a:t>，</a:t>
            </a:r>
            <a:r>
              <a:rPr lang="en-US" altLang="zh-CN" sz="1400" dirty="0" err="1">
                <a:latin typeface="Times New Roman" charset="0"/>
                <a:ea typeface="宋体" charset="0"/>
              </a:rPr>
              <a:t>b</a:t>
            </a:r>
            <a:r>
              <a:rPr lang="zh-CN" altLang="en-US" sz="1400" dirty="0">
                <a:latin typeface="宋体" charset="0"/>
                <a:ea typeface="宋体" charset="0"/>
              </a:rPr>
              <a:t>的最高公因数。对于任意的</a:t>
            </a:r>
            <a:r>
              <a:rPr lang="en-US" altLang="zh-CN" sz="1400" dirty="0" err="1">
                <a:latin typeface="Times New Roman" charset="0"/>
                <a:ea typeface="宋体" charset="0"/>
              </a:rPr>
              <a:t>a</a:t>
            </a:r>
            <a:r>
              <a:rPr lang="en-US" altLang="zh-CN" sz="1400" dirty="0" err="1">
                <a:latin typeface="宋体" charset="0"/>
                <a:ea typeface="宋体" charset="0"/>
              </a:rPr>
              <a:t>，</a:t>
            </a:r>
            <a:r>
              <a:rPr lang="en-US" altLang="zh-CN" sz="1400" dirty="0" err="1">
                <a:latin typeface="Times New Roman" charset="0"/>
                <a:ea typeface="宋体" charset="0"/>
              </a:rPr>
              <a:t>b</a:t>
            </a:r>
            <a:r>
              <a:rPr lang="zh-CN" altLang="en-US" sz="1400" dirty="0">
                <a:latin typeface="宋体" charset="0"/>
                <a:ea typeface="宋体" charset="0"/>
              </a:rPr>
              <a:t>是否有那样的</a:t>
            </a:r>
            <a:r>
              <a:rPr lang="en-US" altLang="zh-CN" sz="1400" dirty="0">
                <a:latin typeface="Times New Roman" charset="0"/>
                <a:ea typeface="宋体" charset="0"/>
              </a:rPr>
              <a:t>d</a:t>
            </a:r>
            <a:r>
              <a:rPr lang="zh-CN" altLang="en-US" sz="1400" dirty="0">
                <a:latin typeface="宋体" charset="0"/>
                <a:ea typeface="宋体" charset="0"/>
              </a:rPr>
              <a:t>呢？现在还不知道，等下面再研究。不过，有一点是容易说明的：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092EF7A6-52E3-0C41-AAA3-EA3E6D8033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3E9D897-B894-C946-A92E-F73B60EB746C}" type="slidenum">
              <a:rPr lang="zh-CN" altLang="en-US" sz="1200">
                <a:latin typeface="Times New Roman" panose="02020603050405020304" pitchFamily="18" charset="0"/>
              </a:rPr>
              <a:pPr/>
              <a:t>16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B6837A26-7A67-2043-A198-1D97D63A0E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763EDA66-7F9C-C248-A8AB-5DA2A5F04C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因</a:t>
            </a:r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en-US" altLang="zh-CN" baseline="-30000">
                <a:latin typeface="Arial" panose="020B0604020202020204" pitchFamily="34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en-US" altLang="zh-CN" baseline="-30000">
                <a:latin typeface="Arial" panose="020B0604020202020204" pitchFamily="34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，…，</a:t>
            </a:r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en-US" altLang="zh-CN" baseline="-30000">
                <a:latin typeface="Arial" panose="020B0604020202020204" pitchFamily="34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，…</a:t>
            </a:r>
            <a:r>
              <a:rPr lang="zh-CN" altLang="en-US">
                <a:latin typeface="Times New Roman" panose="02020603050405020304" pitchFamily="18" charset="0"/>
              </a:rPr>
              <a:t>逐渐减少，所以一直作下去必然减到</a:t>
            </a:r>
            <a:r>
              <a:rPr lang="zh-CN" altLang="en-US">
                <a:latin typeface="Arial" panose="020B0604020202020204" pitchFamily="34" charset="0"/>
              </a:rPr>
              <a:t>0</a:t>
            </a:r>
            <a:r>
              <a:rPr lang="zh-CN" altLang="en-US">
                <a:latin typeface="Times New Roman" panose="02020603050405020304" pitchFamily="18" charset="0"/>
              </a:rPr>
              <a:t>，如（</a:t>
            </a:r>
            <a:r>
              <a:rPr lang="zh-CN" altLang="en-US">
                <a:latin typeface="Arial" panose="020B0604020202020204" pitchFamily="34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）的最后一式所示。即</a:t>
            </a:r>
            <a:r>
              <a:rPr lang="en-US" altLang="zh-CN">
                <a:latin typeface="Times New Roman" panose="02020603050405020304" pitchFamily="18" charset="0"/>
              </a:rPr>
              <a:t>r</a:t>
            </a:r>
            <a:r>
              <a:rPr lang="en-US" altLang="zh-CN" baseline="-25000">
                <a:latin typeface="Times New Roman" panose="02020603050405020304" pitchFamily="18" charset="0"/>
              </a:rPr>
              <a:t>n+1</a:t>
            </a:r>
            <a:r>
              <a:rPr lang="zh-CN" altLang="en-US">
                <a:latin typeface="Times New Roman" panose="02020603050405020304" pitchFamily="18" charset="0"/>
              </a:rPr>
              <a:t>等于</a:t>
            </a:r>
            <a:r>
              <a:rPr lang="en-US" altLang="zh-CN">
                <a:latin typeface="Times New Roman" panose="02020603050405020304" pitchFamily="18" charset="0"/>
              </a:rPr>
              <a:t>0.</a:t>
            </a:r>
          </a:p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由性质</a:t>
            </a:r>
            <a:r>
              <a:rPr lang="zh-CN" altLang="en-US">
                <a:latin typeface="Arial" panose="020B0604020202020204" pitchFamily="34" charset="0"/>
              </a:rPr>
              <a:t>7</a:t>
            </a:r>
            <a:r>
              <a:rPr lang="zh-CN" altLang="en-US">
                <a:latin typeface="Times New Roman" panose="02020603050405020304" pitchFamily="18" charset="0"/>
              </a:rPr>
              <a:t>及（</a:t>
            </a:r>
            <a:r>
              <a:rPr lang="zh-CN" altLang="en-US">
                <a:latin typeface="Arial" panose="020B0604020202020204" pitchFamily="34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）的第一式，</a:t>
            </a:r>
            <a:r>
              <a:rPr lang="en-US" altLang="zh-CN">
                <a:latin typeface="Arial" panose="020B0604020202020204" pitchFamily="34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的公因数和</a:t>
            </a:r>
            <a:r>
              <a:rPr lang="en-US" altLang="zh-CN">
                <a:latin typeface="Arial" panose="020B0604020202020204" pitchFamily="34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en-US" altLang="zh-CN" baseline="-30000">
                <a:latin typeface="Arial" panose="020B0604020202020204" pitchFamily="34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的公因数完全相同。第二式，</a:t>
            </a:r>
            <a:r>
              <a:rPr lang="en-US" altLang="zh-CN">
                <a:latin typeface="Arial" panose="020B0604020202020204" pitchFamily="34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en-US" altLang="zh-CN" baseline="-30000">
                <a:latin typeface="Arial" panose="020B0604020202020204" pitchFamily="34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的公因数和</a:t>
            </a:r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en-US" altLang="zh-CN" baseline="-30000">
                <a:latin typeface="Arial" panose="020B0604020202020204" pitchFamily="34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en-US" altLang="zh-CN" baseline="-30000">
                <a:latin typeface="Arial" panose="020B0604020202020204" pitchFamily="34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的公因数完全相同。即，</a:t>
            </a:r>
            <a:r>
              <a:rPr lang="en-US" altLang="zh-CN">
                <a:latin typeface="Arial" panose="020B0604020202020204" pitchFamily="34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的公因数和</a:t>
            </a:r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en-US" altLang="zh-CN" baseline="-30000">
                <a:latin typeface="Arial" panose="020B0604020202020204" pitchFamily="34" charset="0"/>
              </a:rPr>
              <a:t>n-1</a:t>
            </a:r>
            <a:r>
              <a:rPr lang="en-US" altLang="zh-CN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en-US" altLang="zh-CN" baseline="-30000">
                <a:latin typeface="Arial" panose="020B0604020202020204" pitchFamily="34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的公因数完全相同。</a:t>
            </a:r>
          </a:p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但由（</a:t>
            </a:r>
            <a:r>
              <a:rPr lang="zh-CN" altLang="en-US">
                <a:latin typeface="Arial" panose="020B0604020202020204" pitchFamily="34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）的最末一式，</a:t>
            </a:r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en-US" altLang="zh-CN" baseline="-30000">
                <a:latin typeface="Arial" panose="020B0604020202020204" pitchFamily="34" charset="0"/>
              </a:rPr>
              <a:t>n</a:t>
            </a:r>
            <a:r>
              <a:rPr lang="en-US" altLang="zh-CN">
                <a:latin typeface="Arial" panose="020B0604020202020204" pitchFamily="34" charset="0"/>
              </a:rPr>
              <a:t>|r</a:t>
            </a:r>
            <a:r>
              <a:rPr lang="en-US" altLang="zh-CN" baseline="-30000">
                <a:latin typeface="Arial" panose="020B0604020202020204" pitchFamily="34" charset="0"/>
              </a:rPr>
              <a:t>n-1</a:t>
            </a:r>
            <a:r>
              <a:rPr lang="en-US" altLang="zh-CN">
                <a:latin typeface="Times New Roman" panose="02020603050405020304" pitchFamily="18" charset="0"/>
              </a:rPr>
              <a:t>，</a:t>
            </a:r>
            <a:r>
              <a:rPr lang="zh-CN" altLang="en-US">
                <a:latin typeface="Times New Roman" panose="02020603050405020304" pitchFamily="18" charset="0"/>
              </a:rPr>
              <a:t>故</a:t>
            </a:r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en-US" altLang="zh-CN" baseline="-30000">
                <a:latin typeface="Arial" panose="020B0604020202020204" pitchFamily="34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是</a:t>
            </a:r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en-US" altLang="zh-CN" baseline="-30000">
                <a:latin typeface="Arial" panose="020B0604020202020204" pitchFamily="34" charset="0"/>
              </a:rPr>
              <a:t>n-1</a:t>
            </a:r>
            <a:r>
              <a:rPr lang="en-US" altLang="zh-CN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en-US" altLang="zh-CN" baseline="-30000">
                <a:latin typeface="Arial" panose="020B0604020202020204" pitchFamily="34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的最高公因数，因而也是</a:t>
            </a:r>
            <a:r>
              <a:rPr lang="en-US" altLang="zh-CN">
                <a:latin typeface="Arial" panose="020B0604020202020204" pitchFamily="34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的最高公因数。</a:t>
            </a:r>
          </a:p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这样，我们就证明了：</a:t>
            </a:r>
            <a:endParaRPr lang="zh-CN" altLang="en-US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定理</a:t>
            </a:r>
            <a:r>
              <a:rPr lang="zh-CN" altLang="en-US" b="1">
                <a:latin typeface="Arial" panose="020B0604020202020204" pitchFamily="34" charset="0"/>
              </a:rPr>
              <a:t>5.1.2</a:t>
            </a:r>
            <a:r>
              <a:rPr lang="zh-CN" altLang="en-US">
                <a:latin typeface="Arial" panose="020B0604020202020204" pitchFamily="34" charset="0"/>
              </a:rPr>
              <a:t>  </a:t>
            </a:r>
            <a:r>
              <a:rPr lang="zh-CN" altLang="en-US">
                <a:latin typeface="宋体" panose="02010600030101010101" pitchFamily="2" charset="-122"/>
              </a:rPr>
              <a:t>任意二整数</a:t>
            </a:r>
            <a:r>
              <a:rPr lang="en-US" altLang="zh-CN">
                <a:latin typeface="Arial" panose="020B0604020202020204" pitchFamily="34" charset="0"/>
              </a:rPr>
              <a:t>a</a:t>
            </a:r>
            <a:r>
              <a:rPr lang="en-US" altLang="zh-CN">
                <a:latin typeface="宋体" panose="02010600030101010101" pitchFamily="2" charset="-122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b</a:t>
            </a:r>
            <a:r>
              <a:rPr lang="zh-CN" altLang="en-US">
                <a:latin typeface="宋体" panose="02010600030101010101" pitchFamily="2" charset="-122"/>
              </a:rPr>
              <a:t>有最高公因数。</a:t>
            </a:r>
            <a:r>
              <a:rPr lang="zh-CN" altLang="en-US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B099FDC2-A0C7-F745-BB9F-E1E0717337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D8B560E-E418-824D-B9AA-2DBB7D1E4881}" type="slidenum">
              <a:rPr lang="zh-CN" altLang="en-US" sz="1200">
                <a:latin typeface="Times New Roman" panose="02020603050405020304" pitchFamily="18" charset="0"/>
              </a:rPr>
              <a:pPr/>
              <a:t>31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65BE68DD-6DFF-6447-8D69-CF6EC62F4B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22909AB3-B041-4C4C-908F-A00C417368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ea typeface="宋体" charset="0"/>
              </a:rPr>
              <a:t>见书</a:t>
            </a:r>
            <a:r>
              <a:rPr lang="en-US" altLang="zh-CN">
                <a:ea typeface="宋体" charset="0"/>
              </a:rPr>
              <a:t>P151</a:t>
            </a:r>
            <a:r>
              <a:rPr lang="zh-CN" altLang="en-US">
                <a:ea typeface="宋体" charset="0"/>
              </a:rPr>
              <a:t>表。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B099FDC2-A0C7-F745-BB9F-E1E0717337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D8B560E-E418-824D-B9AA-2DBB7D1E4881}" type="slidenum">
              <a:rPr lang="zh-CN" altLang="en-US" sz="1200">
                <a:latin typeface="Times New Roman" panose="02020603050405020304" pitchFamily="18" charset="0"/>
              </a:rPr>
              <a:pPr/>
              <a:t>33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65BE68DD-6DFF-6447-8D69-CF6EC62F4B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22909AB3-B041-4C4C-908F-A00C417368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ea typeface="宋体" charset="0"/>
              </a:rPr>
              <a:t>见书</a:t>
            </a:r>
            <a:r>
              <a:rPr lang="en-US" altLang="zh-CN">
                <a:ea typeface="宋体" charset="0"/>
              </a:rPr>
              <a:t>P151</a:t>
            </a:r>
            <a:r>
              <a:rPr lang="zh-CN" altLang="en-US">
                <a:ea typeface="宋体" charset="0"/>
              </a:rPr>
              <a:t>表。</a:t>
            </a:r>
          </a:p>
        </p:txBody>
      </p:sp>
    </p:spTree>
    <p:extLst>
      <p:ext uri="{BB962C8B-B14F-4D97-AF65-F5344CB8AC3E}">
        <p14:creationId xmlns:p14="http://schemas.microsoft.com/office/powerpoint/2010/main" val="172739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D2956A60-8246-FA44-A259-679A1F108A92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574ACBE-13B0-C741-A0DE-23D0D0ACCDAD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D35972C-36FE-EE47-B0CF-CC8C27A8F33E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13">
            <a:extLst>
              <a:ext uri="{FF2B5EF4-FFF2-40B4-BE49-F238E27FC236}">
                <a16:creationId xmlns:a16="http://schemas.microsoft.com/office/drawing/2014/main" id="{E5935854-3552-6949-9847-27CACC6450CA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20C870C-2D7A-A948-86B4-9388F0653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BB13F90-5182-084B-A62F-C24045312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100429D-696A-BB47-8D7A-E3A27EE3B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E36CBD-5115-9D46-A07B-7CADEBF8FF2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304444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E1351-9419-E146-ABC8-F5F84876194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454AD-875B-0146-9EC7-51BC083E855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2AF19-08F4-1C4A-B644-4B31759F173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3B00ADE5-123B-0048-8E99-55359AFFDDA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906938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B0EBE605-3219-4741-9091-4EAF0C4396A8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CD3F2395-6976-5247-96DE-991B96430AA6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D435EAE-0421-074D-A161-38AAB79F5793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7742F548-522E-9543-B495-C6049AA6B3B9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D081E45-D83B-9B47-B122-41FC609CD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C0561C9-8563-824E-A4F9-2B7DE3E57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3DC58A6-C67B-254B-AD05-FA55218A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658C70-CF61-284A-BB60-5614E828D65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715974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6F46147-5C0E-E14F-A877-96197111FEE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12C8C99-3293-3943-B3AA-5E5EDBFC53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ED9F0D-2BB8-5146-8817-C11E5B3B3B3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E35B8C42-0F12-1748-BF36-C9C67E5C3EA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87619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D4CAC38-BF52-6D40-9B2C-D1F7E90E3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D47D4D4-5719-9E4B-BA55-2FC7AD306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2971907-72C7-F348-9474-97D46BB0C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E1BFC2-7D85-5B4A-BB3A-AE4EFB25FB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684219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4043D07-BE61-9A49-BD58-89B5F2BBD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EEE8764-6AB6-D248-81E2-5A95B79B1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25A7EED-0231-1648-8C54-6899EDA70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9DEDDB-FE5A-3941-9864-8B04E6B36EE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043359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C53713E-A76B-2940-B021-229598290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0115932-9429-A44E-A68D-BB97C9583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6AED02A-360D-E54D-9AF9-6A135FC93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51FC96-6055-4B42-AEC9-1413AD36CF6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948309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06A7C50-5115-2E4B-9575-1C69FD0D3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493964B-2EDD-A944-AD74-E788CE64B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8C73594-A57B-4945-9861-D474DC5DE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623FB7-0D44-4D40-BB76-98D6E5791E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624786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16ED2EB-841D-9A41-8CA5-0C940C8EDF89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C63525-D7B5-344B-9A92-50CC865C22EB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C16CC9AC-6462-D24F-8782-626089161288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2C9691BB-DEBD-A84B-8773-C149D5734D2A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CF2627CE-6AC8-7345-9400-5935AA6E3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DBF29FAB-A1E3-3C4F-985A-755684878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8C230BE6-02F9-A64C-9B06-6E766713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792371-26E4-274E-BD13-1B5E525F9E8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575611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9889B-C349-0E4B-A7A8-92809FD4F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E6934-A4D2-5344-B1EE-4BCA20FB1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55CE8-DB48-5E40-B73C-7B7A44EC3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29DA82-F8B1-ED45-8167-905BDEEF546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406768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AC9EB-FDEE-D142-9A6A-7F996746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068A2-1CF1-794C-AD9B-2B7C8AC45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E1B37-B468-B940-8422-40CF3E904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096D11-2560-9546-A822-1E70D931ECD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435642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E8113A-00A6-2A4F-8AD8-87DE564C637F}"/>
              </a:ext>
            </a:extLst>
          </p:cNvPr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E7D410-94BB-C048-83CF-177E57472B1A}"/>
              </a:ext>
            </a:extLst>
          </p:cNvPr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A347BF-59C8-3546-847B-847D316CD044}"/>
              </a:ext>
            </a:extLst>
          </p:cNvPr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CF3D8A-78E1-D742-B069-56D7F621B59B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D9FC84-F93E-D441-8094-76C3C53B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37" name="Text Placeholder 2">
            <a:extLst>
              <a:ext uri="{FF2B5EF4-FFF2-40B4-BE49-F238E27FC236}">
                <a16:creationId xmlns:a16="http://schemas.microsoft.com/office/drawing/2014/main" id="{EF00EF59-8AD2-6040-A8F9-05A65CD1D22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8F85E-4E46-DD49-900A-FB537B846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A048A-E1B3-D640-8395-BA3AF02AE6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F2355-BCDA-F84E-8C11-121D93C0F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7F7F7F"/>
                </a:solidFill>
              </a:defRPr>
            </a:lvl1pPr>
          </a:lstStyle>
          <a:p>
            <a:fld id="{0159C44B-BB8B-094C-BE86-415D641B6F52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27" r:id="rId2"/>
    <p:sldLayoutId id="2147483736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7" r:id="rId9"/>
    <p:sldLayoutId id="2147483733" r:id="rId10"/>
    <p:sldLayoutId id="2147483734" r:id="rId11"/>
  </p:sldLayoutIdLst>
  <p:transition>
    <p:blinds dir="vert"/>
  </p:transition>
  <p:hf hdr="0" ftr="0" dt="0"/>
  <p:txStyles>
    <p:titleStyle>
      <a:lvl1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宋体" charset="0"/>
          <a:cs typeface="宋体" charset="0"/>
        </a:defRPr>
      </a:lvl1pPr>
      <a:lvl2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charset="0"/>
          <a:ea typeface="宋体" charset="0"/>
          <a:cs typeface="宋体" charset="0"/>
        </a:defRPr>
      </a:lvl2pPr>
      <a:lvl3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charset="0"/>
          <a:ea typeface="宋体" charset="0"/>
          <a:cs typeface="宋体" charset="0"/>
        </a:defRPr>
      </a:lvl3pPr>
      <a:lvl4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charset="0"/>
          <a:ea typeface="宋体" charset="0"/>
          <a:cs typeface="宋体" charset="0"/>
        </a:defRPr>
      </a:lvl4pPr>
      <a:lvl5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charset="0"/>
          <a:ea typeface="宋体" charset="0"/>
          <a:cs typeface="宋体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2200" kern="1200">
          <a:solidFill>
            <a:srgbClr val="404040"/>
          </a:solidFill>
          <a:latin typeface="+mn-lt"/>
          <a:ea typeface="宋体" charset="0"/>
          <a:cs typeface="宋体" charset="0"/>
        </a:defRPr>
      </a:lvl1pPr>
      <a:lvl2pPr marL="547688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2000" kern="1200">
          <a:solidFill>
            <a:srgbClr val="404040"/>
          </a:solidFill>
          <a:latin typeface="+mn-lt"/>
          <a:ea typeface="宋体" charset="0"/>
          <a:cs typeface="+mn-cs"/>
        </a:defRPr>
      </a:lvl2pPr>
      <a:lvl3pPr marL="822325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kern="1200">
          <a:solidFill>
            <a:srgbClr val="404040"/>
          </a:solidFill>
          <a:latin typeface="+mn-lt"/>
          <a:ea typeface="宋体" charset="0"/>
          <a:cs typeface="+mn-cs"/>
        </a:defRPr>
      </a:lvl3pPr>
      <a:lvl4pPr marL="1096963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1600" kern="1200">
          <a:solidFill>
            <a:srgbClr val="404040"/>
          </a:solidFill>
          <a:latin typeface="+mn-lt"/>
          <a:ea typeface="宋体" charset="0"/>
          <a:cs typeface="+mn-cs"/>
        </a:defRPr>
      </a:lvl4pPr>
      <a:lvl5pPr marL="1389063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1400" kern="1200">
          <a:solidFill>
            <a:srgbClr val="404040"/>
          </a:solidFill>
          <a:latin typeface="+mn-lt"/>
          <a:ea typeface="宋体" charset="0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8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3.emf"/><Relationship Id="rId4" Type="http://schemas.openxmlformats.org/officeDocument/2006/relationships/image" Target="../media/image10.emf"/><Relationship Id="rId9" Type="http://schemas.openxmlformats.org/officeDocument/2006/relationships/oleObject" Target="../embeddings/oleObject1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6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7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8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46">
            <a:extLst>
              <a:ext uri="{FF2B5EF4-FFF2-40B4-BE49-F238E27FC236}">
                <a16:creationId xmlns:a16="http://schemas.microsoft.com/office/drawing/2014/main" id="{36E213B9-A57F-E945-B085-4A6316D7E0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00087B0-62B1-4C40-9C1D-B9F85B3AD870}" type="slidenum">
              <a:rPr kumimoji="0" lang="zh-CN" altLang="en-US" sz="1200"/>
              <a:pPr/>
              <a:t>1</a:t>
            </a:fld>
            <a:endParaRPr kumimoji="0" lang="en-US" altLang="zh-CN" sz="120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FC64A696-45B6-7048-8299-79FDA3FE1E9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2362200"/>
            <a:ext cx="6477000" cy="1905000"/>
          </a:xfrm>
        </p:spPr>
        <p:txBody>
          <a:bodyPr/>
          <a:lstStyle/>
          <a:p>
            <a:pPr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>
                <a:latin typeface="黑体" charset="0"/>
                <a:ea typeface="楷体_GB2312" charset="0"/>
                <a:cs typeface="+mj-cs"/>
              </a:rPr>
              <a:t>第五章  数论基础 </a:t>
            </a:r>
          </a:p>
        </p:txBody>
      </p:sp>
    </p:spTree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5">
            <a:extLst>
              <a:ext uri="{FF2B5EF4-FFF2-40B4-BE49-F238E27FC236}">
                <a16:creationId xmlns:a16="http://schemas.microsoft.com/office/drawing/2014/main" id="{F5CF4BAC-6ED3-1D44-9F48-9B054FD1132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4C14833-2ABD-BC4C-958F-DDE97A52CBD2}" type="slidenum">
              <a:rPr kumimoji="0" lang="zh-CN" altLang="en-US" sz="1200"/>
              <a:pPr/>
              <a:t>2</a:t>
            </a:fld>
            <a:endParaRPr kumimoji="0" lang="en-US" altLang="zh-CN" sz="1200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21CE115C-2CBA-A349-9E9B-23CFBEBFE7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4714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楷体_GB2312" charset="0"/>
                <a:ea typeface="楷体_GB2312" charset="0"/>
                <a:cs typeface="+mj-cs"/>
              </a:rPr>
              <a:t>第五章 数论基础 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C0E45CA-7B8D-4240-B8FF-F1061305774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2133600"/>
            <a:ext cx="8382000" cy="3657600"/>
          </a:xfrm>
        </p:spPr>
        <p:txBody>
          <a:bodyPr/>
          <a:lstStyle/>
          <a:p>
            <a:pPr>
              <a:buClr>
                <a:schemeClr val="folHlink"/>
              </a:buClr>
              <a:buFont typeface="Wingdings" pitchFamily="2" charset="2"/>
              <a:buChar char="ü"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§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5.1 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整除性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辗转相除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>
              <a:buClr>
                <a:schemeClr val="folHlink"/>
              </a:buClr>
              <a:buFont typeface="Wingdings" pitchFamily="2" charset="2"/>
              <a:buChar char="ü"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§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5.2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互质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质因数分解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>
              <a:buClr>
                <a:schemeClr val="folHlink"/>
              </a:buClr>
              <a:buFont typeface="Wingdings" pitchFamily="2" charset="2"/>
              <a:buChar char="ü"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§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5.3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合同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一次同余式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>
              <a:buClr>
                <a:schemeClr val="folHlink"/>
              </a:buClr>
              <a:buFont typeface="Wingdings" pitchFamily="2" charset="2"/>
              <a:buChar char="ü"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§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5.4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秦九韶定理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函数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 §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5.5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一元高次同余式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二次剩余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5">
            <a:extLst>
              <a:ext uri="{FF2B5EF4-FFF2-40B4-BE49-F238E27FC236}">
                <a16:creationId xmlns:a16="http://schemas.microsoft.com/office/drawing/2014/main" id="{4FBDD4D4-7C0E-CE41-8A92-2918171DD8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38B93E-547F-1847-9DEA-32F2882C7090}" type="slidenum">
              <a:rPr kumimoji="0" lang="zh-CN" altLang="en-US" sz="1200"/>
              <a:pPr/>
              <a:t>3</a:t>
            </a:fld>
            <a:endParaRPr kumimoji="0" lang="en-US" altLang="zh-CN" sz="120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87A912FD-BDFE-B345-851B-03A8600435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952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</a:rPr>
              <a:t>§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5.1.1 </a:t>
            </a:r>
            <a:r>
              <a:rPr lang="zh-CN" altLang="en-US" dirty="0">
                <a:latin typeface="宋体" charset="0"/>
                <a:ea typeface="楷体_GB2312" charset="0"/>
                <a:cs typeface="+mj-cs"/>
              </a:rPr>
              <a:t>整除及其性质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 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2B9110FD-D130-4048-BC0E-D8B2CCB1C78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600200"/>
            <a:ext cx="8915400" cy="4648200"/>
          </a:xfrm>
        </p:spPr>
        <p:txBody>
          <a:bodyPr/>
          <a:lstStyle/>
          <a:p>
            <a:pPr marL="352425" indent="-352425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定义5.1.1 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是任意整数，若存在整数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使得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a=bc，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则说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的倍数，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的因数。或者说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被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整除，而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整除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记为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b|a。</a:t>
            </a:r>
          </a:p>
          <a:p>
            <a:pPr marL="352425" indent="-352425">
              <a:buFont typeface="Wingdings" pitchFamily="2" charset="2"/>
              <a:buNone/>
            </a:pPr>
            <a:endParaRPr kumimoji="0" lang="zh-CN" altLang="en-US" sz="3200">
              <a:latin typeface="宋体" panose="02010600030101010101" pitchFamily="2" charset="-122"/>
              <a:ea typeface="楷体_GB2312" pitchFamily="49" charset="-122"/>
            </a:endParaRPr>
          </a:p>
          <a:p>
            <a:pPr marL="352425" indent="-352425"/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显然，任意数整除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，特别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0|0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；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（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-1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）整除任意整数。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0不整除任意非零整数.</a:t>
            </a:r>
            <a:endParaRPr kumimoji="0" lang="en-US" altLang="zh-CN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5">
            <a:extLst>
              <a:ext uri="{FF2B5EF4-FFF2-40B4-BE49-F238E27FC236}">
                <a16:creationId xmlns:a16="http://schemas.microsoft.com/office/drawing/2014/main" id="{B460E85E-823E-9F40-A229-8394C8EFC09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C469901-EF5F-C64E-A680-E7F99A5DE7D9}" type="slidenum">
              <a:rPr kumimoji="0" lang="zh-CN" altLang="en-US" sz="1200"/>
              <a:pPr/>
              <a:t>4</a:t>
            </a:fld>
            <a:endParaRPr kumimoji="0" lang="en-US" altLang="zh-CN" sz="1200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FBA936D8-3D11-8C4B-8E2E-45704B16A5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定理5.1.1 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84A5B79E-E5EF-0048-AF27-E5C9765AE9F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0" y="1143000"/>
            <a:ext cx="8991600" cy="5257800"/>
          </a:xfrm>
        </p:spPr>
        <p:txBody>
          <a:bodyPr/>
          <a:lstStyle/>
          <a:p>
            <a:pPr marL="352425" indent="-352425">
              <a:spcBef>
                <a:spcPct val="0"/>
              </a:spcBef>
            </a:pP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对任意整数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唯一存在一对整数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使得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≤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＜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|b|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a=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qb+r</a:t>
            </a:r>
            <a:r>
              <a:rPr kumimoji="0" lang="en-US" altLang="zh-CN" sz="3200" dirty="0" err="1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称为(不完全)商数，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称为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被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除的余数。</a:t>
            </a:r>
          </a:p>
          <a:p>
            <a:pPr marL="352425" indent="-352425">
              <a:spcBef>
                <a:spcPct val="0"/>
              </a:spcBef>
            </a:pPr>
            <a:endParaRPr kumimoji="0" lang="zh-CN" altLang="en-US" sz="3200" dirty="0">
              <a:latin typeface="宋体" panose="02010600030101010101" pitchFamily="2" charset="-122"/>
              <a:ea typeface="楷体_GB2312" pitchFamily="49" charset="-122"/>
            </a:endParaRPr>
          </a:p>
          <a:p>
            <a:pPr marL="352425" indent="-352425" algn="just">
              <a:spcBef>
                <a:spcPct val="0"/>
              </a:spcBef>
            </a:pPr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</a:t>
            </a:r>
            <a:r>
              <a:rPr kumimoji="0" lang="zh-CN" altLang="en-US" sz="3200" dirty="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  <a:sym typeface="Wingdings" pitchFamily="2" charset="2"/>
              </a:rPr>
              <a:t>：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Wingdings" pitchFamily="2" charset="2"/>
              </a:rPr>
              <a:t>(</a:t>
            </a:r>
            <a:r>
              <a:rPr kumimoji="0"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1)</a:t>
            </a:r>
            <a:r>
              <a:rPr kumimoji="0"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kumimoji="0"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b＞0</a:t>
            </a:r>
            <a:r>
              <a:rPr kumimoji="0"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时，存在性成立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marL="352425" indent="-352425" algn="just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	看函数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y=bx, 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因为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b＞0，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所以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的单调递增函数，且当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+∞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时，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+∞；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-∞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时，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-∞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，从而存在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q，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使得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x=q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时，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y≤a；x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=q+1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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即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bq≤a，b(q+1)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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a。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r=a-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bq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  <a:sym typeface="Symbol" pitchFamily="2" charset="2"/>
              </a:rPr>
              <a:t>≥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于是 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a=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qb+r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 0≤r＜b。 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5">
            <a:extLst>
              <a:ext uri="{FF2B5EF4-FFF2-40B4-BE49-F238E27FC236}">
                <a16:creationId xmlns:a16="http://schemas.microsoft.com/office/drawing/2014/main" id="{311A759A-AC8C-D742-BABC-C95E3DBF16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639F03D-F285-6B4B-9C9E-E9FC4CEB82C8}" type="slidenum">
              <a:rPr kumimoji="0" lang="zh-CN" altLang="en-US" sz="1200"/>
              <a:pPr/>
              <a:t>5</a:t>
            </a:fld>
            <a:endParaRPr kumimoji="0" lang="en-US" altLang="zh-CN" sz="1200"/>
          </a:p>
        </p:txBody>
      </p:sp>
      <p:sp>
        <p:nvSpPr>
          <p:cNvPr id="118786" name="Rectangle 2">
            <a:extLst>
              <a:ext uri="{FF2B5EF4-FFF2-40B4-BE49-F238E27FC236}">
                <a16:creationId xmlns:a16="http://schemas.microsoft.com/office/drawing/2014/main" id="{C96CA467-E0B6-0C45-8412-E866A14FBD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定理5.1.1 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9D004A4D-D0E3-CA40-A671-9490FD10A45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839200" cy="4876800"/>
          </a:xfrm>
        </p:spPr>
        <p:txBody>
          <a:bodyPr/>
          <a:lstStyle/>
          <a:p>
            <a:pPr marL="444500" indent="-444500">
              <a:buFont typeface="Wingdings" pitchFamily="2" charset="2"/>
              <a:buNone/>
            </a:pPr>
            <a:r>
              <a:rPr kumimoji="0"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kumimoji="0"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kumimoji="0"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b=-b</a:t>
            </a:r>
            <a:r>
              <a:rPr kumimoji="0" lang="en-US" altLang="zh-CN" sz="3200" dirty="0">
                <a:solidFill>
                  <a:schemeClr val="accent1"/>
                </a:solidFill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</a:t>
            </a:r>
            <a:r>
              <a:rPr kumimoji="0"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 0</a:t>
            </a:r>
            <a:r>
              <a:rPr kumimoji="0"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时，存在性成立。</a:t>
            </a:r>
          </a:p>
          <a:p>
            <a:pPr marL="444500" indent="-444500"/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由(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)知，存在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 err="1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使得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a=q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+r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0≤r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取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q=-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 err="1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=r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则得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a=-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qb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+r =qb+r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0≤r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-b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b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</a:br>
            <a:endParaRPr kumimoji="0"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44500" indent="-444500"/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综合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(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)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(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)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对任意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 (b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0)，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都有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q，r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使得</a:t>
            </a:r>
            <a:b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a=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qb+r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   0≤r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 |b|  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  <a:sym typeface="Symbol" pitchFamily="2" charset="2"/>
              </a:rPr>
              <a:t>……</a:t>
            </a:r>
            <a:r>
              <a:rPr kumimoji="0" lang="en-US" altLang="zh-CN" sz="3200" dirty="0">
                <a:latin typeface="Arial" panose="020B0604020202020204" pitchFamily="34" charset="0"/>
                <a:ea typeface="宋体" panose="02010600030101010101" pitchFamily="2" charset="-122"/>
                <a:sym typeface="Symbol" pitchFamily="2" charset="2"/>
              </a:rPr>
              <a:t>……</a:t>
            </a:r>
            <a:r>
              <a:rPr kumimoji="0"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(</a:t>
            </a:r>
            <a:r>
              <a:rPr kumimoji="0"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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5">
            <a:extLst>
              <a:ext uri="{FF2B5EF4-FFF2-40B4-BE49-F238E27FC236}">
                <a16:creationId xmlns:a16="http://schemas.microsoft.com/office/drawing/2014/main" id="{BD6CA680-8BDC-2E47-AD86-EC2B580A83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58AA7A0-C753-2940-9E2D-B163B40A2B52}" type="slidenum">
              <a:rPr kumimoji="0" lang="zh-CN" altLang="en-US" sz="1200"/>
              <a:pPr/>
              <a:t>6</a:t>
            </a:fld>
            <a:endParaRPr kumimoji="0" lang="en-US" altLang="zh-CN" sz="1200"/>
          </a:p>
        </p:txBody>
      </p:sp>
      <p:sp>
        <p:nvSpPr>
          <p:cNvPr id="120834" name="Rectangle 2">
            <a:extLst>
              <a:ext uri="{FF2B5EF4-FFF2-40B4-BE49-F238E27FC236}">
                <a16:creationId xmlns:a16="http://schemas.microsoft.com/office/drawing/2014/main" id="{E0C9272F-77DF-C847-86A9-6A624308D6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定理5.1.1 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51A16608-3EF3-1545-9CD9-840A8224B8A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839200" cy="4876800"/>
          </a:xfrm>
        </p:spPr>
        <p:txBody>
          <a:bodyPr/>
          <a:lstStyle/>
          <a:p>
            <a:pPr marL="352425" indent="-352425">
              <a:buFont typeface="Wingdings" pitchFamily="2" charset="2"/>
              <a:buNone/>
            </a:pPr>
            <a:r>
              <a:rPr kumimoji="0"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kumimoji="0"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的唯一性。</a:t>
            </a:r>
          </a:p>
          <a:p>
            <a:pPr marL="352425" indent="-352425" algn="just"/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设另有一对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满足</a:t>
            </a:r>
          </a:p>
          <a:p>
            <a:pPr marL="352425" indent="-352425" algn="just">
              <a:buFont typeface="Wingdings" pitchFamily="2" charset="2"/>
              <a:buNone/>
            </a:pP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a=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b+r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  0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 r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 |b|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  <a:sym typeface="Symbol" pitchFamily="2" charset="2"/>
              </a:rPr>
              <a:t>……</a:t>
            </a:r>
            <a:r>
              <a:rPr kumimoji="0" lang="en-US" altLang="zh-CN" sz="3200" dirty="0">
                <a:latin typeface="Arial" panose="020B0604020202020204" pitchFamily="34" charset="0"/>
                <a:ea typeface="宋体" panose="02010600030101010101" pitchFamily="2" charset="-122"/>
                <a:sym typeface="Symbol" pitchFamily="2" charset="2"/>
              </a:rPr>
              <a:t>……</a:t>
            </a:r>
            <a:r>
              <a:rPr kumimoji="0"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(</a:t>
            </a:r>
            <a:r>
              <a:rPr kumimoji="0"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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352425" indent="-352425"/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则</a:t>
            </a:r>
            <a:r>
              <a:rPr kumimoji="0"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(</a:t>
            </a:r>
            <a:r>
              <a:rPr kumimoji="0"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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 - </a:t>
            </a:r>
            <a:r>
              <a:rPr kumimoji="0"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(</a:t>
            </a:r>
            <a:r>
              <a:rPr kumimoji="0"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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得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-r=(q-q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)b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从而有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b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-r|=|q-q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||b|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注意到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-r|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|b| 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而</a:t>
            </a:r>
            <a:b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</a:b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q-q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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为整数，所以必有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q-q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|=0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从而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-r|=0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即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q=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 err="1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=r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b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</a:b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所以，唯一性成立。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5">
            <a:extLst>
              <a:ext uri="{FF2B5EF4-FFF2-40B4-BE49-F238E27FC236}">
                <a16:creationId xmlns:a16="http://schemas.microsoft.com/office/drawing/2014/main" id="{ED0EAED9-9EB0-9044-BF49-F0C92C73EB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63484ED-3F61-944E-94AA-187800D6F73F}" type="slidenum">
              <a:rPr kumimoji="0" lang="zh-CN" altLang="en-US" sz="1200"/>
              <a:pPr/>
              <a:t>7</a:t>
            </a:fld>
            <a:endParaRPr kumimoji="0" lang="en-US" altLang="zh-CN" sz="1200"/>
          </a:p>
        </p:txBody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BEC76235-3E28-F34D-9ECD-422326F760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4572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推论 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B8BDA028-7F8F-A64C-9119-D66921BC7DF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915400" cy="4343400"/>
          </a:xfrm>
        </p:spPr>
        <p:txBody>
          <a:bodyPr/>
          <a:lstStyle/>
          <a:p>
            <a:pPr marL="446088" indent="-446088">
              <a:lnSpc>
                <a:spcPct val="130000"/>
              </a:lnSpc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由整除的定义，易得如下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推论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b|a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(b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0)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当且仅当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被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除的余数为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</a:p>
          <a:p>
            <a:pPr marL="446088" indent="-446088">
              <a:lnSpc>
                <a:spcPct val="130000"/>
              </a:lnSpc>
            </a:pPr>
            <a:endParaRPr kumimoji="0" lang="zh-CN" altLang="en-US" sz="3200">
              <a:latin typeface="宋体" panose="02010600030101010101" pitchFamily="2" charset="-122"/>
              <a:ea typeface="楷体_GB2312" pitchFamily="49" charset="-122"/>
            </a:endParaRPr>
          </a:p>
          <a:p>
            <a:pPr marL="446088" indent="-446088">
              <a:lnSpc>
                <a:spcPct val="13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整除的定义：	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a=bc</a:t>
            </a:r>
          </a:p>
          <a:p>
            <a:pPr marL="446088" indent="-446088">
              <a:lnSpc>
                <a:spcPct val="13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定理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5.1.1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：		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a=qb+r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5">
            <a:extLst>
              <a:ext uri="{FF2B5EF4-FFF2-40B4-BE49-F238E27FC236}">
                <a16:creationId xmlns:a16="http://schemas.microsoft.com/office/drawing/2014/main" id="{0157955E-3D63-BE4A-BBE9-7D0B2E1BE3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E00A45F-B175-A745-AED4-11D23930059A}" type="slidenum">
              <a:rPr kumimoji="0" lang="zh-CN" altLang="en-US" sz="1200"/>
              <a:pPr/>
              <a:t>8</a:t>
            </a:fld>
            <a:endParaRPr kumimoji="0" lang="en-US" altLang="zh-CN" sz="1200"/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8FAF4E86-CB64-444F-A612-58A9E9F878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190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楷体_GB2312" charset="0"/>
                <a:ea typeface="楷体_GB2312" charset="0"/>
                <a:cs typeface="+mj-cs"/>
              </a:rPr>
              <a:t>整除的基本性质 </a:t>
            </a:r>
            <a:endParaRPr lang="en-US" altLang="zh-CN" dirty="0">
              <a:latin typeface="楷体_GB2312" charset="0"/>
              <a:ea typeface="楷体_GB2312" charset="0"/>
              <a:cs typeface="+mj-cs"/>
            </a:endParaRP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34F2BEA2-048D-2249-BB11-C57D6C18F57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839200" cy="5029200"/>
          </a:xfrm>
        </p:spPr>
        <p:txBody>
          <a:bodyPr/>
          <a:lstStyle/>
          <a:p>
            <a:pPr marL="444500" indent="-444500"/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性质1  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a|b，b|c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a|c</a:t>
            </a:r>
            <a:endParaRPr kumimoji="0" lang="en-US" altLang="zh-CN" sz="32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44500" indent="-444500"/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因为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a|b，b|c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故有整数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d，e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使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b=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ad，c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=be，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因之，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c=a(de)。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de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是整数，所以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a|c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marL="444500" indent="-444500"/>
            <a:endParaRPr kumimoji="0" lang="en-US" altLang="zh-CN" sz="32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44500" indent="-444500"/>
            <a:r>
              <a:rPr kumimoji="0" lang="zh-CN" altLang="en-US" sz="3200" dirty="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性质</a:t>
            </a:r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2  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若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a|b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则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a|bc</a:t>
            </a:r>
            <a:endParaRPr kumimoji="0" lang="en-US" altLang="zh-CN" sz="32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44500" indent="-444500"/>
            <a:r>
              <a:rPr kumimoji="0" lang="zh-CN" altLang="en-US" sz="3200" dirty="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证明：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由定义知，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b|bc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今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a|b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故由性质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a|bc</a:t>
            </a:r>
            <a:r>
              <a:rPr kumimoji="0" lang="en-US" altLang="zh-CN" sz="3200" u="sng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0" lang="zh-CN" altLang="en-US" sz="3200" u="sng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5">
            <a:extLst>
              <a:ext uri="{FF2B5EF4-FFF2-40B4-BE49-F238E27FC236}">
                <a16:creationId xmlns:a16="http://schemas.microsoft.com/office/drawing/2014/main" id="{5CDCEBF3-DCCA-3A44-B3CB-4C532DF748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xfrm>
            <a:off x="7315200" y="6492875"/>
            <a:ext cx="1828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AA6461D-3F7A-A343-93C9-4DB89D8B4662}" type="slidenum">
              <a:rPr kumimoji="0" lang="zh-CN" altLang="en-US" sz="1200"/>
              <a:pPr/>
              <a:t>9</a:t>
            </a:fld>
            <a:endParaRPr kumimoji="0" lang="en-US" altLang="zh-CN" sz="1200"/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58A5E219-4DF5-CF47-ABBA-0096318F8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楷体_GB2312" charset="0"/>
                <a:ea typeface="楷体_GB2312" charset="0"/>
                <a:cs typeface="+mj-cs"/>
              </a:rPr>
              <a:t>整除的基本性质 </a:t>
            </a:r>
            <a:endParaRPr lang="en-US" altLang="zh-CN" dirty="0">
              <a:latin typeface="楷体_GB2312" charset="0"/>
              <a:ea typeface="楷体_GB2312" charset="0"/>
              <a:cs typeface="+mj-cs"/>
            </a:endParaRP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490B2B85-467B-964B-9976-07B07D795C3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19200"/>
            <a:ext cx="8915400" cy="5334000"/>
          </a:xfrm>
        </p:spPr>
        <p:txBody>
          <a:bodyPr/>
          <a:lstStyle/>
          <a:p>
            <a:pPr marL="352425" indent="-352425"/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性质3</a:t>
            </a:r>
            <a:r>
              <a:rPr kumimoji="0"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a|b，a|c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a|b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marL="352425" indent="-352425"/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因为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a|b，a|c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故有整数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d，e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使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b=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ad，c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=ae。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因之，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=a(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)。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而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为整数，所以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a|b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marL="352425" indent="-352425"/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性质4  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整除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a|λ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为任意整数。</a:t>
            </a:r>
          </a:p>
          <a:p>
            <a:pPr marL="352425" indent="-352425"/>
            <a:r>
              <a:rPr kumimoji="0" lang="zh-CN" altLang="en-US" sz="3200" dirty="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证明：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因为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a|b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故由性质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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因为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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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故由性质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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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由此及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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又有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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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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如此类推归纳证明了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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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0"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Number Placeholder 5">
            <a:extLst>
              <a:ext uri="{FF2B5EF4-FFF2-40B4-BE49-F238E27FC236}">
                <a16:creationId xmlns:a16="http://schemas.microsoft.com/office/drawing/2014/main" id="{E0A83682-A925-D744-A884-E962A8CD5F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A7BD699-4758-E342-A987-896685A7D600}" type="slidenum">
              <a:rPr kumimoji="0" lang="zh-CN" altLang="en-US" sz="1200"/>
              <a:pPr/>
              <a:t>10</a:t>
            </a:fld>
            <a:endParaRPr kumimoji="0" lang="en-US" altLang="zh-CN" sz="1200"/>
          </a:p>
        </p:txBody>
      </p:sp>
      <p:sp>
        <p:nvSpPr>
          <p:cNvPr id="123906" name="Rectangle 2">
            <a:extLst>
              <a:ext uri="{FF2B5EF4-FFF2-40B4-BE49-F238E27FC236}">
                <a16:creationId xmlns:a16="http://schemas.microsoft.com/office/drawing/2014/main" id="{1467E16F-2669-0C44-98E5-221A9754ED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952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楷体_GB2312" charset="0"/>
                <a:ea typeface="楷体_GB2312" charset="0"/>
                <a:cs typeface="+mj-cs"/>
              </a:rPr>
              <a:t>整除的基本性质 </a:t>
            </a:r>
            <a:endParaRPr lang="en-US" altLang="zh-CN" dirty="0">
              <a:latin typeface="楷体_GB2312" charset="0"/>
              <a:ea typeface="楷体_GB2312" charset="0"/>
              <a:cs typeface="+mj-cs"/>
            </a:endParaRP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6AAD0ABB-CD02-9648-8F27-80CEDFD8794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915400" cy="4953000"/>
          </a:xfrm>
        </p:spPr>
        <p:txBody>
          <a:bodyPr/>
          <a:lstStyle/>
          <a:p>
            <a:pPr marL="352425" indent="-352425"/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性质5</a:t>
            </a:r>
            <a:r>
              <a:rPr kumimoji="0"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若在一等式中，除某项外，其余各项都是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的倍数，则此项也是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的倍数。</a:t>
            </a:r>
          </a:p>
          <a:p>
            <a:pPr marL="352425" indent="-352425"/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这是性质4的直接推论。</a:t>
            </a:r>
          </a:p>
          <a:p>
            <a:pPr marL="352425" indent="-352425">
              <a:buFont typeface="Wingdings" pitchFamily="2" charset="2"/>
              <a:buNone/>
            </a:pP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	例如，在等式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b-c=-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d+e+f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中，设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dirty="0" err="1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3200" dirty="0" err="1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3200" dirty="0" err="1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都是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的倍数，求证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也是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的倍数。解出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得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e=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b-c+d-f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由性质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，此式右边是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的倍数，故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的倍数。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Number Placeholder 5">
            <a:extLst>
              <a:ext uri="{FF2B5EF4-FFF2-40B4-BE49-F238E27FC236}">
                <a16:creationId xmlns:a16="http://schemas.microsoft.com/office/drawing/2014/main" id="{C1D2A52A-A142-6043-8385-41308CF939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87962C0-8161-F44A-8AC6-6FC2D4D2DEB3}" type="slidenum">
              <a:rPr kumimoji="0" lang="zh-CN" altLang="en-US" sz="1200"/>
              <a:pPr/>
              <a:t>11</a:t>
            </a:fld>
            <a:endParaRPr kumimoji="0" lang="en-US" altLang="zh-CN" sz="1200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C3548B10-AC05-614A-B65E-55A4161799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952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楷体_GB2312" charset="0"/>
                <a:ea typeface="楷体_GB2312" charset="0"/>
                <a:cs typeface="+mj-cs"/>
              </a:rPr>
              <a:t>整除的基本性质 </a:t>
            </a:r>
            <a:endParaRPr lang="en-US" altLang="zh-CN" dirty="0">
              <a:latin typeface="楷体_GB2312" charset="0"/>
              <a:ea typeface="楷体_GB2312" charset="0"/>
              <a:cs typeface="+mj-cs"/>
            </a:endParaRP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93092214-2364-3D41-9E26-2BDE5CE0E9A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676400"/>
            <a:ext cx="8915400" cy="4114800"/>
          </a:xfrm>
        </p:spPr>
        <p:txBody>
          <a:bodyPr/>
          <a:lstStyle/>
          <a:p>
            <a:pPr marL="441325" indent="-441325"/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性质6  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a|b，b|a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b=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a。</a:t>
            </a:r>
          </a:p>
          <a:p>
            <a:pPr marL="441325" indent="-441325"/>
            <a:r>
              <a:rPr kumimoji="0" lang="zh-CN" altLang="en-US" sz="3200" dirty="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证明：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由条件知，或者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a=b=0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或者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dirty="0" err="1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都不为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。若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a=b=0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b=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自然是对的。若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dirty="0" err="1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都不是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。因为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a|b</a:t>
            </a:r>
            <a:r>
              <a:rPr kumimoji="0" lang="en-US" altLang="zh-CN" sz="3200" dirty="0" err="1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b|a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故有整数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3200" dirty="0" err="1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使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b=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ad</a:t>
            </a:r>
            <a:r>
              <a:rPr kumimoji="0" lang="en-US" altLang="zh-CN" sz="3200" dirty="0" err="1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=be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从而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a=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ade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消去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得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1=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de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今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3200" dirty="0" err="1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是整数而相乘得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，故此二数必然都是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，因而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b=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0"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5">
            <a:extLst>
              <a:ext uri="{FF2B5EF4-FFF2-40B4-BE49-F238E27FC236}">
                <a16:creationId xmlns:a16="http://schemas.microsoft.com/office/drawing/2014/main" id="{7BB81B4D-ECDD-AC43-9529-C329DAC3B6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38B831D-871B-BE43-B905-CA4FA6C6BA5B}" type="slidenum">
              <a:rPr kumimoji="0" lang="zh-CN" altLang="en-US" sz="1200"/>
              <a:pPr/>
              <a:t>12</a:t>
            </a:fld>
            <a:endParaRPr kumimoji="0" lang="en-US" altLang="zh-CN" sz="1200"/>
          </a:p>
        </p:txBody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55D5C03E-1599-B240-A8D2-0CCB7AC5C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952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楷体_GB2312" charset="0"/>
                <a:ea typeface="楷体_GB2312" charset="0"/>
                <a:cs typeface="+mj-cs"/>
              </a:rPr>
              <a:t>整除的基本性质 </a:t>
            </a:r>
            <a:endParaRPr lang="en-US" altLang="zh-CN" dirty="0">
              <a:latin typeface="楷体_GB2312" charset="0"/>
              <a:ea typeface="楷体_GB2312" charset="0"/>
              <a:cs typeface="+mj-cs"/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B025C84C-E97F-0247-B973-46A4F7239C4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763000" cy="4572000"/>
          </a:xfrm>
        </p:spPr>
        <p:txBody>
          <a:bodyPr/>
          <a:lstStyle/>
          <a:p>
            <a:pPr marL="361950" indent="-361950"/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定义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5.1.2 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的因数也是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的因数，则称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</a:t>
            </a:r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公因数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。若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的公因数，而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的任意公因数整除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则称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</a:t>
            </a:r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最高公因数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的最高公因数通常记为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d=(a,b)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5">
            <a:extLst>
              <a:ext uri="{FF2B5EF4-FFF2-40B4-BE49-F238E27FC236}">
                <a16:creationId xmlns:a16="http://schemas.microsoft.com/office/drawing/2014/main" id="{865D2F0E-54C7-FC47-A518-B7CA5BB3AF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C3FE732-1215-1C46-A16E-D3219436976A}" type="slidenum">
              <a:rPr kumimoji="0" lang="zh-CN" altLang="en-US" sz="1200"/>
              <a:pPr/>
              <a:t>13</a:t>
            </a:fld>
            <a:endParaRPr kumimoji="0" lang="en-US" altLang="zh-CN" sz="1200"/>
          </a:p>
        </p:txBody>
      </p:sp>
      <p:sp>
        <p:nvSpPr>
          <p:cNvPr id="126978" name="Rectangle 1026">
            <a:extLst>
              <a:ext uri="{FF2B5EF4-FFF2-40B4-BE49-F238E27FC236}">
                <a16:creationId xmlns:a16="http://schemas.microsoft.com/office/drawing/2014/main" id="{881CD2E1-92F6-7E4E-9266-E90A7CF542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810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楷体_GB2312" charset="0"/>
                <a:ea typeface="楷体_GB2312" charset="0"/>
                <a:cs typeface="+mj-cs"/>
              </a:rPr>
              <a:t>整除的基本性质 </a:t>
            </a:r>
            <a:endParaRPr lang="en-US" altLang="zh-CN" dirty="0">
              <a:latin typeface="楷体_GB2312" charset="0"/>
              <a:ea typeface="楷体_GB2312" charset="0"/>
              <a:cs typeface="+mj-cs"/>
            </a:endParaRPr>
          </a:p>
        </p:txBody>
      </p:sp>
      <p:sp>
        <p:nvSpPr>
          <p:cNvPr id="126979" name="Rectangle 1027">
            <a:extLst>
              <a:ext uri="{FF2B5EF4-FFF2-40B4-BE49-F238E27FC236}">
                <a16:creationId xmlns:a16="http://schemas.microsoft.com/office/drawing/2014/main" id="{EA666BFD-FD10-9F47-A21A-528B67E1709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839200" cy="4648200"/>
          </a:xfrm>
        </p:spPr>
        <p:txBody>
          <a:bodyPr/>
          <a:lstStyle/>
          <a:p>
            <a:pPr marL="361950" indent="-361950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性质7 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a=qb+c，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a，b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的公因数与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b，c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的公因数是完全相同的。</a:t>
            </a:r>
          </a:p>
          <a:p>
            <a:pPr marL="361950" indent="-361950"/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证明：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的公因数，则由上式及性质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也是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的因数，因而是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a,b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的公因数。反之，若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的公因数，则由上式及性质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也是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的因数，因而是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的公因数。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Number Placeholder 5">
            <a:extLst>
              <a:ext uri="{FF2B5EF4-FFF2-40B4-BE49-F238E27FC236}">
                <a16:creationId xmlns:a16="http://schemas.microsoft.com/office/drawing/2014/main" id="{EAAC2BD6-57D5-A249-8820-AECE44658F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72308FD-0FEC-4E47-A5BB-F8AA892CDD87}" type="slidenum">
              <a:rPr kumimoji="0" lang="zh-CN" altLang="en-US" sz="1200"/>
              <a:pPr/>
              <a:t>14</a:t>
            </a:fld>
            <a:endParaRPr kumimoji="0" lang="en-US" altLang="zh-CN" sz="1200"/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190478D6-0B39-A04C-982D-694414FB786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839200" cy="4953000"/>
          </a:xfrm>
        </p:spPr>
        <p:txBody>
          <a:bodyPr/>
          <a:lstStyle/>
          <a:p>
            <a:pPr marL="361950" indent="-361950">
              <a:lnSpc>
                <a:spcPct val="110000"/>
              </a:lnSpc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如果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有最高公因数，则最高公因数除符号外</a:t>
            </a:r>
            <a:r>
              <a:rPr kumimoji="0" lang="zh-CN" altLang="en-US" sz="3200">
                <a:solidFill>
                  <a:schemeClr val="tx2"/>
                </a:solidFill>
                <a:latin typeface="宋体" panose="02010600030101010101" pitchFamily="2" charset="-122"/>
                <a:ea typeface="楷体_GB2312" pitchFamily="49" charset="-122"/>
              </a:rPr>
              <a:t>唯一确定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</a:p>
          <a:p>
            <a:pPr marL="361950" indent="-361950">
              <a:lnSpc>
                <a:spcPct val="110000"/>
              </a:lnSpc>
            </a:pPr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证明：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d'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都是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的最高公因数，则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d|d'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d'|d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因而由性质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6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知，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d'=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Number Placeholder 5">
            <a:extLst>
              <a:ext uri="{FF2B5EF4-FFF2-40B4-BE49-F238E27FC236}">
                <a16:creationId xmlns:a16="http://schemas.microsoft.com/office/drawing/2014/main" id="{D8C0B8EE-EEB1-FB40-BC99-F8F0495EFE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8930AC2-9253-9743-B43E-0A0EB8F96565}" type="slidenum">
              <a:rPr kumimoji="0" lang="zh-CN" altLang="en-US" sz="1200"/>
              <a:pPr/>
              <a:t>15</a:t>
            </a:fld>
            <a:endParaRPr kumimoji="0" lang="en-US" altLang="zh-CN" sz="1200"/>
          </a:p>
        </p:txBody>
      </p:sp>
      <p:sp>
        <p:nvSpPr>
          <p:cNvPr id="102402" name="Rectangle 2">
            <a:extLst>
              <a:ext uri="{FF2B5EF4-FFF2-40B4-BE49-F238E27FC236}">
                <a16:creationId xmlns:a16="http://schemas.microsoft.com/office/drawing/2014/main" id="{197A9973-0FAF-5C4E-8348-CAC5AE279D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latin typeface="Times New Roman" charset="0"/>
                <a:ea typeface="楷体_GB2312" charset="0"/>
                <a:cs typeface="+mj-cs"/>
              </a:rPr>
              <a:t>5.1.2  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辗转相除 </a:t>
            </a:r>
            <a:endParaRPr lang="en-US" altLang="zh-CN" dirty="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B85B71FB-9233-1145-B6E2-8482EE1BEC6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915400" cy="2057400"/>
          </a:xfrm>
        </p:spPr>
        <p:txBody>
          <a:bodyPr/>
          <a:lstStyle/>
          <a:p>
            <a:pPr marL="361950" indent="-361950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现在我们来看，是否任意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a，b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有最高公因数？</a:t>
            </a:r>
          </a:p>
          <a:p>
            <a:pPr marL="361950" indent="-361950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b|a，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则由定义易见，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就是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a，b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的最高公因数。同样，若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a|b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就是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a，b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的最高公因数。</a:t>
            </a:r>
          </a:p>
        </p:txBody>
      </p:sp>
      <p:grpSp>
        <p:nvGrpSpPr>
          <p:cNvPr id="102410" name="Group 10">
            <a:extLst>
              <a:ext uri="{FF2B5EF4-FFF2-40B4-BE49-F238E27FC236}">
                <a16:creationId xmlns:a16="http://schemas.microsoft.com/office/drawing/2014/main" id="{04DE5A39-1E87-3149-BB4D-A8190C8BBF10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886200"/>
            <a:ext cx="8458200" cy="2362200"/>
            <a:chOff x="48" y="2688"/>
            <a:chExt cx="5328" cy="1488"/>
          </a:xfrm>
        </p:grpSpPr>
        <p:sp>
          <p:nvSpPr>
            <p:cNvPr id="34821" name="Rectangle 6">
              <a:extLst>
                <a:ext uri="{FF2B5EF4-FFF2-40B4-BE49-F238E27FC236}">
                  <a16:creationId xmlns:a16="http://schemas.microsoft.com/office/drawing/2014/main" id="{F580FD41-41D8-5E46-BB62-0ED0C2D73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" y="2688"/>
              <a:ext cx="5328" cy="1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61950" indent="-3619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20000"/>
                </a:spcBef>
                <a:buClr>
                  <a:schemeClr val="tx2"/>
                </a:buClr>
                <a:buFont typeface="Wingdings" pitchFamily="2" charset="2"/>
                <a:buChar char="Ø"/>
              </a:pPr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今设</a:t>
              </a:r>
              <a:r>
                <a:rPr lang="en-US" altLang="zh-CN" sz="3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a|b，b|a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。</a:t>
              </a:r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因为任意数整除0，所以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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0，b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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0。</a:t>
              </a:r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以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除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得商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en-US" altLang="zh-CN" sz="3200" baseline="-30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余数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3200" baseline="-30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以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3200" baseline="-30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除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得商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en-US" altLang="zh-CN" sz="3200" baseline="-30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余数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3200" baseline="-30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以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3200" baseline="-30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除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3200" baseline="-30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得商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en-US" altLang="zh-CN" sz="3200" baseline="-30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余数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3200" baseline="-30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。</a:t>
              </a:r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如此类推有下列各式：</a:t>
              </a:r>
            </a:p>
          </p:txBody>
        </p:sp>
        <p:sp>
          <p:nvSpPr>
            <p:cNvPr id="17415" name="Line 7">
              <a:extLst>
                <a:ext uri="{FF2B5EF4-FFF2-40B4-BE49-F238E27FC236}">
                  <a16:creationId xmlns:a16="http://schemas.microsoft.com/office/drawing/2014/main" id="{02723C36-0554-0147-A4DC-727BB954E5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832"/>
              <a:ext cx="96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7416" name="Line 8">
              <a:extLst>
                <a:ext uri="{FF2B5EF4-FFF2-40B4-BE49-F238E27FC236}">
                  <a16:creationId xmlns:a16="http://schemas.microsoft.com/office/drawing/2014/main" id="{F75E5C16-4555-264D-BD2D-B86E6A5549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832"/>
              <a:ext cx="96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Number Placeholder 5">
            <a:extLst>
              <a:ext uri="{FF2B5EF4-FFF2-40B4-BE49-F238E27FC236}">
                <a16:creationId xmlns:a16="http://schemas.microsoft.com/office/drawing/2014/main" id="{A4E20753-7A27-174E-B25F-F4DAD39083D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968DF9D-BC1B-1249-8D02-CDA09BC33ECB}" type="slidenum">
              <a:rPr kumimoji="0" lang="zh-CN" altLang="en-US" sz="1200"/>
              <a:pPr/>
              <a:t>16</a:t>
            </a:fld>
            <a:endParaRPr kumimoji="0" lang="en-US" altLang="zh-CN" sz="1200"/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E968E711-6CFA-324F-A3E5-1BB33EA89B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190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latin typeface="Times New Roman" charset="0"/>
                <a:ea typeface="楷体_GB2312" charset="0"/>
                <a:cs typeface="+mj-cs"/>
              </a:rPr>
              <a:t>5.1.2  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辗转相除 </a:t>
            </a:r>
            <a:endParaRPr lang="en-US" altLang="zh-CN" dirty="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128005" name="Rectangle 5">
            <a:extLst>
              <a:ext uri="{FF2B5EF4-FFF2-40B4-BE49-F238E27FC236}">
                <a16:creationId xmlns:a16="http://schemas.microsoft.com/office/drawing/2014/main" id="{4DFC32E5-0146-F645-9DC5-0B0B89694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524000"/>
            <a:ext cx="4800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1428750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1428750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428750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428750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428750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1428750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1428750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1428750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1428750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zh-CN" sz="3200">
                <a:latin typeface="Times New Roman" panose="02020603050405020304" pitchFamily="18" charset="0"/>
              </a:rPr>
              <a:t>	a=q</a:t>
            </a:r>
            <a:r>
              <a:rPr lang="en-US" altLang="zh-CN" sz="3200" baseline="-30000">
                <a:latin typeface="Times New Roman" panose="02020603050405020304" pitchFamily="18" charset="0"/>
              </a:rPr>
              <a:t>1</a:t>
            </a:r>
            <a:r>
              <a:rPr lang="en-US" altLang="zh-CN" sz="3200">
                <a:latin typeface="Times New Roman" panose="02020603050405020304" pitchFamily="18" charset="0"/>
              </a:rPr>
              <a:t>b+r</a:t>
            </a:r>
            <a:r>
              <a:rPr lang="en-US" altLang="zh-CN" sz="3200" baseline="-30000">
                <a:latin typeface="Times New Roman" panose="02020603050405020304" pitchFamily="18" charset="0"/>
              </a:rPr>
              <a:t>1</a:t>
            </a:r>
            <a:endParaRPr lang="en-US" altLang="zh-CN" sz="3200">
              <a:latin typeface="Times New Roman" panose="02020603050405020304" pitchFamily="18" charset="0"/>
            </a:endParaRPr>
          </a:p>
          <a:p>
            <a:pPr>
              <a:spcBef>
                <a:spcPct val="1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zh-CN" sz="3200">
                <a:latin typeface="Times New Roman" panose="02020603050405020304" pitchFamily="18" charset="0"/>
              </a:rPr>
              <a:t>	b=q</a:t>
            </a:r>
            <a:r>
              <a:rPr lang="en-US" altLang="zh-CN" sz="3200" baseline="-30000">
                <a:latin typeface="Times New Roman" panose="02020603050405020304" pitchFamily="18" charset="0"/>
              </a:rPr>
              <a:t>2</a:t>
            </a:r>
            <a:r>
              <a:rPr lang="en-US" altLang="zh-CN" sz="3200">
                <a:latin typeface="Times New Roman" panose="02020603050405020304" pitchFamily="18" charset="0"/>
              </a:rPr>
              <a:t>r</a:t>
            </a:r>
            <a:r>
              <a:rPr lang="en-US" altLang="zh-CN" sz="3200" baseline="-30000">
                <a:latin typeface="Times New Roman" panose="02020603050405020304" pitchFamily="18" charset="0"/>
              </a:rPr>
              <a:t>1</a:t>
            </a:r>
            <a:r>
              <a:rPr lang="en-US" altLang="zh-CN" sz="3200">
                <a:latin typeface="Times New Roman" panose="02020603050405020304" pitchFamily="18" charset="0"/>
              </a:rPr>
              <a:t>+r</a:t>
            </a:r>
            <a:r>
              <a:rPr lang="en-US" altLang="zh-CN" sz="3200" baseline="-30000">
                <a:latin typeface="Times New Roman" panose="02020603050405020304" pitchFamily="18" charset="0"/>
              </a:rPr>
              <a:t>2</a:t>
            </a:r>
          </a:p>
          <a:p>
            <a:pPr>
              <a:spcBef>
                <a:spcPct val="1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zh-CN" sz="3200" baseline="-30000">
                <a:latin typeface="Times New Roman" panose="02020603050405020304" pitchFamily="18" charset="0"/>
              </a:rPr>
              <a:t>	</a:t>
            </a:r>
            <a:r>
              <a:rPr lang="en-US" altLang="zh-CN" sz="3200">
                <a:latin typeface="Times New Roman" panose="02020603050405020304" pitchFamily="18" charset="0"/>
              </a:rPr>
              <a:t>r</a:t>
            </a:r>
            <a:r>
              <a:rPr lang="en-US" altLang="zh-CN" sz="3200" baseline="-30000">
                <a:latin typeface="Times New Roman" panose="02020603050405020304" pitchFamily="18" charset="0"/>
              </a:rPr>
              <a:t>1</a:t>
            </a:r>
            <a:r>
              <a:rPr lang="en-US" altLang="zh-CN" sz="3200">
                <a:latin typeface="Times New Roman" panose="02020603050405020304" pitchFamily="18" charset="0"/>
              </a:rPr>
              <a:t>=q</a:t>
            </a:r>
            <a:r>
              <a:rPr lang="en-US" altLang="zh-CN" sz="3200" baseline="-30000">
                <a:latin typeface="Times New Roman" panose="02020603050405020304" pitchFamily="18" charset="0"/>
              </a:rPr>
              <a:t>3</a:t>
            </a:r>
            <a:r>
              <a:rPr lang="en-US" altLang="zh-CN" sz="3200">
                <a:latin typeface="Times New Roman" panose="02020603050405020304" pitchFamily="18" charset="0"/>
              </a:rPr>
              <a:t>r</a:t>
            </a:r>
            <a:r>
              <a:rPr lang="en-US" altLang="zh-CN" sz="3200" baseline="-30000">
                <a:latin typeface="Times New Roman" panose="02020603050405020304" pitchFamily="18" charset="0"/>
              </a:rPr>
              <a:t>2</a:t>
            </a:r>
            <a:r>
              <a:rPr lang="en-US" altLang="zh-CN" sz="3200">
                <a:latin typeface="Times New Roman" panose="02020603050405020304" pitchFamily="18" charset="0"/>
              </a:rPr>
              <a:t>+r</a:t>
            </a:r>
            <a:r>
              <a:rPr lang="en-US" altLang="zh-CN" sz="3200" baseline="-30000">
                <a:latin typeface="Times New Roman" panose="02020603050405020304" pitchFamily="18" charset="0"/>
              </a:rPr>
              <a:t>3</a:t>
            </a:r>
            <a:endParaRPr lang="en-US" altLang="zh-CN" sz="3200">
              <a:latin typeface="Times New Roman" panose="02020603050405020304" pitchFamily="18" charset="0"/>
            </a:endParaRPr>
          </a:p>
          <a:p>
            <a:pPr>
              <a:spcBef>
                <a:spcPct val="1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zh-CN" sz="3200">
                <a:latin typeface="Times New Roman" panose="02020603050405020304" pitchFamily="18" charset="0"/>
              </a:rPr>
              <a:t>	……… </a:t>
            </a:r>
            <a:br>
              <a:rPr lang="en-US" altLang="zh-CN" sz="3200">
                <a:latin typeface="Times New Roman" panose="02020603050405020304" pitchFamily="18" charset="0"/>
              </a:rPr>
            </a:br>
            <a:r>
              <a:rPr lang="en-US" altLang="zh-CN" sz="3200">
                <a:latin typeface="Times New Roman" panose="02020603050405020304" pitchFamily="18" charset="0"/>
              </a:rPr>
              <a:t>	r</a:t>
            </a:r>
            <a:r>
              <a:rPr lang="en-US" altLang="zh-CN" sz="3200" baseline="-30000">
                <a:latin typeface="Times New Roman" panose="02020603050405020304" pitchFamily="18" charset="0"/>
              </a:rPr>
              <a:t>k-2</a:t>
            </a:r>
            <a:r>
              <a:rPr lang="en-US" altLang="zh-CN" sz="3200">
                <a:latin typeface="Times New Roman" panose="02020603050405020304" pitchFamily="18" charset="0"/>
              </a:rPr>
              <a:t>=q</a:t>
            </a:r>
            <a:r>
              <a:rPr lang="en-US" altLang="zh-CN" sz="3200" baseline="-30000">
                <a:latin typeface="Times New Roman" panose="02020603050405020304" pitchFamily="18" charset="0"/>
              </a:rPr>
              <a:t>k</a:t>
            </a:r>
            <a:r>
              <a:rPr lang="en-US" altLang="zh-CN" sz="3200">
                <a:latin typeface="Times New Roman" panose="02020603050405020304" pitchFamily="18" charset="0"/>
              </a:rPr>
              <a:t>r</a:t>
            </a:r>
            <a:r>
              <a:rPr lang="en-US" altLang="zh-CN" sz="3200" baseline="-30000">
                <a:latin typeface="Times New Roman" panose="02020603050405020304" pitchFamily="18" charset="0"/>
              </a:rPr>
              <a:t>k-1</a:t>
            </a:r>
            <a:r>
              <a:rPr lang="en-US" altLang="zh-CN" sz="3200">
                <a:latin typeface="Times New Roman" panose="02020603050405020304" pitchFamily="18" charset="0"/>
              </a:rPr>
              <a:t>+r</a:t>
            </a:r>
            <a:r>
              <a:rPr lang="en-US" altLang="zh-CN" sz="3200" baseline="-30000">
                <a:latin typeface="Times New Roman" panose="02020603050405020304" pitchFamily="18" charset="0"/>
              </a:rPr>
              <a:t>k</a:t>
            </a:r>
            <a:endParaRPr lang="en-US" altLang="zh-CN" sz="3200">
              <a:latin typeface="Times New Roman" panose="02020603050405020304" pitchFamily="18" charset="0"/>
            </a:endParaRPr>
          </a:p>
          <a:p>
            <a:pPr>
              <a:spcBef>
                <a:spcPct val="1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zh-CN" sz="3200">
                <a:latin typeface="Times New Roman" panose="02020603050405020304" pitchFamily="18" charset="0"/>
              </a:rPr>
              <a:t>	……… </a:t>
            </a:r>
            <a:br>
              <a:rPr lang="en-US" altLang="zh-CN" sz="3200">
                <a:latin typeface="Times New Roman" panose="02020603050405020304" pitchFamily="18" charset="0"/>
              </a:rPr>
            </a:br>
            <a:r>
              <a:rPr lang="en-US" altLang="zh-CN" sz="3200">
                <a:latin typeface="Times New Roman" panose="02020603050405020304" pitchFamily="18" charset="0"/>
              </a:rPr>
              <a:t>	r</a:t>
            </a:r>
            <a:r>
              <a:rPr lang="en-US" altLang="zh-CN" sz="3200" baseline="-30000">
                <a:latin typeface="Times New Roman" panose="02020603050405020304" pitchFamily="18" charset="0"/>
              </a:rPr>
              <a:t>n-2</a:t>
            </a:r>
            <a:r>
              <a:rPr lang="en-US" altLang="zh-CN" sz="3200">
                <a:latin typeface="Times New Roman" panose="02020603050405020304" pitchFamily="18" charset="0"/>
              </a:rPr>
              <a:t>=q</a:t>
            </a:r>
            <a:r>
              <a:rPr lang="en-US" altLang="zh-CN" sz="3200" baseline="-30000">
                <a:latin typeface="Times New Roman" panose="02020603050405020304" pitchFamily="18" charset="0"/>
              </a:rPr>
              <a:t>n</a:t>
            </a:r>
            <a:r>
              <a:rPr lang="en-US" altLang="zh-CN" sz="3200">
                <a:latin typeface="Times New Roman" panose="02020603050405020304" pitchFamily="18" charset="0"/>
              </a:rPr>
              <a:t>r</a:t>
            </a:r>
            <a:r>
              <a:rPr lang="en-US" altLang="zh-CN" sz="3200" baseline="-30000">
                <a:latin typeface="Times New Roman" panose="02020603050405020304" pitchFamily="18" charset="0"/>
              </a:rPr>
              <a:t>n-1</a:t>
            </a:r>
            <a:r>
              <a:rPr lang="en-US" altLang="zh-CN" sz="3200">
                <a:latin typeface="Times New Roman" panose="02020603050405020304" pitchFamily="18" charset="0"/>
              </a:rPr>
              <a:t>+r</a:t>
            </a:r>
            <a:r>
              <a:rPr lang="en-US" altLang="zh-CN" sz="3200" baseline="-30000">
                <a:latin typeface="Times New Roman" panose="02020603050405020304" pitchFamily="18" charset="0"/>
              </a:rPr>
              <a:t>n</a:t>
            </a:r>
            <a:br>
              <a:rPr lang="en-US" altLang="zh-CN" sz="3200" baseline="-30000">
                <a:latin typeface="Times New Roman" panose="02020603050405020304" pitchFamily="18" charset="0"/>
              </a:rPr>
            </a:br>
            <a:r>
              <a:rPr lang="en-US" altLang="zh-CN" sz="3200" baseline="-30000">
                <a:latin typeface="Times New Roman" panose="02020603050405020304" pitchFamily="18" charset="0"/>
              </a:rPr>
              <a:t>	</a:t>
            </a:r>
            <a:r>
              <a:rPr lang="en-US" altLang="zh-CN" sz="3200">
                <a:latin typeface="Times New Roman" panose="02020603050405020304" pitchFamily="18" charset="0"/>
              </a:rPr>
              <a:t>r</a:t>
            </a:r>
            <a:r>
              <a:rPr lang="en-US" altLang="zh-CN" sz="3200" baseline="-30000">
                <a:latin typeface="Times New Roman" panose="02020603050405020304" pitchFamily="18" charset="0"/>
              </a:rPr>
              <a:t>n-1</a:t>
            </a:r>
            <a:r>
              <a:rPr lang="en-US" altLang="zh-CN" sz="3200">
                <a:latin typeface="Times New Roman" panose="02020603050405020304" pitchFamily="18" charset="0"/>
              </a:rPr>
              <a:t>=q</a:t>
            </a:r>
            <a:r>
              <a:rPr lang="en-US" altLang="zh-CN" sz="3200" baseline="-30000">
                <a:latin typeface="Times New Roman" panose="02020603050405020304" pitchFamily="18" charset="0"/>
              </a:rPr>
              <a:t>n+1</a:t>
            </a:r>
            <a:r>
              <a:rPr lang="en-US" altLang="zh-CN" sz="3200">
                <a:latin typeface="Times New Roman" panose="02020603050405020304" pitchFamily="18" charset="0"/>
              </a:rPr>
              <a:t>r</a:t>
            </a:r>
            <a:r>
              <a:rPr lang="en-US" altLang="zh-CN" sz="3200" baseline="-30000">
                <a:latin typeface="Times New Roman" panose="02020603050405020304" pitchFamily="18" charset="0"/>
              </a:rPr>
              <a:t>n</a:t>
            </a:r>
            <a:r>
              <a:rPr lang="en-US" altLang="zh-CN" sz="3200">
                <a:latin typeface="宋体" panose="02010600030101010101" pitchFamily="2" charset="-122"/>
              </a:rPr>
              <a:t>。</a:t>
            </a:r>
            <a:r>
              <a:rPr lang="en-US" altLang="zh-CN" sz="3200">
                <a:latin typeface="Times New Roman" panose="02020603050405020304" pitchFamily="18" charset="0"/>
              </a:rPr>
              <a:t> 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128011" name="Group 11">
            <a:extLst>
              <a:ext uri="{FF2B5EF4-FFF2-40B4-BE49-F238E27FC236}">
                <a16:creationId xmlns:a16="http://schemas.microsoft.com/office/drawing/2014/main" id="{DDF64093-2519-F445-82F2-767A4E4B0A66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676400"/>
            <a:ext cx="1463675" cy="4191000"/>
            <a:chOff x="4070" y="1008"/>
            <a:chExt cx="922" cy="2640"/>
          </a:xfrm>
        </p:grpSpPr>
        <p:sp>
          <p:nvSpPr>
            <p:cNvPr id="18438" name="AutoShape 9">
              <a:extLst>
                <a:ext uri="{FF2B5EF4-FFF2-40B4-BE49-F238E27FC236}">
                  <a16:creationId xmlns:a16="http://schemas.microsoft.com/office/drawing/2014/main" id="{96DA2C3A-E1EE-F645-BA59-1AEAA577B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1008"/>
              <a:ext cx="384" cy="2640"/>
            </a:xfrm>
            <a:prstGeom prst="rightBrace">
              <a:avLst>
                <a:gd name="adj1" fmla="val 57292"/>
                <a:gd name="adj2" fmla="val 50000"/>
              </a:avLst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5846" name="Text Box 10">
              <a:extLst>
                <a:ext uri="{FF2B5EF4-FFF2-40B4-BE49-F238E27FC236}">
                  <a16:creationId xmlns:a16="http://schemas.microsoft.com/office/drawing/2014/main" id="{CE15C6FF-09C0-EB4E-8C2D-28D304658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2092"/>
              <a:ext cx="44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200">
                  <a:solidFill>
                    <a:schemeClr val="tx2"/>
                  </a:solidFill>
                  <a:latin typeface="Times New Roman" panose="02020603050405020304" pitchFamily="18" charset="0"/>
                </a:rPr>
                <a:t>(1)</a:t>
              </a:r>
            </a:p>
          </p:txBody>
        </p:sp>
      </p:grp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0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80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80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80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80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28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5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Number Placeholder 5">
            <a:extLst>
              <a:ext uri="{FF2B5EF4-FFF2-40B4-BE49-F238E27FC236}">
                <a16:creationId xmlns:a16="http://schemas.microsoft.com/office/drawing/2014/main" id="{C47A0FF8-F9C8-6244-8AA1-98869043C1F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E5AA6D6-236F-7541-825F-C585B27BB6F9}" type="slidenum">
              <a:rPr kumimoji="0" lang="zh-CN" altLang="en-US" sz="1200"/>
              <a:pPr/>
              <a:t>17</a:t>
            </a:fld>
            <a:endParaRPr kumimoji="0" lang="en-US" altLang="zh-CN" sz="1200"/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9932BC56-BE26-E64F-94EF-28665A1D76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952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定理5.1.2 </a:t>
            </a:r>
            <a:endParaRPr lang="en-US" altLang="zh-CN" dirty="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129026" name="Rectangle 2">
            <a:extLst>
              <a:ext uri="{FF2B5EF4-FFF2-40B4-BE49-F238E27FC236}">
                <a16:creationId xmlns:a16="http://schemas.microsoft.com/office/drawing/2014/main" id="{26AF2846-423F-E04D-AFF6-20C3BA98E29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915400" cy="3886200"/>
          </a:xfrm>
        </p:spPr>
        <p:txBody>
          <a:bodyPr/>
          <a:lstStyle/>
          <a:p>
            <a:pPr marL="346075" indent="-346075">
              <a:lnSpc>
                <a:spcPct val="115000"/>
              </a:lnSpc>
              <a:spcBef>
                <a:spcPct val="60000"/>
              </a:spcBef>
            </a:pP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任意二整数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a，b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有最高公因数。 </a:t>
            </a:r>
          </a:p>
          <a:p>
            <a:pPr marL="346075" indent="-346075">
              <a:lnSpc>
                <a:spcPct val="115000"/>
              </a:lnSpc>
              <a:spcBef>
                <a:spcPct val="60000"/>
              </a:spcBef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上面求最高公因数的方法叫做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辗转相除法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。对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a，b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使用辗转相除得到的最后一个非0余项(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即为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a，b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的最高公因数。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6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Number Placeholder 5">
            <a:extLst>
              <a:ext uri="{FF2B5EF4-FFF2-40B4-BE49-F238E27FC236}">
                <a16:creationId xmlns:a16="http://schemas.microsoft.com/office/drawing/2014/main" id="{E46AAA3E-46E7-894E-8D51-BA33476B71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CD258D8-562D-F444-AD85-6761A287356B}" type="slidenum">
              <a:rPr kumimoji="0" lang="zh-CN" altLang="en-US" sz="1200"/>
              <a:pPr/>
              <a:t>18</a:t>
            </a:fld>
            <a:endParaRPr kumimoji="0" lang="en-US" altLang="zh-CN" sz="1200"/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4252B7DC-9824-A049-ACF4-068EAB2D5D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952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定理5.1.3 </a:t>
            </a:r>
            <a:endParaRPr lang="en-US" altLang="zh-CN" dirty="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132098" name="Rectangle 2">
            <a:extLst>
              <a:ext uri="{FF2B5EF4-FFF2-40B4-BE49-F238E27FC236}">
                <a16:creationId xmlns:a16="http://schemas.microsoft.com/office/drawing/2014/main" id="{6910B5C7-8BF1-2C4A-BC4E-5801BD6B9F1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839200" cy="4495800"/>
          </a:xfrm>
        </p:spPr>
        <p:txBody>
          <a:bodyPr/>
          <a:lstStyle/>
          <a:p>
            <a:pPr marL="361950" indent="-361950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任意二整数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a，b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的最高公因数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可以表示为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a，b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的倍数和，即表为下面的形式：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		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d=sa+tb </a:t>
            </a:r>
            <a:b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其中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s，t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都是整数。</a:t>
            </a:r>
          </a:p>
          <a:p>
            <a:pPr marL="361950" indent="-361950"/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证明：(方法一）</a:t>
            </a:r>
            <a:endParaRPr kumimoji="0" lang="en-US" altLang="zh-CN" sz="320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361950" indent="-361950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由辗转相除法知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d=r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只需证明对每一个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i(i=1,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,n)，r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都可以表示成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=s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a+t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的形式。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2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8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Number Placeholder 5">
            <a:extLst>
              <a:ext uri="{FF2B5EF4-FFF2-40B4-BE49-F238E27FC236}">
                <a16:creationId xmlns:a16="http://schemas.microsoft.com/office/drawing/2014/main" id="{744DD9C1-717F-984E-9F80-9204D03AE9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8B89B97-04D8-EE44-A653-B18A2BC625DB}" type="slidenum">
              <a:rPr kumimoji="0" lang="zh-CN" altLang="en-US" sz="1200"/>
              <a:pPr/>
              <a:t>19</a:t>
            </a:fld>
            <a:endParaRPr kumimoji="0" lang="en-US" altLang="zh-CN" sz="1200"/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1604556B-60CA-8C41-890B-39836F8883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定理5.1.3 </a:t>
            </a:r>
            <a:endParaRPr lang="en-US" altLang="zh-CN" dirty="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133122" name="Rectangle 2">
            <a:extLst>
              <a:ext uri="{FF2B5EF4-FFF2-40B4-BE49-F238E27FC236}">
                <a16:creationId xmlns:a16="http://schemas.microsoft.com/office/drawing/2014/main" id="{BE59A8A1-B3BE-B24B-BAA6-0F610F4E7CF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915400" cy="4876800"/>
          </a:xfrm>
        </p:spPr>
        <p:txBody>
          <a:bodyPr/>
          <a:lstStyle/>
          <a:p>
            <a:pPr marL="361950" indent="-361950"/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i=1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r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=a-q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b。</a:t>
            </a:r>
          </a:p>
          <a:p>
            <a:pPr marL="361950" indent="-361950"/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i=2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r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=b-r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=b-(a-bq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)q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=-aq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+b+bq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br>
              <a:rPr kumimoji="0" lang="zh-CN" altLang="en-US" sz="2800" baseline="-300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2800" baseline="-30000">
                <a:latin typeface="Times New Roman" panose="02020603050405020304" pitchFamily="18" charset="0"/>
                <a:ea typeface="楷体_GB2312" pitchFamily="49" charset="-122"/>
              </a:rPr>
              <a:t>				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=-q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a+(1+q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)b。</a:t>
            </a:r>
          </a:p>
          <a:p>
            <a:pPr marL="361950" indent="-361950"/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假设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m-1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，r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m-2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，3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n，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分别有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t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及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t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使得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m-2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=s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a+t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b，r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m-1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=s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a+t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b，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下面说明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也可以表示成这种形式。</a:t>
            </a:r>
          </a:p>
          <a:p>
            <a:pPr marL="361950" indent="-361950" algn="just">
              <a:buFont typeface="Wingdings" pitchFamily="2" charset="2"/>
              <a:buNone/>
            </a:pP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	r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= -r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m-1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+r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m-2</a:t>
            </a:r>
            <a:endParaRPr kumimoji="0" lang="en-US" altLang="zh-CN" sz="28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61950" indent="-361950" algn="just">
              <a:buFont typeface="Wingdings" pitchFamily="2" charset="2"/>
              <a:buNone/>
            </a:pP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 	    =-(s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a+t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b)q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+s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a+t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b</a:t>
            </a:r>
          </a:p>
          <a:p>
            <a:pPr marL="361950" indent="-361950" algn="just">
              <a:buFont typeface="Wingdings" pitchFamily="2" charset="2"/>
              <a:buNone/>
            </a:pP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 	    =(s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-s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)a+(t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-t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)b </a:t>
            </a:r>
          </a:p>
          <a:p>
            <a:pPr marL="361950" indent="-361950"/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因此对一切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i (i=1,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, n)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成立。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2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Number Placeholder 5">
            <a:extLst>
              <a:ext uri="{FF2B5EF4-FFF2-40B4-BE49-F238E27FC236}">
                <a16:creationId xmlns:a16="http://schemas.microsoft.com/office/drawing/2014/main" id="{13D014DE-6B19-2043-9519-7543D79B64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3957268-A9E7-3E41-A4D4-E504C1064066}" type="slidenum">
              <a:rPr kumimoji="0" lang="zh-CN" altLang="en-US" sz="1200"/>
              <a:pPr/>
              <a:t>20</a:t>
            </a:fld>
            <a:endParaRPr kumimoji="0" lang="en-US" altLang="zh-CN" sz="1200"/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FE66E5F8-586A-864C-9B71-209BFFFBFA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4714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定理5.1.3 </a:t>
            </a:r>
            <a:endParaRPr lang="en-US" altLang="zh-CN" dirty="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134146" name="Rectangle 2">
            <a:extLst>
              <a:ext uri="{FF2B5EF4-FFF2-40B4-BE49-F238E27FC236}">
                <a16:creationId xmlns:a16="http://schemas.microsoft.com/office/drawing/2014/main" id="{928F1635-95F4-CF44-AACB-E2E808B9DEB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600200"/>
            <a:ext cx="8915400" cy="1905000"/>
          </a:xfrm>
        </p:spPr>
        <p:txBody>
          <a:bodyPr/>
          <a:lstStyle/>
          <a:p>
            <a:pPr marL="361950" indent="-361950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(方法二）</a:t>
            </a:r>
            <a:endParaRPr kumimoji="0" lang="en-US" altLang="zh-CN" sz="320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361950" indent="-361950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a，b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中有一个整除另一个，不妨假设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b|a，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d=b=0a+1b，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得证。 </a:t>
            </a:r>
          </a:p>
        </p:txBody>
      </p:sp>
      <p:grpSp>
        <p:nvGrpSpPr>
          <p:cNvPr id="134152" name="Group 8">
            <a:extLst>
              <a:ext uri="{FF2B5EF4-FFF2-40B4-BE49-F238E27FC236}">
                <a16:creationId xmlns:a16="http://schemas.microsoft.com/office/drawing/2014/main" id="{2B7D76AF-6CEF-3243-AE6F-FA2A6E36EDD1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581400"/>
            <a:ext cx="8229600" cy="2362200"/>
            <a:chOff x="48" y="2016"/>
            <a:chExt cx="5184" cy="1488"/>
          </a:xfrm>
        </p:grpSpPr>
        <p:sp>
          <p:nvSpPr>
            <p:cNvPr id="40965" name="Rectangle 5">
              <a:extLst>
                <a:ext uri="{FF2B5EF4-FFF2-40B4-BE49-F238E27FC236}">
                  <a16:creationId xmlns:a16="http://schemas.microsoft.com/office/drawing/2014/main" id="{39284384-50D2-FF40-B077-879DC540C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" y="2016"/>
              <a:ext cx="5184" cy="1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619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2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现设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a|b，b|a。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由辗转相除得(1)中各式。对(1)中各式各补充一个关于除数的恒等式，如第一式补上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b=b，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并表示成矩阵形式。</a:t>
              </a:r>
            </a:p>
          </p:txBody>
        </p:sp>
        <p:sp>
          <p:nvSpPr>
            <p:cNvPr id="22535" name="Line 6">
              <a:extLst>
                <a:ext uri="{FF2B5EF4-FFF2-40B4-BE49-F238E27FC236}">
                  <a16:creationId xmlns:a16="http://schemas.microsoft.com/office/drawing/2014/main" id="{43B7505E-FFAB-0B42-940C-57D3F5D16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160"/>
              <a:ext cx="96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2536" name="Line 7">
              <a:extLst>
                <a:ext uri="{FF2B5EF4-FFF2-40B4-BE49-F238E27FC236}">
                  <a16:creationId xmlns:a16="http://schemas.microsoft.com/office/drawing/2014/main" id="{BA986D45-00B1-A04E-9F5A-736EA20A49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160"/>
              <a:ext cx="96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Number Placeholder 5">
            <a:extLst>
              <a:ext uri="{FF2B5EF4-FFF2-40B4-BE49-F238E27FC236}">
                <a16:creationId xmlns:a16="http://schemas.microsoft.com/office/drawing/2014/main" id="{81A0FA99-5709-2C40-A84A-F0E609DC63E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F34406E-0327-4645-9410-E7F46C6CE85E}" type="slidenum">
              <a:rPr kumimoji="0" lang="zh-CN" altLang="en-US" sz="1200"/>
              <a:pPr/>
              <a:t>21</a:t>
            </a:fld>
            <a:endParaRPr kumimoji="0" lang="en-US" altLang="zh-CN" sz="1200"/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85C08308-855D-D548-A962-B90F69BC3E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定理5.1.3 </a:t>
            </a:r>
            <a:endParaRPr lang="en-US" altLang="zh-CN" dirty="0">
              <a:latin typeface="Times New Roman" charset="0"/>
              <a:ea typeface="楷体_GB2312" charset="0"/>
              <a:cs typeface="+mj-cs"/>
            </a:endParaRPr>
          </a:p>
        </p:txBody>
      </p:sp>
      <p:grpSp>
        <p:nvGrpSpPr>
          <p:cNvPr id="41987" name="Group 11">
            <a:extLst>
              <a:ext uri="{FF2B5EF4-FFF2-40B4-BE49-F238E27FC236}">
                <a16:creationId xmlns:a16="http://schemas.microsoft.com/office/drawing/2014/main" id="{583D0330-1C0D-FA44-B900-2D23FD464E83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1266825"/>
            <a:ext cx="7440613" cy="2297113"/>
            <a:chOff x="144" y="798"/>
            <a:chExt cx="4687" cy="1447"/>
          </a:xfrm>
        </p:grpSpPr>
        <p:graphicFrame>
          <p:nvGraphicFramePr>
            <p:cNvPr id="41991" name="Object 4">
              <a:extLst>
                <a:ext uri="{FF2B5EF4-FFF2-40B4-BE49-F238E27FC236}">
                  <a16:creationId xmlns:a16="http://schemas.microsoft.com/office/drawing/2014/main" id="{C07569DC-29D8-EF4E-9C7D-1A73130A93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2" y="1344"/>
            <a:ext cx="3919" cy="9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07" name="公式" r:id="rId3" imgW="2374900" imgH="533400" progId="Equation.3">
                    <p:embed/>
                  </p:oleObj>
                </mc:Choice>
                <mc:Fallback>
                  <p:oleObj name="公式" r:id="rId3" imgW="2374900" imgH="5334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1344"/>
                          <a:ext cx="3919" cy="9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92" name="Rectangle 6">
              <a:extLst>
                <a:ext uri="{FF2B5EF4-FFF2-40B4-BE49-F238E27FC236}">
                  <a16:creationId xmlns:a16="http://schemas.microsoft.com/office/drawing/2014/main" id="{479AF2A5-C7FE-2A40-84BD-E70711CD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798"/>
              <a:ext cx="238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2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zh-CN" altLang="en-US" sz="3200">
                  <a:latin typeface="楷体_GB2312" pitchFamily="49" charset="-122"/>
                  <a:ea typeface="楷体_GB2312" pitchFamily="49" charset="-122"/>
                </a:rPr>
                <a:t>则由(1)的第一式知 :</a:t>
              </a:r>
            </a:p>
          </p:txBody>
        </p:sp>
      </p:grpSp>
      <p:grpSp>
        <p:nvGrpSpPr>
          <p:cNvPr id="135180" name="Group 12">
            <a:extLst>
              <a:ext uri="{FF2B5EF4-FFF2-40B4-BE49-F238E27FC236}">
                <a16:creationId xmlns:a16="http://schemas.microsoft.com/office/drawing/2014/main" id="{0FDD9355-59E5-9C43-B98A-138BB4B24B99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889375"/>
            <a:ext cx="7383463" cy="2359025"/>
            <a:chOff x="139" y="2294"/>
            <a:chExt cx="4651" cy="1486"/>
          </a:xfrm>
        </p:grpSpPr>
        <p:sp>
          <p:nvSpPr>
            <p:cNvPr id="41989" name="Rectangle 7">
              <a:extLst>
                <a:ext uri="{FF2B5EF4-FFF2-40B4-BE49-F238E27FC236}">
                  <a16:creationId xmlns:a16="http://schemas.microsoft.com/office/drawing/2014/main" id="{0DB26774-4B04-FC4E-A09F-F1C687E6F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" y="2294"/>
              <a:ext cx="212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2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zh-CN" altLang="en-US" sz="3200">
                  <a:latin typeface="楷体_GB2312" pitchFamily="49" charset="-122"/>
                  <a:ea typeface="楷体_GB2312" pitchFamily="49" charset="-122"/>
                </a:rPr>
                <a:t>由(1)的第二式知 :</a:t>
              </a:r>
            </a:p>
          </p:txBody>
        </p:sp>
        <p:graphicFrame>
          <p:nvGraphicFramePr>
            <p:cNvPr id="41990" name="Object 8">
              <a:extLst>
                <a:ext uri="{FF2B5EF4-FFF2-40B4-BE49-F238E27FC236}">
                  <a16:creationId xmlns:a16="http://schemas.microsoft.com/office/drawing/2014/main" id="{79124F4C-1EE5-254A-B784-7669C6DC7F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3" y="2880"/>
            <a:ext cx="3787" cy="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08" name="公式" r:id="rId5" imgW="2463800" imgH="571500" progId="Equation.3">
                    <p:embed/>
                  </p:oleObj>
                </mc:Choice>
                <mc:Fallback>
                  <p:oleObj name="公式" r:id="rId5" imgW="2463800" imgH="5715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3" y="2880"/>
                          <a:ext cx="3787" cy="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Number Placeholder 5">
            <a:extLst>
              <a:ext uri="{FF2B5EF4-FFF2-40B4-BE49-F238E27FC236}">
                <a16:creationId xmlns:a16="http://schemas.microsoft.com/office/drawing/2014/main" id="{7D1C7DCB-3BFC-774A-B6FF-02EDC6C57CE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3749E48-5D7F-374F-87DF-6C7FD56D3B87}" type="slidenum">
              <a:rPr kumimoji="0" lang="zh-CN" altLang="en-US" sz="1200"/>
              <a:pPr/>
              <a:t>22</a:t>
            </a:fld>
            <a:endParaRPr kumimoji="0" lang="en-US" altLang="zh-CN" sz="1200"/>
          </a:p>
        </p:txBody>
      </p:sp>
      <p:sp>
        <p:nvSpPr>
          <p:cNvPr id="136194" name="Rectangle 2">
            <a:extLst>
              <a:ext uri="{FF2B5EF4-FFF2-40B4-BE49-F238E27FC236}">
                <a16:creationId xmlns:a16="http://schemas.microsoft.com/office/drawing/2014/main" id="{846B1314-C5D0-A249-B362-C6115DC866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190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定理5.1.3 </a:t>
            </a:r>
            <a:endParaRPr lang="en-US" altLang="zh-CN" dirty="0">
              <a:latin typeface="Times New Roman" charset="0"/>
              <a:ea typeface="楷体_GB2312" charset="0"/>
              <a:cs typeface="+mj-cs"/>
            </a:endParaRPr>
          </a:p>
        </p:txBody>
      </p:sp>
      <p:grpSp>
        <p:nvGrpSpPr>
          <p:cNvPr id="43011" name="Group 16">
            <a:extLst>
              <a:ext uri="{FF2B5EF4-FFF2-40B4-BE49-F238E27FC236}">
                <a16:creationId xmlns:a16="http://schemas.microsoft.com/office/drawing/2014/main" id="{D1C57A2E-5B6A-F54F-A9BD-F651D90F22DC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447800"/>
            <a:ext cx="7980363" cy="2330450"/>
            <a:chOff x="420" y="931"/>
            <a:chExt cx="5027" cy="1468"/>
          </a:xfrm>
        </p:grpSpPr>
        <p:sp>
          <p:nvSpPr>
            <p:cNvPr id="43015" name="Rectangle 6">
              <a:extLst>
                <a:ext uri="{FF2B5EF4-FFF2-40B4-BE49-F238E27FC236}">
                  <a16:creationId xmlns:a16="http://schemas.microsoft.com/office/drawing/2014/main" id="{AE3E0BE4-43FD-D84D-AAC3-940A3BF4E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" y="931"/>
              <a:ext cx="130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2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zh-CN" altLang="en-US" sz="3200">
                  <a:latin typeface="楷体_GB2312" pitchFamily="49" charset="-122"/>
                  <a:ea typeface="楷体_GB2312" pitchFamily="49" charset="-122"/>
                </a:rPr>
                <a:t>依此类推 :</a:t>
              </a:r>
            </a:p>
          </p:txBody>
        </p:sp>
        <p:graphicFrame>
          <p:nvGraphicFramePr>
            <p:cNvPr id="43016" name="Object 10">
              <a:extLst>
                <a:ext uri="{FF2B5EF4-FFF2-40B4-BE49-F238E27FC236}">
                  <a16:creationId xmlns:a16="http://schemas.microsoft.com/office/drawing/2014/main" id="{62E2F1E2-45BB-F04F-9499-6C4254ACD7B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0" y="1443"/>
            <a:ext cx="4967" cy="9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31" name="公式" r:id="rId3" imgW="3073400" imgH="571500" progId="Equation.3">
                    <p:embed/>
                  </p:oleObj>
                </mc:Choice>
                <mc:Fallback>
                  <p:oleObj name="公式" r:id="rId3" imgW="3073400" imgH="5715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1443"/>
                          <a:ext cx="4967" cy="9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6209" name="Group 17">
            <a:extLst>
              <a:ext uri="{FF2B5EF4-FFF2-40B4-BE49-F238E27FC236}">
                <a16:creationId xmlns:a16="http://schemas.microsoft.com/office/drawing/2014/main" id="{E6A99370-44E6-A24F-8C98-261A269F1AF0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962400"/>
            <a:ext cx="7453313" cy="2017713"/>
            <a:chOff x="563" y="2526"/>
            <a:chExt cx="4695" cy="1271"/>
          </a:xfrm>
        </p:grpSpPr>
        <p:sp>
          <p:nvSpPr>
            <p:cNvPr id="43013" name="Rectangle 12">
              <a:extLst>
                <a:ext uri="{FF2B5EF4-FFF2-40B4-BE49-F238E27FC236}">
                  <a16:creationId xmlns:a16="http://schemas.microsoft.com/office/drawing/2014/main" id="{75CA650C-7154-E248-915F-DC7D7C188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" y="2526"/>
              <a:ext cx="37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2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zh-CN" altLang="en-US" sz="3200">
                  <a:latin typeface="楷体_GB2312" pitchFamily="49" charset="-122"/>
                  <a:ea typeface="楷体_GB2312" pitchFamily="49" charset="-122"/>
                </a:rPr>
                <a:t>令 </a:t>
              </a:r>
            </a:p>
          </p:txBody>
        </p:sp>
        <p:graphicFrame>
          <p:nvGraphicFramePr>
            <p:cNvPr id="43014" name="Object 14">
              <a:extLst>
                <a:ext uri="{FF2B5EF4-FFF2-40B4-BE49-F238E27FC236}">
                  <a16:creationId xmlns:a16="http://schemas.microsoft.com/office/drawing/2014/main" id="{D50CE613-810D-0D41-9969-8CB275B437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34" y="2846"/>
            <a:ext cx="4224" cy="9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32" name="公式" r:id="rId5" imgW="2590800" imgH="571500" progId="Equation.3">
                    <p:embed/>
                  </p:oleObj>
                </mc:Choice>
                <mc:Fallback>
                  <p:oleObj name="公式" r:id="rId5" imgW="2590800" imgH="5715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4" y="2846"/>
                          <a:ext cx="4224" cy="9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Number Placeholder 5">
            <a:extLst>
              <a:ext uri="{FF2B5EF4-FFF2-40B4-BE49-F238E27FC236}">
                <a16:creationId xmlns:a16="http://schemas.microsoft.com/office/drawing/2014/main" id="{71EF2531-EF5E-1F4B-B532-FF544932E5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687895A-E98D-0246-A12B-EA1E40A19800}" type="slidenum">
              <a:rPr kumimoji="0" lang="zh-CN" altLang="en-US" sz="1200"/>
              <a:pPr/>
              <a:t>23</a:t>
            </a:fld>
            <a:endParaRPr kumimoji="0" lang="en-US" altLang="zh-CN" sz="1200"/>
          </a:p>
        </p:txBody>
      </p:sp>
      <p:sp>
        <p:nvSpPr>
          <p:cNvPr id="137218" name="Rectangle 2">
            <a:extLst>
              <a:ext uri="{FF2B5EF4-FFF2-40B4-BE49-F238E27FC236}">
                <a16:creationId xmlns:a16="http://schemas.microsoft.com/office/drawing/2014/main" id="{1884B9E0-A214-4849-8FB0-EB30B0C5A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190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定理5.1.3 </a:t>
            </a:r>
            <a:endParaRPr lang="en-US" altLang="zh-CN" dirty="0">
              <a:latin typeface="Times New Roman" charset="0"/>
              <a:ea typeface="楷体_GB2312" charset="0"/>
              <a:cs typeface="+mj-cs"/>
            </a:endParaRPr>
          </a:p>
        </p:txBody>
      </p:sp>
      <p:grpSp>
        <p:nvGrpSpPr>
          <p:cNvPr id="137228" name="Group 12">
            <a:extLst>
              <a:ext uri="{FF2B5EF4-FFF2-40B4-BE49-F238E27FC236}">
                <a16:creationId xmlns:a16="http://schemas.microsoft.com/office/drawing/2014/main" id="{02FE9359-DFC2-8646-931D-4A9C0EC58F8B}"/>
              </a:ext>
            </a:extLst>
          </p:cNvPr>
          <p:cNvGrpSpPr>
            <a:grpSpLocks/>
          </p:cNvGrpSpPr>
          <p:nvPr/>
        </p:nvGrpSpPr>
        <p:grpSpPr bwMode="auto">
          <a:xfrm>
            <a:off x="503238" y="3679825"/>
            <a:ext cx="7954962" cy="2339975"/>
            <a:chOff x="144" y="2362"/>
            <a:chExt cx="4916" cy="1494"/>
          </a:xfrm>
        </p:grpSpPr>
        <p:sp>
          <p:nvSpPr>
            <p:cNvPr id="44039" name="Rectangle 7">
              <a:extLst>
                <a:ext uri="{FF2B5EF4-FFF2-40B4-BE49-F238E27FC236}">
                  <a16:creationId xmlns:a16="http://schemas.microsoft.com/office/drawing/2014/main" id="{64708A4D-26C0-BB45-8019-01D58AD98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362"/>
              <a:ext cx="368" cy="3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2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zh-CN" altLang="en-US" sz="3200">
                  <a:latin typeface="楷体_GB2312" pitchFamily="49" charset="-122"/>
                  <a:ea typeface="楷体_GB2312" pitchFamily="49" charset="-122"/>
                </a:rPr>
                <a:t>又 </a:t>
              </a:r>
            </a:p>
          </p:txBody>
        </p:sp>
        <p:graphicFrame>
          <p:nvGraphicFramePr>
            <p:cNvPr id="44040" name="Object 8">
              <a:extLst>
                <a:ext uri="{FF2B5EF4-FFF2-40B4-BE49-F238E27FC236}">
                  <a16:creationId xmlns:a16="http://schemas.microsoft.com/office/drawing/2014/main" id="{2AC7D456-4F41-BB40-A381-86B5AFA3F5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1" y="2915"/>
            <a:ext cx="4539" cy="9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55" name="公式" r:id="rId3" imgW="2540000" imgH="533400" progId="Equation.3">
                    <p:embed/>
                  </p:oleObj>
                </mc:Choice>
                <mc:Fallback>
                  <p:oleObj name="公式" r:id="rId3" imgW="2540000" imgH="5334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2915"/>
                          <a:ext cx="4539" cy="9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036" name="Group 11">
            <a:extLst>
              <a:ext uri="{FF2B5EF4-FFF2-40B4-BE49-F238E27FC236}">
                <a16:creationId xmlns:a16="http://schemas.microsoft.com/office/drawing/2014/main" id="{ED2D83D2-9724-6246-8083-F9069F4837E9}"/>
              </a:ext>
            </a:extLst>
          </p:cNvPr>
          <p:cNvGrpSpPr>
            <a:grpSpLocks/>
          </p:cNvGrpSpPr>
          <p:nvPr/>
        </p:nvGrpSpPr>
        <p:grpSpPr bwMode="auto">
          <a:xfrm>
            <a:off x="530225" y="1422400"/>
            <a:ext cx="7013575" cy="2387600"/>
            <a:chOff x="144" y="798"/>
            <a:chExt cx="4418" cy="1504"/>
          </a:xfrm>
        </p:grpSpPr>
        <p:sp>
          <p:nvSpPr>
            <p:cNvPr id="137220" name="Rectangle 4">
              <a:extLst>
                <a:ext uri="{FF2B5EF4-FFF2-40B4-BE49-F238E27FC236}">
                  <a16:creationId xmlns:a16="http://schemas.microsoft.com/office/drawing/2014/main" id="{4BC41745-D2FB-C742-92BD-CD2D86131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798"/>
              <a:ext cx="37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2"/>
                </a:buClr>
                <a:buFont typeface="Wingdings" pitchFamily="2" charset="2"/>
                <a:buNone/>
                <a:defRPr/>
              </a:pPr>
              <a:r>
                <a:rPr kumimoji="1" lang="zh-CN" altLang="en-US" sz="3200">
                  <a:latin typeface="宋体" pitchFamily="2" charset="-122"/>
                  <a:ea typeface="楷体_GB2312" pitchFamily="49" charset="-122"/>
                </a:rPr>
                <a:t>则</a:t>
              </a:r>
              <a:endParaRPr kumimoji="1" lang="zh-CN" altLang="en-US" sz="3200">
                <a:latin typeface="Times New Roman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44038" name="Object 9">
              <a:extLst>
                <a:ext uri="{FF2B5EF4-FFF2-40B4-BE49-F238E27FC236}">
                  <a16:creationId xmlns:a16="http://schemas.microsoft.com/office/drawing/2014/main" id="{37A6014D-6C93-D147-BF42-E56CBB6E1B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6" y="1198"/>
            <a:ext cx="3266" cy="1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56" name="公式" r:id="rId5" imgW="1739900" imgH="571500" progId="Equation.3">
                    <p:embed/>
                  </p:oleObj>
                </mc:Choice>
                <mc:Fallback>
                  <p:oleObj name="公式" r:id="rId5" imgW="1739900" imgH="5715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1198"/>
                          <a:ext cx="3266" cy="1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Number Placeholder 5">
            <a:extLst>
              <a:ext uri="{FF2B5EF4-FFF2-40B4-BE49-F238E27FC236}">
                <a16:creationId xmlns:a16="http://schemas.microsoft.com/office/drawing/2014/main" id="{FA92E047-2335-934C-A5D8-228249220A6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A76D21-C4F1-DA45-A02A-948E9473A9A0}" type="slidenum">
              <a:rPr kumimoji="0" lang="zh-CN" altLang="en-US" sz="1200"/>
              <a:pPr/>
              <a:t>24</a:t>
            </a:fld>
            <a:endParaRPr kumimoji="0" lang="en-US" altLang="zh-CN" sz="1200"/>
          </a:p>
        </p:txBody>
      </p:sp>
      <p:sp>
        <p:nvSpPr>
          <p:cNvPr id="138242" name="Rectangle 2">
            <a:extLst>
              <a:ext uri="{FF2B5EF4-FFF2-40B4-BE49-F238E27FC236}">
                <a16:creationId xmlns:a16="http://schemas.microsoft.com/office/drawing/2014/main" id="{3D3E5A06-CDDB-224D-BE31-F5789D7B5D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952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定理5.1.3 </a:t>
            </a:r>
            <a:endParaRPr lang="en-US" altLang="zh-CN" dirty="0">
              <a:latin typeface="Times New Roman" charset="0"/>
              <a:ea typeface="楷体_GB2312" charset="0"/>
              <a:cs typeface="+mj-cs"/>
            </a:endParaRPr>
          </a:p>
        </p:txBody>
      </p:sp>
      <p:grpSp>
        <p:nvGrpSpPr>
          <p:cNvPr id="45059" name="Group 9">
            <a:extLst>
              <a:ext uri="{FF2B5EF4-FFF2-40B4-BE49-F238E27FC236}">
                <a16:creationId xmlns:a16="http://schemas.microsoft.com/office/drawing/2014/main" id="{EFB89D21-CE79-194B-B7A6-CB9BA35531D8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436688"/>
            <a:ext cx="6505575" cy="1535112"/>
            <a:chOff x="144" y="208"/>
            <a:chExt cx="4664" cy="1481"/>
          </a:xfrm>
        </p:grpSpPr>
        <p:sp>
          <p:nvSpPr>
            <p:cNvPr id="26632" name="Rectangle 3">
              <a:extLst>
                <a:ext uri="{FF2B5EF4-FFF2-40B4-BE49-F238E27FC236}">
                  <a16:creationId xmlns:a16="http://schemas.microsoft.com/office/drawing/2014/main" id="{7A5F08B2-5E7E-1F48-B087-A5DED35D1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798"/>
              <a:ext cx="427" cy="5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2"/>
                </a:buClr>
                <a:buFont typeface="Wingdings" charset="0"/>
                <a:buNone/>
                <a:defRPr/>
              </a:pPr>
              <a:r>
                <a:rPr kumimoji="1" lang="zh-CN" altLang="en-US" sz="3200" dirty="0">
                  <a:latin typeface="宋体" charset="0"/>
                  <a:ea typeface="楷体_GB2312" charset="0"/>
                  <a:cs typeface="楷体_GB2312" charset="0"/>
                </a:rPr>
                <a:t>故</a:t>
              </a:r>
              <a:endParaRPr kumimoji="1" lang="zh-CN" altLang="en-US" sz="3200" dirty="0">
                <a:latin typeface="Times New Roman" charset="0"/>
                <a:ea typeface="楷体_GB2312" charset="0"/>
                <a:cs typeface="楷体_GB2312" charset="0"/>
              </a:endParaRPr>
            </a:p>
          </p:txBody>
        </p:sp>
        <p:graphicFrame>
          <p:nvGraphicFramePr>
            <p:cNvPr id="45064" name="Object 5">
              <a:extLst>
                <a:ext uri="{FF2B5EF4-FFF2-40B4-BE49-F238E27FC236}">
                  <a16:creationId xmlns:a16="http://schemas.microsoft.com/office/drawing/2014/main" id="{8E672715-3DC2-C640-B629-29E932C23A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20" y="208"/>
            <a:ext cx="3988" cy="1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79" name="公式" r:id="rId3" imgW="1498600" imgH="571500" progId="Equation.3">
                    <p:embed/>
                  </p:oleObj>
                </mc:Choice>
                <mc:Fallback>
                  <p:oleObj name="公式" r:id="rId3" imgW="1498600" imgH="5715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0" y="208"/>
                          <a:ext cx="3988" cy="1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8251" name="Group 11">
            <a:extLst>
              <a:ext uri="{FF2B5EF4-FFF2-40B4-BE49-F238E27FC236}">
                <a16:creationId xmlns:a16="http://schemas.microsoft.com/office/drawing/2014/main" id="{D2A84891-3676-8E4E-990A-1FC2233A5E8B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200400"/>
            <a:ext cx="7848600" cy="3005138"/>
            <a:chOff x="144" y="1902"/>
            <a:chExt cx="4944" cy="1893"/>
          </a:xfrm>
        </p:grpSpPr>
        <p:sp>
          <p:nvSpPr>
            <p:cNvPr id="26630" name="Rectangle 4">
              <a:extLst>
                <a:ext uri="{FF2B5EF4-FFF2-40B4-BE49-F238E27FC236}">
                  <a16:creationId xmlns:a16="http://schemas.microsoft.com/office/drawing/2014/main" id="{AD30324F-E385-764C-B040-056A48F05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902"/>
              <a:ext cx="4944" cy="7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2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zh-CN" altLang="en-US" sz="3200">
                  <a:latin typeface="楷体_GB2312" pitchFamily="49" charset="-122"/>
                  <a:ea typeface="楷体_GB2312" pitchFamily="49" charset="-122"/>
                </a:rPr>
                <a:t>又 </a:t>
              </a:r>
              <a:endParaRPr lang="en-US" altLang="zh-CN" sz="3200">
                <a:latin typeface="楷体_GB2312" pitchFamily="49" charset="-122"/>
                <a:ea typeface="楷体_GB2312" pitchFamily="49" charset="-122"/>
              </a:endParaRPr>
            </a:p>
            <a:p>
              <a:pPr>
                <a:spcBef>
                  <a:spcPct val="2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en-US" altLang="zh-CN" sz="3200">
                  <a:latin typeface="楷体_GB2312" pitchFamily="49" charset="-122"/>
                  <a:ea typeface="楷体_GB2312" pitchFamily="49" charset="-122"/>
                </a:rPr>
                <a:t>						</a:t>
              </a:r>
              <a:r>
                <a:rPr lang="zh-CN" altLang="en-US" sz="3200">
                  <a:latin typeface="楷体_GB2312" pitchFamily="49" charset="-122"/>
                  <a:ea typeface="楷体_GB2312" pitchFamily="49" charset="-122"/>
                </a:rPr>
                <a:t>为伴随矩阵</a:t>
              </a:r>
            </a:p>
          </p:txBody>
        </p:sp>
        <p:graphicFrame>
          <p:nvGraphicFramePr>
            <p:cNvPr id="45062" name="Object 7">
              <a:extLst>
                <a:ext uri="{FF2B5EF4-FFF2-40B4-BE49-F238E27FC236}">
                  <a16:creationId xmlns:a16="http://schemas.microsoft.com/office/drawing/2014/main" id="{238C0BE5-9DE6-5741-B21F-55FCB31547E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2190"/>
            <a:ext cx="3093" cy="1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80" name="公式" r:id="rId5" imgW="1676400" imgH="1016000" progId="Equation.3">
                    <p:embed/>
                  </p:oleObj>
                </mc:Choice>
                <mc:Fallback>
                  <p:oleObj name="公式" r:id="rId5" imgW="1676400" imgH="10160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2190"/>
                          <a:ext cx="3093" cy="16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Number Placeholder 5">
            <a:extLst>
              <a:ext uri="{FF2B5EF4-FFF2-40B4-BE49-F238E27FC236}">
                <a16:creationId xmlns:a16="http://schemas.microsoft.com/office/drawing/2014/main" id="{44CA11E3-48F0-0148-BA7C-A1C5B5FFE3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7787D6E-B0AB-484F-90F2-CFC36FCD5944}" type="slidenum">
              <a:rPr kumimoji="0" lang="zh-CN" altLang="en-US" sz="1200"/>
              <a:pPr/>
              <a:t>25</a:t>
            </a:fld>
            <a:endParaRPr kumimoji="0" lang="en-US" altLang="zh-CN" sz="1200"/>
          </a:p>
        </p:txBody>
      </p:sp>
      <p:sp>
        <p:nvSpPr>
          <p:cNvPr id="139266" name="Rectangle 2">
            <a:extLst>
              <a:ext uri="{FF2B5EF4-FFF2-40B4-BE49-F238E27FC236}">
                <a16:creationId xmlns:a16="http://schemas.microsoft.com/office/drawing/2014/main" id="{97CF2451-DA5C-9C4A-94DB-BB1DE195C1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190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>
                <a:latin typeface="Times New Roman" charset="0"/>
                <a:ea typeface="楷体_GB2312" charset="0"/>
                <a:cs typeface="+mj-cs"/>
              </a:rPr>
              <a:t>定理5.1.3 </a:t>
            </a:r>
            <a:endParaRPr lang="en-US" altLang="zh-CN">
              <a:latin typeface="Times New Roman" charset="0"/>
              <a:ea typeface="楷体_GB2312" charset="0"/>
              <a:cs typeface="+mj-cs"/>
            </a:endParaRPr>
          </a:p>
        </p:txBody>
      </p:sp>
      <p:grpSp>
        <p:nvGrpSpPr>
          <p:cNvPr id="139279" name="Group 15">
            <a:extLst>
              <a:ext uri="{FF2B5EF4-FFF2-40B4-BE49-F238E27FC236}">
                <a16:creationId xmlns:a16="http://schemas.microsoft.com/office/drawing/2014/main" id="{14CBE457-B5A4-984D-9950-CE7A96F23F8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266825"/>
            <a:ext cx="4267200" cy="2170113"/>
            <a:chOff x="144" y="798"/>
            <a:chExt cx="2688" cy="1367"/>
          </a:xfrm>
        </p:grpSpPr>
        <p:graphicFrame>
          <p:nvGraphicFramePr>
            <p:cNvPr id="46087" name="Object 7">
              <a:extLst>
                <a:ext uri="{FF2B5EF4-FFF2-40B4-BE49-F238E27FC236}">
                  <a16:creationId xmlns:a16="http://schemas.microsoft.com/office/drawing/2014/main" id="{17B2822D-648B-F945-AFFF-6A3654AD43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" y="1174"/>
            <a:ext cx="2607" cy="9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17" name="公式" r:id="rId3" imgW="1549400" imgH="571500" progId="Equation.3">
                    <p:embed/>
                  </p:oleObj>
                </mc:Choice>
                <mc:Fallback>
                  <p:oleObj name="公式" r:id="rId3" imgW="1549400" imgH="5715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" y="1174"/>
                          <a:ext cx="2607" cy="9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7" name="Rectangle 3">
              <a:extLst>
                <a:ext uri="{FF2B5EF4-FFF2-40B4-BE49-F238E27FC236}">
                  <a16:creationId xmlns:a16="http://schemas.microsoft.com/office/drawing/2014/main" id="{9073541F-E512-6049-8F17-F42E643CE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798"/>
              <a:ext cx="37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2"/>
                </a:buClr>
                <a:buFont typeface="Wingdings" charset="0"/>
                <a:buNone/>
                <a:defRPr/>
              </a:pPr>
              <a:r>
                <a:rPr kumimoji="1" lang="zh-CN" altLang="en-US" sz="3200" dirty="0">
                  <a:latin typeface="宋体" charset="0"/>
                  <a:ea typeface="楷体_GB2312" charset="0"/>
                  <a:cs typeface="楷体_GB2312" charset="0"/>
                </a:rPr>
                <a:t>故</a:t>
              </a:r>
              <a:endParaRPr kumimoji="1" lang="zh-CN" altLang="en-US" sz="3200" dirty="0">
                <a:latin typeface="Times New Roman" charset="0"/>
                <a:ea typeface="楷体_GB2312" charset="0"/>
                <a:cs typeface="楷体_GB2312" charset="0"/>
              </a:endParaRPr>
            </a:p>
          </p:txBody>
        </p:sp>
      </p:grpSp>
      <p:graphicFrame>
        <p:nvGraphicFramePr>
          <p:cNvPr id="139273" name="Object 9">
            <a:extLst>
              <a:ext uri="{FF2B5EF4-FFF2-40B4-BE49-F238E27FC236}">
                <a16:creationId xmlns:a16="http://schemas.microsoft.com/office/drawing/2014/main" id="{C20A779F-3D56-AA4F-8302-33B5A6793E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7250" y="1828800"/>
          <a:ext cx="3656013" cy="158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8" name="公式" r:id="rId5" imgW="1358900" imgH="571500" progId="Equation.3">
                  <p:embed/>
                </p:oleObj>
              </mc:Choice>
              <mc:Fallback>
                <p:oleObj name="公式" r:id="rId5" imgW="1358900" imgH="571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0" y="1828800"/>
                        <a:ext cx="3656013" cy="158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4" name="Object 10">
            <a:extLst>
              <a:ext uri="{FF2B5EF4-FFF2-40B4-BE49-F238E27FC236}">
                <a16:creationId xmlns:a16="http://schemas.microsoft.com/office/drawing/2014/main" id="{8A321C9E-F366-9947-AF3E-787C86FBC9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9788" y="4221163"/>
          <a:ext cx="3579812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9" name="公式" r:id="rId7" imgW="1638300" imgH="609600" progId="Equation.3">
                  <p:embed/>
                </p:oleObj>
              </mc:Choice>
              <mc:Fallback>
                <p:oleObj name="公式" r:id="rId7" imgW="1638300" imgH="609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9788" y="4221163"/>
                        <a:ext cx="3579812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6" name="Object 12">
            <a:extLst>
              <a:ext uri="{FF2B5EF4-FFF2-40B4-BE49-F238E27FC236}">
                <a16:creationId xmlns:a16="http://schemas.microsoft.com/office/drawing/2014/main" id="{15B64752-D969-8544-B0B7-D8D5794F31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2400" y="3706813"/>
          <a:ext cx="2998788" cy="238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0" name="公式" r:id="rId9" imgW="1244600" imgH="977900" progId="Equation.3">
                  <p:embed/>
                </p:oleObj>
              </mc:Choice>
              <mc:Fallback>
                <p:oleObj name="公式" r:id="rId9" imgW="1244600" imgH="9779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3706813"/>
                        <a:ext cx="2998788" cy="2389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Number Placeholder 5">
            <a:extLst>
              <a:ext uri="{FF2B5EF4-FFF2-40B4-BE49-F238E27FC236}">
                <a16:creationId xmlns:a16="http://schemas.microsoft.com/office/drawing/2014/main" id="{71241B4E-536A-1B4A-A163-6F80259263A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B4FC6F-6149-5749-A823-0878625C7A87}" type="slidenum">
              <a:rPr kumimoji="0" lang="zh-CN" altLang="en-US" sz="1200"/>
              <a:pPr/>
              <a:t>26</a:t>
            </a:fld>
            <a:endParaRPr kumimoji="0" lang="en-US" altLang="zh-CN" sz="1200"/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6F687ED6-3C4C-7A4E-8895-89B5980444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952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定理5.1.3 </a:t>
            </a:r>
            <a:endParaRPr lang="en-US" altLang="zh-CN" dirty="0">
              <a:latin typeface="Times New Roman" charset="0"/>
              <a:ea typeface="楷体_GB2312" charset="0"/>
              <a:cs typeface="+mj-cs"/>
            </a:endParaRPr>
          </a:p>
        </p:txBody>
      </p:sp>
      <p:grpSp>
        <p:nvGrpSpPr>
          <p:cNvPr id="47107" name="Group 11">
            <a:extLst>
              <a:ext uri="{FF2B5EF4-FFF2-40B4-BE49-F238E27FC236}">
                <a16:creationId xmlns:a16="http://schemas.microsoft.com/office/drawing/2014/main" id="{E035D211-5B03-1342-ACF3-494E5B04C1E6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665288"/>
            <a:ext cx="7729538" cy="2297112"/>
            <a:chOff x="-213" y="798"/>
            <a:chExt cx="4869" cy="1447"/>
          </a:xfrm>
        </p:grpSpPr>
        <p:sp>
          <p:nvSpPr>
            <p:cNvPr id="28680" name="Rectangle 4">
              <a:extLst>
                <a:ext uri="{FF2B5EF4-FFF2-40B4-BE49-F238E27FC236}">
                  <a16:creationId xmlns:a16="http://schemas.microsoft.com/office/drawing/2014/main" id="{53F84C6E-C72D-964C-B522-8554E114F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798"/>
              <a:ext cx="63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2"/>
                </a:buClr>
                <a:buFont typeface="Wingdings" charset="0"/>
                <a:buNone/>
                <a:defRPr/>
              </a:pPr>
              <a:r>
                <a:rPr kumimoji="1" lang="zh-CN" altLang="en-US" sz="3200" dirty="0">
                  <a:latin typeface="宋体" charset="0"/>
                  <a:ea typeface="楷体_GB2312" charset="0"/>
                  <a:cs typeface="楷体_GB2312" charset="0"/>
                </a:rPr>
                <a:t>因此</a:t>
              </a:r>
              <a:endParaRPr kumimoji="1" lang="zh-CN" altLang="en-US" sz="3200" dirty="0">
                <a:latin typeface="Times New Roman" charset="0"/>
                <a:ea typeface="楷体_GB2312" charset="0"/>
                <a:cs typeface="楷体_GB2312" charset="0"/>
              </a:endParaRPr>
            </a:p>
          </p:txBody>
        </p:sp>
        <p:graphicFrame>
          <p:nvGraphicFramePr>
            <p:cNvPr id="47112" name="Object 6">
              <a:extLst>
                <a:ext uri="{FF2B5EF4-FFF2-40B4-BE49-F238E27FC236}">
                  <a16:creationId xmlns:a16="http://schemas.microsoft.com/office/drawing/2014/main" id="{2936F4D3-A15B-C049-AA9A-02919E3CA51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-213" y="1134"/>
            <a:ext cx="4869" cy="1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27" name="公式" r:id="rId3" imgW="3149600" imgH="609600" progId="Equation.3">
                    <p:embed/>
                  </p:oleObj>
                </mc:Choice>
                <mc:Fallback>
                  <p:oleObj name="公式" r:id="rId3" imgW="3149600" imgH="609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13" y="1134"/>
                          <a:ext cx="4869" cy="1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1324" name="Group 12">
            <a:extLst>
              <a:ext uri="{FF2B5EF4-FFF2-40B4-BE49-F238E27FC236}">
                <a16:creationId xmlns:a16="http://schemas.microsoft.com/office/drawing/2014/main" id="{755C5A36-82F8-D642-BE35-8BA588FA3D04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4071938"/>
            <a:ext cx="5715000" cy="1719262"/>
            <a:chOff x="192" y="2496"/>
            <a:chExt cx="3840" cy="1083"/>
          </a:xfrm>
        </p:grpSpPr>
        <p:graphicFrame>
          <p:nvGraphicFramePr>
            <p:cNvPr id="47109" name="Object 8">
              <a:extLst>
                <a:ext uri="{FF2B5EF4-FFF2-40B4-BE49-F238E27FC236}">
                  <a16:creationId xmlns:a16="http://schemas.microsoft.com/office/drawing/2014/main" id="{CAE4BEC1-CAD0-8549-B6F0-4A16C948F1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3" y="3019"/>
            <a:ext cx="3279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28" name="公式" r:id="rId5" imgW="1524000" imgH="241300" progId="Equation.3">
                    <p:embed/>
                  </p:oleObj>
                </mc:Choice>
                <mc:Fallback>
                  <p:oleObj name="公式" r:id="rId5" imgW="1524000" imgH="2413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3" y="3019"/>
                          <a:ext cx="3279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79" name="Rectangle 10">
              <a:extLst>
                <a:ext uri="{FF2B5EF4-FFF2-40B4-BE49-F238E27FC236}">
                  <a16:creationId xmlns:a16="http://schemas.microsoft.com/office/drawing/2014/main" id="{3F8B515E-E6A3-4F4E-8A20-9D8191AE3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2496"/>
              <a:ext cx="177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2"/>
                </a:buClr>
                <a:buFont typeface="Wingdings" charset="0"/>
                <a:buNone/>
                <a:defRPr/>
              </a:pPr>
              <a:r>
                <a:rPr kumimoji="1" lang="zh-CN" altLang="en-US" sz="3200" dirty="0">
                  <a:latin typeface="宋体" charset="0"/>
                  <a:ea typeface="楷体_GB2312" charset="0"/>
                  <a:cs typeface="楷体_GB2312" charset="0"/>
                </a:rPr>
                <a:t>所以，我们有</a:t>
              </a:r>
              <a:endParaRPr kumimoji="1" lang="zh-CN" altLang="en-US" sz="3200" dirty="0">
                <a:latin typeface="Times New Roman" charset="0"/>
                <a:ea typeface="楷体_GB2312" charset="0"/>
                <a:cs typeface="楷体_GB2312" charset="0"/>
              </a:endParaRP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Number Placeholder 5">
            <a:extLst>
              <a:ext uri="{FF2B5EF4-FFF2-40B4-BE49-F238E27FC236}">
                <a16:creationId xmlns:a16="http://schemas.microsoft.com/office/drawing/2014/main" id="{7657090E-42F8-174C-B8A5-652F91EFE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C02B034-F773-CF41-A67A-66778F840479}" type="slidenum">
              <a:rPr kumimoji="0" lang="zh-CN" altLang="en-US" sz="1200"/>
              <a:pPr/>
              <a:t>27</a:t>
            </a:fld>
            <a:endParaRPr kumimoji="0" lang="en-US" altLang="zh-CN" sz="1200"/>
          </a:p>
        </p:txBody>
      </p:sp>
      <p:sp>
        <p:nvSpPr>
          <p:cNvPr id="143362" name="Rectangle 2">
            <a:extLst>
              <a:ext uri="{FF2B5EF4-FFF2-40B4-BE49-F238E27FC236}">
                <a16:creationId xmlns:a16="http://schemas.microsoft.com/office/drawing/2014/main" id="{BB897D5C-8F9C-834D-8A5C-3397815A9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952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定理5.1.3 </a:t>
            </a:r>
            <a:endParaRPr lang="en-US" altLang="zh-CN" dirty="0">
              <a:latin typeface="Times New Roman" charset="0"/>
              <a:ea typeface="楷体_GB2312" charset="0"/>
              <a:cs typeface="+mj-cs"/>
            </a:endParaRPr>
          </a:p>
        </p:txBody>
      </p:sp>
      <p:grpSp>
        <p:nvGrpSpPr>
          <p:cNvPr id="48131" name="Group 3">
            <a:extLst>
              <a:ext uri="{FF2B5EF4-FFF2-40B4-BE49-F238E27FC236}">
                <a16:creationId xmlns:a16="http://schemas.microsoft.com/office/drawing/2014/main" id="{F1BF3D24-AB82-784A-A71C-736B6AA0E062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1600200"/>
            <a:ext cx="6361112" cy="1876425"/>
            <a:chOff x="144" y="816"/>
            <a:chExt cx="4007" cy="1182"/>
          </a:xfrm>
        </p:grpSpPr>
        <p:sp>
          <p:nvSpPr>
            <p:cNvPr id="29702" name="Rectangle 4">
              <a:extLst>
                <a:ext uri="{FF2B5EF4-FFF2-40B4-BE49-F238E27FC236}">
                  <a16:creationId xmlns:a16="http://schemas.microsoft.com/office/drawing/2014/main" id="{FCDC3EAB-9612-A443-8372-DD8641EFA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816"/>
              <a:ext cx="400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2"/>
                </a:buClr>
                <a:buFont typeface="Wingdings" charset="0"/>
                <a:buNone/>
                <a:defRPr/>
              </a:pPr>
              <a:r>
                <a:rPr kumimoji="1" lang="zh-CN" altLang="en-US" sz="3200">
                  <a:latin typeface="Times New Roman" charset="0"/>
                  <a:ea typeface="楷体_GB2312" charset="0"/>
                  <a:cs typeface="楷体_GB2312" charset="0"/>
                </a:rPr>
                <a:t>取</a:t>
              </a:r>
              <a:r>
                <a:rPr kumimoji="1" lang="en-US" altLang="zh-CN" sz="3200">
                  <a:latin typeface="Times New Roman" charset="0"/>
                  <a:ea typeface="楷体_GB2312" charset="0"/>
                  <a:cs typeface="楷体_GB2312" charset="0"/>
                </a:rPr>
                <a:t>k=n，</a:t>
              </a:r>
              <a:r>
                <a:rPr kumimoji="1" lang="zh-CN" altLang="en-US" sz="3200">
                  <a:latin typeface="Times New Roman" charset="0"/>
                  <a:ea typeface="楷体_GB2312" charset="0"/>
                  <a:cs typeface="楷体_GB2312" charset="0"/>
                </a:rPr>
                <a:t>则因</a:t>
              </a:r>
              <a:r>
                <a:rPr kumimoji="1" lang="en-US" altLang="zh-CN" sz="3200">
                  <a:latin typeface="Times New Roman" charset="0"/>
                  <a:ea typeface="楷体_GB2312" charset="0"/>
                  <a:cs typeface="楷体_GB2312" charset="0"/>
                </a:rPr>
                <a:t>r</a:t>
              </a:r>
              <a:r>
                <a:rPr kumimoji="1" lang="en-US" altLang="zh-CN" sz="3200" baseline="-30000">
                  <a:latin typeface="Times New Roman" charset="0"/>
                  <a:ea typeface="楷体_GB2312" charset="0"/>
                  <a:cs typeface="楷体_GB2312" charset="0"/>
                </a:rPr>
                <a:t>n</a:t>
              </a:r>
              <a:r>
                <a:rPr kumimoji="1" lang="zh-CN" altLang="en-US" sz="3200">
                  <a:latin typeface="Times New Roman" charset="0"/>
                  <a:ea typeface="楷体_GB2312" charset="0"/>
                  <a:cs typeface="楷体_GB2312" charset="0"/>
                </a:rPr>
                <a:t>即最高公因数</a:t>
              </a:r>
              <a:r>
                <a:rPr kumimoji="1" lang="en-US" altLang="zh-CN" sz="3200">
                  <a:latin typeface="Times New Roman" charset="0"/>
                  <a:ea typeface="楷体_GB2312" charset="0"/>
                  <a:cs typeface="楷体_GB2312" charset="0"/>
                </a:rPr>
                <a:t>d</a:t>
              </a:r>
              <a:r>
                <a:rPr kumimoji="1" lang="zh-CN" altLang="en-US" sz="3200">
                  <a:latin typeface="Times New Roman" charset="0"/>
                  <a:ea typeface="楷体_GB2312" charset="0"/>
                  <a:cs typeface="楷体_GB2312" charset="0"/>
                </a:rPr>
                <a:t>而得 </a:t>
              </a:r>
            </a:p>
          </p:txBody>
        </p:sp>
        <p:graphicFrame>
          <p:nvGraphicFramePr>
            <p:cNvPr id="48134" name="Object 5">
              <a:extLst>
                <a:ext uri="{FF2B5EF4-FFF2-40B4-BE49-F238E27FC236}">
                  <a16:creationId xmlns:a16="http://schemas.microsoft.com/office/drawing/2014/main" id="{79770093-DA7E-0645-A09E-8590010A4D2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99" y="1490"/>
            <a:ext cx="2945" cy="5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42" name="公式" r:id="rId3" imgW="1524000" imgH="241300" progId="Equation.3">
                    <p:embed/>
                  </p:oleObj>
                </mc:Choice>
                <mc:Fallback>
                  <p:oleObj name="公式" r:id="rId3" imgW="1524000" imgH="2413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9" y="1490"/>
                          <a:ext cx="2945" cy="5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366" name="Rectangle 6">
            <a:extLst>
              <a:ext uri="{FF2B5EF4-FFF2-40B4-BE49-F238E27FC236}">
                <a16:creationId xmlns:a16="http://schemas.microsoft.com/office/drawing/2014/main" id="{7C2E9081-0819-7B40-8FAF-600687E7B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706813"/>
            <a:ext cx="8305800" cy="2160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1325" indent="-441325">
              <a:tabLst>
                <a:tab pos="361950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361950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361950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361950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361950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即为所求的形式</a:t>
            </a:r>
          </a:p>
          <a:p>
            <a:pPr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Ø"/>
            </a:pP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这表明，任给两个数，我们都可将它们的最高公因数表示为它们的倍数和的形式，这里需求出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n，S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，T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。 </a:t>
            </a:r>
            <a:endParaRPr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3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6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Number Placeholder 5">
            <a:extLst>
              <a:ext uri="{FF2B5EF4-FFF2-40B4-BE49-F238E27FC236}">
                <a16:creationId xmlns:a16="http://schemas.microsoft.com/office/drawing/2014/main" id="{A8B02A95-67CD-AE4E-8E98-C9CFC245B9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F7DA0BB-7FB8-4945-8237-E42E3A92D8A0}" type="slidenum">
              <a:rPr kumimoji="0" lang="zh-CN" altLang="en-US" sz="1200"/>
              <a:pPr/>
              <a:t>28</a:t>
            </a:fld>
            <a:endParaRPr kumimoji="0" lang="en-US" altLang="zh-CN" sz="1200"/>
          </a:p>
        </p:txBody>
      </p:sp>
      <p:sp>
        <p:nvSpPr>
          <p:cNvPr id="142338" name="Rectangle 2">
            <a:extLst>
              <a:ext uri="{FF2B5EF4-FFF2-40B4-BE49-F238E27FC236}">
                <a16:creationId xmlns:a16="http://schemas.microsoft.com/office/drawing/2014/main" id="{62B13528-206A-364A-86A0-7178400F8E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190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定理5.1.3 </a:t>
            </a:r>
            <a:endParaRPr lang="en-US" altLang="zh-CN" dirty="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73D3C6CE-DEB4-C748-B2F3-B087FEC06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295400"/>
            <a:ext cx="86106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41325" indent="-441325">
              <a:spcBef>
                <a:spcPct val="20000"/>
              </a:spcBef>
              <a:buClr>
                <a:schemeClr val="tx2"/>
              </a:buClr>
              <a:buFont typeface="Wingdings" charset="0"/>
              <a:buChar char="Ø"/>
              <a:defRPr/>
            </a:pPr>
            <a:r>
              <a:rPr kumimoji="1" lang="zh-CN" altLang="en-US" sz="3200" dirty="0">
                <a:latin typeface="楷体_GB2312" charset="0"/>
                <a:ea typeface="楷体_GB2312" charset="0"/>
                <a:cs typeface="楷体_GB2312" charset="0"/>
              </a:rPr>
              <a:t>为能简便地计算它们，让我们看下面的等式： </a:t>
            </a:r>
          </a:p>
        </p:txBody>
      </p:sp>
      <p:graphicFrame>
        <p:nvGraphicFramePr>
          <p:cNvPr id="142345" name="Object 9">
            <a:extLst>
              <a:ext uri="{FF2B5EF4-FFF2-40B4-BE49-F238E27FC236}">
                <a16:creationId xmlns:a16="http://schemas.microsoft.com/office/drawing/2014/main" id="{BD0B3E97-C918-0841-AC5C-486222945D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2133600"/>
          <a:ext cx="8458200" cy="167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5" name="公式" r:id="rId3" imgW="3924300" imgH="571500" progId="Equation.3">
                  <p:embed/>
                </p:oleObj>
              </mc:Choice>
              <mc:Fallback>
                <p:oleObj name="公式" r:id="rId3" imgW="3924300" imgH="571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133600"/>
                        <a:ext cx="8458200" cy="167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47" name="Rectangle 11">
            <a:extLst>
              <a:ext uri="{FF2B5EF4-FFF2-40B4-BE49-F238E27FC236}">
                <a16:creationId xmlns:a16="http://schemas.microsoft.com/office/drawing/2014/main" id="{E657C786-8C6E-AF40-B44D-BEF0646DB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114800"/>
            <a:ext cx="85344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比较最左最右两矩阵的第二列知:</a:t>
            </a:r>
            <a:b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		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=S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k-1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，V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=T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k-1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eaLnBrk="0" hangingPunct="0"/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   因而，	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k-1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=S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k-2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，V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k-1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=T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k-2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……</a:t>
            </a:r>
            <a:r>
              <a:rPr lang="en-US" altLang="zh-CN" sz="3200">
                <a:latin typeface="Times New Roman" panose="02020603050405020304" pitchFamily="18" charset="0"/>
                <a:sym typeface="Symbol" pitchFamily="2" charset="2"/>
              </a:rPr>
              <a:t>…(</a:t>
            </a:r>
            <a:r>
              <a:rPr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1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Number Placeholder 5">
            <a:extLst>
              <a:ext uri="{FF2B5EF4-FFF2-40B4-BE49-F238E27FC236}">
                <a16:creationId xmlns:a16="http://schemas.microsoft.com/office/drawing/2014/main" id="{6CB86A7D-0342-5D4B-8E75-4494454D315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B09A18F-9FBA-7847-AEEC-B7B4C3924A26}" type="slidenum">
              <a:rPr kumimoji="0" lang="zh-CN" altLang="en-US" sz="1200"/>
              <a:pPr/>
              <a:t>29</a:t>
            </a:fld>
            <a:endParaRPr kumimoji="0" lang="en-US" altLang="zh-CN" sz="1200"/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153332EB-AD83-2940-87B7-EAF23B41BB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952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定理5.1.3 </a:t>
            </a:r>
            <a:endParaRPr lang="en-US" altLang="zh-CN" dirty="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144386" name="Rectangle 2">
            <a:extLst>
              <a:ext uri="{FF2B5EF4-FFF2-40B4-BE49-F238E27FC236}">
                <a16:creationId xmlns:a16="http://schemas.microsoft.com/office/drawing/2014/main" id="{077BAFF2-EEA9-DF4F-B7C5-EC71C883D52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1524000"/>
            <a:ext cx="8763000" cy="4800600"/>
          </a:xfrm>
        </p:spPr>
        <p:txBody>
          <a:bodyPr/>
          <a:lstStyle/>
          <a:p>
            <a:pPr marL="361950" indent="-361950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再比较这两个矩阵的第一列：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	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k-1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+U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k-1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b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		T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k-1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k-1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  <a:sym typeface="Symbol" pitchFamily="2" charset="2"/>
              </a:rPr>
              <a:t>…………</a:t>
            </a:r>
            <a:r>
              <a:rPr kumimoji="0" lang="en-US" altLang="zh-CN" sz="3200">
                <a:latin typeface="Arial" panose="020B0604020202020204" pitchFamily="34" charset="0"/>
                <a:ea typeface="宋体" panose="02010600030101010101" pitchFamily="2" charset="-122"/>
                <a:sym typeface="Symbol" pitchFamily="2" charset="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(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2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361950" indent="-361950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由</a:t>
            </a:r>
            <a:r>
              <a:rPr kumimoji="0" lang="en-US" altLang="zh-CN" sz="3200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(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式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(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2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式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得：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	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3200" baseline="-300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=q</a:t>
            </a:r>
            <a:r>
              <a:rPr kumimoji="0" lang="en-US" altLang="zh-CN" sz="3200" baseline="-300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3200" baseline="-300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k-1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+S</a:t>
            </a:r>
            <a:r>
              <a:rPr kumimoji="0" lang="en-US" altLang="zh-CN" sz="3200" baseline="-300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k-2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b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		T</a:t>
            </a:r>
            <a:r>
              <a:rPr kumimoji="0" lang="en-US" altLang="zh-CN" sz="3200" baseline="-300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=q</a:t>
            </a:r>
            <a:r>
              <a:rPr kumimoji="0" lang="en-US" altLang="zh-CN" sz="3200" baseline="-300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3200" baseline="-300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k-1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+T</a:t>
            </a:r>
            <a:r>
              <a:rPr kumimoji="0" lang="en-US" altLang="zh-CN" sz="3200" baseline="-300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k-2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49" charset="-122"/>
                <a:sym typeface="Symbol" pitchFamily="2" charset="2"/>
              </a:rPr>
              <a:t>…………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itchFamily="2" charset="2"/>
              </a:rPr>
              <a:t>…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(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3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361950" indent="-361950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式在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k&gt;2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时成立，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2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式在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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时成立，所以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3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式在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k&gt;2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时成立。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4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4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4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4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6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Number Placeholder 5">
            <a:extLst>
              <a:ext uri="{FF2B5EF4-FFF2-40B4-BE49-F238E27FC236}">
                <a16:creationId xmlns:a16="http://schemas.microsoft.com/office/drawing/2014/main" id="{F519D122-22C1-5D4F-BE14-67B62CD773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8CB3960-22B3-FD45-B96D-678144ABA868}" type="slidenum">
              <a:rPr kumimoji="0" lang="zh-CN" altLang="en-US" sz="1200"/>
              <a:pPr/>
              <a:t>30</a:t>
            </a:fld>
            <a:endParaRPr kumimoji="0" lang="en-US" altLang="zh-CN" sz="1200"/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964EB36F-2B24-0A4D-A545-4413490901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 dirty="0">
                <a:latin typeface="Times New Roman" charset="0"/>
                <a:ea typeface="楷体_GB2312" charset="0"/>
                <a:cs typeface="+mj-cs"/>
              </a:rPr>
              <a:t>定理5.1.3 </a:t>
            </a:r>
            <a:endParaRPr lang="en-US" altLang="zh-CN" sz="6000" dirty="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145410" name="Rectangle 2">
            <a:extLst>
              <a:ext uri="{FF2B5EF4-FFF2-40B4-BE49-F238E27FC236}">
                <a16:creationId xmlns:a16="http://schemas.microsoft.com/office/drawing/2014/main" id="{379BF654-C357-6A42-B460-E95029F21DE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0" y="1524000"/>
            <a:ext cx="9067800" cy="1828800"/>
          </a:xfrm>
        </p:spPr>
        <p:txBody>
          <a:bodyPr/>
          <a:lstStyle/>
          <a:p>
            <a:pPr marL="361950" indent="-361950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现令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=U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   T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0" lang="en-US" altLang="zh-CN" sz="32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61950" indent="-361950"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	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式在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k=2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时也成立，即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3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式在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k=2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时也成立。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5414" name="Rectangle 6">
            <a:extLst>
              <a:ext uri="{FF2B5EF4-FFF2-40B4-BE49-F238E27FC236}">
                <a16:creationId xmlns:a16="http://schemas.microsoft.com/office/drawing/2014/main" id="{0EC4AEB8-51F9-8540-A840-45F56B170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865688"/>
            <a:ext cx="8763000" cy="107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得</a:t>
            </a:r>
            <a:r>
              <a:rPr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3200" baseline="-300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=U</a:t>
            </a:r>
            <a:r>
              <a:rPr lang="en-US" altLang="zh-CN" sz="3200" baseline="-300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=0，S</a:t>
            </a:r>
            <a:r>
              <a:rPr lang="en-US" altLang="zh-CN" sz="3200" baseline="-300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=1，T</a:t>
            </a:r>
            <a:r>
              <a:rPr lang="en-US" altLang="zh-CN" sz="3200" baseline="-300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= V</a:t>
            </a:r>
            <a:r>
              <a:rPr lang="en-US" altLang="zh-CN" sz="3200" baseline="-300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 =1，T</a:t>
            </a:r>
            <a:r>
              <a:rPr lang="en-US" altLang="zh-CN" sz="3200" baseline="-300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=q</a:t>
            </a:r>
            <a:r>
              <a:rPr lang="en-US" altLang="zh-CN" sz="3200" baseline="-300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根据这个初值及(</a:t>
            </a:r>
            <a:r>
              <a:rPr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3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)式，便可求出任意的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，T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。 </a:t>
            </a:r>
          </a:p>
        </p:txBody>
      </p:sp>
      <p:grpSp>
        <p:nvGrpSpPr>
          <p:cNvPr id="145416" name="Group 8">
            <a:extLst>
              <a:ext uri="{FF2B5EF4-FFF2-40B4-BE49-F238E27FC236}">
                <a16:creationId xmlns:a16="http://schemas.microsoft.com/office/drawing/2014/main" id="{4EDF7FD8-29EF-1D43-B307-82A76D2C6E94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743200"/>
            <a:ext cx="4953000" cy="1881188"/>
            <a:chOff x="144" y="1920"/>
            <a:chExt cx="3120" cy="1185"/>
          </a:xfrm>
        </p:grpSpPr>
        <p:graphicFrame>
          <p:nvGraphicFramePr>
            <p:cNvPr id="51206" name="Object 4">
              <a:extLst>
                <a:ext uri="{FF2B5EF4-FFF2-40B4-BE49-F238E27FC236}">
                  <a16:creationId xmlns:a16="http://schemas.microsoft.com/office/drawing/2014/main" id="{80FD5920-D35A-404B-AAA5-7B50708BC1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5" y="2208"/>
            <a:ext cx="2289" cy="8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15" name="公式" r:id="rId3" imgW="1498600" imgH="571500" progId="Equation.3">
                    <p:embed/>
                  </p:oleObj>
                </mc:Choice>
                <mc:Fallback>
                  <p:oleObj name="公式" r:id="rId3" imgW="1498600" imgH="5715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2208"/>
                          <a:ext cx="2289" cy="8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5415" name="Rectangle 7">
              <a:extLst>
                <a:ext uri="{FF2B5EF4-FFF2-40B4-BE49-F238E27FC236}">
                  <a16:creationId xmlns:a16="http://schemas.microsoft.com/office/drawing/2014/main" id="{6192205D-41C4-B84B-ADEC-6856C54B7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920"/>
              <a:ext cx="37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1" lang="zh-CN" altLang="en-US" sz="3200">
                  <a:latin typeface="楷体_GB2312" pitchFamily="49" charset="-122"/>
                  <a:ea typeface="楷体_GB2312" pitchFamily="49" charset="-122"/>
                </a:rPr>
                <a:t>由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5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5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5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5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0" grpId="0" build="p" autoUpdateAnimBg="0"/>
      <p:bldP spid="145414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Number Placeholder 5">
            <a:extLst>
              <a:ext uri="{FF2B5EF4-FFF2-40B4-BE49-F238E27FC236}">
                <a16:creationId xmlns:a16="http://schemas.microsoft.com/office/drawing/2014/main" id="{EF0AB933-CC8C-0E46-95BC-9D361AE9E1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2B20244-8D1D-9946-9867-A68AFCE0085B}" type="slidenum">
              <a:rPr kumimoji="0" lang="zh-CN" altLang="en-US" sz="1200"/>
              <a:pPr/>
              <a:t>31</a:t>
            </a:fld>
            <a:endParaRPr kumimoji="0" lang="en-US" altLang="zh-CN" sz="1200"/>
          </a:p>
        </p:txBody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101B5470-4246-754C-909E-E53E5430C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686800" cy="8382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例5.1.2</a:t>
            </a:r>
            <a:endParaRPr lang="en-US" altLang="zh-CN" dirty="0">
              <a:solidFill>
                <a:schemeClr val="tx1"/>
              </a:solidFill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DC10E9D1-EA89-0A4A-9E22-7A36D2734E6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990600"/>
            <a:ext cx="8763000" cy="2286000"/>
          </a:xfrm>
        </p:spPr>
        <p:txBody>
          <a:bodyPr/>
          <a:lstStyle/>
          <a:p>
            <a:pPr marL="361950" indent="-361950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求301和133的最高公因数并表为它们的倍数和。</a:t>
            </a:r>
            <a:endParaRPr kumimoji="0" lang="zh-CN" altLang="en-US" sz="3200">
              <a:solidFill>
                <a:schemeClr val="tx2"/>
              </a:solidFill>
              <a:latin typeface="宋体" panose="02010600030101010101" pitchFamily="2" charset="-122"/>
              <a:ea typeface="楷体_GB2312" pitchFamily="49" charset="-122"/>
            </a:endParaRPr>
          </a:p>
          <a:p>
            <a:pPr marL="361950" indent="-361950"/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解：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用辗转相除法求最高公因数逐次得商及余数并计算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，T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如下表所示：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103627" name="Group 203">
            <a:extLst>
              <a:ext uri="{FF2B5EF4-FFF2-40B4-BE49-F238E27FC236}">
                <a16:creationId xmlns:a16="http://schemas.microsoft.com/office/drawing/2014/main" id="{C1FE42ED-AC03-2644-9831-6A6CB4700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781613"/>
              </p:ext>
            </p:extLst>
          </p:nvPr>
        </p:nvGraphicFramePr>
        <p:xfrm>
          <a:off x="685800" y="3048000"/>
          <a:ext cx="7543800" cy="2921002"/>
        </p:xfrm>
        <a:graphic>
          <a:graphicData uri="http://schemas.openxmlformats.org/drawingml/2006/table">
            <a:tbl>
              <a:tblPr/>
              <a:tblGrid>
                <a:gridCol w="1257300">
                  <a:extLst>
                    <a:ext uri="{9D8B030D-6E8A-4147-A177-3AD203B41FA5}">
                      <a16:colId xmlns:a16="http://schemas.microsoft.com/office/drawing/2014/main" val="375413302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1809042679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37054829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986844908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3355300594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426289770"/>
                    </a:ext>
                  </a:extLst>
                </a:gridCol>
              </a:tblGrid>
              <a:tr h="603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k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135087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q</a:t>
                      </a:r>
                      <a:r>
                        <a:rPr kumimoji="0" lang="en-US" altLang="zh-CN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k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272125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r</a:t>
                      </a:r>
                      <a:r>
                        <a:rPr kumimoji="0" lang="en-US" altLang="zh-CN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k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35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28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386682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S</a:t>
                      </a:r>
                      <a:r>
                        <a:rPr kumimoji="0" lang="en-US" altLang="zh-CN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k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40E2F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189290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T</a:t>
                      </a:r>
                      <a:r>
                        <a:rPr kumimoji="0" lang="en-US" altLang="zh-CN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k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40E2F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37894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3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3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3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3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Number Placeholder 5">
            <a:extLst>
              <a:ext uri="{FF2B5EF4-FFF2-40B4-BE49-F238E27FC236}">
                <a16:creationId xmlns:a16="http://schemas.microsoft.com/office/drawing/2014/main" id="{D9E7232C-EE63-FD47-9B5F-A1368FD8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8AE4F92-E83F-D444-9C38-26273E7DE3BF}" type="slidenum">
              <a:rPr kumimoji="0" lang="zh-CN" altLang="en-US" sz="1200"/>
              <a:pPr/>
              <a:t>32</a:t>
            </a:fld>
            <a:endParaRPr kumimoji="0" lang="en-US" altLang="zh-CN" sz="1200"/>
          </a:p>
        </p:txBody>
      </p:sp>
      <p:sp>
        <p:nvSpPr>
          <p:cNvPr id="146434" name="Rectangle 1026">
            <a:extLst>
              <a:ext uri="{FF2B5EF4-FFF2-40B4-BE49-F238E27FC236}">
                <a16:creationId xmlns:a16="http://schemas.microsoft.com/office/drawing/2014/main" id="{591D74D1-758A-3C45-AAF5-BE9311C46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3213"/>
            <a:ext cx="8686800" cy="915987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  <a:cs typeface="+mj-cs"/>
              </a:rPr>
              <a:t>例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5.1.2</a:t>
            </a:r>
            <a:endParaRPr lang="en-US" altLang="zh-CN" dirty="0">
              <a:solidFill>
                <a:schemeClr val="tx1"/>
              </a:solidFill>
              <a:latin typeface="宋体" charset="0"/>
            </a:endParaRPr>
          </a:p>
        </p:txBody>
      </p:sp>
      <p:sp>
        <p:nvSpPr>
          <p:cNvPr id="146435" name="Rectangle 1027">
            <a:extLst>
              <a:ext uri="{FF2B5EF4-FFF2-40B4-BE49-F238E27FC236}">
                <a16:creationId xmlns:a16="http://schemas.microsoft.com/office/drawing/2014/main" id="{983DCAFE-865C-894C-9ED2-F75550C2AFF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915400" cy="4876800"/>
          </a:xfrm>
        </p:spPr>
        <p:txBody>
          <a:bodyPr/>
          <a:lstStyle/>
          <a:p>
            <a:pPr marL="361950" indent="-361950"/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求301和133的最高公因数并表为它们的倍数和。</a:t>
            </a:r>
          </a:p>
          <a:p>
            <a:pPr marL="361950" indent="-361950"/>
            <a:endParaRPr kumimoji="0"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61950" indent="-361950"/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因之，最高公因数为7，表为原二数的倍数和如下：</a:t>
            </a:r>
          </a:p>
          <a:p>
            <a:pPr marL="361950" indent="-361950" algn="just">
              <a:buFont typeface="Wingdings" pitchFamily="2" charset="2"/>
              <a:buNone/>
            </a:pP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	7=(-1)</a:t>
            </a:r>
            <a:r>
              <a:rPr kumimoji="0" lang="en-US" altLang="zh-CN" sz="3200" baseline="30000" dirty="0">
                <a:latin typeface="Times New Roman" panose="02020603050405020304" pitchFamily="18" charset="0"/>
                <a:ea typeface="楷体_GB2312" pitchFamily="49" charset="-122"/>
              </a:rPr>
              <a:t>3-1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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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301+(-1)</a:t>
            </a:r>
            <a:r>
              <a:rPr kumimoji="0" lang="zh-CN" altLang="en-US" sz="3200" baseline="30000" dirty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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9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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133</a:t>
            </a:r>
          </a:p>
          <a:p>
            <a:pPr marL="361950" indent="-361950" algn="just">
              <a:buFont typeface="Wingdings" pitchFamily="2" charset="2"/>
              <a:buNone/>
            </a:pP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	  =4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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301+(-9)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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133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6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Number Placeholder 5">
            <a:extLst>
              <a:ext uri="{FF2B5EF4-FFF2-40B4-BE49-F238E27FC236}">
                <a16:creationId xmlns:a16="http://schemas.microsoft.com/office/drawing/2014/main" id="{EF0AB933-CC8C-0E46-95BC-9D361AE9E1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2B20244-8D1D-9946-9867-A68AFCE0085B}" type="slidenum">
              <a:rPr kumimoji="0" lang="zh-CN" altLang="en-US" sz="1200"/>
              <a:pPr/>
              <a:t>33</a:t>
            </a:fld>
            <a:endParaRPr kumimoji="0" lang="en-US" altLang="zh-CN" sz="1200"/>
          </a:p>
        </p:txBody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101B5470-4246-754C-909E-E53E5430C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686800" cy="8382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例5.1.2</a:t>
            </a:r>
            <a:endParaRPr lang="en-US" altLang="zh-CN" dirty="0">
              <a:solidFill>
                <a:schemeClr val="tx1"/>
              </a:solidFill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DC10E9D1-EA89-0A4A-9E22-7A36D2734E6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990600"/>
            <a:ext cx="8763000" cy="2286000"/>
          </a:xfrm>
        </p:spPr>
        <p:txBody>
          <a:bodyPr/>
          <a:lstStyle/>
          <a:p>
            <a:pPr marL="361950" indent="-361950"/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求301和133的最高公因数并表为它们的倍数和。</a:t>
            </a:r>
            <a:endParaRPr kumimoji="0" lang="zh-CN" altLang="en-US" sz="3200" dirty="0">
              <a:solidFill>
                <a:schemeClr val="tx2"/>
              </a:solidFill>
              <a:latin typeface="宋体" panose="02010600030101010101" pitchFamily="2" charset="-122"/>
              <a:ea typeface="楷体_GB2312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3BCD45D-0732-8F40-9BF3-1D65AB9B0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1486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25374"/>
      </p:ext>
    </p:extLst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Number Placeholder 5">
            <a:extLst>
              <a:ext uri="{FF2B5EF4-FFF2-40B4-BE49-F238E27FC236}">
                <a16:creationId xmlns:a16="http://schemas.microsoft.com/office/drawing/2014/main" id="{B936E36D-DFCA-DA43-8F3F-23FBE4B42F6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5F56A4B-7204-B048-8AB0-3A813947522B}" type="slidenum">
              <a:rPr kumimoji="0" lang="zh-CN" altLang="en-US" sz="1200"/>
              <a:pPr/>
              <a:t>34</a:t>
            </a:fld>
            <a:endParaRPr kumimoji="0" lang="en-US" altLang="zh-CN" sz="1200"/>
          </a:p>
        </p:txBody>
      </p:sp>
      <p:sp>
        <p:nvSpPr>
          <p:cNvPr id="156674" name="Rectangle 2">
            <a:extLst>
              <a:ext uri="{FF2B5EF4-FFF2-40B4-BE49-F238E27FC236}">
                <a16:creationId xmlns:a16="http://schemas.microsoft.com/office/drawing/2014/main" id="{50E6DAA2-2B89-2940-B586-DB4B0C203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思考题</a:t>
            </a:r>
            <a:endParaRPr lang="en-US" altLang="zh-CN" dirty="0">
              <a:latin typeface="Arial" charset="0"/>
              <a:ea typeface="楷体_GB2312" charset="0"/>
              <a:cs typeface="+mj-cs"/>
            </a:endParaRP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2C406C50-7A5D-FD41-A77F-C7382AA508B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600200"/>
            <a:ext cx="8229600" cy="4530725"/>
          </a:xfrm>
        </p:spPr>
        <p:txBody>
          <a:bodyPr/>
          <a:lstStyle/>
          <a:p>
            <a:r>
              <a:rPr kumimoji="0" lang="en-US" altLang="zh-CN" sz="3600">
                <a:latin typeface="Arial" panose="020B0604020202020204" pitchFamily="34" charset="0"/>
                <a:ea typeface="楷体_GB2312" pitchFamily="49" charset="-122"/>
              </a:rPr>
              <a:t>P151-2</a:t>
            </a:r>
          </a:p>
        </p:txBody>
      </p:sp>
      <p:graphicFrame>
        <p:nvGraphicFramePr>
          <p:cNvPr id="55300" name="对象 1">
            <a:extLst>
              <a:ext uri="{FF2B5EF4-FFF2-40B4-BE49-F238E27FC236}">
                <a16:creationId xmlns:a16="http://schemas.microsoft.com/office/drawing/2014/main" id="{A06FACA3-7321-8745-AF1C-342465C10F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2605088"/>
          <a:ext cx="8839200" cy="349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8" name="文档" r:id="rId3" imgW="10871200" imgH="4292600" progId="Word.Document.12">
                  <p:embed/>
                </p:oleObj>
              </mc:Choice>
              <mc:Fallback>
                <p:oleObj name="文档" r:id="rId3" imgW="10871200" imgH="4292600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605088"/>
                        <a:ext cx="8839200" cy="349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</p:sld>
</file>

<file path=ppt/theme/theme1.xml><?xml version="1.0" encoding="utf-8"?>
<a:theme xmlns:a="http://schemas.openxmlformats.org/drawingml/2006/main" name="气流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气流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气流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气流.thmx</Template>
  <TotalTime>4301</TotalTime>
  <Words>2776</Words>
  <Application>Microsoft Macintosh PowerPoint</Application>
  <PresentationFormat>全屏显示(4:3)</PresentationFormat>
  <Paragraphs>214</Paragraphs>
  <Slides>34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黑体</vt:lpstr>
      <vt:lpstr>楷体_GB2312</vt:lpstr>
      <vt:lpstr>宋体</vt:lpstr>
      <vt:lpstr>Arial</vt:lpstr>
      <vt:lpstr>Georgia</vt:lpstr>
      <vt:lpstr>Times New Roman</vt:lpstr>
      <vt:lpstr>Trebuchet MS</vt:lpstr>
      <vt:lpstr>Wingdings</vt:lpstr>
      <vt:lpstr>气流</vt:lpstr>
      <vt:lpstr>公式</vt:lpstr>
      <vt:lpstr>文档</vt:lpstr>
      <vt:lpstr>第五章  数论基础 </vt:lpstr>
      <vt:lpstr>第五章 数论基础 </vt:lpstr>
      <vt:lpstr>§5.1.1 整除及其性质 </vt:lpstr>
      <vt:lpstr>定理5.1.1 </vt:lpstr>
      <vt:lpstr>定理5.1.1 </vt:lpstr>
      <vt:lpstr>定理5.1.1 </vt:lpstr>
      <vt:lpstr>推论 </vt:lpstr>
      <vt:lpstr>整除的基本性质 </vt:lpstr>
      <vt:lpstr>整除的基本性质 </vt:lpstr>
      <vt:lpstr>整除的基本性质 </vt:lpstr>
      <vt:lpstr>整除的基本性质 </vt:lpstr>
      <vt:lpstr>整除的基本性质 </vt:lpstr>
      <vt:lpstr>整除的基本性质 </vt:lpstr>
      <vt:lpstr>PowerPoint 演示文稿</vt:lpstr>
      <vt:lpstr>5.1.2  辗转相除 </vt:lpstr>
      <vt:lpstr>5.1.2  辗转相除 </vt:lpstr>
      <vt:lpstr>定理5.1.2 </vt:lpstr>
      <vt:lpstr>定理5.1.3 </vt:lpstr>
      <vt:lpstr>定理5.1.3 </vt:lpstr>
      <vt:lpstr>定理5.1.3 </vt:lpstr>
      <vt:lpstr>定理5.1.3 </vt:lpstr>
      <vt:lpstr>定理5.1.3 </vt:lpstr>
      <vt:lpstr>定理5.1.3 </vt:lpstr>
      <vt:lpstr>定理5.1.3 </vt:lpstr>
      <vt:lpstr>定理5.1.3 </vt:lpstr>
      <vt:lpstr>定理5.1.3 </vt:lpstr>
      <vt:lpstr>定理5.1.3 </vt:lpstr>
      <vt:lpstr>定理5.1.3 </vt:lpstr>
      <vt:lpstr>定理5.1.3 </vt:lpstr>
      <vt:lpstr>定理5.1.3 </vt:lpstr>
      <vt:lpstr>例5.1.2</vt:lpstr>
      <vt:lpstr>例5.1.2</vt:lpstr>
      <vt:lpstr>例5.1.2</vt:lpstr>
      <vt:lpstr>思考题</vt:lpstr>
    </vt:vector>
  </TitlesOfParts>
  <Company>jlu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  图与网络 </dc:title>
  <dc:creator>sunjigui</dc:creator>
  <cp:lastModifiedBy>Microsoft Office User</cp:lastModifiedBy>
  <cp:revision>263</cp:revision>
  <cp:lastPrinted>1601-01-01T00:00:00Z</cp:lastPrinted>
  <dcterms:created xsi:type="dcterms:W3CDTF">2002-08-29T00:33:30Z</dcterms:created>
  <dcterms:modified xsi:type="dcterms:W3CDTF">2024-05-12T14:22:05Z</dcterms:modified>
</cp:coreProperties>
</file>