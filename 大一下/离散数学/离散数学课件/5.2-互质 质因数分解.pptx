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31"/>
  </p:notesMasterIdLst>
  <p:sldIdLst>
    <p:sldId id="259" r:id="rId2"/>
    <p:sldId id="260" r:id="rId3"/>
    <p:sldId id="261" r:id="rId4"/>
    <p:sldId id="316" r:id="rId5"/>
    <p:sldId id="317" r:id="rId6"/>
    <p:sldId id="346" r:id="rId7"/>
    <p:sldId id="298" r:id="rId8"/>
    <p:sldId id="340" r:id="rId9"/>
    <p:sldId id="318" r:id="rId10"/>
    <p:sldId id="319" r:id="rId11"/>
    <p:sldId id="320" r:id="rId12"/>
    <p:sldId id="348" r:id="rId13"/>
    <p:sldId id="349" r:id="rId14"/>
    <p:sldId id="350" r:id="rId15"/>
    <p:sldId id="321" r:id="rId16"/>
    <p:sldId id="322" r:id="rId17"/>
    <p:sldId id="300" r:id="rId18"/>
    <p:sldId id="341" r:id="rId19"/>
    <p:sldId id="324" r:id="rId20"/>
    <p:sldId id="326" r:id="rId21"/>
    <p:sldId id="327" r:id="rId22"/>
    <p:sldId id="328" r:id="rId23"/>
    <p:sldId id="342" r:id="rId24"/>
    <p:sldId id="343" r:id="rId25"/>
    <p:sldId id="344" r:id="rId26"/>
    <p:sldId id="345" r:id="rId27"/>
    <p:sldId id="338" r:id="rId28"/>
    <p:sldId id="352" r:id="rId29"/>
    <p:sldId id="353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/>
    <p:restoredTop sz="88443"/>
  </p:normalViewPr>
  <p:slideViewPr>
    <p:cSldViewPr>
      <p:cViewPr varScale="1">
        <p:scale>
          <a:sx n="96" d="100"/>
          <a:sy n="96" d="100"/>
        </p:scale>
        <p:origin x="183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505E7B3-7BFC-FE4F-BA69-AFDEC14EED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9E08287F-ACC5-5141-8909-58BBA1A5565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2553A1A-6518-D745-A80A-4673F059991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AE060913-D297-7E4B-AA31-0927FD524FA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5CAA6F98-2246-E143-92E3-F85B39DEB7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40B6418F-DF1B-8542-AC99-95C738BBA8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66FAD298-822F-1549-8857-8C16E2A90E1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03A403D5-32B3-FA48-BAD0-DE64701BEA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25A8C6-D6BD-3E4E-9845-B01DE17AB969}" type="slidenum">
              <a:rPr lang="zh-CN" altLang="en-US" sz="1200">
                <a:latin typeface="Times New Roman" panose="02020603050405020304" pitchFamily="18" charset="0"/>
              </a:rPr>
              <a:pPr/>
              <a:t>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7FFAAD9-C5D0-714D-96A2-03CE95683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966FAAA-5B48-1544-A713-122C61CC0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DBE9C63C-EEBF-704B-8A78-39E496408E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7262A4-DB20-7846-83C1-7007757DC980}" type="slidenum">
              <a:rPr lang="zh-CN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D189B59-B6CC-FF4D-92F5-A748DBB82B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98286800-7BF2-F645-A07E-2860A2AF28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A8E8BA70-87BB-8342-AE96-3DD2DA2E1B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244EB6-0A1E-964D-8135-744602B67E73}" type="slidenum">
              <a:rPr lang="zh-CN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828DDD56-FF43-B549-AD08-76620477F0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2ED5511E-BF43-754B-AA35-5FDC4E42CA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6C5061A8-254F-B94F-BFEA-A1C00C574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B3CEA3-C456-E441-9517-50794BA22322}" type="slidenum">
              <a:rPr lang="zh-CN" altLang="en-US" sz="1200">
                <a:latin typeface="Times New Roman" panose="02020603050405020304" pitchFamily="18" charset="0"/>
              </a:rPr>
              <a:pPr/>
              <a:t>26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1B6D2ED5-2AF5-104E-9AA8-DF98D9F1CD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602F2052-5F65-8349-B97E-74D0981C2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>
                <a:ea typeface="宋体" charset="0"/>
              </a:rPr>
              <a:t>(6)</a:t>
            </a:r>
            <a:r>
              <a:rPr lang="zh-CN" altLang="en-US">
                <a:ea typeface="宋体" charset="0"/>
              </a:rPr>
              <a:t>中可能有质数重复出现，若把相同的质数归在一起，则有推论</a:t>
            </a:r>
            <a:r>
              <a:rPr lang="en-US" altLang="zh-CN">
                <a:ea typeface="宋体" charset="0"/>
              </a:rPr>
              <a:t>2</a:t>
            </a:r>
            <a:r>
              <a:rPr lang="zh-CN" altLang="en-US">
                <a:ea typeface="宋体" charset="0"/>
              </a:rPr>
              <a:t>：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49CA8FD1-13B0-644B-87DC-AEF6A631AA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F753411-A3F1-6843-AAF9-651374024B7F}" type="slidenum">
              <a:rPr lang="zh-CN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FDD5A30-043F-4342-B547-7EF1CE9B79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BA0D09D-DF01-1745-8ECE-16A45589A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宋体" charset="0"/>
              </a:rPr>
              <a:t>自然科学的皇后是数学。数学的皇冠是数论。哥德巴赫猜想，则是皇冠上的明珠。</a:t>
            </a:r>
            <a:endParaRPr lang="en-US" altLang="zh-CN" dirty="0">
              <a:ea typeface="宋体" charset="0"/>
            </a:endParaRPr>
          </a:p>
          <a:p>
            <a:pPr eaLnBrk="1" hangingPunct="1">
              <a:defRPr/>
            </a:pPr>
            <a:r>
              <a:rPr lang="zh-CN" altLang="en-US" dirty="0">
                <a:ea typeface="宋体" charset="0"/>
              </a:rPr>
              <a:t>国王是物理。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073A6FC7-5B58-0246-931F-0A9471122A7A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A40B0FA-7EBD-2A44-BCEE-68F6F45E4F02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B48E616-4064-0B44-ADE2-106B38DF3383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FB2E5EE5-1793-7243-A4ED-46BC1FC4B275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50B9896-B7DE-8D41-A4D4-746B12863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F597C66-4128-C549-A549-96D19270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CF8A180-32FC-9446-B49D-28645FA9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F80542-DC1E-5442-9171-1E8B438823D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83914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B3611-665B-0D4D-B277-17CF1C6983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AD10A-04C4-8D42-8BFF-7DBC45E2DA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56830-CCAA-154D-85AB-DA7CD1806F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1A38F602-6F17-F146-989C-43C0BE0BF0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505935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69A7C908-D747-674A-8C3C-D30C49089351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62D3D6E-E12E-C145-AFE8-BF831D29EF9E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7A5EC-0178-EF47-9A2C-D9EB06969707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5011EF7D-D1ED-234F-AF77-DB5716EEB59F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2E6581-53B4-DD46-9D47-AC76699CE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D35A564-EF27-E14A-B70D-C4178773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9832-3530-F348-B7C5-C74A9F6E0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6E45F9-2D36-1E42-9B53-5D76DF96A58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7390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FA18A7-D34B-6048-B7AD-BF1533302CE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89656AB-3AF6-9549-89E1-CC14AB5D2F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27C1DDB-B121-9E4F-A133-EF1113DB2C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C3EDBD6-02AA-D948-91A1-7A07189146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354685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86CC9DA-F4AF-6847-B8C5-8C6349D2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F2FF036-E02F-DA4C-812F-3EDCC5CE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407E20-7E78-3C44-8254-F18DBBFC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213A9B-A7B5-6D44-A6ED-15F457CF7BC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033462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417A3FF-CD8B-254D-861D-A92CA143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F2F5F55-517E-344F-BBF1-C869776B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8A765AA-2894-7C43-8A78-B25D7003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FB575B-E35D-8842-89DD-D4D688ED2CA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05994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10D8D78-5C73-7749-97CB-64DBCA00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228B5F7-317B-5648-AF92-C5DBBA59C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539B22-D13A-9146-805B-E578CFDC8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4D1D0-3EFA-2B4A-A858-B707C09CB87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439111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E3ECC35-A085-2542-96BC-8D295F2F1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8968CF7-F6A8-6043-A5E8-BF7E57FB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38B801-5799-044B-B473-98DEA4AE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B3B384-D9E1-534E-A5EA-FBB4D1ECCB5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58853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198AA67-4DAF-9A43-BE42-88279F36FD04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0EB6720-9183-2940-83DA-4CED4AA55EB8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A5DAFF8-184F-004D-B72D-2C7C845AC113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BFA29841-C5BE-1945-BCE8-692267CF7120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72C4223-D9B5-5A44-9A0C-F3578166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654CE24C-5136-EB40-86AF-F9E8B679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D0112FDB-2C12-AD45-88E5-CDFBB1E33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59C22E-3999-AD4D-900E-D5678C11F99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437637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B0758-D092-1944-894D-4BAB2F617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5F581-90B9-5244-A16A-201D0DF7C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90C15-3CD4-CE4C-9C65-6D10F0B1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FB4A9-36E6-0849-840C-18BF396E97E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017630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BDFF5-24FB-D14D-98FB-A3E40E17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EB930-C531-6440-A090-E540A270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4394A-61D8-654A-BBBE-1EE90C250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7E710F-E19D-AE40-9207-83299DDDF97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204336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138EA2-77CE-FE47-8644-E5EA11536FCD}"/>
              </a:ext>
            </a:extLst>
          </p:cNvPr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090377-5443-054B-872E-7C25C13A4076}"/>
              </a:ext>
            </a:extLst>
          </p:cNvPr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A58523-4740-394F-9FE0-E559D738CFE7}"/>
              </a:ext>
            </a:extLst>
          </p:cNvPr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03D53E-4A96-2347-8750-C36032FAA97E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783F85-B1D7-C744-9B6B-AA360854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925" name="Text Placeholder 2">
            <a:extLst>
              <a:ext uri="{FF2B5EF4-FFF2-40B4-BE49-F238E27FC236}">
                <a16:creationId xmlns:a16="http://schemas.microsoft.com/office/drawing/2014/main" id="{411CB4BA-1E3A-3F40-A255-91AC35890C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24CE4-CF4D-C44A-A473-1C6B1CC170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F8FF2-040E-5A47-8768-63E125CF8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4F03D-C1C8-F342-8C7D-E978D5233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C224B82D-66B9-E145-ADA9-AE3B9BEC869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5" r:id="rId2"/>
    <p:sldLayoutId id="2147483724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5" r:id="rId9"/>
    <p:sldLayoutId id="2147483721" r:id="rId10"/>
    <p:sldLayoutId id="2147483722" r:id="rId11"/>
  </p:sldLayoutIdLst>
  <p:transition>
    <p:blinds dir="vert"/>
  </p:transition>
  <p:hf hdr="0" ftr="0" dt="0"/>
  <p:txStyles>
    <p:titleStyle>
      <a:lvl1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宋体" panose="02010600030101010101" pitchFamily="2" charset="-122"/>
          <a:cs typeface="+mj-cs"/>
        </a:defRPr>
      </a:lvl1pPr>
      <a:lvl2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2pPr>
      <a:lvl3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3pPr>
      <a:lvl4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4pPr>
      <a:lvl5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panose="020B0703020202090204" pitchFamily="34" charset="0"/>
          <a:ea typeface="宋体" panose="02010600030101010101" pitchFamily="2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2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1pPr>
      <a:lvl2pPr marL="547688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0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2pPr>
      <a:lvl3pPr marL="822325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3pPr>
      <a:lvl4pPr marL="10969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6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4pPr>
      <a:lvl5pPr marL="13890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400" kern="1200">
          <a:solidFill>
            <a:srgbClr val="404040"/>
          </a:solidFill>
          <a:latin typeface="+mn-lt"/>
          <a:ea typeface="宋体" panose="02010600030101010101" pitchFamily="2" charset="-122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slide" Target="slide12.xml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46">
            <a:extLst>
              <a:ext uri="{FF2B5EF4-FFF2-40B4-BE49-F238E27FC236}">
                <a16:creationId xmlns:a16="http://schemas.microsoft.com/office/drawing/2014/main" id="{03AC2AA4-CCF3-2D48-80FD-EFF1DCE42A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2D5D4D-2B29-3046-ABC6-F0106A1D90B4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E5C9DDFC-C2CA-A04E-9788-ACBF7101C41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2743200"/>
            <a:ext cx="8077200" cy="1143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</a:rPr>
              <a:t>§5.2 互质 质因数分解 </a:t>
            </a: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Slide Number Placeholder 5">
            <a:extLst>
              <a:ext uri="{FF2B5EF4-FFF2-40B4-BE49-F238E27FC236}">
                <a16:creationId xmlns:a16="http://schemas.microsoft.com/office/drawing/2014/main" id="{76C8E6EB-F725-CB49-84C2-187A5376706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08701B-C048-2A4E-AB33-F9D5362858A9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A1E73DE-693E-5542-A567-03F18F7D4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471488"/>
            <a:ext cx="7693025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§5.2.1  整数互质 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8883437-A9D1-334F-AF1B-A31294FCCC6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76400"/>
            <a:ext cx="8839200" cy="4724400"/>
          </a:xfrm>
        </p:spPr>
        <p:txBody>
          <a:bodyPr/>
          <a:lstStyle/>
          <a:p>
            <a:pPr marL="357188" indent="-357188">
              <a:lnSpc>
                <a:spcPct val="90000"/>
              </a:lnSpc>
            </a:pP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定义5.2.1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 若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除±1外无其它公因数，则我们说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互质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57188" indent="-357188">
              <a:lnSpc>
                <a:spcPct val="90000"/>
              </a:lnSpc>
            </a:pP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>
              <a:lnSpc>
                <a:spcPct val="90000"/>
              </a:lnSpc>
            </a:pP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例如：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互质；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9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互质。</a:t>
            </a:r>
          </a:p>
          <a:p>
            <a:pPr marL="357188" indent="-357188">
              <a:lnSpc>
                <a:spcPct val="90000"/>
              </a:lnSpc>
            </a:pP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>
              <a:lnSpc>
                <a:spcPct val="90000"/>
              </a:lnSpc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据定义，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互质，必要而且只要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的最高公因数为1；±1和任意整数互质。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Slide Number Placeholder 5">
            <a:extLst>
              <a:ext uri="{FF2B5EF4-FFF2-40B4-BE49-F238E27FC236}">
                <a16:creationId xmlns:a16="http://schemas.microsoft.com/office/drawing/2014/main" id="{E4E1EFB3-BEF9-E240-8734-9D92EE92BE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62B396-F5F7-7644-9971-97B723E59C2B}" type="slidenum">
              <a:rPr kumimoji="0" lang="zh-CN" altLang="en-US" sz="1200"/>
              <a:pPr/>
              <a:t>3</a:t>
            </a:fld>
            <a:endParaRPr kumimoji="0" lang="en-US" altLang="zh-CN" sz="12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CA8A8281-350D-034E-A91E-AF3BDCF79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定理5.2.1 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3537250-90B8-A14D-90F2-B0A8DA09172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839200" cy="4572000"/>
          </a:xfrm>
        </p:spPr>
        <p:txBody>
          <a:bodyPr/>
          <a:lstStyle/>
          <a:p>
            <a:pPr marL="357188" indent="-357188">
              <a:lnSpc>
                <a:spcPct val="90000"/>
              </a:lnSpc>
              <a:spcBef>
                <a:spcPct val="0"/>
              </a:spcBef>
            </a:pP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互质，当且仅当1可表示为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的倍数和形式，即存在整数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使1=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sa+tb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0" lang="zh-CN" altLang="en-US" sz="3200" dirty="0">
              <a:solidFill>
                <a:srgbClr val="FFFF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</a:p>
          <a:p>
            <a:pPr marL="357188" indent="-357188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	必要性:由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互质知，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的最高公因数为1，从而存在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s，t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sa+tb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=1。</a:t>
            </a:r>
          </a:p>
          <a:p>
            <a:pPr marL="357188" indent="-357188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	充分性:只需证：若存在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使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sa+tb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的最高公因数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d=(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a,b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。假设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d=(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a,b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d|a</a:t>
            </a:r>
            <a:r>
              <a:rPr kumimoji="0" lang="en-US" altLang="zh-CN" sz="32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d|b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从而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整除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sa+tb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的左端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性质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，因此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d|1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矛盾。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Slide Number Placeholder 5">
            <a:extLst>
              <a:ext uri="{FF2B5EF4-FFF2-40B4-BE49-F238E27FC236}">
                <a16:creationId xmlns:a16="http://schemas.microsoft.com/office/drawing/2014/main" id="{2264DB41-F5ED-BB48-A030-253E610B9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3689D47-191E-BA4B-B028-7E06239B7FF6}" type="slidenum">
              <a:rPr kumimoji="0" lang="zh-CN" altLang="en-US" sz="1200"/>
              <a:pPr/>
              <a:t>4</a:t>
            </a:fld>
            <a:endParaRPr kumimoji="0" lang="en-US" altLang="zh-CN" sz="1200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6A65C5FF-8E3E-A542-98F8-1CD908005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定理5.2.2 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617E2ABD-860C-5C47-B8AC-389C0144A47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915400" cy="48006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互质，而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bc，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c。</a:t>
            </a: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互质，故有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s，t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使1=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sa+tb，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从而</a:t>
            </a:r>
          </a:p>
          <a:p>
            <a:pPr marL="357188" indent="-357188" algn="ctr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c=sac+tbc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  <a:sym typeface="Symbol" pitchFamily="2" charset="2"/>
              </a:rPr>
              <a:t>…………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今因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bc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整除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右边每一项，因而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7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Slide Number Placeholder 5">
            <a:extLst>
              <a:ext uri="{FF2B5EF4-FFF2-40B4-BE49-F238E27FC236}">
                <a16:creationId xmlns:a16="http://schemas.microsoft.com/office/drawing/2014/main" id="{60968998-434B-3645-B5F0-6C33E310C1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63A32E-AE32-0842-8F25-86996AE844DF}" type="slidenum">
              <a:rPr kumimoji="0" lang="zh-CN" altLang="en-US" sz="1200"/>
              <a:pPr/>
              <a:t>5</a:t>
            </a:fld>
            <a:endParaRPr kumimoji="0" lang="en-US" altLang="zh-CN" sz="1200"/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EA9D920C-AD9D-AB47-9BAF-B89756055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定理5.2.3 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A1B42827-52AB-864B-9F42-A0C7F1152FC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447800"/>
            <a:ext cx="8839200" cy="49530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都互质，则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互质。</a:t>
            </a: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由题设，对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i=1,2,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,n，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b+t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=1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把所有这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个式子乘起来，有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b+t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)(s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b+t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(s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b+t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)=1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Number Placeholder 3">
            <a:extLst>
              <a:ext uri="{FF2B5EF4-FFF2-40B4-BE49-F238E27FC236}">
                <a16:creationId xmlns:a16="http://schemas.microsoft.com/office/drawing/2014/main" id="{474E220E-894D-6F4E-B278-B7C12206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9515A35-1694-3B47-9D82-293B6DABB7BF}" type="slidenum">
              <a:rPr kumimoji="0" lang="zh-CN" altLang="en-US" sz="1200"/>
              <a:pPr/>
              <a:t>6</a:t>
            </a:fld>
            <a:endParaRPr kumimoji="0" lang="en-US" altLang="zh-CN" sz="1200"/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62FF7BA3-EC3F-4E42-889C-0208C9113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416050"/>
            <a:ext cx="8763000" cy="3055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52425" indent="-352425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左边有2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项，其中有一项为: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      t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 … t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…a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而其余各项都包含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b，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所以，乘起来的式子可以表示为：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Sb+Ta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…a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=1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由定理5.2.1得，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…a</a:t>
            </a:r>
            <a:r>
              <a:rPr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二者互质。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Number Placeholder 5">
            <a:extLst>
              <a:ext uri="{FF2B5EF4-FFF2-40B4-BE49-F238E27FC236}">
                <a16:creationId xmlns:a16="http://schemas.microsoft.com/office/drawing/2014/main" id="{C9AB5062-4279-4C41-B1FA-8E27DFFAA0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2FA49D-8BA1-F74B-BF5B-85CFF6AF4B51}" type="slidenum">
              <a:rPr kumimoji="0" lang="zh-CN" altLang="en-US" sz="1200"/>
              <a:pPr/>
              <a:t>7</a:t>
            </a:fld>
            <a:endParaRPr kumimoji="0" lang="en-US" altLang="zh-CN" sz="12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4146D49F-CE85-8A42-BF76-CEE30A3F6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定理5.2.4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B5567BF7-14DA-3D47-924D-BEE8F2E1F52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839200" cy="5029200"/>
          </a:xfrm>
        </p:spPr>
        <p:txBody>
          <a:bodyPr/>
          <a:lstStyle/>
          <a:p>
            <a:pPr marL="357188" indent="-357188">
              <a:lnSpc>
                <a:spcPct val="90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两两互质而都整除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|a。</a:t>
            </a:r>
          </a:p>
          <a:p>
            <a:pPr marL="357188" indent="-357188">
              <a:lnSpc>
                <a:spcPct val="9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采用数学归纳法，对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进行归纳。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k=1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时，结论显然。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当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k=2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时，由于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|a，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所以存在整数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又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|a，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而(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)=1，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|q(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定理5.2.2)，于是存在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q=m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即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|a。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Slide Number Placeholder 5">
            <a:extLst>
              <a:ext uri="{FF2B5EF4-FFF2-40B4-BE49-F238E27FC236}">
                <a16:creationId xmlns:a16="http://schemas.microsoft.com/office/drawing/2014/main" id="{FC611958-A564-294D-BDB9-BCC065853C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E162B53-111C-0740-B47E-E7F1207D934E}" type="slidenum">
              <a:rPr kumimoji="0" lang="zh-CN" altLang="en-US" sz="1200"/>
              <a:pPr/>
              <a:t>8</a:t>
            </a:fld>
            <a:endParaRPr kumimoji="0" lang="en-US" altLang="zh-CN" sz="1200"/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CF12036B-9AB7-9746-954A-A838AC6DC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定理5.2.4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42E6B3C3-5F9F-8041-A13C-64E0FEA560D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143000"/>
            <a:ext cx="8915400" cy="5334000"/>
          </a:xfrm>
        </p:spPr>
        <p:txBody>
          <a:bodyPr/>
          <a:lstStyle/>
          <a:p>
            <a:pPr marL="357188" indent="-357188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假定对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i(1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i&lt;k)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有</a:t>
            </a:r>
          </a:p>
          <a:p>
            <a:pPr marL="357188" indent="-357188" algn="just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        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…m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|a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…………………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57188" indent="-357188" algn="just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我们证明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        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…m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|a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……………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57188" indent="-357188" algn="just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由(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)知有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使</a:t>
            </a:r>
          </a:p>
          <a:p>
            <a:pPr marL="357188" indent="-357188" algn="just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        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a=m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…m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………………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 </a:t>
            </a:r>
          </a:p>
          <a:p>
            <a:pPr marL="357188" indent="-357188" algn="just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由定理5.2.3知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…m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互质，且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|a，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|m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…m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，故由定理5.2.2，则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|q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，于是存在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，使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q=m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，即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a=m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…m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。则(3)成立。</a:t>
            </a:r>
          </a:p>
          <a:p>
            <a:pPr marL="357188" indent="-357188" algn="just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归纳证毕。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Number Placeholder 5">
            <a:extLst>
              <a:ext uri="{FF2B5EF4-FFF2-40B4-BE49-F238E27FC236}">
                <a16:creationId xmlns:a16="http://schemas.microsoft.com/office/drawing/2014/main" id="{2A79A12A-43F1-0342-86C9-74716A5A3E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03AE258-08F3-A945-8F52-B13E715870A7}" type="slidenum">
              <a:rPr kumimoji="0" lang="zh-CN" altLang="en-US" sz="1200"/>
              <a:pPr/>
              <a:t>9</a:t>
            </a:fld>
            <a:endParaRPr kumimoji="0" lang="en-US" altLang="zh-CN" sz="12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CC05B771-847F-3D45-989C-333E41C94B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例5.2.1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04E2D064-6D82-8A4F-8FBD-0209C7BD2B9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5720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试证相继三个整数之积能被6整除。</a:t>
            </a: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设三个相继整数依次为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n, n+1, n+2，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其中必有一个为偶数，且必有一个为3的倍数，即2|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n(n+1)(n+2)，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3|n(n+1)(n+2)。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而(2，3)=1，据定理5.2.4有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6|n(n+1)(n+2)。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Number Placeholder 5">
            <a:extLst>
              <a:ext uri="{FF2B5EF4-FFF2-40B4-BE49-F238E27FC236}">
                <a16:creationId xmlns:a16="http://schemas.microsoft.com/office/drawing/2014/main" id="{917FCACB-65DE-2B4B-960C-0B9483D527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0EDEE26-E4E7-D646-B27B-D7BF9019C813}" type="slidenum">
              <a:rPr kumimoji="0" lang="zh-CN" altLang="en-US" sz="1200"/>
              <a:pPr/>
              <a:t>10</a:t>
            </a:fld>
            <a:endParaRPr kumimoji="0" lang="en-US" altLang="zh-CN" sz="1200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1704464E-942D-7F45-BD9E-9626D50F5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例5.2.2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32ED0287-E614-1740-8000-9498DFB18C5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4724400"/>
          </a:xfrm>
        </p:spPr>
        <p:txBody>
          <a:bodyPr/>
          <a:lstStyle/>
          <a:p>
            <a:pPr marL="357188" indent="-357188">
              <a:lnSpc>
                <a:spcPct val="90000"/>
              </a:lnSpc>
              <a:spcBef>
                <a:spcPct val="0"/>
              </a:spcBef>
              <a:tabLst>
                <a:tab pos="3719513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试证相继三个整数的立方和是9的倍数。</a:t>
            </a:r>
          </a:p>
          <a:p>
            <a:pPr marL="357188" indent="-357188">
              <a:lnSpc>
                <a:spcPct val="90000"/>
              </a:lnSpc>
              <a:spcBef>
                <a:spcPct val="0"/>
              </a:spcBef>
              <a:tabLst>
                <a:tab pos="3719513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n-1，n，n+1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为三个相继整数，则</a:t>
            </a:r>
          </a:p>
          <a:p>
            <a:pPr marL="357188" indent="-357188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tabLst>
                <a:tab pos="3719513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 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+(n+1)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=3n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+3n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-3n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+6n-1+1</a:t>
            </a:r>
          </a:p>
          <a:p>
            <a:pPr marL="357188" indent="-357188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tabLst>
                <a:tab pos="3719513" algn="l"/>
              </a:tabLst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     	=3(n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+2n)</a:t>
            </a:r>
          </a:p>
          <a:p>
            <a:pPr lvl="4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tabLst>
                <a:tab pos="3719513" algn="l"/>
              </a:tabLst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	=3(n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+3n-n)</a:t>
            </a:r>
          </a:p>
          <a:p>
            <a:pPr lvl="4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tabLst>
                <a:tab pos="3719513" algn="l"/>
              </a:tabLst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	=3(3n+n(n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-1))</a:t>
            </a:r>
          </a:p>
          <a:p>
            <a:pPr lvl="4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tabLst>
                <a:tab pos="3719513" algn="l"/>
              </a:tabLst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	=9n+3(n-1)n(n+1)</a:t>
            </a:r>
          </a:p>
          <a:p>
            <a:pPr marL="357188" indent="-357188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tabLst>
                <a:tab pos="3719513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而由上例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5.2.1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知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3|(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n-1)n(n+1)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</a:p>
          <a:p>
            <a:pPr marL="357188" indent="-357188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  <a:tabLst>
                <a:tab pos="3719513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故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9|((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+(n+1)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D69F416A-5A81-C249-913C-47A3C3CF8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例5.2.3 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EEA42AE6-BAAB-CB4E-A752-BE27DE4CC30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2286000"/>
            <a:ext cx="8839200" cy="38100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必要性；假若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不互质，(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p,q)=a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p=ap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，q=aq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</a:p>
          <a:p>
            <a:pPr marL="357188" indent="-357188">
              <a:buFont typeface="Wingdings" pitchFamily="2" charset="2"/>
              <a:buNone/>
            </a:pP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>
              <a:buFont typeface="Wingdings" pitchFamily="2" charset="2"/>
              <a:buNone/>
            </a:pP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>
              <a:buFont typeface="Wingdings" pitchFamily="2" charset="2"/>
              <a:buNone/>
            </a:pP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有公因数2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矛盾。</a:t>
            </a:r>
          </a:p>
        </p:txBody>
      </p:sp>
      <p:grpSp>
        <p:nvGrpSpPr>
          <p:cNvPr id="124936" name="Group 8">
            <a:extLst>
              <a:ext uri="{FF2B5EF4-FFF2-40B4-BE49-F238E27FC236}">
                <a16:creationId xmlns:a16="http://schemas.microsoft.com/office/drawing/2014/main" id="{07175C9B-53CA-2F4C-A8E8-65373132C3DC}"/>
              </a:ext>
            </a:extLst>
          </p:cNvPr>
          <p:cNvGrpSpPr>
            <a:grpSpLocks/>
          </p:cNvGrpSpPr>
          <p:nvPr/>
        </p:nvGrpSpPr>
        <p:grpSpPr bwMode="auto">
          <a:xfrm>
            <a:off x="2582863" y="3487738"/>
            <a:ext cx="4122737" cy="1846262"/>
            <a:chOff x="974" y="1963"/>
            <a:chExt cx="3159" cy="1813"/>
          </a:xfrm>
        </p:grpSpPr>
        <p:graphicFrame>
          <p:nvGraphicFramePr>
            <p:cNvPr id="15365" name="Object 4">
              <a:extLst>
                <a:ext uri="{FF2B5EF4-FFF2-40B4-BE49-F238E27FC236}">
                  <a16:creationId xmlns:a16="http://schemas.microsoft.com/office/drawing/2014/main" id="{4FF952EC-2D21-FA4F-8944-4C5016AC51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4" y="2928"/>
            <a:ext cx="3159" cy="8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7" name="公式" r:id="rId3" imgW="2006600" imgH="469900" progId="Equation.3">
                    <p:embed/>
                  </p:oleObj>
                </mc:Choice>
                <mc:Fallback>
                  <p:oleObj name="公式" r:id="rId3" imgW="2006600" imgH="4699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4" y="2928"/>
                          <a:ext cx="3159" cy="8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5">
              <a:extLst>
                <a:ext uri="{FF2B5EF4-FFF2-40B4-BE49-F238E27FC236}">
                  <a16:creationId xmlns:a16="http://schemas.microsoft.com/office/drawing/2014/main" id="{3FD6A859-AC28-B242-BB73-7C45A80AB2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96" y="1963"/>
            <a:ext cx="3097" cy="8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8" name="公式" r:id="rId5" imgW="2019300" imgH="469900" progId="Equation.3">
                    <p:embed/>
                  </p:oleObj>
                </mc:Choice>
                <mc:Fallback>
                  <p:oleObj name="公式" r:id="rId5" imgW="2019300" imgH="4699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6" y="1963"/>
                          <a:ext cx="3097" cy="8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4" name="Text Box 7">
            <a:extLst>
              <a:ext uri="{FF2B5EF4-FFF2-40B4-BE49-F238E27FC236}">
                <a16:creationId xmlns:a16="http://schemas.microsoft.com/office/drawing/2014/main" id="{5D15FB3A-97B2-6D48-AB7C-4737E50FF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143000"/>
            <a:ext cx="88392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57188" indent="-357188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试证2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互质的充要条件是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互质。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DF55F51A-E671-CF4E-A994-AF06402DB3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7D1A45-C125-504D-9187-059E8B0EB82E}" type="slidenum">
              <a:rPr kumimoji="0" lang="zh-CN" altLang="en-US" sz="1200"/>
              <a:pPr/>
              <a:t>12</a:t>
            </a:fld>
            <a:endParaRPr kumimoji="0" lang="en-US" altLang="zh-CN" sz="1200"/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6A0E5233-0477-F744-BEAA-4E3F038F579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381000"/>
            <a:ext cx="8458200" cy="6248400"/>
          </a:xfrm>
        </p:spPr>
        <p:txBody>
          <a:bodyPr/>
          <a:lstStyle/>
          <a:p>
            <a:pPr marL="352425" indent="-352425">
              <a:buFont typeface="Wingdings" pitchFamily="2" charset="2"/>
              <a:buNone/>
            </a:pP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2425" indent="-352425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充分性；设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p,q)=1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-1, 2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-1)=d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往证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d=1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不妨设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辗转相除得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52425" indent="-352425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p=ql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 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；        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-1=(2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-1)N</a:t>
            </a:r>
            <a:r>
              <a:rPr kumimoji="0" lang="en-US" altLang="zh-CN" sz="32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+(2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52425" indent="-352425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q=r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；        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-1=(2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-1)N</a:t>
            </a:r>
            <a:r>
              <a:rPr kumimoji="0" lang="en-US" altLang="zh-CN" sz="32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+(2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r2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-1)</a:t>
            </a:r>
            <a:endParaRPr kumimoji="0" lang="en-US" altLang="zh-CN" sz="3200">
              <a:solidFill>
                <a:schemeClr val="tx2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pPr marL="352425" indent="-352425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            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……</a:t>
            </a:r>
            <a:endParaRPr kumimoji="0" lang="en-US" altLang="zh-CN" sz="3200">
              <a:latin typeface="宋体" panose="02010600030101010101" pitchFamily="2" charset="-122"/>
              <a:ea typeface="楷体_GB2312" pitchFamily="49" charset="-122"/>
            </a:endParaRPr>
          </a:p>
          <a:p>
            <a:pPr marL="352425" indent="-352425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；  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rn-2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-1=(2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rn-1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-1)N</a:t>
            </a:r>
            <a:r>
              <a:rPr kumimoji="0" lang="en-US" altLang="zh-CN" sz="32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+(2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rn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-1)</a:t>
            </a:r>
            <a:endParaRPr kumimoji="0" lang="en-US" altLang="zh-CN" sz="3200">
              <a:solidFill>
                <a:schemeClr val="tx2"/>
              </a:solidFill>
              <a:latin typeface="宋体" panose="02010600030101010101" pitchFamily="2" charset="-122"/>
              <a:ea typeface="楷体_GB2312" pitchFamily="49" charset="-122"/>
            </a:endParaRPr>
          </a:p>
          <a:p>
            <a:pPr marL="352425" indent="-352425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；       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rn-1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-1=(2</a:t>
            </a:r>
            <a:r>
              <a:rPr kumimoji="0" lang="en-US" altLang="zh-CN" sz="3200" baseline="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rn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-1)N</a:t>
            </a:r>
            <a:r>
              <a:rPr kumimoji="0" lang="en-US" altLang="zh-CN" sz="3200" baseline="-25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n+1</a:t>
            </a:r>
          </a:p>
          <a:p>
            <a:pPr marL="352425" indent="-352425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由于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p, q)=1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=1                          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36EA45AD-B5E5-0E49-8039-7CB2BA69E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33600"/>
            <a:ext cx="2438400" cy="3124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55656" name="AutoShape 8">
            <a:hlinkClick r:id="rId2" action="ppaction://hlinksldjump"/>
            <a:extLst>
              <a:ext uri="{FF2B5EF4-FFF2-40B4-BE49-F238E27FC236}">
                <a16:creationId xmlns:a16="http://schemas.microsoft.com/office/drawing/2014/main" id="{F6485103-B184-BD46-92C4-23FC63098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362200"/>
            <a:ext cx="304800" cy="304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55657" name="AutoShape 9">
            <a:hlinkClick r:id="rId3" action="ppaction://hlinksldjump"/>
            <a:extLst>
              <a:ext uri="{FF2B5EF4-FFF2-40B4-BE49-F238E27FC236}">
                <a16:creationId xmlns:a16="http://schemas.microsoft.com/office/drawing/2014/main" id="{7242479D-8C7D-4B4B-8C11-0CA95C9E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715000"/>
            <a:ext cx="304800" cy="304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5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5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5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5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5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build="p" autoUpdateAnimBg="0"/>
      <p:bldP spid="155655" grpId="0" animBg="1"/>
      <p:bldP spid="155656" grpId="0" animBg="1"/>
      <p:bldP spid="1556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9D96A486-B1CA-F84C-AAC6-EA6597238B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468014-2284-F74A-B20F-443B36D71D7A}" type="slidenum">
              <a:rPr kumimoji="0" lang="zh-CN" altLang="en-US" sz="1200"/>
              <a:pPr/>
              <a:t>13</a:t>
            </a:fld>
            <a:endParaRPr kumimoji="0" lang="en-US" altLang="zh-CN" sz="1200"/>
          </a:p>
        </p:txBody>
      </p:sp>
      <p:graphicFrame>
        <p:nvGraphicFramePr>
          <p:cNvPr id="17410" name="Object 4">
            <a:extLst>
              <a:ext uri="{FF2B5EF4-FFF2-40B4-BE49-F238E27FC236}">
                <a16:creationId xmlns:a16="http://schemas.microsoft.com/office/drawing/2014/main" id="{66564B62-EE55-264F-9B33-B9647C0482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524000"/>
          <a:ext cx="6223000" cy="284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公式" r:id="rId3" imgW="2667000" imgH="977900" progId="Equation.3">
                  <p:embed/>
                </p:oleObj>
              </mc:Choice>
              <mc:Fallback>
                <p:oleObj name="公式" r:id="rId3" imgW="2667000" imgH="977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524000"/>
                        <a:ext cx="6223000" cy="284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AutoShape 6">
            <a:hlinkClick r:id="rId5" action="ppaction://hlinksldjump"/>
            <a:extLst>
              <a:ext uri="{FF2B5EF4-FFF2-40B4-BE49-F238E27FC236}">
                <a16:creationId xmlns:a16="http://schemas.microsoft.com/office/drawing/2014/main" id="{6A734552-F367-1248-8D0E-E96B5660834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81000" y="5257800"/>
            <a:ext cx="381000" cy="304800"/>
          </a:xfrm>
          <a:prstGeom prst="rightArrow">
            <a:avLst>
              <a:gd name="adj1" fmla="val 50000"/>
              <a:gd name="adj2" fmla="val 31250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4AB1E4DA-B405-4044-BDFF-AEA52A396E4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320FDA-721A-BA4A-B74A-2052471F53A7}" type="slidenum">
              <a:rPr kumimoji="0" lang="zh-CN" altLang="en-US" sz="1200"/>
              <a:pPr/>
              <a:t>14</a:t>
            </a:fld>
            <a:endParaRPr kumimoji="0" lang="en-US" altLang="zh-CN" sz="1200"/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8D6543D2-60C7-874A-BF7D-10F51273683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609600" y="609600"/>
            <a:ext cx="7391400" cy="3352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p=ql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+r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  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	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-1=(2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-1)N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+(2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                    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q=r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+r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	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-1=(2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-1)N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+(2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</a:t>
            </a:r>
            <a:endParaRPr kumimoji="0" lang="en-US" altLang="zh-CN" sz="3200">
              <a:latin typeface="宋体" panose="02010600030101010101" pitchFamily="2" charset="-122"/>
              <a:ea typeface="楷体_GB2312" pitchFamily="49" charset="-122"/>
            </a:endParaRP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</a:rPr>
              <a:t>……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            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……</a:t>
            </a:r>
            <a:endParaRPr kumimoji="0" lang="en-US" altLang="zh-CN" sz="3200">
              <a:latin typeface="宋体" panose="02010600030101010101" pitchFamily="2" charset="-122"/>
              <a:ea typeface="楷体_GB2312" pitchFamily="49" charset="-122"/>
            </a:endParaRP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n-2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+r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；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rn-2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-1=(2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rn-1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-1)N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+(2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</a:t>
            </a:r>
            <a:endParaRPr kumimoji="0" lang="en-US" altLang="zh-CN" sz="3200">
              <a:latin typeface="宋体" panose="02010600030101010101" pitchFamily="2" charset="-122"/>
              <a:ea typeface="楷体_GB2312" pitchFamily="49" charset="-122"/>
            </a:endParaRP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=r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；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	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rn-1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-1=(2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-1)N</a:t>
            </a:r>
            <a:r>
              <a:rPr kumimoji="0" lang="en-US" altLang="zh-CN" sz="3200" baseline="-25000"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endParaRPr kumimoji="0" lang="zh-CN" altLang="en-US" sz="32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49922551-74BB-3A43-938E-36D2DF9CC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343400"/>
            <a:ext cx="8077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d=(2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-1, 2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</a:t>
            </a:r>
          </a:p>
          <a:p>
            <a: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=</a:t>
            </a: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(2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-1, 2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</a:t>
            </a:r>
          </a:p>
          <a:p>
            <a: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=(2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-1, 2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r2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-1)= … =(2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rn-1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-1,2</a:t>
            </a:r>
            <a:r>
              <a:rPr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rn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-1)=1。</a:t>
            </a:r>
            <a:endParaRPr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BA6E6973-D793-6448-9065-0455A07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04800"/>
            <a:ext cx="5257800" cy="38100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31D74182-41B0-C24B-8433-5EB9C8468F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60A0CB7-4BDA-504E-9042-EFCCD3B2C5F3}" type="slidenum">
              <a:rPr kumimoji="0" lang="zh-CN" altLang="en-US" sz="1200"/>
              <a:pPr/>
              <a:t>15</a:t>
            </a:fld>
            <a:endParaRPr kumimoji="0" lang="en-US" altLang="zh-CN" sz="120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1D439969-5150-AF46-8C94-E28D570E3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例5.2.4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520D500A-F652-4945-B759-BA2FD82A725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4953000"/>
          </a:xfrm>
        </p:spPr>
        <p:txBody>
          <a:bodyPr/>
          <a:lstStyle/>
          <a:p>
            <a:pPr marL="357188" indent="-357188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证明：若(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 = 1，1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n，1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m，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 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…a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…b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)=1。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特别当(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a, b)=1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时，(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b</a:t>
            </a:r>
            <a:r>
              <a:rPr kumimoji="0" lang="en-US" altLang="zh-CN" sz="3200" baseline="30000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 = 1，n, m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为任意正整数。</a:t>
            </a:r>
          </a:p>
          <a:p>
            <a:pPr marL="357188" indent="-357188"/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由(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)=1， 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m，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b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 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…b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)=1(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5.2.3)，1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进而(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…a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…b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)=1(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5.2.3)。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a，b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=b，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30000" dirty="0" err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,b</a:t>
            </a:r>
            <a:r>
              <a:rPr kumimoji="0" lang="en-US" altLang="zh-CN" sz="3200" baseline="30000" dirty="0" err="1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)=1。 </a:t>
            </a: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9157CACB-C2C2-A249-A92C-27CE765584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527416-DE8F-BE47-BF9F-66351C6B803E}" type="slidenum">
              <a:rPr kumimoji="0" lang="zh-CN" altLang="en-US" sz="1200"/>
              <a:pPr/>
              <a:t>16</a:t>
            </a:fld>
            <a:endParaRPr kumimoji="0" lang="en-US" altLang="zh-CN" sz="1200"/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0F6C35DC-3B67-2F42-9FA4-0D871078B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例5.2.5</a:t>
            </a:r>
            <a:r>
              <a:rPr lang="zh-CN" altLang="en-US" dirty="0">
                <a:latin typeface="黑体" charset="0"/>
                <a:ea typeface="楷体_GB2312" charset="0"/>
              </a:rPr>
              <a:t> </a:t>
            </a:r>
            <a:endParaRPr lang="en-US" altLang="zh-CN" dirty="0">
              <a:latin typeface="黑体" charset="0"/>
              <a:ea typeface="楷体_GB2312" charset="0"/>
            </a:endParaRP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5BECAC48-FB2D-A84D-A2AE-B96323B2DB8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915400" cy="46482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a, b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为大于1的自然数，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a, b) =1，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log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是无理数。</a:t>
            </a:r>
          </a:p>
          <a:p>
            <a:pPr marL="357188" indent="-357188"/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反证法。若不然，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log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b=p/q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为有理数。因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是正整数，且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p, q)=1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从而得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p/q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=b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=b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因为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a, b)=1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由上例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5.2.4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知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b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=b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矛盾。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pic>
        <p:nvPicPr>
          <p:cNvPr id="126980" name="Picture 4" descr="log">
            <a:extLst>
              <a:ext uri="{FF2B5EF4-FFF2-40B4-BE49-F238E27FC236}">
                <a16:creationId xmlns:a16="http://schemas.microsoft.com/office/drawing/2014/main" id="{02AC256F-C110-AE41-AC54-063368027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990600"/>
            <a:ext cx="2540000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0207B21E-6822-364D-8D25-0FAAD6B0A0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9B9F7DD-3F10-1D48-8887-61B1A5E1013F}" type="slidenum">
              <a:rPr kumimoji="0" lang="zh-CN" altLang="en-US" sz="1200"/>
              <a:pPr/>
              <a:t>17</a:t>
            </a:fld>
            <a:endParaRPr kumimoji="0" lang="en-US" altLang="zh-CN" sz="1200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4F51C575-908C-114F-8F0B-AD6489FD1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例5.2.6 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8731E44F-D20F-8C49-AEC4-640FF9B987A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915400" cy="4572000"/>
          </a:xfrm>
        </p:spPr>
        <p:txBody>
          <a:bodyPr/>
          <a:lstStyle/>
          <a:p>
            <a:pPr marL="357188" indent="-357188"/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f(x)=a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3200" baseline="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3200" baseline="30000" dirty="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是整系数多项式，若10|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f(2)，10|f(5)，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则10|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f(10)。</a:t>
            </a:r>
          </a:p>
          <a:p>
            <a:pPr marL="357188" indent="-357188"/>
            <a:endParaRPr kumimoji="0"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/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注意到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f(10) =a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0" lang="en-US" altLang="zh-CN" sz="3200" baseline="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0" lang="en-US" altLang="zh-CN" sz="3200" baseline="30000" dirty="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+a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所以10|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f(10)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当且仅当10|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	因为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10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，10|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f(2)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所以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2|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f(2)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于是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2|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同样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5|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由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2,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得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10|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定理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5.2.4)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6">
            <a:extLst>
              <a:ext uri="{FF2B5EF4-FFF2-40B4-BE49-F238E27FC236}">
                <a16:creationId xmlns:a16="http://schemas.microsoft.com/office/drawing/2014/main" id="{01A9AD9A-5290-BA4B-86C3-9F799365AB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91640B-F2EE-604C-BE93-8EFDD6CED399}" type="slidenum">
              <a:rPr kumimoji="0" lang="zh-CN" altLang="en-US" sz="1200"/>
              <a:pPr/>
              <a:t>18</a:t>
            </a:fld>
            <a:endParaRPr kumimoji="0" lang="en-US" altLang="zh-CN" sz="1200"/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4ADDDD38-2104-204E-908A-330E77556C9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2438400"/>
            <a:ext cx="7924800" cy="1905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tabLst>
                <a:tab pos="1995488" algn="l"/>
              </a:tabLst>
              <a:defRPr/>
            </a:pPr>
            <a:r>
              <a:rPr lang="zh-CN" altLang="en-US">
                <a:latin typeface="Times New Roman" charset="0"/>
                <a:ea typeface="楷体_GB2312" charset="0"/>
              </a:rPr>
              <a:t>§5.2.2  质数与合数	</a:t>
            </a:r>
            <a:br>
              <a:rPr lang="zh-CN" altLang="en-US">
                <a:latin typeface="Times New Roman" charset="0"/>
                <a:ea typeface="楷体_GB2312" charset="0"/>
              </a:rPr>
            </a:br>
            <a:r>
              <a:rPr lang="zh-CN" altLang="en-US">
                <a:latin typeface="Times New Roman" charset="0"/>
                <a:ea typeface="楷体_GB2312" charset="0"/>
              </a:rPr>
              <a:t>	   算术基本定理 </a:t>
            </a:r>
          </a:p>
        </p:txBody>
      </p:sp>
    </p:spTree>
  </p:cSld>
  <p:clrMapOvr>
    <a:masterClrMapping/>
  </p:clrMapOvr>
  <p:transition>
    <p:blinds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9A012FF0-6BAF-F94F-8DEC-674FA4C22E1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ADE103-134E-544D-838E-22289EC352AF}" type="slidenum">
              <a:rPr kumimoji="0" lang="zh-CN" altLang="en-US" sz="1200"/>
              <a:pPr/>
              <a:t>19</a:t>
            </a:fld>
            <a:endParaRPr kumimoji="0" lang="en-US" altLang="zh-CN" sz="120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FDFA640A-2D46-924C-98CE-DE2767411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</a:rPr>
              <a:t>定义</a:t>
            </a:r>
            <a:r>
              <a:rPr lang="zh-CN" altLang="en-US" dirty="0">
                <a:latin typeface="Times New Roman" charset="0"/>
                <a:ea typeface="楷体_GB2312" charset="0"/>
              </a:rPr>
              <a:t>5.2.2 质数与合数</a:t>
            </a:r>
            <a:endParaRPr lang="en-US" altLang="zh-CN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482C0717-8DEF-FA49-9EBE-28D739E72B8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752600"/>
            <a:ext cx="8915400" cy="45720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一个正整数，如果不等于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而且除了自己和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没有其它正因数，则称其为一个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质数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也称为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素数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；否则称其为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合数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例如：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11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都是质数。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既不是质数也不是合数。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之所以要摒于质数之外，是因为它完全没有质数所具备的那些重要的数论性质。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90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6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B9058273-2979-9949-8166-EA24ADE845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D92AF5-E02A-B243-BF0A-476446F73368}" type="slidenum">
              <a:rPr kumimoji="0" lang="zh-CN" altLang="en-US" sz="1200"/>
              <a:pPr/>
              <a:t>20</a:t>
            </a:fld>
            <a:endParaRPr kumimoji="0" lang="en-US" altLang="zh-CN" sz="1200"/>
          </a:p>
        </p:txBody>
      </p:sp>
      <p:grpSp>
        <p:nvGrpSpPr>
          <p:cNvPr id="24578" name="Group 15">
            <a:extLst>
              <a:ext uri="{FF2B5EF4-FFF2-40B4-BE49-F238E27FC236}">
                <a16:creationId xmlns:a16="http://schemas.microsoft.com/office/drawing/2014/main" id="{6D468531-9EA6-5D4F-90BA-C35EEBC1500A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292225"/>
            <a:ext cx="8763000" cy="762000"/>
            <a:chOff x="48" y="384"/>
            <a:chExt cx="5520" cy="480"/>
          </a:xfrm>
        </p:grpSpPr>
        <p:sp>
          <p:nvSpPr>
            <p:cNvPr id="24584" name="Rectangle 4">
              <a:extLst>
                <a:ext uri="{FF2B5EF4-FFF2-40B4-BE49-F238E27FC236}">
                  <a16:creationId xmlns:a16="http://schemas.microsoft.com/office/drawing/2014/main" id="{B956ED18-DB41-8140-8879-B02D5E871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384"/>
              <a:ext cx="55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Char char="Ø"/>
              </a:pPr>
              <a:r>
                <a:rPr lang="zh-CN" altLang="en-US" sz="3600" dirty="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质数</a:t>
              </a:r>
              <a:r>
                <a:rPr lang="en-US" altLang="zh-CN" sz="3600" dirty="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3600" dirty="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  <a:r>
                <a:rPr lang="en-US" altLang="zh-CN" sz="3600" dirty="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zh-CN" altLang="en-US" sz="3600" dirty="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互质，必要而且只要</a:t>
              </a:r>
              <a:r>
                <a:rPr lang="en-US" altLang="zh-CN" sz="3600" dirty="0" err="1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p|a</a:t>
              </a:r>
              <a:r>
                <a:rPr lang="en-US" altLang="zh-CN" sz="3600" dirty="0">
                  <a:solidFill>
                    <a:srgbClr val="4E67C8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endParaRPr lang="zh-CN" altLang="en-US" sz="36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38" name="Line 6">
              <a:extLst>
                <a:ext uri="{FF2B5EF4-FFF2-40B4-BE49-F238E27FC236}">
                  <a16:creationId xmlns:a16="http://schemas.microsoft.com/office/drawing/2014/main" id="{B425F4B6-4C97-9D43-9BC7-FFC9E54F8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536"/>
              <a:ext cx="96" cy="19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solidFill>
                  <a:srgbClr val="4E67C8"/>
                </a:solidFill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132112" name="Group 16">
            <a:extLst>
              <a:ext uri="{FF2B5EF4-FFF2-40B4-BE49-F238E27FC236}">
                <a16:creationId xmlns:a16="http://schemas.microsoft.com/office/drawing/2014/main" id="{7612DCCC-102F-8148-AE43-1FD782E84662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121025"/>
            <a:ext cx="8305800" cy="2362200"/>
            <a:chOff x="288" y="1536"/>
            <a:chExt cx="5232" cy="1488"/>
          </a:xfrm>
        </p:grpSpPr>
        <p:sp>
          <p:nvSpPr>
            <p:cNvPr id="24582" name="Rectangle 10">
              <a:extLst>
                <a:ext uri="{FF2B5EF4-FFF2-40B4-BE49-F238E27FC236}">
                  <a16:creationId xmlns:a16="http://schemas.microsoft.com/office/drawing/2014/main" id="{DDBAB987-9656-3F4D-9D17-821832A3D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536"/>
              <a:ext cx="5232" cy="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20000"/>
                </a:spcBef>
                <a:buClr>
                  <a:schemeClr val="tx2"/>
                </a:buClr>
                <a:buFont typeface="Wingdings" pitchFamily="2" charset="2"/>
                <a:buNone/>
              </a:pPr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若</a:t>
              </a:r>
              <a:r>
                <a:rPr lang="en-US" altLang="zh-CN" sz="3200" dirty="0" err="1">
                  <a:latin typeface="Times New Roman" panose="02020603050405020304" pitchFamily="18" charset="0"/>
                  <a:ea typeface="楷体_GB2312" pitchFamily="49" charset="-122"/>
                </a:rPr>
                <a:t>p|a</a:t>
              </a:r>
              <a:r>
                <a:rPr lang="en-US" altLang="zh-CN" sz="3200" dirty="0"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则±</a:t>
              </a:r>
              <a:r>
                <a:rPr lang="en-US" altLang="zh-CN" sz="3200" dirty="0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当然就不是</a:t>
              </a:r>
              <a:r>
                <a:rPr lang="en-US" altLang="zh-CN" sz="3200" dirty="0" err="1">
                  <a:latin typeface="Times New Roman" panose="02020603050405020304" pitchFamily="18" charset="0"/>
                  <a:ea typeface="楷体_GB2312" pitchFamily="49" charset="-122"/>
                </a:rPr>
                <a:t>p,a</a:t>
              </a:r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的公因数；但除了±</a:t>
              </a:r>
              <a:r>
                <a:rPr lang="en-US" altLang="zh-CN" sz="3200" dirty="0">
                  <a:latin typeface="Times New Roman" panose="02020603050405020304" pitchFamily="18" charset="0"/>
                  <a:ea typeface="楷体_GB2312" pitchFamily="49" charset="-122"/>
                </a:rPr>
                <a:t>p，</a:t>
              </a:r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只有±1才可能是</a:t>
              </a:r>
              <a:r>
                <a:rPr lang="en-US" altLang="zh-CN" sz="3200" dirty="0">
                  <a:latin typeface="Times New Roman" panose="02020603050405020304" pitchFamily="18" charset="0"/>
                  <a:ea typeface="楷体_GB2312" pitchFamily="49" charset="-122"/>
                </a:rPr>
                <a:t>p</a:t>
              </a:r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的因数，所以只有±1才可能是</a:t>
              </a:r>
              <a:r>
                <a:rPr lang="en-US" altLang="zh-CN" sz="3200" dirty="0" err="1">
                  <a:latin typeface="Times New Roman" panose="02020603050405020304" pitchFamily="18" charset="0"/>
                  <a:ea typeface="楷体_GB2312" pitchFamily="49" charset="-122"/>
                </a:rPr>
                <a:t>p,a</a:t>
              </a:r>
              <a:r>
                <a:rPr lang="zh-CN" altLang="en-US" sz="3200" dirty="0">
                  <a:latin typeface="Times New Roman" panose="02020603050405020304" pitchFamily="18" charset="0"/>
                  <a:ea typeface="楷体_GB2312" pitchFamily="49" charset="-122"/>
                </a:rPr>
                <a:t>的公因数，即二者互质。</a:t>
              </a:r>
            </a:p>
          </p:txBody>
        </p:sp>
        <p:sp>
          <p:nvSpPr>
            <p:cNvPr id="22536" name="Line 7">
              <a:extLst>
                <a:ext uri="{FF2B5EF4-FFF2-40B4-BE49-F238E27FC236}">
                  <a16:creationId xmlns:a16="http://schemas.microsoft.com/office/drawing/2014/main" id="{77FD2BAD-37D4-F743-84ED-B7418D8D0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5" y="1682"/>
              <a:ext cx="91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32107" name="Rectangle 11">
            <a:extLst>
              <a:ext uri="{FF2B5EF4-FFF2-40B4-BE49-F238E27FC236}">
                <a16:creationId xmlns:a16="http://schemas.microsoft.com/office/drawing/2014/main" id="{D5E1AE00-96D2-D446-ABBC-B68740BDC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" y="5257800"/>
            <a:ext cx="64039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Ø"/>
            </a:pPr>
            <a:r>
              <a:rPr lang="zh-CN" altLang="en-US" sz="32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显然，任意两个不同的质数互质。 </a:t>
            </a:r>
          </a:p>
        </p:txBody>
      </p:sp>
      <p:sp>
        <p:nvSpPr>
          <p:cNvPr id="132109" name="Rectangle 13">
            <a:extLst>
              <a:ext uri="{FF2B5EF4-FFF2-40B4-BE49-F238E27FC236}">
                <a16:creationId xmlns:a16="http://schemas.microsoft.com/office/drawing/2014/main" id="{B6A19865-124C-EC4C-B5C0-0D214E960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27225"/>
            <a:ext cx="8077200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证明：若</a:t>
            </a:r>
            <a:r>
              <a:rPr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p|a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除±1外还有公因数±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p，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故二者不互质。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7" grpId="0" autoUpdateAnimBg="0"/>
      <p:bldP spid="13210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1C8BA59C-B9B7-DC4E-8E53-CCE0701894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041C81-FF0C-6647-A20C-6D9E948C6EAC}" type="slidenum">
              <a:rPr kumimoji="0" lang="zh-CN" altLang="en-US" sz="1200"/>
              <a:pPr/>
              <a:t>21</a:t>
            </a:fld>
            <a:endParaRPr kumimoji="0" lang="en-US" altLang="zh-CN" sz="1200"/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DCF6113A-B63B-4749-8FAD-D4D628E33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定理5.2.5 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5309F27D-568F-B344-989C-802766EEF02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76400"/>
            <a:ext cx="8915400" cy="3962400"/>
          </a:xfrm>
        </p:spPr>
        <p:txBody>
          <a:bodyPr/>
          <a:lstStyle/>
          <a:p>
            <a:pPr marL="357188" indent="-357188">
              <a:tabLst>
                <a:tab pos="185738" algn="l"/>
              </a:tabLst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若质数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整除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整除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之一。</a:t>
            </a:r>
          </a:p>
          <a:p>
            <a:pPr marL="357188" indent="-357188">
              <a:tabLst>
                <a:tab pos="185738" algn="l"/>
              </a:tabLst>
            </a:pP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>
              <a:tabLst>
                <a:tab pos="185738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证明：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楷体_GB2312" pitchFamily="49" charset="-122"/>
              </a:rPr>
              <a:t>反证法，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假若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都不能被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整除，则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和它们都互质，故由定理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5.2.3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和它们的乘积互质，因而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将不能整除此乘积，矛盾。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>
            <a:extLst>
              <a:ext uri="{FF2B5EF4-FFF2-40B4-BE49-F238E27FC236}">
                <a16:creationId xmlns:a16="http://schemas.microsoft.com/office/drawing/2014/main" id="{3033C56B-55D4-E34C-89C4-9FF2C99C07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CAC4FB-6790-4041-A701-0A0B8DBCE90D}" type="slidenum">
              <a:rPr kumimoji="0" lang="zh-CN" altLang="en-US" sz="1200"/>
              <a:pPr/>
              <a:t>22</a:t>
            </a:fld>
            <a:endParaRPr kumimoji="0" lang="en-US" altLang="zh-CN" sz="1200"/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498AF758-A52E-6447-978B-5F447F49F4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190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定理5.2.6 </a:t>
            </a:r>
            <a:r>
              <a:rPr lang="zh-CN" altLang="en-US" sz="4800" dirty="0">
                <a:latin typeface="Times New Roman" charset="0"/>
                <a:ea typeface="楷体_GB2312" charset="0"/>
              </a:rPr>
              <a:t>(算术基本定理)</a:t>
            </a:r>
            <a:r>
              <a:rPr lang="zh-CN" altLang="en-US" dirty="0">
                <a:latin typeface="Times New Roman" charset="0"/>
                <a:ea typeface="楷体_GB2312" charset="0"/>
              </a:rPr>
              <a:t> </a:t>
            </a:r>
            <a:endParaRPr lang="en-US" altLang="zh-CN" dirty="0">
              <a:latin typeface="Times New Roman" charset="0"/>
              <a:ea typeface="楷体_GB2312" charset="0"/>
            </a:endParaRPr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A0D1484A-7902-A94A-BB64-4F6BA51341C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76400"/>
            <a:ext cx="8915400" cy="44958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任意正整数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n(n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恰有一法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写成质数的乘积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不计因数乘积的顺序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证明：先证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可以写成质数的乘积。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用数学归纳法，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n=2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时,显然成立，因为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是质数，算是已经写成了质数的乘积。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假定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n&lt;a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可以写成质数的乘积，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试证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n=a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时也可以这样写。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4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E76ACE21-28C9-BA4C-A74C-BDF307F810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1DB833-226A-A14B-93BD-3D4A5909AE2F}" type="slidenum">
              <a:rPr kumimoji="0" lang="zh-CN" altLang="en-US" sz="1200"/>
              <a:pPr/>
              <a:t>23</a:t>
            </a:fld>
            <a:endParaRPr kumimoji="0" lang="en-US" altLang="zh-CN" sz="1200"/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7248ADFD-CBA2-734D-8B96-0190E4D16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定理5.2.6</a:t>
            </a:r>
            <a:r>
              <a:rPr lang="zh-CN" altLang="en-US" sz="6000" dirty="0">
                <a:latin typeface="Times New Roman" charset="0"/>
                <a:ea typeface="楷体_GB2312" charset="0"/>
              </a:rPr>
              <a:t> </a:t>
            </a:r>
            <a:r>
              <a:rPr lang="zh-CN" altLang="en-US" sz="4800" dirty="0">
                <a:latin typeface="Times New Roman" charset="0"/>
                <a:ea typeface="楷体_GB2312" charset="0"/>
              </a:rPr>
              <a:t>(算术基本定理)</a:t>
            </a:r>
            <a:r>
              <a:rPr lang="zh-CN" altLang="en-US" sz="6000" dirty="0">
                <a:latin typeface="Times New Roman" charset="0"/>
                <a:ea typeface="楷体_GB2312" charset="0"/>
              </a:rPr>
              <a:t> </a:t>
            </a:r>
            <a:endParaRPr lang="en-US" altLang="zh-CN" sz="6000" dirty="0">
              <a:latin typeface="Times New Roman" charset="0"/>
              <a:ea typeface="楷体_GB2312" charset="0"/>
            </a:endParaRPr>
          </a:p>
        </p:txBody>
      </p:sp>
      <p:sp>
        <p:nvSpPr>
          <p:cNvPr id="149506" name="Rectangle 2">
            <a:extLst>
              <a:ext uri="{FF2B5EF4-FFF2-40B4-BE49-F238E27FC236}">
                <a16:creationId xmlns:a16="http://schemas.microsoft.com/office/drawing/2014/main" id="{519818A2-4068-D248-B6FA-5243B2C8C74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76400"/>
            <a:ext cx="8839200" cy="43434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是质数，则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算是已经写成了质数的乘积。</a:t>
            </a:r>
          </a:p>
          <a:p>
            <a:pPr marL="357188" indent="-357188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不是质数，于是，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有因数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1&lt;b&lt;a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因之，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a=bc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1&lt;c&lt;a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既然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都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故由归纳假定，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都可以写成质数的乘积。又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a=bc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只要把这两个乘积连接起来就把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写成了质数的乘积。归纳法已经完成，所以任意正整数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 (n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可以写成质数的乘积。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>
            <a:extLst>
              <a:ext uri="{FF2B5EF4-FFF2-40B4-BE49-F238E27FC236}">
                <a16:creationId xmlns:a16="http://schemas.microsoft.com/office/drawing/2014/main" id="{28FCB77A-D624-5848-9037-708D3DF7CB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DDF315-6B35-D94F-91A7-6EC0E9C3976A}" type="slidenum">
              <a:rPr kumimoji="0" lang="zh-CN" altLang="en-US" sz="1200"/>
              <a:pPr/>
              <a:t>24</a:t>
            </a:fld>
            <a:endParaRPr kumimoji="0" lang="en-US" altLang="zh-CN" sz="1200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AF51502F-6D0E-BE40-BF61-25314597A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428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定理5.2.6</a:t>
            </a:r>
            <a:r>
              <a:rPr lang="zh-CN" altLang="en-US" sz="6000" dirty="0">
                <a:latin typeface="Times New Roman" charset="0"/>
                <a:ea typeface="楷体_GB2312" charset="0"/>
              </a:rPr>
              <a:t> </a:t>
            </a:r>
            <a:r>
              <a:rPr lang="zh-CN" altLang="en-US" sz="4800" dirty="0">
                <a:latin typeface="Times New Roman" charset="0"/>
                <a:ea typeface="楷体_GB2312" charset="0"/>
              </a:rPr>
              <a:t>(算术基本定理)</a:t>
            </a:r>
            <a:r>
              <a:rPr lang="zh-CN" altLang="en-US" sz="6000" dirty="0">
                <a:latin typeface="Times New Roman" charset="0"/>
                <a:ea typeface="楷体_GB2312" charset="0"/>
              </a:rPr>
              <a:t> </a:t>
            </a:r>
            <a:endParaRPr lang="en-US" altLang="zh-CN" sz="6000" dirty="0">
              <a:latin typeface="Times New Roman" charset="0"/>
              <a:ea typeface="楷体_GB2312" charset="0"/>
            </a:endParaRPr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743AB3D1-C16F-8A45-8053-F3EC972F310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00200"/>
            <a:ext cx="8915400" cy="4876800"/>
          </a:xfrm>
        </p:spPr>
        <p:txBody>
          <a:bodyPr/>
          <a:lstStyle/>
          <a:p>
            <a:pPr marL="357188" indent="-357188">
              <a:lnSpc>
                <a:spcPct val="9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再证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只有一法写成质数的乘积。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换句话说，如果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n=p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…………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57188" indent="-357188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都是质数，则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h=k，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而且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完全一样，最多次序不同。</a:t>
            </a:r>
          </a:p>
          <a:p>
            <a:pPr marL="357188" indent="-357188">
              <a:lnSpc>
                <a:spcPct val="90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故由定理5.2.5，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应整除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之一，颠倒后者的次序，可假定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|q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今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是质数，只有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和1两个正因数，而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1，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必等于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16BBBE9E-8582-DB4F-A9E0-35517580C8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3D7852A-2245-BD48-B7CE-EAFDCB796845}" type="slidenum">
              <a:rPr kumimoji="0" lang="zh-CN" altLang="en-US" sz="1200"/>
              <a:pPr/>
              <a:t>25</a:t>
            </a:fld>
            <a:endParaRPr kumimoji="0" lang="en-US" altLang="zh-CN" sz="1200"/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1FAB6CAD-64F3-DA47-808B-DB0CF7DF8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定理5.2.6</a:t>
            </a:r>
            <a:r>
              <a:rPr lang="zh-CN" altLang="en-US" sz="6000" dirty="0">
                <a:latin typeface="Times New Roman" charset="0"/>
                <a:ea typeface="楷体_GB2312" charset="0"/>
              </a:rPr>
              <a:t> </a:t>
            </a:r>
            <a:r>
              <a:rPr lang="zh-CN" altLang="en-US" sz="4800" dirty="0">
                <a:latin typeface="Times New Roman" charset="0"/>
                <a:ea typeface="楷体_GB2312" charset="0"/>
              </a:rPr>
              <a:t>(算术基本定理)</a:t>
            </a:r>
            <a:r>
              <a:rPr lang="zh-CN" altLang="en-US" sz="6000" dirty="0">
                <a:latin typeface="Times New Roman" charset="0"/>
                <a:ea typeface="楷体_GB2312" charset="0"/>
              </a:rPr>
              <a:t> </a:t>
            </a:r>
            <a:endParaRPr lang="en-US" altLang="zh-CN" sz="6000" dirty="0">
              <a:latin typeface="Times New Roman" charset="0"/>
              <a:ea typeface="楷体_GB2312" charset="0"/>
            </a:endParaRPr>
          </a:p>
        </p:txBody>
      </p:sp>
      <p:sp>
        <p:nvSpPr>
          <p:cNvPr id="151554" name="Rectangle 2">
            <a:extLst>
              <a:ext uri="{FF2B5EF4-FFF2-40B4-BE49-F238E27FC236}">
                <a16:creationId xmlns:a16="http://schemas.microsoft.com/office/drawing/2014/main" id="{3069FABA-33A2-3848-B6F3-946BAB42D07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48006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由(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)消去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而得</a:t>
            </a:r>
          </a:p>
          <a:p>
            <a:pPr marL="357188" indent="-357188" algn="ctr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由此同上可证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应整除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之一。如此类推，可见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完全一样，最多次序不一样。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不可能一边已经消完而另一边还剩下质数，因为，那样则一个质数或一些质数之积等于1，这不可能。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1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4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BD112383-8C55-4849-81CE-6928A92381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5EA05E-D3CA-7D4A-B262-F31BB72DAFF1}" type="slidenum">
              <a:rPr kumimoji="0" lang="zh-CN" altLang="en-US" sz="1200"/>
              <a:pPr/>
              <a:t>26</a:t>
            </a:fld>
            <a:endParaRPr kumimoji="0" lang="en-US" altLang="zh-CN" sz="1200"/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6B674A38-184C-944B-8AB2-49CFB723C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2428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推论</a:t>
            </a:r>
            <a:r>
              <a:rPr lang="zh-CN" altLang="en-US" sz="6000" dirty="0">
                <a:latin typeface="Times New Roman" charset="0"/>
                <a:ea typeface="楷体_GB2312" charset="0"/>
              </a:rPr>
              <a:t> </a:t>
            </a:r>
            <a:endParaRPr lang="en-US" altLang="zh-CN" sz="6000" dirty="0">
              <a:latin typeface="Times New Roman" charset="0"/>
              <a:ea typeface="楷体_GB2312" charset="0"/>
            </a:endParaRPr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90FB2C71-87BB-0F49-9B78-9D69159A6C0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48006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推论1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任意整数(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0，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±1)恰好有一法写成下面的形式：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                  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都是质数。</a:t>
            </a: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推论2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任意整数(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0，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±1)恰好有一法写成下面的形式：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rn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             (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7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是不同的质数，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,r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是正整数。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605DF12D-8988-C44F-A40F-8A258E023C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0F967C-2C28-B742-A101-C296D00C4530}" type="slidenum">
              <a:rPr kumimoji="0" lang="zh-CN" altLang="en-US" sz="1200"/>
              <a:pPr/>
              <a:t>27</a:t>
            </a:fld>
            <a:endParaRPr kumimoji="0" lang="en-US" altLang="zh-CN" sz="1200"/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B765E666-B882-3442-8FEB-CC02AEB5B5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</a:rPr>
              <a:t>定理5.2.7 </a:t>
            </a:r>
            <a:r>
              <a:rPr lang="en-US" altLang="zh-CN" sz="4800" dirty="0">
                <a:latin typeface="Times New Roman" charset="0"/>
                <a:ea typeface="楷体_GB2312" charset="0"/>
              </a:rPr>
              <a:t>(</a:t>
            </a:r>
            <a:r>
              <a:rPr lang="zh-CN" altLang="en-US" sz="4800" dirty="0">
                <a:latin typeface="Times New Roman" charset="0"/>
                <a:ea typeface="楷体_GB2312" charset="0"/>
              </a:rPr>
              <a:t>欧几里德</a:t>
            </a:r>
            <a:r>
              <a:rPr lang="en-US" altLang="zh-CN" sz="4800" dirty="0">
                <a:latin typeface="Times New Roman" charset="0"/>
                <a:ea typeface="楷体_GB2312" charset="0"/>
              </a:rPr>
              <a:t>)</a:t>
            </a:r>
            <a:endParaRPr lang="en-US" altLang="zh-CN" sz="4800" dirty="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3883506A-04BD-5D44-AC1D-112C78E3F23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915400" cy="50292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质数无穷多。</a:t>
            </a: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假定质数只有有限的几个，设为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试看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N=p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+1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因为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都不能整除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无质因数，即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为质数。而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不同于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与质数只有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矛盾。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8206CE96-028C-F541-B8FE-0E23CAAAD3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23822F4-6BA2-964D-A8CB-97A8D8B45ABD}" type="slidenum">
              <a:rPr kumimoji="0" lang="zh-CN" altLang="en-US" sz="1200"/>
              <a:pPr/>
              <a:t>28</a:t>
            </a:fld>
            <a:endParaRPr kumimoji="0" lang="en-US" altLang="zh-CN" sz="1200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37694205-6C88-8B42-9E21-CCBDA165E0B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457200"/>
            <a:ext cx="8915400" cy="6019800"/>
          </a:xfrm>
        </p:spPr>
        <p:txBody>
          <a:bodyPr/>
          <a:lstStyle/>
          <a:p>
            <a:pPr marL="355600" indent="-355600" algn="ctr"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4E67C8"/>
                </a:solidFill>
                <a:latin typeface="楷体_GB2312" pitchFamily="49" charset="-122"/>
                <a:ea typeface="楷体_GB2312" pitchFamily="49" charset="-122"/>
              </a:rPr>
              <a:t>歌德巴赫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Goldbach)</a:t>
            </a:r>
            <a:r>
              <a:rPr kumimoji="0" lang="zh-CN" altLang="en-US" sz="3200">
                <a:solidFill>
                  <a:srgbClr val="4E67C8"/>
                </a:solidFill>
                <a:latin typeface="楷体_GB2312" pitchFamily="49" charset="-122"/>
                <a:ea typeface="楷体_GB2312" pitchFamily="49" charset="-122"/>
              </a:rPr>
              <a:t>猜想</a:t>
            </a:r>
            <a:endParaRPr kumimoji="0" lang="zh-CN" altLang="en-US" sz="2800">
              <a:latin typeface="Arial" panose="020B0604020202020204" pitchFamily="34" charset="0"/>
              <a:ea typeface="楷体_GB2312" pitchFamily="49" charset="-122"/>
            </a:endParaRPr>
          </a:p>
          <a:p>
            <a:pPr marL="355600" indent="-355600"/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1742年6月7日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，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德国数学家歌德巴赫在给他的朋友俄籍瑞士数学家欧拉(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Euler)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的信中，提出了“每个大于2的偶数均是两个素数之和”这个著名的猜想。</a:t>
            </a:r>
          </a:p>
          <a:p>
            <a:pPr marL="355600" indent="-355600"/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人们对歌德巴赫猜想有多种证明方法（或者叫证明思路）。其中一种比较可行，并且用这个思路已经快证明出来了。它的方法是：证明这个偶数为两数之和，其中第一个数的质因数不超过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a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个，第二数的质因数不超过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b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个，记为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(a+b)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。最终要达到的目标是证明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(a+b)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(1+1)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  <a:p>
            <a:pPr marL="355600" indent="-355600"/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这个问题目前以我国数学家陈景润的结果为最好，但是至今未能解决。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01879F11-02C5-074C-98C7-E79B42F483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15200" y="6492875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ACFE2A-11C9-7B4A-AA29-A07C41A08F3A}" type="slidenum">
              <a:rPr kumimoji="0" lang="zh-CN" altLang="en-US" sz="1200"/>
              <a:pPr/>
              <a:t>29</a:t>
            </a:fld>
            <a:endParaRPr kumimoji="0" lang="en-US" altLang="zh-CN" sz="1200"/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C685C820-C6A9-8040-A8DB-9604C05759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87325" y="457200"/>
            <a:ext cx="8804275" cy="6019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1920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年，挪威的布朗证明了“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9 + 9”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1924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年，德国的拉特马赫证明了“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7 + 7”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1932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年，英国的埃斯特曼证明了“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6 + 6”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1937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年，意大利的蕾西先后证明了“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5 + 7”, 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                “4 + 9”, “3 + 15”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和“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2 + 366”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1938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年，苏联的布赫夕太勃证明了“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5 + 5”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1940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年，苏联的布赫夕太勃证明了“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4 + 4”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1948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年，匈牙利的瑞尼证明了“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1+ c”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，其中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c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是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                一很大的自然数。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1956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年，中国的王元证明了“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3 + 4”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1957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年，中国的王元先后证明了 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3 + 3”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和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                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2 + 3”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1962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年，中国的潘承洞和苏联的巴尔巴恩证明了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                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 + 5”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， 中国的王元证明了“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 + 4”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1965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年，苏联的布赫夕太勃和小维诺格拉多夫，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                及意大利的朋比利证明了“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 + 3 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</a:b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1973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年，中国的陈景润证明了 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1 + 2 ”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。 	</a:t>
            </a:r>
          </a:p>
        </p:txBody>
      </p:sp>
    </p:spTree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气流.thmx</Template>
  <TotalTime>5171</TotalTime>
  <Words>2929</Words>
  <Application>Microsoft Macintosh PowerPoint</Application>
  <PresentationFormat>全屏显示(4:3)</PresentationFormat>
  <Paragraphs>172</Paragraphs>
  <Slides>29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黑体</vt:lpstr>
      <vt:lpstr>楷体_GB2312</vt:lpstr>
      <vt:lpstr>宋体</vt:lpstr>
      <vt:lpstr>Arial</vt:lpstr>
      <vt:lpstr>Georgia</vt:lpstr>
      <vt:lpstr>Times New Roman</vt:lpstr>
      <vt:lpstr>Trebuchet MS</vt:lpstr>
      <vt:lpstr>Wingdings</vt:lpstr>
      <vt:lpstr>气流</vt:lpstr>
      <vt:lpstr>公式</vt:lpstr>
      <vt:lpstr>§5.2 互质 质因数分解 </vt:lpstr>
      <vt:lpstr>§5.2.1  整数互质 </vt:lpstr>
      <vt:lpstr>定理5.2.1 </vt:lpstr>
      <vt:lpstr>定理5.2.2 </vt:lpstr>
      <vt:lpstr>定理5.2.3 </vt:lpstr>
      <vt:lpstr>PowerPoint 演示文稿</vt:lpstr>
      <vt:lpstr>定理5.2.4</vt:lpstr>
      <vt:lpstr>定理5.2.4</vt:lpstr>
      <vt:lpstr>例5.2.1</vt:lpstr>
      <vt:lpstr>例5.2.2</vt:lpstr>
      <vt:lpstr>例5.2.3 </vt:lpstr>
      <vt:lpstr>PowerPoint 演示文稿</vt:lpstr>
      <vt:lpstr>PowerPoint 演示文稿</vt:lpstr>
      <vt:lpstr>PowerPoint 演示文稿</vt:lpstr>
      <vt:lpstr>例5.2.4</vt:lpstr>
      <vt:lpstr>例5.2.5 </vt:lpstr>
      <vt:lpstr>例5.2.6 </vt:lpstr>
      <vt:lpstr>§5.2.2  质数与合数      算术基本定理 </vt:lpstr>
      <vt:lpstr>定义5.2.2 质数与合数</vt:lpstr>
      <vt:lpstr>PowerPoint 演示文稿</vt:lpstr>
      <vt:lpstr>定理5.2.5 </vt:lpstr>
      <vt:lpstr>定理5.2.6 (算术基本定理) </vt:lpstr>
      <vt:lpstr>定理5.2.6 (算术基本定理) </vt:lpstr>
      <vt:lpstr>定理5.2.6 (算术基本定理) </vt:lpstr>
      <vt:lpstr>定理5.2.6 (算术基本定理) </vt:lpstr>
      <vt:lpstr>推论 </vt:lpstr>
      <vt:lpstr>定理5.2.7 (欧几里德)</vt:lpstr>
      <vt:lpstr>PowerPoint 演示文稿</vt:lpstr>
      <vt:lpstr>PowerPoint 演示文稿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图与网络 </dc:title>
  <dc:creator>sunjigui</dc:creator>
  <cp:lastModifiedBy>Microsoft Office User</cp:lastModifiedBy>
  <cp:revision>316</cp:revision>
  <cp:lastPrinted>1601-01-01T00:00:00Z</cp:lastPrinted>
  <dcterms:created xsi:type="dcterms:W3CDTF">2002-08-29T00:33:30Z</dcterms:created>
  <dcterms:modified xsi:type="dcterms:W3CDTF">2024-05-16T03:43:06Z</dcterms:modified>
</cp:coreProperties>
</file>