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5"/>
  </p:notesMasterIdLst>
  <p:sldIdLst>
    <p:sldId id="259" r:id="rId2"/>
    <p:sldId id="260" r:id="rId3"/>
    <p:sldId id="346" r:id="rId4"/>
    <p:sldId id="261" r:id="rId5"/>
    <p:sldId id="347" r:id="rId6"/>
    <p:sldId id="348" r:id="rId7"/>
    <p:sldId id="349" r:id="rId8"/>
    <p:sldId id="350" r:id="rId9"/>
    <p:sldId id="351" r:id="rId10"/>
    <p:sldId id="352" r:id="rId11"/>
    <p:sldId id="316" r:id="rId12"/>
    <p:sldId id="353" r:id="rId13"/>
    <p:sldId id="317" r:id="rId14"/>
    <p:sldId id="298" r:id="rId15"/>
    <p:sldId id="340" r:id="rId16"/>
    <p:sldId id="318" r:id="rId17"/>
    <p:sldId id="356" r:id="rId18"/>
    <p:sldId id="319" r:id="rId19"/>
    <p:sldId id="320" r:id="rId20"/>
    <p:sldId id="321" r:id="rId21"/>
    <p:sldId id="354" r:id="rId22"/>
    <p:sldId id="355" r:id="rId23"/>
    <p:sldId id="357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2"/>
    <p:restoredTop sz="72642"/>
  </p:normalViewPr>
  <p:slideViewPr>
    <p:cSldViewPr>
      <p:cViewPr varScale="1">
        <p:scale>
          <a:sx n="70" d="100"/>
          <a:sy n="70" d="100"/>
        </p:scale>
        <p:origin x="192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D206245-14E9-A84C-926E-6C2933A445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283DB7D-3204-1D40-AE82-A2186F3CC7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063B16AF-6A28-4745-9133-A69B80746A5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FAD809E9-4996-4B48-8F8D-C123954B96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D264B471-8CF0-DB44-810A-888024FBA7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A7283537-7AFE-DB4A-8DF0-BF785F8D6A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2506EE46-4119-4040-8FA8-0C729A77EDB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A63C4DF2-286B-884B-89C9-36E2F7C3BA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027FE5-408C-184A-AC3A-6DB816E1BEC9}" type="slidenum">
              <a:rPr lang="zh-CN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90F4746-C4BC-0743-8A16-CD66A3F6AD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29F57724-2154-194F-82D2-E3F7255F9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我们来讨论一下</a:t>
            </a:r>
            <a:r>
              <a:rPr lang="en-US" altLang="zh-CN">
                <a:ea typeface="宋体" charset="0"/>
              </a:rPr>
              <a:t>a</a:t>
            </a:r>
            <a:r>
              <a:rPr lang="zh-CN" altLang="en-US">
                <a:ea typeface="宋体" charset="0"/>
              </a:rPr>
              <a:t>合同于</a:t>
            </a:r>
            <a:r>
              <a:rPr lang="en-US" altLang="zh-CN">
                <a:ea typeface="宋体" charset="0"/>
              </a:rPr>
              <a:t>b</a:t>
            </a:r>
            <a:r>
              <a:rPr lang="zh-CN" altLang="en-US">
                <a:ea typeface="宋体" charset="0"/>
              </a:rPr>
              <a:t>的条件。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A4D365F0-598D-844F-8B5C-C7A33E8CB5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19661B-1020-9148-BA97-7BD89EAE6C6A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FD106E2-645F-1F4C-B309-41BBBB4967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42ACBF3-9575-F547-8115-2040206D67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如上例：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{2,7,12,17,---37---}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就是模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5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的一个剩余类。</a:t>
            </a:r>
            <a:endParaRPr lang="en-US" altLang="zh-CN" dirty="0"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宋体" charset="0"/>
              <a:ea typeface="宋体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提问：模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" pitchFamily="2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的剩余类？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" pitchFamily="2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" pitchFamily="2" charset="0"/>
              </a:rPr>
              <a:t>1+3</a:t>
            </a:r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</a:rPr>
              <a:t>k,2+3k,0+3k,{1,4,7,10.....}{2,5,8,11.....}{3,6,9....}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D60B67E-E01E-FD49-8B14-56918A81E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C0B521-AE2A-3547-B685-C44766019761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412A66A-9D52-984E-A200-9209C6A8BC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8684032-F3C0-274D-A59A-F7C11822E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14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</a:rPr>
              <a:t>性质4说明了剩余类之间的加、减和乘运算类似于整数的加、减和乘运算。</a:t>
            </a:r>
          </a:p>
          <a:p>
            <a:pPr eaLnBrk="1" hangingPunct="1">
              <a:defRPr/>
            </a:pPr>
            <a:r>
              <a:rPr lang="zh-CN" altLang="en-US" sz="14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</a:rPr>
              <a:t>由性质</a:t>
            </a:r>
            <a:r>
              <a:rPr lang="en-US" altLang="zh-CN" sz="14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</a:rPr>
              <a:t>4</a:t>
            </a:r>
            <a:r>
              <a:rPr lang="zh-CN" altLang="en-US" sz="1400"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</a:rPr>
              <a:t>，可以得出一下两条性质：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73F7BF9-FDAE-7548-B634-225B12E17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B837CE-D76B-EE40-9081-16EA3004AE25}" type="slidenum">
              <a:rPr lang="zh-CN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463EC41-7CEC-5F44-B9B1-06B5C7F550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E05DC298-7E72-AD40-B2E5-D91E04118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性质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的乘法可以得到以下两个性质：性质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和性质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algn="just" eaLnBrk="1" hangingPunct="1"/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这些都和相等的性质相同。</a:t>
            </a:r>
          </a:p>
          <a:p>
            <a:pPr algn="just" eaLnBrk="1" hangingPunct="1"/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板书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但对于数的相等，还有消去律：若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c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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而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ac=bc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则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a=b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algn="just" eaLnBrk="1" hangingPunct="1"/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这对合同并不普遍成立，例如，虽然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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0(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mod 6)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却不能从合同式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8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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14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(mod 6)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的两边消去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得出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4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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7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(mod 6)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但是，下列两个事实成立：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95BBD3C4-0F8E-3347-A478-5736406827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330833-2013-9F46-ACDA-D15F1DE7E397}" type="slidenum">
              <a:rPr lang="zh-CN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50F64528-F1C6-4D44-9EFA-D825D71AA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085CB7A8-F763-CF41-99C5-904501107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(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板书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性质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：则上例8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  <a:sym typeface="Symbol" charset="0"/>
              </a:rPr>
              <a:t>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14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(mod 6)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，可以得出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4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宋体" charset="0"/>
                <a:sym typeface="Symbol" charset="0"/>
              </a:rPr>
              <a:t>7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(mod 3)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。我们看一下证明。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229C1F1C-458B-E241-BF77-3E867D526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DE841B-5159-CA49-A070-DD66B0D37ACF}" type="slidenum">
              <a:rPr lang="zh-CN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C60D0B8-4FB5-124A-89FB-1A9B7E6C61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3DF06711-073F-BD42-AAEC-B8CB989D95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defRPr/>
            </a:pP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见下面的性质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12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4F72474-B491-1F4C-AC63-31E0FAC991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A7084D-B92F-9C42-81E9-628C81ACCA81}" type="slidenum">
              <a:rPr lang="zh-CN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456A8B5-ED4E-0247-925A-57CA989CAE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855B02BE-75F2-F548-ACEB-724E052D8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203148D-A5C5-FF4D-8781-747CBC767C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7EA260-67B4-6244-A0EE-6C337C274702}" type="slidenum">
              <a:rPr lang="zh-CN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7E322BD-CF01-F74D-A4CA-4AF02A2F65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615CAF36-C8BB-D04D-B6AC-B02A255FB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E676C1F-A621-4041-8F74-238FDA484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4BC94AE-276C-704D-9E32-956CB2823D30}" type="slidenum">
              <a:rPr lang="zh-CN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52097D9-D84E-B44C-A84E-906D93E62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458CAC4-67A5-8646-ADB1-74D0EAD22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于是，看任一整数是否能被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整除，只需要看系数和能否被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整除即可。</a:t>
            </a:r>
          </a:p>
          <a:p>
            <a:pPr eaLnBrk="1" hangingPunct="1">
              <a:defRPr/>
            </a:pP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(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板书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)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如：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79=7*10+9, 7+9=16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不能被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整除，则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79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不能被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整除；</a:t>
            </a:r>
          </a:p>
          <a:p>
            <a:pPr eaLnBrk="1" hangingPunct="1">
              <a:defRPr/>
            </a:pP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       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72=7*10+2, 7+2=9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能被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整除，则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72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能被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9</a:t>
            </a:r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宋体" charset="0"/>
                <a:ea typeface="宋体" charset="0"/>
              </a:rPr>
              <a:t>整除。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6360709-61E4-2947-B098-81356240C1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8317B0-5948-FD49-A478-25F23246A471}" type="slidenum">
              <a:rPr lang="zh-CN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E57F231-76B4-1642-A891-4C925C119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FD7D1A12-37CD-374F-B720-A0C1960AE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2B07F16-2FA5-3B4F-867F-F8460630C5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DFDA71-C7DE-FC47-84F8-A763D07032BC}" type="slidenum">
              <a:rPr lang="zh-CN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34D4485-4147-2F49-A78F-94E32059EB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1E920762-31C7-0546-B149-799F758AA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 5,5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个剩余系</a:t>
            </a:r>
            <a:r>
              <a:rPr lang="zh-CN" alt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{0,5,10,15…..},{1,6,11,16….},{2,7,12…..},{3,8,13…..},{4,9,14…..}</a:t>
            </a: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完全剩余系：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4</a:t>
            </a:r>
            <a:endParaRPr lang="zh-CN" altLang="en-US" dirty="0">
              <a:solidFill>
                <a:srgbClr val="000000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11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13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板书：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97=2*35+27,35=1*27+8, 27=3*8+3, 8=2*3+2, 3=1*2+1, 2=2*1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s2=q2s1+s0=1*1+0=1,s3=q3s2+s1=3*1+1=4,s4=q4s3+s2=2*4+1=9,s5=q5*s4+s3=1*9+4=13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t2=q2t1+t0=1*2+1=3,t3=q3*t2+t1=3*3+2=11,t4=q4t3+t2=2*11+3=25,t5=q5t4+t3=1*25+11=36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6EE46-4119-4040-8FA8-0C729A77EDBF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694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E8C09FCB-893B-134F-B44C-E609791C2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949226-DE6E-C64F-9554-C6B99FBCFB19}" type="slidenum">
              <a:rPr lang="zh-CN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5C75E73-88BA-8346-8F2E-225D435F94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A1ED3B84-14FD-EC44-89C2-CC382119D8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即</a:t>
            </a:r>
            <a:r>
              <a:rPr lang="en-US" altLang="zh-CN">
                <a:latin typeface="Arial" panose="020B0604020202020204" pitchFamily="34" charset="0"/>
              </a:rPr>
              <a:t>a</a:t>
            </a:r>
            <a:r>
              <a:rPr lang="zh-CN" altLang="en-US">
                <a:latin typeface="Arial" panose="020B0604020202020204" pitchFamily="34" charset="0"/>
              </a:rPr>
              <a:t>与</a:t>
            </a:r>
            <a:r>
              <a:rPr lang="en-US" altLang="zh-CN">
                <a:latin typeface="Arial" panose="020B0604020202020204" pitchFamily="34" charset="0"/>
              </a:rPr>
              <a:t>p</a:t>
            </a:r>
            <a:r>
              <a:rPr lang="zh-CN" altLang="en-US">
                <a:latin typeface="Arial" panose="020B0604020202020204" pitchFamily="34" charset="0"/>
              </a:rPr>
              <a:t>互质，</a:t>
            </a:r>
            <a:r>
              <a:rPr lang="en-US" altLang="zh-CN">
                <a:latin typeface="Times New Roman" panose="02020603050405020304" pitchFamily="18" charset="0"/>
              </a:rPr>
              <a:t>……</a:t>
            </a:r>
            <a:r>
              <a:rPr lang="zh-CN" altLang="en-US">
                <a:latin typeface="Arial" panose="020B0604020202020204" pitchFamily="34" charset="0"/>
              </a:rPr>
              <a:t>同定理</a:t>
            </a:r>
            <a:r>
              <a:rPr lang="en-US" altLang="zh-CN">
                <a:latin typeface="Arial" panose="020B0604020202020204" pitchFamily="34" charset="0"/>
              </a:rPr>
              <a:t>5.3.1</a:t>
            </a:r>
            <a:r>
              <a:rPr lang="zh-CN" altLang="en-US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E40B6DD-634C-3E4A-A3F8-78AA735433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92EA3F-EEC9-7548-94EE-3BC628346853}" type="slidenum">
              <a:rPr lang="zh-CN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AB63D52-A78F-624B-AEFF-7569302294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C693E1A-7E66-8941-BFDB-0A6EEDBD2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这</a:t>
            </a: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ongti SC" panose="02010600040101010101" pitchFamily="2" charset="-122"/>
              </a:rPr>
              <a:t>d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个解之间关于</a:t>
            </a:r>
            <a:r>
              <a:rPr lang="en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</a:rPr>
              <a:t>m/d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合同，即是</a:t>
            </a:r>
            <a:r>
              <a:rPr lang="el-GR" altLang="zh-CN" dirty="0">
                <a:solidFill>
                  <a:srgbClr val="000000"/>
                </a:solidFill>
                <a:effectLst/>
                <a:latin typeface="Symbol" pitchFamily="2" charset="2"/>
                <a:ea typeface="Songti SC" panose="02010600040101010101" pitchFamily="2" charset="-122"/>
              </a:rPr>
              <a:t>α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所在的模</a:t>
            </a:r>
            <a:r>
              <a:rPr lang="en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</a:rPr>
              <a:t>m/d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剩余类的全部</a:t>
            </a:r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  <a:ea typeface="Songti SC" panose="02010600040101010101" pitchFamily="2" charset="-122"/>
              </a:rPr>
              <a:t>d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个元素。</a:t>
            </a:r>
            <a:endParaRPr lang="en-US" altLang="zh-CN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类似于：</a:t>
            </a:r>
            <a:endParaRPr lang="en-US" altLang="zh-CN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{0,3,6,9}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即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0+0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0+1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0+2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0+3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{1,4,7,10}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即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1+0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1+1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1+2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1+3</a:t>
            </a:r>
            <a:r>
              <a:rPr lang="zh-CN" altLang="en-US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3</a:t>
            </a:r>
            <a:endParaRPr lang="zh-CN" altLang="en-US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所在剩余系是模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的唯一解；</a:t>
            </a: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1+5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endParaRPr lang="zh-CN" alt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1+10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endParaRPr lang="zh-CN" alt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1+15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，等等是模</a:t>
            </a:r>
            <a:r>
              <a:rPr lang="en-US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5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剩余类的全部元素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6EE46-4119-4040-8FA8-0C729A77EDBF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93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7D56A6B2-DE9C-C343-94B6-6EF5338D56A0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5C6259E-5F46-E842-A01B-E8B304933FEE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6D17F22-3D58-E646-BB9E-4C6BE28AB01B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2F58184E-8A4F-AE40-85CC-94CEE46CBF21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1ADCBED-CFF3-D94D-BC62-5DC7ADDF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ADB11B3-D6CA-484E-9BB4-F21AC13D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77556C0-3F6E-C247-A064-A24F1BB5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E732F-7A95-BD49-B414-F1F62D07AF2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45221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44E9-334F-7741-BA0E-5E5D4BD86C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C0A8-D610-D342-AA5B-853A04E254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083E0-BB69-5043-9D76-2EDC07B60B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1D90DCA-8046-FC4A-BC0E-8E9551939FD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14536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C8F8FF5-F83E-0E43-8DF2-44492E94D6BE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7C2BDB9-8054-3F45-9A93-99D728593C5A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4DFA15-A086-F447-A032-BA5CFD606580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2183A906-6B66-234E-A16D-7E265D93AA27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F52696C-08C4-804B-968D-337CC5AC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F746DE2-D500-EC40-AE1C-B248122B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A7DBE48-0DDC-7D43-BA5D-EE7A9D8B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D7B381-FADE-4142-BD3D-2C52F35919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9546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545F12-49EE-D340-84FD-46CC552E57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3D6DE88-BAFE-BE46-9445-EBF1C4C2FC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812B96-2E12-594D-8ECA-6650A39CBD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651FD9D6-7F26-A841-B57B-01C1231DEAB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76131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8D1B2D-1C10-434F-AF45-2C0E783D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B5F58B-1650-324E-B29A-7ECAF139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F3E775-FC6D-5F4B-942D-106D68F8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6B181-D8C4-AB47-B5A0-F18137B150F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40525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338F4CF-D977-2A45-BC5C-EF47A55C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257E8A-E962-334E-8386-AD7356873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861153-7F31-D34D-9187-A7DE37A9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F545B-4F76-9748-B5FD-96B359F7157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0137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756963-9590-9D41-9895-D592BB64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A9EDA8-F12B-6D47-B2A9-E3AA97B1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95D02C-A102-AB42-A02D-3ABD3AA0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1D10A-80D8-4F41-8EA6-9460BA7DC5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58918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57E7BA-F4A0-D749-A981-0FE3AEFE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540592-96FF-8142-8602-66A144C4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087E81-CB50-7544-A817-51546EC4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45F0FF-6BFA-874C-ACEF-A4611FE35B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260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D75423-26DE-0D47-9FC3-B84147214168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107A659-DD0E-C248-9AE5-2DD7AA5CCB99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7F162A8-C736-BB4D-8174-B36E09233B1B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E1329627-83D6-4048-8386-A088093DED95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268D543F-7E76-244E-AA39-52DE326C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E90FB49-C689-CB4D-BB52-A85DB9D9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4BA80BC6-5323-864D-A1E4-B52DB753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5088B1-71F0-0048-984A-0EDD317EA28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308742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0A7D-7122-AF4D-99BD-0824A8AA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EA6F3-6260-AD4D-B1CE-465720E5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CF858-744D-CE4A-99BB-B0366ACC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45748-CB8B-3B4D-9207-88FAB8F34E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5348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5C186-CA5E-FF42-ABB8-4641A146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596E-BED0-C54B-9B2A-12C8E7FC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B6B3-140F-1B42-AD34-9C50761C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DEFBF-2920-CA46-9AC1-C4DA27942A9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02379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7BA4B5-1FBA-924F-BA97-E3341755B4EA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5C228D-539A-494B-95C7-95F02307F4A1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F174DF-DF41-3D4C-BF2B-C6710BECD521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65758E-E806-D648-A6FE-7CE3F469FF23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D7FCE-EE57-4A4C-8C60-A60530B9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925" name="Text Placeholder 2">
            <a:extLst>
              <a:ext uri="{FF2B5EF4-FFF2-40B4-BE49-F238E27FC236}">
                <a16:creationId xmlns:a16="http://schemas.microsoft.com/office/drawing/2014/main" id="{EA863D7C-7F7C-C241-A980-A5A4CC5180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36B83-B36A-8A42-9286-9D5E7C8B3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5CD8-16C0-864A-BAAF-6021CE471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598-A764-174B-A250-0E40EFF26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7C96DDDD-FECA-E24F-B648-D1CE33413C8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9" r:id="rId2"/>
    <p:sldLayoutId id="2147483698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9" r:id="rId9"/>
    <p:sldLayoutId id="2147483695" r:id="rId10"/>
    <p:sldLayoutId id="2147483696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panose="02010600030101010101" pitchFamily="2" charset="-122"/>
          <a:cs typeface="+mj-cs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46">
            <a:extLst>
              <a:ext uri="{FF2B5EF4-FFF2-40B4-BE49-F238E27FC236}">
                <a16:creationId xmlns:a16="http://schemas.microsoft.com/office/drawing/2014/main" id="{F7EF9788-E982-3A46-80D7-AEAC827E9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643F70-1A67-864A-A52C-56E38C4878ED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D339F9C8-1AD9-BA47-A286-FD3243D8B6D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0772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§5.3 合同  一次同余式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Slide Number Placeholder 5">
            <a:extLst>
              <a:ext uri="{FF2B5EF4-FFF2-40B4-BE49-F238E27FC236}">
                <a16:creationId xmlns:a16="http://schemas.microsoft.com/office/drawing/2014/main" id="{4904119F-A42E-0748-8709-4FAFAFFC82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7780CE-F47E-284F-A498-6271413AFAF1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84987E3-CAD5-4345-AC39-6EED4D21B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§5.3.1  合同及其性质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5960A55-2EFD-AC4F-9BFC-718BADCB80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5105400"/>
          </a:xfrm>
        </p:spPr>
        <p:txBody>
          <a:bodyPr/>
          <a:lstStyle/>
          <a:p>
            <a:pPr marL="352425" indent="-352425"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是任意非0整数。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被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整除时，我们就说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合同于0模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记为：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		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0(mod m)</a:t>
            </a:r>
          </a:p>
          <a:p>
            <a:pPr marL="352425" indent="-352425">
              <a:lnSpc>
                <a:spcPct val="90000"/>
              </a:lnSpc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0(mod 3)</a:t>
            </a:r>
          </a:p>
          <a:p>
            <a:pPr marL="352425" indent="-352425"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一般来说，若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a-b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被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整除，则我们说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合同于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模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b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	a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</a:p>
          <a:p>
            <a:pPr marL="352425" indent="-352425">
              <a:lnSpc>
                <a:spcPct val="90000"/>
              </a:lnSpc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5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(mod 4)</a:t>
            </a:r>
            <a:endParaRPr kumimoji="0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2425" indent="-352425"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一个数为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整除，当且仅当此数为-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整除。所以，若未指定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而一般地讨论模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合同时，我们总假定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是正整数。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Slide Number Placeholder 5">
            <a:extLst>
              <a:ext uri="{FF2B5EF4-FFF2-40B4-BE49-F238E27FC236}">
                <a16:creationId xmlns:a16="http://schemas.microsoft.com/office/drawing/2014/main" id="{2789B8D9-822F-414B-BE71-3E6EC7BBBC6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D3C5C3-D315-6B46-9E91-F40A69CBDC90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197B68B7-32A0-B54E-A0EA-02F0BCE82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§5.3.1  合同及其性质 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A6CA7BAD-1544-7F4A-9043-1107742FC58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524000"/>
            <a:ext cx="8839200" cy="48768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m+r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，0≤r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&lt;m；b=q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m+r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，0≤r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&lt;m。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a-b=(q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)m+(r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由此式，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m|(a-b)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必要而且只要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但|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|&lt;m，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必要而且只要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=0。</a:t>
            </a:r>
          </a:p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因此，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a≡b(mod m)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必要而且只要以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除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所得的余数相同。</a:t>
            </a:r>
          </a:p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例：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37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≡2(mod 5)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17≡5(mod 4)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Number Placeholder 5">
            <a:extLst>
              <a:ext uri="{FF2B5EF4-FFF2-40B4-BE49-F238E27FC236}">
                <a16:creationId xmlns:a16="http://schemas.microsoft.com/office/drawing/2014/main" id="{F59BF0BF-01DC-3345-8AC0-18E31D82A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5A9E74-1150-9A49-82B0-163DCA9EBB20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27E6963D-F2EA-6A42-983A-9DAE7B2F0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1C84524-4C65-1945-826E-78796345E61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6482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a≡a. 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自反性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a≡b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b≡a. 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对称性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a≡b，b≡c，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a≡c. 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传递性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/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这就是说，合同是一种等价关系。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每一个等价类称为模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的一个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剩余类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37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≡2(mod 5)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Slide Number Placeholder 5">
            <a:extLst>
              <a:ext uri="{FF2B5EF4-FFF2-40B4-BE49-F238E27FC236}">
                <a16:creationId xmlns:a16="http://schemas.microsoft.com/office/drawing/2014/main" id="{F73498B3-7D90-494B-937E-9982670513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369F9C9-7030-D741-B1DF-4AAE8089D5FC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0DD770A8-9A88-D841-B6A1-F2399C327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2E643385-3A2B-F94D-8877-21FD73FC30A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6482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性质4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a≡b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(mod m)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c≡d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(mod m)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c≡b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(mod m)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，ac≡bd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(mod m)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  <a:p>
            <a:pPr marL="365125" indent="-36512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由题设有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r，s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a-b=rm，c-d=sm。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c)-(b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d)=(r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s)m,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d(mod m)。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其次，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ac=(b+rm)(d+sm)=bd+rdm+bsm+rsm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bd+0+0+0(mod m)=bd(mod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bd(mod m)。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Number Placeholder 5">
            <a:extLst>
              <a:ext uri="{FF2B5EF4-FFF2-40B4-BE49-F238E27FC236}">
                <a16:creationId xmlns:a16="http://schemas.microsoft.com/office/drawing/2014/main" id="{95B582D3-6A6E-154A-9F5B-77BD153359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2EBDB13-AED5-D447-8B4C-14C2FBAC331D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C6EE6685-F3DA-0444-A228-6F39AEA0B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A999596A-1C17-4C45-84D4-4EEE00E6982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763000" cy="4876800"/>
          </a:xfrm>
        </p:spPr>
        <p:txBody>
          <a:bodyPr/>
          <a:lstStyle/>
          <a:p>
            <a:pPr marL="438150" indent="-4381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性质5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 (mod m)。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为整数。</a:t>
            </a:r>
          </a:p>
          <a:p>
            <a:pPr marL="438150" indent="-4381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性质6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a+b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c-b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(mod m)。</a:t>
            </a:r>
          </a:p>
          <a:p>
            <a:pPr marL="438150" indent="-4381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性质7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(mod m)。</a:t>
            </a:r>
          </a:p>
          <a:p>
            <a:pPr marL="438150" indent="-438150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性质8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b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(mod m)， 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0。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Slide Number Placeholder 5">
            <a:extLst>
              <a:ext uri="{FF2B5EF4-FFF2-40B4-BE49-F238E27FC236}">
                <a16:creationId xmlns:a16="http://schemas.microsoft.com/office/drawing/2014/main" id="{C667B128-3634-2F49-AB4B-5371B8A3E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B4F86D-66EE-E347-AE1D-E145413E5E63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49DF87B2-B294-F94A-A4AD-48553DD05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6C316E73-0485-D440-97B2-219DEA0E665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5029200"/>
          </a:xfrm>
        </p:spPr>
        <p:txBody>
          <a:bodyPr/>
          <a:lstStyle/>
          <a:p>
            <a:pPr marL="346075" indent="-346075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性质9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bc(mod mc)，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</a:p>
          <a:p>
            <a:pPr marL="346075" indent="-346075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由题设有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ac-bc=qmc，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a-b=qm，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</a:p>
          <a:p>
            <a:pPr marL="346075" indent="-346075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性质10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互质，则由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可以推出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</a:p>
          <a:p>
            <a:pPr marL="346075" indent="-346075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ac=bc(mod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m|(a-b)c，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互质，所以有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m|(a-b)，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950CE738-CE1C-FC4D-9A2F-03BC66F643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0A0A5B-7ED5-BA49-80AE-1E4328E7EDCD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592D459D-A14F-5D44-AD41-519AFEAD9F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7B297295-A019-C442-98A0-A8C0D7758B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572000"/>
          </a:xfrm>
        </p:spPr>
        <p:txBody>
          <a:bodyPr/>
          <a:lstStyle/>
          <a:p>
            <a:pPr marL="346075" indent="-34607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性质11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(c, m)=d，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m/d)</a:t>
            </a:r>
          </a:p>
          <a:p>
            <a:pPr marL="346075" indent="-34607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m|(a-b)c，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c, m)=d，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m/d|(a-b)c/d。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注意到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(m/d, c/d)=1，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从而得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m/d|(a-b)，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m/d)。</a:t>
            </a:r>
          </a:p>
          <a:p>
            <a:pPr marL="346075" indent="-34607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对于质数模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则有和相等完全类似的消去律。 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BC0A3F26-ECD5-6042-A7A2-13FEA84A32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3657600" y="6218237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7FA87A-0191-0142-A802-2327DC6C9AF6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8E565F70-3BE2-D446-863A-9F8F26BDE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grpSp>
        <p:nvGrpSpPr>
          <p:cNvPr id="16387" name="Group 13">
            <a:extLst>
              <a:ext uri="{FF2B5EF4-FFF2-40B4-BE49-F238E27FC236}">
                <a16:creationId xmlns:a16="http://schemas.microsoft.com/office/drawing/2014/main" id="{357E9237-B342-044A-85D6-3EBA4B9CF13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00200"/>
            <a:ext cx="8229600" cy="1447800"/>
            <a:chOff x="48" y="1008"/>
            <a:chExt cx="5184" cy="912"/>
          </a:xfrm>
        </p:grpSpPr>
        <p:sp>
          <p:nvSpPr>
            <p:cNvPr id="16391" name="Rectangle 6">
              <a:extLst>
                <a:ext uri="{FF2B5EF4-FFF2-40B4-BE49-F238E27FC236}">
                  <a16:creationId xmlns:a16="http://schemas.microsoft.com/office/drawing/2014/main" id="{208D9A70-A349-8A40-BA46-460C6EE9C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1008"/>
              <a:ext cx="5184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38150" indent="-4381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20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性质12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 若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为质数，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0(mod p)，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而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ac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bc(mod p)，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b(mod p)。</a:t>
              </a:r>
            </a:p>
          </p:txBody>
        </p:sp>
        <p:sp>
          <p:nvSpPr>
            <p:cNvPr id="11273" name="Line 4">
              <a:extLst>
                <a:ext uri="{FF2B5EF4-FFF2-40B4-BE49-F238E27FC236}">
                  <a16:creationId xmlns:a16="http://schemas.microsoft.com/office/drawing/2014/main" id="{057EA4F1-BDB1-4E43-B632-F40EC19B5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104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62830" name="Group 14">
            <a:extLst>
              <a:ext uri="{FF2B5EF4-FFF2-40B4-BE49-F238E27FC236}">
                <a16:creationId xmlns:a16="http://schemas.microsoft.com/office/drawing/2014/main" id="{D7720478-C3FE-C14B-8E75-4193F3D1A809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3213100"/>
            <a:ext cx="8153400" cy="1570038"/>
            <a:chOff x="48" y="2024"/>
            <a:chExt cx="5136" cy="989"/>
          </a:xfrm>
        </p:grpSpPr>
        <p:sp>
          <p:nvSpPr>
            <p:cNvPr id="16389" name="Rectangle 11">
              <a:extLst>
                <a:ext uri="{FF2B5EF4-FFF2-40B4-BE49-F238E27FC236}">
                  <a16:creationId xmlns:a16="http://schemas.microsoft.com/office/drawing/2014/main" id="{6975685B-C1E1-3E4C-892C-12A7C2E94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2024"/>
              <a:ext cx="513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65125" indent="-365125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20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证明：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因为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是质数，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0(mod p)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就表示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互质，(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c, p)=1，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因而性质12不过是性质10的推论。</a:t>
              </a:r>
            </a:p>
          </p:txBody>
        </p:sp>
        <p:sp>
          <p:nvSpPr>
            <p:cNvPr id="11271" name="Line 5">
              <a:extLst>
                <a:ext uri="{FF2B5EF4-FFF2-40B4-BE49-F238E27FC236}">
                  <a16:creationId xmlns:a16="http://schemas.microsoft.com/office/drawing/2014/main" id="{0BB6EF55-6C63-AA44-BF6A-8000B84C0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112"/>
              <a:ext cx="96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79176F62-630D-BB4E-8EB0-B6BD7374C1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6B5334-0FCF-2142-A7B3-40E32A0AAC2D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574577C4-5069-1E44-A717-C205F2312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合同的基本性质 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F8A9F35-504E-764B-9F35-321023E6C53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2133600"/>
          </a:xfrm>
        </p:spPr>
        <p:txBody>
          <a:bodyPr/>
          <a:lstStyle/>
          <a:p>
            <a:pPr marL="346075" indent="-346075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性质13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p(x)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是整系数多项式，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是整数变量，则由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y(mod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可得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p(x)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p(y)(mod m)。 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5597CB54-F651-A24B-9653-BD11E9FE0B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F57B28-11AC-9D4B-8D8F-7DE94A7F1E7D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grpSp>
        <p:nvGrpSpPr>
          <p:cNvPr id="20482" name="Group 11">
            <a:extLst>
              <a:ext uri="{FF2B5EF4-FFF2-40B4-BE49-F238E27FC236}">
                <a16:creationId xmlns:a16="http://schemas.microsoft.com/office/drawing/2014/main" id="{6CD25563-B85F-CF46-A0FD-916592AF44A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809625"/>
            <a:ext cx="8534400" cy="5257800"/>
            <a:chOff x="48" y="558"/>
            <a:chExt cx="5376" cy="3312"/>
          </a:xfrm>
        </p:grpSpPr>
        <p:sp>
          <p:nvSpPr>
            <p:cNvPr id="20483" name="Rectangle 6">
              <a:extLst>
                <a:ext uri="{FF2B5EF4-FFF2-40B4-BE49-F238E27FC236}">
                  <a16:creationId xmlns:a16="http://schemas.microsoft.com/office/drawing/2014/main" id="{FCEA7D08-D17D-3D47-BDA0-C1B521EF9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558"/>
              <a:ext cx="5376" cy="3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65125" indent="-365125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运用性质13，我们再看能被9整除数的数码特征。</a:t>
              </a:r>
            </a:p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	设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N=a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r>
                <a:rPr lang="en-US" altLang="zh-CN" sz="3200" baseline="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10</a:t>
              </a:r>
              <a:r>
                <a:rPr lang="en-US" altLang="zh-CN" sz="3200" baseline="300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+…+a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10+a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为一整数，因为10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1(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mod 9)，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由性质13得</a:t>
              </a:r>
              <a:b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</a:b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 baseline="300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 baseline="30000">
                  <a:latin typeface="Times New Roman" panose="02020603050405020304" pitchFamily="18" charset="0"/>
                  <a:ea typeface="楷体_GB2312" pitchFamily="49" charset="-122"/>
                </a:rPr>
                <a:t>n-1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+…+a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+a</a:t>
              </a:r>
              <a:r>
                <a:rPr lang="en-US" altLang="zh-CN" sz="3200" baseline="-30000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(mod 9)</a:t>
              </a:r>
            </a:p>
            <a:p>
              <a:pPr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	即                          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b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</a:b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于是 9|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当且仅当9| </a:t>
              </a:r>
              <a:endParaRPr lang="en-US" altLang="zh-CN" sz="32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0484" name="Object 4">
              <a:extLst>
                <a:ext uri="{FF2B5EF4-FFF2-40B4-BE49-F238E27FC236}">
                  <a16:creationId xmlns:a16="http://schemas.microsoft.com/office/drawing/2014/main" id="{965B7598-227B-FC48-870D-F03A4C1398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2640"/>
            <a:ext cx="1536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6" name="公式" r:id="rId4" imgW="1092200" imgH="457200" progId="Equation.3">
                    <p:embed/>
                  </p:oleObj>
                </mc:Choice>
                <mc:Fallback>
                  <p:oleObj name="公式" r:id="rId4" imgW="10922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640"/>
                          <a:ext cx="1536" cy="6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Object 8">
              <a:extLst>
                <a:ext uri="{FF2B5EF4-FFF2-40B4-BE49-F238E27FC236}">
                  <a16:creationId xmlns:a16="http://schemas.microsoft.com/office/drawing/2014/main" id="{7F3648C0-AF42-6241-A3BA-AE5F3A166E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3070"/>
            <a:ext cx="466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7" name="公式" r:id="rId6" imgW="368300" imgH="457200" progId="Equation.3">
                    <p:embed/>
                  </p:oleObj>
                </mc:Choice>
                <mc:Fallback>
                  <p:oleObj name="公式" r:id="rId6" imgW="36830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70"/>
                          <a:ext cx="466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8933474B-4E91-FA45-A7D1-8971C6E446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C515C5-AE19-7F4A-A900-048DC7DCDE4F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47F02A01-1BB5-524D-B046-37F8BA614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89916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§5.3.2  剩余类 一次同余式 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D30336FE-E350-CD46-A28C-B7692A3FF0A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915400" cy="44958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合同既然是一种等价关系，就可以把所有整数按照模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合同的关系分为等价类，每一个等价类称为模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的一个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剩余类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同一个剩余类中的数互相合同，不同的剩余类中的数不互相合同。 </a:t>
            </a:r>
          </a:p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去除任意整数，可能得到的余数恰有0，1，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m-1，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个数，所以模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共有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个剩余类。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075064F3-3157-3E4D-9B78-8AB05CFD0B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F5FB9A-DD8C-9F49-AAA3-EC8D7E4FF7EF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0A8D1E39-D0ED-3740-B24E-413F63E4D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89916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§5.3.2  剩余类 一次同余式 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733BE56B-5178-924B-BCCA-C5213B6A98E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915400" cy="4419600"/>
          </a:xfrm>
        </p:spPr>
        <p:txBody>
          <a:bodyPr/>
          <a:lstStyle/>
          <a:p>
            <a:pPr marL="365125" indent="-365125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从每个剩余类中取出一个数作为代表，这样便可得到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个数，比方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,r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说是作成一个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完全剩余系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，任意整数模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恰好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合同于此完全剩余系中的一个数。</a:t>
            </a:r>
          </a:p>
          <a:p>
            <a:pPr marL="365125" indent="-365125"/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例如：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0，1，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m-1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便是这样一个完全剩余系。</a:t>
            </a:r>
          </a:p>
          <a:p>
            <a:pPr marL="365125" indent="-365125"/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又如：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模3，三个数0，1，2作成一个完全剩余系；-1，0，1也作成一个完全剩余系。模2，两个数0，1作成一个完全剩余系，0代表所有偶数，1代表所有奇数。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9A69FE6D-C120-2944-B582-EA57960837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4CE63E-D0A4-DD4F-BA9D-0E3A2611CAAB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BF068FAE-91E6-D240-8F03-55E999797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</a:rPr>
              <a:t>同余式 </a:t>
            </a:r>
            <a:endParaRPr lang="en-US" altLang="zh-CN" dirty="0">
              <a:latin typeface="楷体_GB2312" charset="0"/>
              <a:ea typeface="楷体_GB2312" charset="0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CD07F01-0441-9E41-941B-9705F6D54DE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50292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含有整数变量的合同式，称为合同方程或同余式 。</a:t>
            </a:r>
          </a:p>
          <a:p>
            <a:pPr marL="365125" indent="-365125"/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这种形式的合同式称为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一次同余式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；类似地，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二次同余式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A5CBF2EF-3B59-F643-BA92-43E251A362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4EA703-C46F-7A4D-A945-99E78907A664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363EC829-6BDA-6242-AE56-2702087A6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pitchFamily="49" charset="-122"/>
                <a:ea typeface="+mj-ea"/>
              </a:rPr>
              <a:t>同余式</a:t>
            </a:r>
            <a:endParaRPr lang="en-US" altLang="zh-CN" dirty="0">
              <a:latin typeface="楷体_GB2312" pitchFamily="49" charset="-122"/>
              <a:ea typeface="+mj-ea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371EB05-DC43-4147-AEBC-DCE27159500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44958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求解一次同余式实际上是解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ax-b=my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这样的不定方程。我们这里讨论一次同余式在什么条件下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有解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？什么条件下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无解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？什么时候有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唯一解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（一个剩余类）？什么时候有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多解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（多个剩余类）？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F69040D5-F6A8-EA4D-990B-DCE2CA457F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57B449-D52B-AD42-A65F-649F32435BC3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DA91E519-137C-7D4E-87F8-A6C3D5BC2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定理5.3.1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C290547F-AF18-C946-9B6D-AD3C32570FA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48768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5125" indent="-365125">
              <a:spcBef>
                <a:spcPct val="0"/>
              </a:spcBef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互质，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任意，则模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恰有一个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</a:p>
          <a:p>
            <a:pPr marL="365125" indent="-365125">
              <a:spcBef>
                <a:spcPct val="0"/>
              </a:spcBef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 u="sng">
                <a:latin typeface="Times New Roman" panose="02020603050405020304" pitchFamily="18" charset="0"/>
                <a:ea typeface="楷体_GB2312" pitchFamily="49" charset="-122"/>
              </a:rPr>
              <a:t>存在性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互质，故有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s，t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as+mt=1，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asb+mtb=b，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若取模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asb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x=sb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sb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所在的剩余类中的数皆是解。</a:t>
            </a:r>
          </a:p>
          <a:p>
            <a:pPr marL="365125" indent="-365125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</a:t>
            </a:r>
            <a:r>
              <a:rPr kumimoji="0" lang="zh-CN" altLang="en-US" sz="2800" u="sng">
                <a:latin typeface="宋体" panose="02010600030101010101" pitchFamily="2" charset="-122"/>
                <a:ea typeface="楷体_GB2312" pitchFamily="49" charset="-122"/>
              </a:rPr>
              <a:t>唯一性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。所谓模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只有一个这样的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意思是说在模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合同的意义下，解是唯一的。即若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ay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y(mod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b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因为，由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ay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b(mod m)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ay(mod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消去和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互质的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a(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性质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10)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乃得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y(mod m)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EF55CF6C-091C-CC41-A22C-48BA26DB4E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29488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02E3AF-2AA8-B640-A19C-AE7A8D8B16E5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4D859608-A3E6-3C48-BE85-09492D3DE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85250" cy="9144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</a:rPr>
              <a:t>求解一次合同方程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F4D9BE18-18D1-7D43-880D-1236FA2DA60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066800"/>
            <a:ext cx="87630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kumimoji="0" lang="zh-CN" altLang="en-US" sz="28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0" lang="zh-CN" altLang="en-US" sz="28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：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(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P160-2) 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解合同式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35x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1(mod 97)</a:t>
            </a:r>
          </a:p>
          <a:p>
            <a:pPr>
              <a:lnSpc>
                <a:spcPct val="80000"/>
              </a:lnSpc>
            </a:pPr>
            <a:r>
              <a:rPr kumimoji="0" lang="zh-CN" altLang="en-US" sz="28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解：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a=35, m=97, b=1. 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现求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as+mt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=1. x=sb.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	令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a=97, b=35, 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现求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sa+tb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=1, 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如下表：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	所以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1=(-1)</a:t>
            </a:r>
            <a:r>
              <a:rPr kumimoji="0" lang="en-US" altLang="zh-CN" sz="2800" baseline="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5-1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×13×97+(-1)</a:t>
            </a:r>
            <a:r>
              <a:rPr kumimoji="0" lang="en-US" altLang="zh-CN" sz="2800" baseline="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5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×36×35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	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由此，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s=(-1)</a:t>
            </a:r>
            <a:r>
              <a:rPr kumimoji="0" lang="en-US" altLang="zh-CN" sz="2800" baseline="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5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×36= -36, 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根据定理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5.3.1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，</a:t>
            </a:r>
            <a:b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</a:b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有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x=sb= -36×1 = -36  -36(mod 97)  61(mod 97)</a:t>
            </a:r>
          </a:p>
        </p:txBody>
      </p:sp>
      <p:graphicFrame>
        <p:nvGraphicFramePr>
          <p:cNvPr id="179287" name="Group 87">
            <a:extLst>
              <a:ext uri="{FF2B5EF4-FFF2-40B4-BE49-F238E27FC236}">
                <a16:creationId xmlns:a16="http://schemas.microsoft.com/office/drawing/2014/main" id="{BA41585D-CB28-D44F-A8A9-DD26E939CD96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667000"/>
          <a:ext cx="7239000" cy="2290763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689675597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309793542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681563688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156114439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76367367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84616327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42020744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1318286728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75623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010841"/>
                  </a:ext>
                </a:extLst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q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724034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0E2F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392531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k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0E2F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61688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9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1658E4B6-BA41-4848-8C9C-34CC2290F9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BC9E7F-8E1A-7740-A703-428162F2E981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792519BE-3CE6-6A43-8FFE-7ECB2B5EC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定理5.3.1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grpSp>
        <p:nvGrpSpPr>
          <p:cNvPr id="30723" name="Group 8">
            <a:extLst>
              <a:ext uri="{FF2B5EF4-FFF2-40B4-BE49-F238E27FC236}">
                <a16:creationId xmlns:a16="http://schemas.microsoft.com/office/drawing/2014/main" id="{60F01ABF-F80A-B849-9063-1BB6218EFD4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295400"/>
            <a:ext cx="8763000" cy="3352800"/>
            <a:chOff x="48" y="912"/>
            <a:chExt cx="5520" cy="2112"/>
          </a:xfrm>
        </p:grpSpPr>
        <p:sp>
          <p:nvSpPr>
            <p:cNvPr id="30724" name="Rectangle 4">
              <a:extLst>
                <a:ext uri="{FF2B5EF4-FFF2-40B4-BE49-F238E27FC236}">
                  <a16:creationId xmlns:a16="http://schemas.microsoft.com/office/drawing/2014/main" id="{4BD07CD7-A2D6-DC4C-B53D-15CDBA91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912"/>
              <a:ext cx="5520" cy="2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65125" indent="-365125"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tabLst>
                  <a:tab pos="3719513" algn="l"/>
                </a:tabLs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20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推论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 设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为质数。若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0(mod p)，b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任意，则模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恰有一个数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3200">
                  <a:latin typeface="Times New Roman" panose="02020603050405020304" pitchFamily="18" charset="0"/>
                  <a:ea typeface="楷体_GB2312" pitchFamily="49" charset="-122"/>
                </a:rPr>
                <a:t>使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ax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</a:t>
              </a:r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b(mod p)。 </a:t>
              </a:r>
              <a:endParaRPr lang="zh-CN" altLang="en-US" sz="32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486" name="Line 6">
              <a:extLst>
                <a:ext uri="{FF2B5EF4-FFF2-40B4-BE49-F238E27FC236}">
                  <a16:creationId xmlns:a16="http://schemas.microsoft.com/office/drawing/2014/main" id="{B47A1782-6B5F-0B4E-8E28-699E14399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104"/>
              <a:ext cx="14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65F2AA79-0936-4745-9998-CF18E36BC3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A5E2578-35F6-374E-AD5A-B1FA6C1B1DE8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E2AD6C5B-12FA-7540-B9DF-DAA0A1D2E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定理5.3.2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AB6C40EE-5350-BC49-80A9-A607BF420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447800"/>
            <a:ext cx="8763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若(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m)=d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1，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d|b，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则同余式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 (mod m)</a:t>
            </a:r>
            <a:r>
              <a:rPr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无解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反证法。若上式可解，则存在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m)。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从而存在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q，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b=a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-mq。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因为(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m)=d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1 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d|(a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-mq)，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d|b，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矛盾。 </a:t>
            </a:r>
          </a:p>
        </p:txBody>
      </p:sp>
      <p:sp>
        <p:nvSpPr>
          <p:cNvPr id="21509" name="Line 6">
            <a:extLst>
              <a:ext uri="{FF2B5EF4-FFF2-40B4-BE49-F238E27FC236}">
                <a16:creationId xmlns:a16="http://schemas.microsoft.com/office/drawing/2014/main" id="{EB4194D0-1181-B14A-BDFD-F9FD19F52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52600"/>
            <a:ext cx="1524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FCD6ADA6-F09D-9B4A-B161-B178830147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A547E3-B6A8-2D4C-8383-4E83DCE09524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442D0F84-4D7E-EF4F-BD09-63A7F51B9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</a:rPr>
              <a:t>定理5.3.3</a:t>
            </a:r>
            <a:endParaRPr lang="en-US" altLang="zh-CN">
              <a:latin typeface="Times New Roman" charset="0"/>
              <a:ea typeface="楷体_GB2312" charset="0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2490A1B-C74D-4846-826D-EF35CC3369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8006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m)=d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d|b，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则同余式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………………………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有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个解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，分别为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	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+m/d,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+2m/d,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+(d-1)m/d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其中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是同余式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   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a/d)x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b/d(mod m/d)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………………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的解。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B6BF2CEE-157E-EC43-A61B-0BD35F7876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8BF3D-4CE0-0449-B5AF-D4B8423A6AF1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34823BCE-A8AD-C049-96F7-39C854983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428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定理5.3.3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BDE02031-A988-AD40-B2F1-F666015E4A5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0" y="1219200"/>
            <a:ext cx="8991600" cy="5105400"/>
          </a:xfrm>
        </p:spPr>
        <p:txBody>
          <a:bodyPr/>
          <a:lstStyle/>
          <a:p>
            <a:pPr marL="365125" indent="-365125">
              <a:spcBef>
                <a:spcPct val="0"/>
              </a:spcBef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性质9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知, 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)的解是(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)的解，</a:t>
            </a:r>
          </a:p>
          <a:p>
            <a:pPr marL="365125" indent="-365125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而由(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)可得，(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ax-b)/d=qm/d，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ax-b)=qm，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ax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b(mod m)，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因此 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)的解也是(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)的解。</a:t>
            </a:r>
          </a:p>
          <a:p>
            <a:pPr marL="365125" indent="-365125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因为(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m)=d，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a/d, m/d)=1。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zh-CN" altLang="en-US" sz="3200" u="sng">
                <a:latin typeface="Times New Roman" panose="02020603050405020304" pitchFamily="18" charset="0"/>
                <a:ea typeface="楷体_GB2312" pitchFamily="49" charset="-122"/>
              </a:rPr>
              <a:t>定理5.3.1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知， 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)在模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下有唯一解，设为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不妨设0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m/d。</a:t>
            </a:r>
          </a:p>
          <a:p>
            <a:pPr marL="365125" indent="-365125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因为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+km/d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恰是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所在的模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剩余类的全部元素，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k=0,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的解作为数都可以表示成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+km/d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的形式。于是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的解都是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+km/d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形式的数，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k=0,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D70CCC3D-3B53-2F48-985A-EB369638AC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D146FC-A772-F246-A1D1-1665C79AB39B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AC747B38-0DF3-9545-96BE-D92BF3322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定理5.3.3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E1D564B6-D7C1-AA42-8222-ED2ACBBDE34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0" y="1066800"/>
            <a:ext cx="9067800" cy="5638800"/>
          </a:xfrm>
        </p:spPr>
        <p:txBody>
          <a:bodyPr/>
          <a:lstStyle/>
          <a:p>
            <a:pPr marL="365125" indent="-365125">
              <a:lnSpc>
                <a:spcPct val="9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下面证明(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)式是(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个不同解。因为0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m/d，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)中每一个式子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且互不相同，所以它们之间关于模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互不同余，即(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)为(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个不同解。</a:t>
            </a:r>
          </a:p>
          <a:p>
            <a:pPr marL="365125" indent="-365125">
              <a:lnSpc>
                <a:spcPct val="9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再考虑(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)只有(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个不同解。即若数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+lm/d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)的解，则关于模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m，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+lm/d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必同余(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个数之一。</a:t>
            </a:r>
          </a:p>
          <a:p>
            <a:pPr marL="365125" indent="-365125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因为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d-1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为关于模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的完全剩余系，故存在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d-1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使得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 (mod d)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，两边和模同乘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m/d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得，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l/d)m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(i/d)m (mod m)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+lm/d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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+im/d(mod m)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证毕。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3">
            <a:extLst>
              <a:ext uri="{FF2B5EF4-FFF2-40B4-BE49-F238E27FC236}">
                <a16:creationId xmlns:a16="http://schemas.microsoft.com/office/drawing/2014/main" id="{42D8B953-E871-1C49-AA75-9568991D9A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BDD382-7658-654F-B91C-7C36BAACED47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08CB1-6984-024F-8F53-0FE35E95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</a:rPr>
              <a:t>思考题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EAAE8D10-1EA1-4046-AF45-F91BBC8646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752600"/>
            <a:ext cx="8305800" cy="3475038"/>
          </a:xfrm>
        </p:spPr>
        <p:txBody>
          <a:bodyPr/>
          <a:lstStyle/>
          <a:p>
            <a:r>
              <a:rPr kumimoji="0" lang="zh-CN" altLang="en-US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解合同式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103x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itchFamily="2" charset="2"/>
              </a:rPr>
              <a:t> 57(mod 211).</a:t>
            </a:r>
          </a:p>
          <a:p>
            <a:r>
              <a:rPr kumimoji="0" lang="zh-CN" altLang="en-US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itchFamily="2" charset="2"/>
              </a:rPr>
              <a:t>答案：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itchFamily="2" charset="2"/>
              </a:rPr>
              <a:t>x  146(mod 211)</a:t>
            </a:r>
          </a:p>
          <a:p>
            <a:endParaRPr lang="en-US" altLang="zh-CN" sz="2800" dirty="0">
              <a:effectLst/>
              <a:latin typeface="Arial" panose="020B0604020202020204" pitchFamily="34" charset="0"/>
              <a:ea typeface="PingFang SC" panose="020B0400000000000000" pitchFamily="34" charset="-122"/>
              <a:cs typeface="Arial" panose="020B0604020202020204" pitchFamily="34" charset="0"/>
            </a:endParaRPr>
          </a:p>
          <a:p>
            <a:r>
              <a:rPr lang="zh-CN" altLang="en-US" sz="2800" dirty="0"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求解一次合同方程</a:t>
            </a:r>
            <a:r>
              <a:rPr lang="en-US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3215</a:t>
            </a:r>
            <a:r>
              <a:rPr lang="en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itchFamily="2" charset="2"/>
              </a:rPr>
              <a:t> </a:t>
            </a:r>
            <a:r>
              <a:rPr lang="en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160</a:t>
            </a:r>
            <a:r>
              <a:rPr lang="en-US" altLang="zh-CN" sz="28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(</a:t>
            </a:r>
            <a:r>
              <a:rPr lang="en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 235</a:t>
            </a:r>
            <a:r>
              <a:rPr lang="en-US" altLang="zh-CN" sz="28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)</a:t>
            </a:r>
            <a:endParaRPr lang="en" altLang="zh-CN" sz="2800" dirty="0">
              <a:latin typeface="Arial" panose="020B0604020202020204" pitchFamily="34" charset="0"/>
              <a:ea typeface="PingFang SC" panose="020B0400000000000000" pitchFamily="34" charset="-122"/>
              <a:cs typeface="Arial" panose="020B0604020202020204" pitchFamily="34" charset="0"/>
            </a:endParaRPr>
          </a:p>
          <a:p>
            <a:r>
              <a:rPr kumimoji="0" lang="zh-CN" altLang="en-US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答案：</a:t>
            </a:r>
            <a:r>
              <a:rPr lang="en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 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itchFamily="2" charset="2"/>
              </a:rPr>
              <a:t> </a:t>
            </a:r>
            <a:r>
              <a:rPr lang="en" altLang="zh-CN" sz="2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1, 48, 95, 142, 189(mod 235)</a:t>
            </a:r>
          </a:p>
          <a:p>
            <a:pPr marL="46037" indent="0">
              <a:buNone/>
            </a:pPr>
            <a:endParaRPr kumimoji="0" lang="zh-CN" altLang="en-US" sz="2800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4851</TotalTime>
  <Words>2914</Words>
  <Application>Microsoft Macintosh PowerPoint</Application>
  <PresentationFormat>全屏显示(4:3)</PresentationFormat>
  <Paragraphs>202</Paragraphs>
  <Slides>23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黑体</vt:lpstr>
      <vt:lpstr>楷体_GB2312</vt:lpstr>
      <vt:lpstr>宋体</vt:lpstr>
      <vt:lpstr>PingFang SC</vt:lpstr>
      <vt:lpstr>Songti SC</vt:lpstr>
      <vt:lpstr>Arial</vt:lpstr>
      <vt:lpstr>Georgia</vt:lpstr>
      <vt:lpstr>Symbol</vt:lpstr>
      <vt:lpstr>Times</vt:lpstr>
      <vt:lpstr>Times New Roman</vt:lpstr>
      <vt:lpstr>Trebuchet MS</vt:lpstr>
      <vt:lpstr>Wingdings</vt:lpstr>
      <vt:lpstr>气流</vt:lpstr>
      <vt:lpstr>公式</vt:lpstr>
      <vt:lpstr>Equation.DSMT4</vt:lpstr>
      <vt:lpstr>§5.3 合同  一次同余式 </vt:lpstr>
      <vt:lpstr>§5.3.1  合同及其性质 </vt:lpstr>
      <vt:lpstr>§5.3.1  合同及其性质 </vt:lpstr>
      <vt:lpstr>合同的基本性质 </vt:lpstr>
      <vt:lpstr>合同的基本性质 </vt:lpstr>
      <vt:lpstr>合同的基本性质 </vt:lpstr>
      <vt:lpstr>合同的基本性质 </vt:lpstr>
      <vt:lpstr>合同的基本性质 </vt:lpstr>
      <vt:lpstr>合同的基本性质 </vt:lpstr>
      <vt:lpstr>合同的基本性质 </vt:lpstr>
      <vt:lpstr>PowerPoint 演示文稿</vt:lpstr>
      <vt:lpstr>§5.3.2  剩余类 一次同余式 </vt:lpstr>
      <vt:lpstr>§5.3.2  剩余类 一次同余式 </vt:lpstr>
      <vt:lpstr>同余式 </vt:lpstr>
      <vt:lpstr>同余式</vt:lpstr>
      <vt:lpstr>定理5.3.1 </vt:lpstr>
      <vt:lpstr>求解一次合同方程</vt:lpstr>
      <vt:lpstr>定理5.3.1</vt:lpstr>
      <vt:lpstr>定理5.3.2</vt:lpstr>
      <vt:lpstr>定理5.3.3</vt:lpstr>
      <vt:lpstr>定理5.3.3</vt:lpstr>
      <vt:lpstr>定理5.3.3</vt:lpstr>
      <vt:lpstr>思考题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Microsoft Office User</cp:lastModifiedBy>
  <cp:revision>344</cp:revision>
  <cp:lastPrinted>1601-01-01T00:00:00Z</cp:lastPrinted>
  <dcterms:created xsi:type="dcterms:W3CDTF">2002-08-29T00:33:30Z</dcterms:created>
  <dcterms:modified xsi:type="dcterms:W3CDTF">2023-05-31T14:21:14Z</dcterms:modified>
</cp:coreProperties>
</file>