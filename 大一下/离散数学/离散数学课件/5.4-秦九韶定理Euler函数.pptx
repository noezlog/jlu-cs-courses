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2EB"/>
          </a:solidFill>
        </a:fill>
      </a:tcStyle>
    </a:wholeTbl>
    <a:band2H>
      <a:tcTxStyle/>
      <a:tcStyle>
        <a:tcBdr/>
        <a:fill>
          <a:solidFill>
            <a:srgbClr val="E8EAF5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83881"/>
  </p:normalViewPr>
  <p:slideViewPr>
    <p:cSldViewPr snapToGrid="0" snapToObjects="1">
      <p:cViewPr varScale="1">
        <p:scale>
          <a:sx n="91" d="100"/>
          <a:sy n="91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ax≡b(mod m)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" name="Shape 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x0≡a1(mod m1)</a:t>
            </a:r>
          </a:p>
          <a:p>
            <a:r>
              <a:t>x0≡a2(mod m2)</a:t>
            </a:r>
          </a:p>
          <a:p>
            <a:r>
              <a:t>即：x0-a1=m1q1, x0-a2=m2q2</a:t>
            </a:r>
          </a:p>
          <a:p>
            <a:r>
              <a:t>即：x0-a1=dxq1, x0-a2=dyq2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x’≡a1(mod m1)</a:t>
            </a:r>
          </a:p>
          <a:p>
            <a:r>
              <a:t>x’’≡a1(mod m1)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ax≡b(mod m)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1400">
                <a:effectLst>
                  <a:outerShdw blurRad="12700" dist="25400" dir="2700000" rotWithShape="0">
                    <a:srgbClr val="DDDDDD"/>
                  </a:outerShdw>
                </a:effectLst>
                <a:latin typeface="宋体"/>
                <a:ea typeface="宋体"/>
                <a:cs typeface="宋体"/>
                <a:sym typeface="宋体"/>
              </a:defRPr>
            </a:pPr>
            <a:r>
              <a:t>若仅从定理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5.4.2</a:t>
            </a:r>
            <a:r>
              <a:t>证明的角度看，我们完全可以作为定理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5.4.1</a:t>
            </a:r>
            <a:r>
              <a:t>特殊情况的推广，使用数学归纳法给出一个合适的证明。这里使用了构造性证明方法，先构造一些满足局部合同式的局部解，再把这些局部解合起来构造成整体解。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因为：35≡3(mod 4)，所以35c1≡3c1(mod 4)（合同的性质7）</a:t>
            </a:r>
          </a:p>
          <a:p>
            <a:r>
              <a:t>28c2≡1(mod 5), 3c2≡1(mod 5), c2≡2(mod 5), l2=2*4*7=56</a:t>
            </a:r>
          </a:p>
          <a:p>
            <a:r>
              <a:t>20c3≡1(mod 7), 6c3≡1(mod 7), c3≡6(mod 7), l3=6*20=120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x=a1l1+a2l2+…..+aklk,,,,,(5)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 5: 0,1,2,3,4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X</a:t>
            </a:r>
            <a:r>
              <a:rPr kumimoji="1" lang="zh-CN" altLang="en-US" dirty="0"/>
              <a:t>的个数和模</a:t>
            </a:r>
            <a:r>
              <a:rPr lang="en" altLang="zh-CN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altLang="zh-CN"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altLang="zh-CN"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lang="en" altLang="zh-CN" dirty="0" err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altLang="zh-CN" baseline="-30000" dirty="0" err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CN" altLang="en-US" dirty="0">
                <a:latin typeface="楷体_GB2312"/>
                <a:ea typeface="楷体_GB2312"/>
                <a:cs typeface="楷体_GB2312"/>
                <a:sym typeface="楷体_GB2312"/>
              </a:rPr>
              <a:t>的剩余类个数相同，且由前一页，任意</a:t>
            </a:r>
            <a:r>
              <a:rPr lang="en-US" altLang="zh-CN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x’</a:t>
            </a:r>
            <a:r>
              <a:rPr lang="zh-CN" altLang="en-US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x’’</a:t>
            </a:r>
            <a:r>
              <a:rPr lang="zh-CN" altLang="en-US" dirty="0">
                <a:latin typeface="楷体_GB2312"/>
                <a:ea typeface="楷体_GB2312"/>
                <a:cs typeface="楷体_GB2312"/>
                <a:sym typeface="楷体_GB2312"/>
              </a:rPr>
              <a:t>不合同，则正好一个</a:t>
            </a:r>
            <a:r>
              <a:rPr lang="en-US" altLang="zh-CN" dirty="0">
                <a:latin typeface="楷体_GB2312"/>
                <a:ea typeface="楷体_GB2312"/>
                <a:cs typeface="楷体_GB2312"/>
                <a:sym typeface="楷体_GB2312"/>
              </a:rPr>
              <a:t>x</a:t>
            </a:r>
            <a:r>
              <a:rPr lang="zh-CN" altLang="en-US" dirty="0">
                <a:latin typeface="楷体_GB2312"/>
                <a:ea typeface="楷体_GB2312"/>
                <a:cs typeface="楷体_GB2312"/>
                <a:sym typeface="楷体_GB2312"/>
              </a:rPr>
              <a:t>对应一个剩余类，遍历。</a:t>
            </a:r>
            <a:endParaRPr lang="en-US" altLang="zh-CN" dirty="0">
              <a:latin typeface="楷体_GB2312"/>
              <a:ea typeface="楷体_GB2312"/>
              <a:cs typeface="楷体_GB2312"/>
              <a:sym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41644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例如：n</a:t>
            </a:r>
            <a:r>
              <a:rPr dirty="0"/>
              <a:t>=4</a:t>
            </a:r>
          </a:p>
          <a:p>
            <a:r>
              <a:rPr dirty="0"/>
              <a:t>A={3,7,11,15……},a=3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证明不讲</a:t>
            </a:r>
          </a:p>
        </p:txBody>
      </p:sp>
    </p:spTree>
    <p:extLst>
      <p:ext uri="{BB962C8B-B14F-4D97-AF65-F5344CB8AC3E}">
        <p14:creationId xmlns:p14="http://schemas.microsoft.com/office/powerpoint/2010/main" val="3027472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书上的例题</a:t>
            </a:r>
            <a:r>
              <a:rPr kumimoji="1" lang="zh-CN" altLang="en-US"/>
              <a:t>一定自己做一做</a:t>
            </a:r>
          </a:p>
        </p:txBody>
      </p:sp>
    </p:spTree>
    <p:extLst>
      <p:ext uri="{BB962C8B-B14F-4D97-AF65-F5344CB8AC3E}">
        <p14:creationId xmlns:p14="http://schemas.microsoft.com/office/powerpoint/2010/main" val="148694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矩形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2225"/>
            <a:ext cx="9144000" cy="1755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矩形"/>
          <p:cNvSpPr/>
          <p:nvPr/>
        </p:nvSpPr>
        <p:spPr>
          <a:xfrm>
            <a:off x="-1" y="3768725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6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image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image.pn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矩形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0" name="image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标题文本"/>
          <p:cNvSpPr txBox="1"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标题文本</a:t>
            </a:r>
          </a:p>
        </p:txBody>
      </p:sp>
      <p:sp>
        <p:nvSpPr>
          <p:cNvPr id="42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143000" y="731837"/>
            <a:ext cx="6400800" cy="3475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矩形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3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标题文本"/>
          <p:cNvSpPr txBox="1"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标题文本</a:t>
            </a:r>
          </a:p>
        </p:txBody>
      </p:sp>
      <p:sp>
        <p:nvSpPr>
          <p:cNvPr id="5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143000" y="731837"/>
            <a:ext cx="6400800" cy="3475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02225"/>
            <a:ext cx="9144000" cy="1755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.png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矩形"/>
          <p:cNvSpPr/>
          <p:nvPr/>
        </p:nvSpPr>
        <p:spPr>
          <a:xfrm>
            <a:off x="-1" y="3768725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image.png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标题文本</a:t>
            </a:r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*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7762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12334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16906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21478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228600" marR="0" indent="-1825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565943" marR="0" indent="-20081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862894" marR="0" indent="-223131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1165423" marR="0" indent="-251023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1493383" marR="0" indent="-286883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19505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24077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28649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33221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</a:t>
            </a:fld>
            <a:endParaRPr/>
          </a:p>
        </p:txBody>
      </p:sp>
      <p:pic>
        <p:nvPicPr>
          <p:cNvPr id="6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341562"/>
            <a:ext cx="6858000" cy="23463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pic>
        <p:nvPicPr>
          <p:cNvPr id="7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450"/>
            <a:ext cx="8918575" cy="1317625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定理5.4.1  设[m1,m2]为m1，m2的最低公倍数。则同余式组…"/>
          <p:cNvSpPr txBox="1">
            <a:spLocks noGrp="1"/>
          </p:cNvSpPr>
          <p:nvPr>
            <p:ph type="body" idx="4294967295"/>
          </p:nvPr>
        </p:nvSpPr>
        <p:spPr>
          <a:xfrm>
            <a:off x="228599" y="1752600"/>
            <a:ext cx="8763002" cy="4495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定理</a:t>
            </a:r>
            <a:r>
              <a:t>5.4.1</a:t>
            </a:r>
            <a:r>
              <a:rPr>
                <a:solidFill>
                  <a:srgbClr val="FFFF00"/>
                </a:solidFill>
              </a:rPr>
              <a:t>  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solidFill>
                  <a:srgbClr val="404040"/>
                </a:solidFill>
              </a:rPr>
              <a:t>[m</a:t>
            </a:r>
            <a:r>
              <a:rPr baseline="-30000">
                <a:solidFill>
                  <a:srgbClr val="404040"/>
                </a:solidFill>
              </a:rPr>
              <a:t>1</a:t>
            </a:r>
            <a:r>
              <a:rPr>
                <a:solidFill>
                  <a:srgbClr val="404040"/>
                </a:solidFill>
              </a:rPr>
              <a:t>,m</a:t>
            </a:r>
            <a:r>
              <a:rPr baseline="-30000">
                <a:solidFill>
                  <a:srgbClr val="404040"/>
                </a:solidFill>
              </a:rPr>
              <a:t>2</a:t>
            </a:r>
            <a:r>
              <a:rPr>
                <a:solidFill>
                  <a:srgbClr val="404040"/>
                </a:solidFill>
              </a:rPr>
              <a:t>]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为</a:t>
            </a:r>
            <a:r>
              <a:rPr>
                <a:solidFill>
                  <a:srgbClr val="404040"/>
                </a:solidFill>
              </a:rPr>
              <a:t>m</a:t>
            </a:r>
            <a:r>
              <a:rPr baseline="-30000">
                <a:solidFill>
                  <a:srgbClr val="404040"/>
                </a:solidFill>
              </a:rPr>
              <a:t>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solidFill>
                  <a:srgbClr val="404040"/>
                </a:solidFill>
              </a:rPr>
              <a:t>m</a:t>
            </a:r>
            <a:r>
              <a:rPr baseline="-30000">
                <a:solidFill>
                  <a:srgbClr val="404040"/>
                </a:solidFill>
              </a:rPr>
              <a:t>2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的最低公倍数。则同余式组</a:t>
            </a:r>
          </a:p>
          <a:p>
            <a:pPr marL="0" indent="0" algn="just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a</a:t>
            </a:r>
            <a:r>
              <a:rPr baseline="-30000"/>
              <a:t>1</a:t>
            </a:r>
            <a:r>
              <a:t> (mod m</a:t>
            </a:r>
            <a:r>
              <a:rPr baseline="-30000"/>
              <a:t>1</a:t>
            </a:r>
            <a:r>
              <a:t>)</a:t>
            </a:r>
          </a:p>
          <a:p>
            <a:pPr marL="0" indent="0" algn="just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a</a:t>
            </a:r>
            <a:r>
              <a:rPr baseline="-30000"/>
              <a:t>2</a:t>
            </a:r>
            <a:r>
              <a:t> (mod m</a:t>
            </a:r>
            <a:r>
              <a:rPr baseline="-30000"/>
              <a:t>2</a:t>
            </a:r>
            <a:r>
              <a:t>) ……………..(</a:t>
            </a:r>
            <a:r>
              <a:rPr>
                <a:solidFill>
                  <a:srgbClr val="212745"/>
                </a:solidFill>
              </a:rPr>
              <a:t>1</a:t>
            </a:r>
            <a:r>
              <a:t>)</a:t>
            </a:r>
          </a:p>
          <a:p>
            <a:pPr marL="0" indent="0" algn="just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在</a:t>
            </a:r>
            <a:r>
              <a:t>mod[m</a:t>
            </a:r>
            <a:r>
              <a:rPr baseline="-30000"/>
              <a:t>1</a:t>
            </a:r>
            <a:r>
              <a:t>,m</a:t>
            </a:r>
            <a:r>
              <a:rPr baseline="-30000"/>
              <a:t>2</a:t>
            </a:r>
            <a:r>
              <a:t>]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下有唯一解的充要条件为 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(m</a:t>
            </a:r>
            <a:r>
              <a:rPr baseline="-30000"/>
              <a:t>1</a:t>
            </a:r>
            <a:r>
              <a:t>,m</a:t>
            </a:r>
            <a:r>
              <a:rPr baseline="-30000"/>
              <a:t>2</a:t>
            </a:r>
            <a:r>
              <a:t>)|(a</a:t>
            </a:r>
            <a:r>
              <a:rPr baseline="-30000"/>
              <a:t>1</a:t>
            </a:r>
            <a:r>
              <a:t>-a</a:t>
            </a:r>
            <a:r>
              <a:rPr baseline="-30000"/>
              <a:t>2</a:t>
            </a:r>
            <a:r>
              <a:t>) ……………………….(</a:t>
            </a:r>
            <a:r>
              <a:rPr>
                <a:solidFill>
                  <a:srgbClr val="212745"/>
                </a:solidFill>
              </a:rPr>
              <a:t>2</a:t>
            </a:r>
            <a: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1" build="p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75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682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必要性。记m1，m2的最高公因数和最低公倍数分别为d，m，即d=(m1,m2)，m=[m1,m2]。若(1)有解x0，则 x0≡a1(mod d)，x0≡a2(mod d)，则a1≡a2(mod d)，从而d|(a1-a2)。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464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楷体_GB2312"/>
                <a:ea typeface="楷体_GB2312"/>
                <a:cs typeface="+mn-cs"/>
                <a:sym typeface="楷体_GB2312"/>
              </a:rPr>
              <a:t>必要性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。记</a:t>
            </a:r>
            <a:r>
              <a:rPr u="none" dirty="0">
                <a:solidFill>
                  <a:srgbClr val="404040"/>
                </a:solidFill>
                <a:cs typeface="+mn-cs"/>
              </a:rPr>
              <a:t>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>
                <a:solidFill>
                  <a:srgbClr val="404040"/>
                </a:solidFill>
                <a:cs typeface="+mn-cs"/>
              </a:rPr>
              <a:t>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的最高公因数和最低公倍数分别为</a:t>
            </a:r>
            <a:r>
              <a:rPr u="none" dirty="0">
                <a:solidFill>
                  <a:srgbClr val="404040"/>
                </a:solidFill>
                <a:cs typeface="+mn-cs"/>
              </a:rPr>
              <a:t>d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>
                <a:solidFill>
                  <a:srgbClr val="404040"/>
                </a:solidFill>
                <a:cs typeface="+mn-cs"/>
              </a:rPr>
              <a:t>m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，即</a:t>
            </a:r>
            <a:r>
              <a:rPr u="none" dirty="0">
                <a:solidFill>
                  <a:srgbClr val="404040"/>
                </a:solidFill>
                <a:cs typeface="+mn-cs"/>
              </a:rPr>
              <a:t>d=(m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,m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>
                <a:solidFill>
                  <a:srgbClr val="404040"/>
                </a:solidFill>
                <a:cs typeface="+mn-cs"/>
              </a:rPr>
              <a:t>m=[m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,m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]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。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若</a:t>
            </a:r>
            <a:r>
              <a:rPr u="none" dirty="0">
                <a:solidFill>
                  <a:srgbClr val="404040"/>
                </a:solidFill>
                <a:cs typeface="+mn-cs"/>
              </a:rPr>
              <a:t>(</a:t>
            </a:r>
            <a:r>
              <a:rPr u="none" dirty="0">
                <a:solidFill>
                  <a:srgbClr val="212745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有解</a:t>
            </a:r>
            <a:r>
              <a:rPr u="none" dirty="0">
                <a:solidFill>
                  <a:srgbClr val="404040"/>
                </a:solidFill>
                <a:cs typeface="+mn-cs"/>
              </a:rPr>
              <a:t>x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0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，则 </a:t>
            </a:r>
            <a:r>
              <a:rPr u="none" dirty="0">
                <a:solidFill>
                  <a:srgbClr val="404040"/>
                </a:solidFill>
                <a:cs typeface="+mn-cs"/>
              </a:rPr>
              <a:t>x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0</a:t>
            </a:r>
            <a:r>
              <a:rPr u="none" dirty="0">
                <a:solidFill>
                  <a:srgbClr val="404040"/>
                </a:solidFill>
                <a:latin typeface="Symbol"/>
                <a:ea typeface="Symbol"/>
                <a:cs typeface="+mn-cs"/>
                <a:sym typeface="Symbol"/>
              </a:rPr>
              <a:t>º</a:t>
            </a:r>
            <a:r>
              <a:rPr u="none" dirty="0">
                <a:solidFill>
                  <a:srgbClr val="404040"/>
                </a:solidFill>
                <a:cs typeface="+mn-cs"/>
              </a:rPr>
              <a:t>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(mod </a:t>
            </a:r>
            <a:r>
              <a:rPr lang="en-US" altLang="zh-CN" u="none" dirty="0">
                <a:solidFill>
                  <a:srgbClr val="404040"/>
                </a:solidFill>
                <a:cs typeface="+mn-cs"/>
              </a:rPr>
              <a:t>m</a:t>
            </a:r>
            <a:r>
              <a:rPr lang="en-US" altLang="zh-CN" u="none" baseline="-25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>
                <a:solidFill>
                  <a:srgbClr val="404040"/>
                </a:solidFill>
                <a:cs typeface="+mn-cs"/>
              </a:rPr>
              <a:t>x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0</a:t>
            </a:r>
            <a:r>
              <a:rPr u="none" dirty="0">
                <a:solidFill>
                  <a:srgbClr val="404040"/>
                </a:solidFill>
                <a:latin typeface="Symbol"/>
                <a:ea typeface="Symbol"/>
                <a:cs typeface="+mn-cs"/>
                <a:sym typeface="Symbol"/>
              </a:rPr>
              <a:t>º</a:t>
            </a:r>
            <a:r>
              <a:rPr u="none" dirty="0">
                <a:solidFill>
                  <a:srgbClr val="404040"/>
                </a:solidFill>
                <a:cs typeface="+mn-cs"/>
              </a:rPr>
              <a:t>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(mod </a:t>
            </a:r>
            <a:r>
              <a:rPr lang="en-US" u="none" dirty="0">
                <a:solidFill>
                  <a:srgbClr val="404040"/>
                </a:solidFill>
                <a:cs typeface="+mn-cs"/>
              </a:rPr>
              <a:t>m</a:t>
            </a:r>
            <a:r>
              <a:rPr lang="en-US" u="none" baseline="-25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lang="zh-CN" altLang="en-US"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即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m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|x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0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-a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, m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2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|x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0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-a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2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, </a:t>
            </a:r>
            <a:r>
              <a:rPr lang="zh-CN" altLang="en-US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即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d|x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0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-a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, d|x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0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-a</a:t>
            </a:r>
            <a:r>
              <a:rPr lang="en-US" altLang="zh-CN" u="none" baseline="-25000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2</a:t>
            </a:r>
            <a:r>
              <a:rPr lang="en-US" altLang="zh-CN" u="none" dirty="0">
                <a:solidFill>
                  <a:srgbClr val="40404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,</a:t>
            </a:r>
            <a:r>
              <a:rPr lang="en-US" altLang="zh-CN" u="none" dirty="0">
                <a:solidFill>
                  <a:srgbClr val="404040"/>
                </a:solidFill>
                <a:latin typeface="Arial" panose="020B0604020202020204" pitchFamily="34" charset="0"/>
                <a:ea typeface="楷体_GB2312"/>
                <a:cs typeface="+mn-cs"/>
                <a:sym typeface="楷体_GB2312"/>
              </a:rPr>
              <a:t> 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则</a:t>
            </a:r>
            <a:r>
              <a:rPr u="none" dirty="0">
                <a:solidFill>
                  <a:srgbClr val="404040"/>
                </a:solidFill>
                <a:cs typeface="+mn-cs"/>
              </a:rPr>
              <a:t>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latin typeface="Symbol"/>
                <a:ea typeface="Symbol"/>
                <a:cs typeface="+mn-cs"/>
                <a:sym typeface="Symbol"/>
              </a:rPr>
              <a:t>º</a:t>
            </a:r>
            <a:r>
              <a:rPr u="none" dirty="0">
                <a:solidFill>
                  <a:srgbClr val="404040"/>
                </a:solidFill>
                <a:cs typeface="+mn-cs"/>
              </a:rPr>
              <a:t>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(mod d)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从而</a:t>
            </a:r>
            <a:r>
              <a:rPr u="none" dirty="0" err="1">
                <a:solidFill>
                  <a:srgbClr val="404040"/>
                </a:solidFill>
                <a:cs typeface="+mn-cs"/>
              </a:rPr>
              <a:t>d</a:t>
            </a:r>
            <a:r>
              <a:rPr u="none" dirty="0">
                <a:solidFill>
                  <a:srgbClr val="404040"/>
                </a:solidFill>
                <a:cs typeface="+mn-cs"/>
              </a:rPr>
              <a:t>|(a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-a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。</a:t>
            </a:r>
          </a:p>
          <a:p>
            <a:pPr marL="0" indent="0">
              <a:spcBef>
                <a:spcPts val="400"/>
              </a:spcBef>
              <a:buSzTx/>
              <a:buNone/>
              <a:defRPr sz="32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none" dirty="0">
              <a:solidFill>
                <a:srgbClr val="404040"/>
              </a:solidFill>
              <a:latin typeface="楷体_GB2312"/>
              <a:ea typeface="楷体_GB2312"/>
              <a:cs typeface="+mn-cs"/>
              <a:sym typeface="楷体_GB2312"/>
            </a:endParaRPr>
          </a:p>
          <a:p>
            <a:pPr marL="0" indent="0">
              <a:spcBef>
                <a:spcPts val="700"/>
              </a:spcBef>
              <a:buSzTx/>
              <a:buNone/>
              <a:defRPr sz="32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latin typeface="楷体_GB2312"/>
                <a:ea typeface="楷体_GB2312"/>
                <a:cs typeface="+mn-cs"/>
                <a:sym typeface="楷体_GB2312"/>
              </a:rPr>
              <a:t>充分性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。若</a:t>
            </a:r>
            <a:r>
              <a:rPr u="none" dirty="0" err="1">
                <a:solidFill>
                  <a:srgbClr val="404040"/>
                </a:solidFill>
                <a:cs typeface="+mn-cs"/>
              </a:rPr>
              <a:t>d</a:t>
            </a:r>
            <a:r>
              <a:rPr u="none" dirty="0">
                <a:solidFill>
                  <a:srgbClr val="404040"/>
                </a:solidFill>
                <a:cs typeface="+mn-cs"/>
              </a:rPr>
              <a:t>|(a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-a</a:t>
            </a:r>
            <a:r>
              <a:rPr u="none" baseline="-30000" dirty="0">
                <a:solidFill>
                  <a:srgbClr val="404040"/>
                </a:solidFill>
                <a:cs typeface="+mn-cs"/>
              </a:rPr>
              <a:t>2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，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往证</a:t>
            </a:r>
            <a:r>
              <a:rPr u="none" dirty="0">
                <a:solidFill>
                  <a:srgbClr val="404040"/>
                </a:solidFill>
                <a:cs typeface="+mn-cs"/>
              </a:rPr>
              <a:t>(</a:t>
            </a:r>
            <a:r>
              <a:rPr u="none" dirty="0">
                <a:solidFill>
                  <a:srgbClr val="212745"/>
                </a:solidFill>
                <a:cs typeface="+mn-cs"/>
              </a:rPr>
              <a:t>1</a:t>
            </a:r>
            <a:r>
              <a:rPr u="none" dirty="0">
                <a:solidFill>
                  <a:srgbClr val="404040"/>
                </a:solidFill>
                <a:cs typeface="+mn-cs"/>
              </a:rPr>
              <a:t>)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在模</a:t>
            </a:r>
            <a:r>
              <a:rPr u="none" dirty="0" err="1">
                <a:solidFill>
                  <a:srgbClr val="404040"/>
                </a:solidFill>
                <a:cs typeface="+mn-cs"/>
              </a:rPr>
              <a:t>m</a:t>
            </a:r>
            <a:r>
              <a:rPr u="none" dirty="0" err="1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下有唯一解</a:t>
            </a:r>
            <a:r>
              <a:rPr u="none" dirty="0">
                <a:solidFill>
                  <a:srgbClr val="404040"/>
                </a:solidFill>
                <a:latin typeface="楷体_GB2312"/>
                <a:ea typeface="楷体_GB2312"/>
                <a:cs typeface="+mn-cs"/>
                <a:sym typeface="楷体_GB231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8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682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因为x≡a1(mod m1)解的形式为 x=a1+m1y，代入(1)的二式中，得 a1+m1y≡a2(mod m2)，即 m1y≡a2-a1 (mod m2)。于是 (m1/d)y≡ (a2-a1)/d (mod m2/d)，且(m1/d,m2/d)=1。由上节的定理5.3.1知，关于模m2/d，y有唯一解y1。因此，x有解 x1=a1+m1y1。…"/>
          <p:cNvSpPr txBox="1">
            <a:spLocks noGrp="1"/>
          </p:cNvSpPr>
          <p:nvPr>
            <p:ph type="body" idx="4294967295"/>
          </p:nvPr>
        </p:nvSpPr>
        <p:spPr>
          <a:xfrm>
            <a:off x="228599" y="1600199"/>
            <a:ext cx="8763002" cy="45720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786384">
              <a:spcBef>
                <a:spcPts val="600"/>
              </a:spcBef>
              <a:buSzTx/>
              <a:buNone/>
              <a:defRPr sz="27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dirty="0"/>
              <a:t>x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/>
              <a:t>a</a:t>
            </a:r>
            <a:r>
              <a:rPr baseline="-33906" dirty="0"/>
              <a:t>1</a:t>
            </a:r>
            <a:r>
              <a:rPr dirty="0"/>
              <a:t>(mod m</a:t>
            </a:r>
            <a:r>
              <a:rPr baseline="-33906" dirty="0"/>
              <a:t>1</a:t>
            </a:r>
            <a:r>
              <a:rPr dirty="0"/>
              <a:t>)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解的形式为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dirty="0"/>
              <a:t>x=a</a:t>
            </a:r>
            <a:r>
              <a:rPr baseline="-33906" dirty="0"/>
              <a:t>1</a:t>
            </a:r>
            <a:r>
              <a:rPr dirty="0"/>
              <a:t>+m</a:t>
            </a:r>
            <a:r>
              <a:rPr baseline="-33906" dirty="0"/>
              <a:t>1</a:t>
            </a:r>
            <a:r>
              <a:rPr dirty="0"/>
              <a:t>y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，代入</a:t>
            </a:r>
            <a:r>
              <a:rPr dirty="0"/>
              <a:t>(</a:t>
            </a:r>
            <a:r>
              <a:rPr dirty="0">
                <a:solidFill>
                  <a:srgbClr val="212745"/>
                </a:solidFill>
              </a:rPr>
              <a:t>1</a:t>
            </a:r>
            <a:r>
              <a:rPr dirty="0"/>
              <a:t>)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的二式中，得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dirty="0"/>
              <a:t>a</a:t>
            </a:r>
            <a:r>
              <a:rPr baseline="-33906" dirty="0"/>
              <a:t>1</a:t>
            </a:r>
            <a:r>
              <a:rPr dirty="0"/>
              <a:t>+m</a:t>
            </a:r>
            <a:r>
              <a:rPr baseline="-33906" dirty="0"/>
              <a:t>1</a:t>
            </a:r>
            <a:r>
              <a:rPr dirty="0"/>
              <a:t>y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/>
              <a:t>a</a:t>
            </a:r>
            <a:r>
              <a:rPr baseline="-33906" dirty="0"/>
              <a:t>2</a:t>
            </a:r>
            <a:r>
              <a:rPr dirty="0"/>
              <a:t>(mod m</a:t>
            </a:r>
            <a:r>
              <a:rPr baseline="-33906" dirty="0"/>
              <a:t>2</a:t>
            </a:r>
            <a:r>
              <a:rPr dirty="0"/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即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dirty="0"/>
              <a:t>m</a:t>
            </a:r>
            <a:r>
              <a:rPr baseline="-33906" dirty="0"/>
              <a:t>1</a:t>
            </a:r>
            <a:r>
              <a:rPr dirty="0"/>
              <a:t>y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/>
              <a:t>a</a:t>
            </a:r>
            <a:r>
              <a:rPr baseline="-33906" dirty="0"/>
              <a:t>2</a:t>
            </a:r>
            <a:r>
              <a:rPr dirty="0"/>
              <a:t>-a</a:t>
            </a:r>
            <a:r>
              <a:rPr baseline="-33906" dirty="0"/>
              <a:t>1</a:t>
            </a:r>
            <a:r>
              <a:rPr dirty="0"/>
              <a:t> (mod m</a:t>
            </a:r>
            <a:r>
              <a:rPr baseline="-33906" dirty="0"/>
              <a:t>2</a:t>
            </a:r>
            <a:r>
              <a:rPr dirty="0"/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于是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dirty="0"/>
              <a:t>(m</a:t>
            </a:r>
            <a:r>
              <a:rPr baseline="-33906" dirty="0"/>
              <a:t>1</a:t>
            </a:r>
            <a:r>
              <a:rPr dirty="0"/>
              <a:t>/d)y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/>
              <a:t> (a</a:t>
            </a:r>
            <a:r>
              <a:rPr baseline="-33906" dirty="0"/>
              <a:t>2</a:t>
            </a:r>
            <a:r>
              <a:rPr dirty="0"/>
              <a:t>-a</a:t>
            </a:r>
            <a:r>
              <a:rPr baseline="-33906" dirty="0"/>
              <a:t>1</a:t>
            </a:r>
            <a:r>
              <a:rPr dirty="0"/>
              <a:t>)/d (mod m</a:t>
            </a:r>
            <a:r>
              <a:rPr baseline="-33906" dirty="0"/>
              <a:t>2</a:t>
            </a:r>
            <a:r>
              <a:rPr dirty="0"/>
              <a:t>/d)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且</a:t>
            </a:r>
            <a:r>
              <a:rPr dirty="0"/>
              <a:t>(m</a:t>
            </a:r>
            <a:r>
              <a:rPr baseline="-33906" dirty="0"/>
              <a:t>1</a:t>
            </a:r>
            <a:r>
              <a:rPr dirty="0"/>
              <a:t>/d,m</a:t>
            </a:r>
            <a:r>
              <a:rPr baseline="-33906" dirty="0"/>
              <a:t>2</a:t>
            </a:r>
            <a:r>
              <a:rPr dirty="0"/>
              <a:t>/d)=1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。由上节的定理</a:t>
            </a:r>
            <a:r>
              <a:rPr dirty="0"/>
              <a:t>5.3.1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知，关于模</a:t>
            </a:r>
            <a:r>
              <a:rPr dirty="0"/>
              <a:t>m</a:t>
            </a:r>
            <a:r>
              <a:rPr baseline="-33906" dirty="0"/>
              <a:t>2</a:t>
            </a:r>
            <a:r>
              <a:rPr dirty="0"/>
              <a:t>/d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/>
              <a:t>y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有唯一解</a:t>
            </a:r>
            <a:r>
              <a:rPr dirty="0"/>
              <a:t>y</a:t>
            </a:r>
            <a:r>
              <a:rPr baseline="-33906" dirty="0"/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。因此，</a:t>
            </a:r>
            <a:r>
              <a:rPr dirty="0"/>
              <a:t>x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有解 </a:t>
            </a:r>
            <a:r>
              <a:rPr dirty="0"/>
              <a:t>x</a:t>
            </a:r>
            <a:r>
              <a:rPr baseline="-33906" dirty="0"/>
              <a:t>1</a:t>
            </a:r>
            <a:r>
              <a:rPr dirty="0"/>
              <a:t>=a</a:t>
            </a:r>
            <a:r>
              <a:rPr baseline="-33906" dirty="0"/>
              <a:t>1</a:t>
            </a:r>
            <a:r>
              <a:rPr dirty="0"/>
              <a:t>+m</a:t>
            </a:r>
            <a:r>
              <a:rPr baseline="-33906" dirty="0"/>
              <a:t>1</a:t>
            </a:r>
            <a:r>
              <a:rPr dirty="0"/>
              <a:t>y</a:t>
            </a:r>
            <a:r>
              <a:rPr baseline="-33906" dirty="0"/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 defTabSz="786384">
              <a:spcBef>
                <a:spcPts val="600"/>
              </a:spcBef>
              <a:buSzTx/>
              <a:buNone/>
              <a:defRPr sz="2752">
                <a:latin typeface="宋体"/>
                <a:ea typeface="宋体"/>
                <a:cs typeface="宋体"/>
                <a:sym typeface="宋体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x”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都是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dirty="0">
                <a:solidFill>
                  <a:srgbClr val="2127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的解，则</a:t>
            </a:r>
            <a:r>
              <a:rPr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x’≡a</a:t>
            </a:r>
            <a:r>
              <a:rPr baseline="-5999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(mod m</a:t>
            </a:r>
            <a:r>
              <a:rPr baseline="-5999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)，x’’≡a</a:t>
            </a:r>
            <a:r>
              <a:rPr baseline="-5999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(mod m</a:t>
            </a:r>
            <a:r>
              <a:rPr baseline="-5999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1</a:t>
            </a:r>
            <a:r>
              <a:rPr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楷体_GB2312"/>
              </a:rPr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则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’-x”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0(mod 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x’-x”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0(mod 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即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|(x’-x”)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|(x’-x”)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从而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|(x’-x”)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即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x’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x”(mod [m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,m</a:t>
            </a:r>
            <a:r>
              <a:rPr baseline="-33906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])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8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98450"/>
            <a:ext cx="7772400" cy="13589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1" name="成组"/>
          <p:cNvGrpSpPr/>
          <p:nvPr/>
        </p:nvGrpSpPr>
        <p:grpSpPr>
          <a:xfrm>
            <a:off x="152399" y="1295400"/>
            <a:ext cx="8763002" cy="4927464"/>
            <a:chOff x="0" y="0"/>
            <a:chExt cx="8763000" cy="4927463"/>
          </a:xfrm>
        </p:grpSpPr>
        <p:sp>
          <p:nvSpPr>
            <p:cNvPr id="88" name="设m1, m2 , …, mk两两互质。a1, a2, …, ak为k个整数，则下列同余式组有解，且在模m1 m2 …mk下解唯一：   x≡a1(mod m1)，   x≡a2(mod m2)，   ....  ... ...，                 x≡ak(mod mk)。"/>
            <p:cNvSpPr txBox="1"/>
            <p:nvPr/>
          </p:nvSpPr>
          <p:spPr>
            <a:xfrm>
              <a:off x="0" y="0"/>
              <a:ext cx="8763001" cy="4927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15000"/>
                </a:lnSpc>
                <a:spcBef>
                  <a:spcPts val="700"/>
                </a:spcBef>
                <a:defRPr sz="3200">
                  <a:latin typeface="+mn-lt"/>
                  <a:ea typeface="+mn-ea"/>
                  <a:cs typeface="+mn-cs"/>
                  <a:sym typeface="Arial"/>
                </a:defRPr>
              </a:pP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设</a:t>
              </a:r>
              <a:r>
                <a:t>m</a:t>
              </a:r>
              <a:r>
                <a:rPr baseline="-30000"/>
                <a:t>1</a:t>
              </a:r>
              <a:r>
                <a:t>, m</a:t>
              </a:r>
              <a:r>
                <a:rPr baseline="-30000"/>
                <a:t>2 </a:t>
              </a:r>
              <a:r>
                <a:t>, …, m</a:t>
              </a:r>
              <a:r>
                <a:rPr baseline="-30000"/>
                <a:t>k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两两互质。</a:t>
              </a:r>
              <a:r>
                <a:t>a</a:t>
              </a:r>
              <a:r>
                <a:rPr baseline="-30000"/>
                <a:t>1</a:t>
              </a:r>
              <a:r>
                <a:t>, a</a:t>
              </a:r>
              <a:r>
                <a:rPr baseline="-30000"/>
                <a:t>2</a:t>
              </a:r>
              <a:r>
                <a:t>, …, a</a:t>
              </a:r>
              <a:r>
                <a:rPr baseline="-30000"/>
                <a:t>k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为</a:t>
              </a:r>
              <a:r>
                <a:t>k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个整数，则下列同余式组有解，且在模</a:t>
              </a:r>
              <a:r>
                <a:t>m</a:t>
              </a:r>
              <a:r>
                <a:rPr baseline="-30000"/>
                <a:t>1 </a:t>
              </a:r>
              <a:r>
                <a:t>m</a:t>
              </a:r>
              <a:r>
                <a:rPr baseline="-30000"/>
                <a:t>2 </a:t>
              </a:r>
              <a:r>
                <a:t>…m</a:t>
              </a:r>
              <a:r>
                <a:rPr baseline="-30000"/>
                <a:t>k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下解唯一：</a:t>
              </a:r>
              <a:br>
                <a:rPr>
                  <a:latin typeface="楷体_GB2312"/>
                  <a:ea typeface="楷体_GB2312"/>
                  <a:cs typeface="楷体_GB2312"/>
                  <a:sym typeface="楷体_GB2312"/>
                </a:rPr>
              </a:br>
              <a:r>
                <a:t>		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a</a:t>
              </a:r>
              <a:r>
                <a:rPr baseline="-30000"/>
                <a:t>1</a:t>
              </a:r>
              <a:r>
                <a:t>(mod m</a:t>
              </a:r>
              <a:r>
                <a:rPr baseline="-30000"/>
                <a:t>1</a:t>
              </a:r>
              <a:r>
                <a:t>)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，</a:t>
              </a:r>
              <a:br>
                <a:rPr>
                  <a:latin typeface="楷体_GB2312"/>
                  <a:ea typeface="楷体_GB2312"/>
                  <a:cs typeface="楷体_GB2312"/>
                  <a:sym typeface="楷体_GB2312"/>
                </a:rPr>
              </a:br>
              <a:r>
                <a:t>		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a</a:t>
              </a:r>
              <a:r>
                <a:rPr baseline="-30000"/>
                <a:t>2</a:t>
              </a:r>
              <a:r>
                <a:t>(mod m</a:t>
              </a:r>
              <a:r>
                <a:rPr baseline="-30000"/>
                <a:t>2</a:t>
              </a:r>
              <a:r>
                <a:t>)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，</a:t>
              </a:r>
              <a:br>
                <a:rPr>
                  <a:latin typeface="楷体_GB2312"/>
                  <a:ea typeface="楷体_GB2312"/>
                  <a:cs typeface="楷体_GB2312"/>
                  <a:sym typeface="楷体_GB2312"/>
                </a:rPr>
              </a:br>
              <a:r>
                <a:t>		....  ... ...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，              </a:t>
              </a:r>
              <a:br>
                <a:rPr>
                  <a:latin typeface="楷体_GB2312"/>
                  <a:ea typeface="楷体_GB2312"/>
                  <a:cs typeface="楷体_GB2312"/>
                  <a:sym typeface="楷体_GB2312"/>
                </a:rPr>
              </a:br>
              <a:r>
                <a:t>		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a</a:t>
              </a:r>
              <a:r>
                <a:rPr baseline="-30000"/>
                <a:t>k</a:t>
              </a:r>
              <a:r>
                <a:t>(mod m</a:t>
              </a:r>
              <a:r>
                <a:rPr baseline="-30000"/>
                <a:t>k</a:t>
              </a:r>
              <a:r>
                <a:t>)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。 </a:t>
              </a:r>
            </a:p>
          </p:txBody>
        </p:sp>
        <p:sp>
          <p:nvSpPr>
            <p:cNvPr id="89" name="线条"/>
            <p:cNvSpPr/>
            <p:nvPr/>
          </p:nvSpPr>
          <p:spPr>
            <a:xfrm>
              <a:off x="4826000" y="2552699"/>
              <a:ext cx="304801" cy="19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8152"/>
                  </a:lnTo>
                  <a:cubicBezTo>
                    <a:pt x="10800" y="9146"/>
                    <a:pt x="15635" y="9952"/>
                    <a:pt x="21600" y="9952"/>
                  </a:cubicBezTo>
                  <a:cubicBezTo>
                    <a:pt x="15635" y="9952"/>
                    <a:pt x="10800" y="10758"/>
                    <a:pt x="10800" y="11752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90" name="(3)"/>
            <p:cNvSpPr txBox="1"/>
            <p:nvPr/>
          </p:nvSpPr>
          <p:spPr>
            <a:xfrm>
              <a:off x="5099050" y="3130549"/>
              <a:ext cx="707788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 b="1"/>
              </a:pPr>
              <a:r>
                <a:t>(</a:t>
              </a:r>
              <a:r>
                <a:rPr>
                  <a:solidFill>
                    <a:srgbClr val="212745"/>
                  </a:solidFill>
                </a:rPr>
                <a:t>3</a:t>
              </a:r>
              <a:r>
                <a:t>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9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6050"/>
            <a:ext cx="7772400" cy="13589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先不讨论普遍情形而先求li，i=1,…,k，使适合下列特殊的合同式：    li≡1(mod mi)，    li≡0(mod mj)，j≠i    (4)"/>
          <p:cNvSpPr txBox="1">
            <a:spLocks noGrp="1"/>
          </p:cNvSpPr>
          <p:nvPr>
            <p:ph type="body" sz="half" idx="4294967295"/>
          </p:nvPr>
        </p:nvSpPr>
        <p:spPr>
          <a:xfrm>
            <a:off x="228599" y="1295400"/>
            <a:ext cx="8763002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68680">
              <a:spcBef>
                <a:spcPts val="700"/>
              </a:spcBef>
              <a:buSzTx/>
              <a:buNone/>
              <a:defRPr sz="30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先不讨论普遍情形而先求</a:t>
            </a:r>
            <a:r>
              <a:t>l</a:t>
            </a:r>
            <a:r>
              <a:rPr baseline="-31263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i=1,…,k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，使适合下列特殊的合同式： 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	l</a:t>
            </a:r>
            <a:r>
              <a:rPr baseline="-31263"/>
              <a:t>i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1(mod m</a:t>
            </a:r>
            <a:r>
              <a:rPr baseline="-31263"/>
              <a:t>i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	l</a:t>
            </a:r>
            <a:r>
              <a:rPr baseline="-31263"/>
              <a:t>i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0(mod m</a:t>
            </a:r>
            <a:r>
              <a:rPr baseline="-31263"/>
              <a:t>j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j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¹</a:t>
            </a:r>
            <a:r>
              <a:t>i 			(</a:t>
            </a:r>
            <a:r>
              <a:rPr>
                <a:solidFill>
                  <a:srgbClr val="212745"/>
                </a:solidFill>
              </a:rPr>
              <a:t>4</a:t>
            </a:r>
            <a:r>
              <a:t>)</a:t>
            </a:r>
          </a:p>
        </p:txBody>
      </p:sp>
      <p:grpSp>
        <p:nvGrpSpPr>
          <p:cNvPr id="99" name="成组"/>
          <p:cNvGrpSpPr/>
          <p:nvPr/>
        </p:nvGrpSpPr>
        <p:grpSpPr>
          <a:xfrm>
            <a:off x="228599" y="3651250"/>
            <a:ext cx="8763002" cy="2381250"/>
            <a:chOff x="0" y="0"/>
            <a:chExt cx="8763000" cy="2381250"/>
          </a:xfrm>
        </p:grpSpPr>
        <p:sp>
          <p:nvSpPr>
            <p:cNvPr id="96" name="今j≠i时，mi和mj互质，故mi和      互质，从而由上节定理5.3.1，有ci使"/>
            <p:cNvSpPr txBox="1"/>
            <p:nvPr/>
          </p:nvSpPr>
          <p:spPr>
            <a:xfrm>
              <a:off x="-1" y="6350"/>
              <a:ext cx="8763002" cy="1338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just">
                <a:spcBef>
                  <a:spcPts val="700"/>
                </a:spcBef>
                <a:defRPr sz="3200">
                  <a:latin typeface="+mn-lt"/>
                  <a:ea typeface="+mn-ea"/>
                  <a:cs typeface="+mn-cs"/>
                  <a:sym typeface="Arial"/>
                </a:defRPr>
              </a:pP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今</a:t>
              </a:r>
              <a:r>
                <a:t>j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¹</a:t>
              </a:r>
              <a:r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时，</a:t>
              </a:r>
              <a:r>
                <a:t>m</a:t>
              </a:r>
              <a:r>
                <a:rPr baseline="-30000"/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和</a:t>
              </a:r>
              <a:r>
                <a:t>m</a:t>
              </a:r>
              <a:r>
                <a:rPr baseline="-30000"/>
                <a:t>j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互质，故</a:t>
              </a:r>
              <a:r>
                <a:t>m</a:t>
              </a:r>
              <a:r>
                <a:rPr baseline="-30000"/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和      互质，从而由上节定理</a:t>
              </a:r>
              <a:r>
                <a:t>5.3.1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，有</a:t>
              </a:r>
              <a:r>
                <a:t>c</a:t>
              </a:r>
              <a:r>
                <a:rPr baseline="-30000"/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使</a:t>
              </a:r>
            </a:p>
          </p:txBody>
        </p:sp>
        <p:pic>
          <p:nvPicPr>
            <p:cNvPr id="97" name="image.pdf" descr="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3537" y="0"/>
              <a:ext cx="804863" cy="8445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" name="image.pdf" descr="image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8400" y="1149350"/>
              <a:ext cx="3559175" cy="1231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04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3589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8" name="成组"/>
          <p:cNvGrpSpPr/>
          <p:nvPr/>
        </p:nvGrpSpPr>
        <p:grpSpPr>
          <a:xfrm>
            <a:off x="228599" y="1676400"/>
            <a:ext cx="8763002" cy="2914602"/>
            <a:chOff x="0" y="0"/>
            <a:chExt cx="8763000" cy="2914601"/>
          </a:xfrm>
        </p:grpSpPr>
        <p:sp>
          <p:nvSpPr>
            <p:cNvPr id="105" name="取                  ，则li适合(4)。今取…"/>
            <p:cNvSpPr txBox="1"/>
            <p:nvPr/>
          </p:nvSpPr>
          <p:spPr>
            <a:xfrm>
              <a:off x="0" y="228600"/>
              <a:ext cx="8763001" cy="2686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700"/>
                </a:spcBef>
                <a:defRPr sz="3200">
                  <a:latin typeface="+mn-lt"/>
                  <a:ea typeface="+mn-ea"/>
                  <a:cs typeface="+mn-cs"/>
                  <a:sym typeface="Arial"/>
                </a:defRPr>
              </a:pP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取                  ，则</a:t>
              </a:r>
              <a:r>
                <a:rPr i="1"/>
                <a:t>l</a:t>
              </a:r>
              <a:r>
                <a:rPr i="1" baseline="-30000"/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适合</a:t>
              </a:r>
              <a:r>
                <a:t>(</a:t>
              </a:r>
              <a:r>
                <a:rPr>
                  <a:solidFill>
                    <a:srgbClr val="212745"/>
                  </a:solidFill>
                </a:rPr>
                <a:t>4</a:t>
              </a:r>
              <a:r>
                <a:t>)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。今取</a:t>
              </a:r>
            </a:p>
            <a:p>
              <a:pPr algn="just">
                <a:spcBef>
                  <a:spcPts val="700"/>
                </a:spcBef>
                <a:defRPr sz="3200">
                  <a:latin typeface="+mn-lt"/>
                  <a:ea typeface="+mn-ea"/>
                  <a:cs typeface="+mn-cs"/>
                  <a:sym typeface="Arial"/>
                </a:defRPr>
              </a:pPr>
              <a:r>
                <a:t>		</a:t>
              </a:r>
              <a:r>
                <a:rPr i="1"/>
                <a:t>x=a</a:t>
              </a:r>
              <a:r>
                <a:rPr baseline="-30000"/>
                <a:t>1</a:t>
              </a:r>
              <a:r>
                <a:rPr i="1"/>
                <a:t>l</a:t>
              </a:r>
              <a:r>
                <a:rPr baseline="-30000"/>
                <a:t>1</a:t>
              </a:r>
              <a:r>
                <a:rPr i="1"/>
                <a:t>+…+a</a:t>
              </a:r>
              <a:r>
                <a:rPr baseline="-30000"/>
                <a:t>k</a:t>
              </a:r>
              <a:r>
                <a:rPr i="1"/>
                <a:t>l</a:t>
              </a:r>
              <a:r>
                <a:rPr baseline="-30000"/>
                <a:t>k</a:t>
              </a:r>
              <a:r>
                <a:t>              (</a:t>
              </a:r>
              <a:r>
                <a:rPr>
                  <a:solidFill>
                    <a:srgbClr val="212745"/>
                  </a:solidFill>
                </a:rPr>
                <a:t>5</a:t>
              </a:r>
              <a:r>
                <a:t>)</a:t>
              </a:r>
            </a:p>
            <a:p>
              <a:pPr>
                <a:spcBef>
                  <a:spcPts val="700"/>
                </a:spcBef>
                <a:defRPr sz="3200">
                  <a:latin typeface="+mn-lt"/>
                  <a:ea typeface="+mn-ea"/>
                  <a:cs typeface="+mn-cs"/>
                  <a:sym typeface="Arial"/>
                </a:defRPr>
              </a:pP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则模</a:t>
              </a:r>
              <a:r>
                <a:t>m</a:t>
              </a:r>
              <a:r>
                <a:rPr baseline="-30000"/>
                <a:t>i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，					           ，故</a:t>
              </a:r>
              <a:r>
                <a:rPr i="1"/>
                <a:t>x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适合</a:t>
              </a:r>
              <a:r>
                <a:t>(</a:t>
              </a:r>
              <a:r>
                <a:rPr>
                  <a:solidFill>
                    <a:srgbClr val="212745"/>
                  </a:solidFill>
                </a:rPr>
                <a:t>3</a:t>
              </a:r>
              <a:r>
                <a:t>)</a:t>
              </a:r>
              <a:r>
                <a:rPr>
                  <a:latin typeface="楷体_GB2312"/>
                  <a:ea typeface="楷体_GB2312"/>
                  <a:cs typeface="楷体_GB2312"/>
                  <a:sym typeface="楷体_GB2312"/>
                </a:rPr>
                <a:t>。 </a:t>
              </a:r>
            </a:p>
          </p:txBody>
        </p:sp>
        <p:pic>
          <p:nvPicPr>
            <p:cNvPr id="106" name="image.pdf" descr="imag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962" y="0"/>
              <a:ext cx="1849439" cy="11001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" name="image.pdf" descr="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3862" y="1638300"/>
              <a:ext cx="4859339" cy="996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1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6050"/>
            <a:ext cx="7772400" cy="13589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现在证唯一性。若x，x′都适合(3)，则x≡x′(mod mi)，i=1,…,k，故由§5.2定理5.2.4，…"/>
          <p:cNvSpPr txBox="1">
            <a:spLocks noGrp="1"/>
          </p:cNvSpPr>
          <p:nvPr>
            <p:ph type="body" idx="4294967295"/>
          </p:nvPr>
        </p:nvSpPr>
        <p:spPr>
          <a:xfrm>
            <a:off x="228599" y="1371600"/>
            <a:ext cx="8763002" cy="426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现在证唯一性。若</a:t>
            </a:r>
            <a: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都适合</a:t>
            </a:r>
            <a:r>
              <a:t>(</a:t>
            </a:r>
            <a:r>
              <a:rPr>
                <a:solidFill>
                  <a:srgbClr val="212745"/>
                </a:solidFill>
              </a:rPr>
              <a:t>3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t>x≡x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(mod m</a:t>
            </a:r>
            <a:r>
              <a:rPr baseline="-30000"/>
              <a:t>i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i=1,…,k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，故由</a:t>
            </a:r>
            <a:r>
              <a:t>§5.2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定理</a:t>
            </a:r>
            <a:r>
              <a:t>5.2.4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</a:p>
          <a:p>
            <a:pPr marL="0" indent="0" algn="ctr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x≡x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 (mod m</a:t>
            </a:r>
            <a:r>
              <a:rPr baseline="-30000"/>
              <a:t>1</a:t>
            </a:r>
            <a:r>
              <a:t>…m</a:t>
            </a:r>
            <a:r>
              <a:rPr baseline="-30000"/>
              <a:t>k</a:t>
            </a:r>
            <a:r>
              <a:t>)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使用了构造性证明方法，先构造一些满足局部合同式的局部解，再把这些局部解合起来构造成整体解。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1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1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71475"/>
            <a:ext cx="7772400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这里的局部合同式就是(3)中每一个同余式，即构造yi，使得yi≡ai(mod mi)，而yi对其余合同式无影响，即yi≡0(mod mj)，j≠i。特别构造li使得(4)成立。若li已得到，则令yi=aili，于是yi满足   yi≡ai(mod mi)   yi≡0(mod mj)      j≠i…"/>
          <p:cNvSpPr txBox="1">
            <a:spLocks noGrp="1"/>
          </p:cNvSpPr>
          <p:nvPr>
            <p:ph type="body" idx="4294967295"/>
          </p:nvPr>
        </p:nvSpPr>
        <p:spPr>
          <a:xfrm>
            <a:off x="228599" y="1752600"/>
            <a:ext cx="8763002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41247">
              <a:spcBef>
                <a:spcPts val="700"/>
              </a:spcBef>
              <a:buSzTx/>
              <a:buNone/>
              <a:defRPr sz="294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这里的局部合同式就是</a:t>
            </a:r>
            <a:r>
              <a:t>(</a:t>
            </a:r>
            <a:r>
              <a:rPr>
                <a:solidFill>
                  <a:srgbClr val="212745"/>
                </a:solidFill>
              </a:rPr>
              <a:t>3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中每一个同余式，即构造</a:t>
            </a:r>
            <a:r>
              <a:t>y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，使得</a:t>
            </a:r>
            <a:r>
              <a:t>y</a:t>
            </a:r>
            <a:r>
              <a:rPr baseline="-32086"/>
              <a:t>i</a:t>
            </a:r>
            <a:r>
              <a:t>≡</a:t>
            </a:r>
            <a:r>
              <a:rPr i="1"/>
              <a:t>a</a:t>
            </a:r>
            <a:r>
              <a:rPr baseline="-32086"/>
              <a:t>i</a:t>
            </a:r>
            <a:r>
              <a:t>(mod </a:t>
            </a:r>
            <a:r>
              <a:rPr i="1"/>
              <a:t>m</a:t>
            </a:r>
            <a:r>
              <a:rPr baseline="-32086"/>
              <a:t>i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，而</a:t>
            </a:r>
            <a:r>
              <a:t>y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对其余合同式无影响，即</a:t>
            </a:r>
            <a:r>
              <a:t>y</a:t>
            </a:r>
            <a:r>
              <a:rPr baseline="-32086"/>
              <a:t>i</a:t>
            </a:r>
            <a:r>
              <a:t>≡0(mod </a:t>
            </a:r>
            <a:r>
              <a:rPr i="1"/>
              <a:t>m</a:t>
            </a:r>
            <a:r>
              <a:rPr baseline="-32086"/>
              <a:t>j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/>
              <a:t>j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¹</a:t>
            </a:r>
            <a:r>
              <a:rPr i="1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。特别构造</a:t>
            </a:r>
            <a:r>
              <a:rPr i="1"/>
              <a:t>l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使得</a:t>
            </a:r>
            <a:r>
              <a:t>(</a:t>
            </a:r>
            <a:r>
              <a:rPr>
                <a:solidFill>
                  <a:srgbClr val="212745"/>
                </a:solidFill>
              </a:rPr>
              <a:t>4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成立。若</a:t>
            </a:r>
            <a:r>
              <a:rPr i="1"/>
              <a:t>l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已得到，则令</a:t>
            </a:r>
            <a:r>
              <a:t>y</a:t>
            </a:r>
            <a:r>
              <a:rPr baseline="-32086"/>
              <a:t>i</a:t>
            </a:r>
            <a:r>
              <a:t>=</a:t>
            </a:r>
            <a:r>
              <a:rPr i="1"/>
              <a:t>a</a:t>
            </a:r>
            <a:r>
              <a:rPr baseline="-32086"/>
              <a:t>i</a:t>
            </a:r>
            <a:r>
              <a:rPr i="1"/>
              <a:t>l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，于是</a:t>
            </a:r>
            <a:r>
              <a:t>y</a:t>
            </a:r>
            <a:r>
              <a:rPr baseline="-3208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满足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	y</a:t>
            </a:r>
            <a:r>
              <a:rPr baseline="-32086"/>
              <a:t>i</a:t>
            </a:r>
            <a:r>
              <a:t>≡</a:t>
            </a:r>
            <a:r>
              <a:rPr i="1"/>
              <a:t>a</a:t>
            </a:r>
            <a:r>
              <a:rPr baseline="-32086"/>
              <a:t>i</a:t>
            </a:r>
            <a:r>
              <a:t>(mod </a:t>
            </a:r>
            <a:r>
              <a:rPr i="1"/>
              <a:t>m</a:t>
            </a:r>
            <a:r>
              <a:rPr baseline="-32086"/>
              <a:t>i</a:t>
            </a:r>
            <a:r>
              <a:t>)</a:t>
            </a:r>
            <a:br/>
            <a:r>
              <a:t>		y</a:t>
            </a:r>
            <a:r>
              <a:rPr baseline="-32086"/>
              <a:t>i</a:t>
            </a:r>
            <a:r>
              <a:t>≡0(mod </a:t>
            </a:r>
            <a:r>
              <a:rPr i="1"/>
              <a:t>m</a:t>
            </a:r>
            <a:r>
              <a:rPr baseline="-32086"/>
              <a:t>j</a:t>
            </a:r>
            <a:r>
              <a:t>)      j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¹</a:t>
            </a:r>
            <a:r>
              <a:t>i</a:t>
            </a:r>
          </a:p>
          <a:p>
            <a:pPr marL="0" indent="0" defTabSz="841247">
              <a:spcBef>
                <a:spcPts val="700"/>
              </a:spcBef>
              <a:buSzTx/>
              <a:buNone/>
              <a:defRPr sz="2944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再令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=y</a:t>
            </a:r>
            <a:r>
              <a:rPr baseline="-3208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+…+y</a:t>
            </a:r>
            <a:r>
              <a:rPr baseline="-3208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为所求。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2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58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求x满足同余式组： x≡1(mod 4) x≡2(mod 5) x≡3(mod 7)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464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求</a:t>
            </a:r>
            <a:r>
              <a:rPr i="1" dirty="0" err="1"/>
              <a:t>x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满足同余式组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br>
              <a:rPr dirty="0"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i="1" dirty="0"/>
              <a:t>x</a:t>
            </a:r>
            <a:r>
              <a:rPr dirty="0"/>
              <a:t>≡1(mod 4)</a:t>
            </a:r>
            <a:br>
              <a:rPr dirty="0"/>
            </a:br>
            <a:r>
              <a:rPr i="1" dirty="0"/>
              <a:t>x</a:t>
            </a:r>
            <a:r>
              <a:rPr dirty="0"/>
              <a:t>≡2(mod 5)</a:t>
            </a:r>
            <a:br>
              <a:rPr dirty="0"/>
            </a:br>
            <a:r>
              <a:rPr i="1" dirty="0"/>
              <a:t>x</a:t>
            </a:r>
            <a:r>
              <a:rPr lang="zh-CN" altLang="en-US" dirty="0"/>
              <a:t>≡</a:t>
            </a:r>
            <a:r>
              <a:rPr dirty="0"/>
              <a:t>3(mod 7) 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solidFill>
                  <a:srgbClr val="212745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解：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因为模</a:t>
            </a:r>
            <a:r>
              <a:rPr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两两互质，所以可以用上述定理的构造性证明过程求解。先求</a:t>
            </a:r>
            <a:r>
              <a:rPr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300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300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300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使得</a:t>
            </a:r>
            <a:r>
              <a:rPr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125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58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l1≡1(mod 4)  l2≡1(mod 5)  l3≡1(mod 7) l1≡0(mod 5) l2≡0(mod 4) l3≡0(mod 4)  l1≡0(mod 7)  l2≡0(mod 7)   l3≡0(mod 5)…"/>
          <p:cNvSpPr txBox="1">
            <a:spLocks noGrp="1"/>
          </p:cNvSpPr>
          <p:nvPr>
            <p:ph type="body" idx="4294967295"/>
          </p:nvPr>
        </p:nvSpPr>
        <p:spPr>
          <a:xfrm>
            <a:off x="228599" y="1371599"/>
            <a:ext cx="8763002" cy="45720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tabLst>
                <a:tab pos="2946400" algn="l"/>
                <a:tab pos="5994400" algn="l"/>
              </a:tabLst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</a:t>
            </a:r>
            <a:r>
              <a:rPr i="0" baseline="-30000" dirty="0"/>
              <a:t>1</a:t>
            </a:r>
            <a:r>
              <a:rPr i="0" dirty="0"/>
              <a:t>≡1(mod 4) 	</a:t>
            </a:r>
            <a:r>
              <a:rPr dirty="0"/>
              <a:t>l</a:t>
            </a:r>
            <a:r>
              <a:rPr i="0" baseline="-30000" dirty="0"/>
              <a:t>2</a:t>
            </a:r>
            <a:r>
              <a:rPr i="0" dirty="0"/>
              <a:t>≡1(mod 5) 	</a:t>
            </a:r>
            <a:r>
              <a:rPr dirty="0"/>
              <a:t>l</a:t>
            </a:r>
            <a:r>
              <a:rPr i="0" baseline="-30000" dirty="0"/>
              <a:t>3</a:t>
            </a:r>
            <a:r>
              <a:rPr i="0" dirty="0"/>
              <a:t>≡1(mod 7) </a:t>
            </a:r>
            <a:r>
              <a:rPr dirty="0"/>
              <a:t>l</a:t>
            </a:r>
            <a:r>
              <a:rPr i="0" baseline="-30000" dirty="0"/>
              <a:t>1</a:t>
            </a:r>
            <a:r>
              <a:rPr i="0" dirty="0"/>
              <a:t>≡0(mod 5)	</a:t>
            </a:r>
            <a:r>
              <a:rPr dirty="0"/>
              <a:t>l</a:t>
            </a:r>
            <a:r>
              <a:rPr i="0" baseline="-30000" dirty="0"/>
              <a:t>2</a:t>
            </a:r>
            <a:r>
              <a:rPr i="0" dirty="0"/>
              <a:t>≡0(mod 4)	</a:t>
            </a:r>
            <a:r>
              <a:rPr dirty="0"/>
              <a:t>l</a:t>
            </a:r>
            <a:r>
              <a:rPr i="0" baseline="-30000" dirty="0"/>
              <a:t>3</a:t>
            </a:r>
            <a:r>
              <a:rPr i="0" dirty="0"/>
              <a:t>≡0(mod 4) </a:t>
            </a:r>
            <a:br>
              <a:rPr i="0" dirty="0"/>
            </a:br>
            <a:r>
              <a:rPr dirty="0"/>
              <a:t>l</a:t>
            </a:r>
            <a:r>
              <a:rPr i="0" baseline="-30000" dirty="0"/>
              <a:t>1</a:t>
            </a:r>
            <a:r>
              <a:rPr i="0" dirty="0">
                <a:latin typeface="宋体"/>
                <a:ea typeface="宋体"/>
                <a:cs typeface="宋体"/>
                <a:sym typeface="宋体"/>
              </a:rPr>
              <a:t>≡</a:t>
            </a:r>
            <a:r>
              <a:rPr i="0" dirty="0"/>
              <a:t>0(mod 7) 	</a:t>
            </a:r>
            <a:r>
              <a:rPr dirty="0"/>
              <a:t>l</a:t>
            </a:r>
            <a:r>
              <a:rPr i="0" baseline="-30000" dirty="0"/>
              <a:t>2</a:t>
            </a:r>
            <a:r>
              <a:rPr i="0" dirty="0">
                <a:latin typeface="宋体"/>
                <a:ea typeface="宋体"/>
                <a:cs typeface="宋体"/>
                <a:sym typeface="宋体"/>
              </a:rPr>
              <a:t>≡</a:t>
            </a:r>
            <a:r>
              <a:rPr i="0" dirty="0"/>
              <a:t>0(mod 7)  	</a:t>
            </a:r>
            <a:r>
              <a:rPr dirty="0"/>
              <a:t>l</a:t>
            </a:r>
            <a:r>
              <a:rPr i="0" baseline="-30000" dirty="0"/>
              <a:t>3</a:t>
            </a:r>
            <a:r>
              <a:rPr i="0" dirty="0">
                <a:latin typeface="宋体"/>
                <a:ea typeface="宋体"/>
                <a:cs typeface="宋体"/>
                <a:sym typeface="宋体"/>
              </a:rPr>
              <a:t>≡</a:t>
            </a:r>
            <a:r>
              <a:rPr i="0" dirty="0"/>
              <a:t>0(mod 5) </a:t>
            </a:r>
          </a:p>
          <a:p>
            <a:pPr marL="0" indent="0">
              <a:spcBef>
                <a:spcPts val="700"/>
              </a:spcBef>
              <a:buSzTx/>
              <a:buNone/>
              <a:tabLst>
                <a:tab pos="2946400" algn="l"/>
                <a:tab pos="5994400" algn="l"/>
              </a:tabLst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得</a:t>
            </a:r>
            <a:r>
              <a:rPr i="1" dirty="0"/>
              <a:t>l</a:t>
            </a:r>
            <a:r>
              <a:rPr baseline="-30000" dirty="0"/>
              <a:t>1</a:t>
            </a:r>
            <a:r>
              <a:rPr dirty="0"/>
              <a:t>=35</a:t>
            </a:r>
            <a:r>
              <a:rPr i="1" dirty="0"/>
              <a:t>c</a:t>
            </a:r>
            <a:r>
              <a:rPr baseline="-30000" dirty="0"/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 dirty="0"/>
              <a:t>l</a:t>
            </a:r>
            <a:r>
              <a:rPr baseline="-30000" dirty="0"/>
              <a:t>2</a:t>
            </a:r>
            <a:r>
              <a:rPr dirty="0"/>
              <a:t>=28</a:t>
            </a:r>
            <a:r>
              <a:rPr i="1" dirty="0"/>
              <a:t>c</a:t>
            </a:r>
            <a:r>
              <a:rPr baseline="-30000" dirty="0"/>
              <a:t>2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 dirty="0"/>
              <a:t>l</a:t>
            </a:r>
            <a:r>
              <a:rPr baseline="-30000" dirty="0"/>
              <a:t>3</a:t>
            </a:r>
            <a:r>
              <a:rPr dirty="0"/>
              <a:t>=20</a:t>
            </a:r>
            <a:r>
              <a:rPr i="1" dirty="0"/>
              <a:t>c</a:t>
            </a:r>
            <a:r>
              <a:rPr baseline="-30000" dirty="0"/>
              <a:t>3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 dirty="0"/>
              <a:t>c</a:t>
            </a:r>
            <a:r>
              <a:rPr baseline="-30000" dirty="0"/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满足</a:t>
            </a:r>
            <a:r>
              <a:rPr dirty="0"/>
              <a:t>35</a:t>
            </a:r>
            <a:r>
              <a:rPr i="1" dirty="0"/>
              <a:t>c</a:t>
            </a:r>
            <a:r>
              <a:rPr baseline="-30000" dirty="0"/>
              <a:t>1</a:t>
            </a:r>
            <a:r>
              <a:rPr dirty="0"/>
              <a:t>≡1(mod 4)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lang="en-US" dirty="0" err="1"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lang="zh-CN" altLang="en-US"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r>
              <a:rPr lang="en" altLang="zh-CN" dirty="0"/>
              <a:t> 35</a:t>
            </a:r>
            <a:r>
              <a:rPr lang="en" altLang="zh-CN" i="1" dirty="0"/>
              <a:t>c</a:t>
            </a:r>
            <a:r>
              <a:rPr lang="en" altLang="zh-CN" baseline="-30000" dirty="0"/>
              <a:t>1</a:t>
            </a:r>
            <a:r>
              <a:rPr lang="en" altLang="zh-CN" dirty="0"/>
              <a:t>≡</a:t>
            </a:r>
            <a:r>
              <a:rPr lang="en-US" altLang="zh-CN" dirty="0"/>
              <a:t>3</a:t>
            </a:r>
            <a:r>
              <a:rPr lang="en" altLang="zh-CN" i="1" dirty="0"/>
              <a:t>c</a:t>
            </a:r>
            <a:r>
              <a:rPr lang="en" altLang="zh-CN" baseline="-30000" dirty="0"/>
              <a:t>1</a:t>
            </a:r>
            <a:r>
              <a:rPr lang="en" altLang="zh-CN" dirty="0"/>
              <a:t>(mod 4)</a:t>
            </a:r>
            <a:r>
              <a:rPr lang="zh-CN" altLang="en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即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dirty="0"/>
              <a:t>3</a:t>
            </a:r>
            <a:r>
              <a:rPr i="1" dirty="0"/>
              <a:t>c</a:t>
            </a:r>
            <a:r>
              <a:rPr baseline="-30000" dirty="0"/>
              <a:t>1</a:t>
            </a:r>
            <a:r>
              <a:rPr dirty="0"/>
              <a:t>≡1(mod 4)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从而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</a:t>
            </a:r>
            <a:r>
              <a:rPr i="1" dirty="0"/>
              <a:t>c</a:t>
            </a:r>
            <a:r>
              <a:rPr baseline="-30000" dirty="0"/>
              <a:t>1</a:t>
            </a:r>
            <a:r>
              <a:rPr dirty="0"/>
              <a:t>≡3(mod 4)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。故</a:t>
            </a:r>
            <a:r>
              <a:rPr i="1" dirty="0"/>
              <a:t>l</a:t>
            </a:r>
            <a:r>
              <a:rPr baseline="-30000" dirty="0"/>
              <a:t>1</a:t>
            </a:r>
            <a:r>
              <a:rPr dirty="0"/>
              <a:t>=105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。同理得</a:t>
            </a:r>
            <a:r>
              <a:rPr dirty="0"/>
              <a:t>, </a:t>
            </a:r>
            <a:r>
              <a:rPr i="1" dirty="0"/>
              <a:t>c</a:t>
            </a:r>
            <a:r>
              <a:rPr lang="en-US" altLang="zh-CN" baseline="-30000" dirty="0"/>
              <a:t>2</a:t>
            </a:r>
            <a:r>
              <a:rPr dirty="0"/>
              <a:t>=2, </a:t>
            </a:r>
            <a:r>
              <a:rPr i="1" dirty="0"/>
              <a:t>l</a:t>
            </a:r>
            <a:r>
              <a:rPr baseline="-30000" dirty="0"/>
              <a:t>2</a:t>
            </a:r>
            <a:r>
              <a:rPr dirty="0"/>
              <a:t>=56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i="1" dirty="0"/>
              <a:t>c</a:t>
            </a:r>
            <a:r>
              <a:rPr baseline="-30000" dirty="0"/>
              <a:t>3</a:t>
            </a:r>
            <a:r>
              <a:rPr dirty="0"/>
              <a:t> =6,  </a:t>
            </a:r>
            <a:r>
              <a:rPr i="1" dirty="0"/>
              <a:t>l</a:t>
            </a:r>
            <a:r>
              <a:rPr baseline="-30000" dirty="0"/>
              <a:t>3</a:t>
            </a:r>
            <a:r>
              <a:rPr dirty="0"/>
              <a:t>=120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>
              <a:spcBef>
                <a:spcPts val="700"/>
              </a:spcBef>
              <a:buSzTx/>
              <a:buNone/>
              <a:tabLst>
                <a:tab pos="2946400" algn="l"/>
                <a:tab pos="5994400" algn="l"/>
              </a:tabLst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于是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dirty="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=1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105+2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56+3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120=577</a:t>
            </a:r>
            <a:r>
              <a:rPr dirty="0"/>
              <a:t>≡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17(mod 140)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98450"/>
            <a:ext cx="8766175" cy="1317625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在(5)中，让a1经过mod m1的一个完全剩余系变化，…，ak经过mod mk的一个完全剩余系统变化，这样，我们共得到m1…mk个x 。设…"/>
          <p:cNvSpPr txBox="1">
            <a:spLocks noGrp="1"/>
          </p:cNvSpPr>
          <p:nvPr>
            <p:ph type="body" idx="4294967295"/>
          </p:nvPr>
        </p:nvSpPr>
        <p:spPr>
          <a:xfrm>
            <a:off x="304800" y="1524000"/>
            <a:ext cx="8610600" cy="426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在</a:t>
            </a:r>
            <a:r>
              <a:t>(</a:t>
            </a:r>
            <a:r>
              <a:rPr>
                <a:solidFill>
                  <a:srgbClr val="212745"/>
                </a:solidFill>
              </a:rPr>
              <a:t>5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中，让</a:t>
            </a:r>
            <a:r>
              <a:rPr i="1"/>
              <a:t>a</a:t>
            </a:r>
            <a:r>
              <a:rPr baseline="-30000"/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经过</a:t>
            </a:r>
            <a:r>
              <a:t>mod m</a:t>
            </a:r>
            <a:r>
              <a:rPr baseline="-30000"/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的一个完全剩余系变化，</a:t>
            </a:r>
            <a:r>
              <a:t>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i="1"/>
              <a:t>a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经过</a:t>
            </a:r>
            <a:r>
              <a:t>mod m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的一个完全剩余系统变化，这样，我们共得到</a:t>
            </a:r>
            <a:r>
              <a:t>m</a:t>
            </a:r>
            <a:r>
              <a:rPr baseline="-30000"/>
              <a:t>1</a:t>
            </a:r>
            <a:r>
              <a:t>…m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</a:t>
            </a:r>
            <a:r>
              <a:rPr i="1"/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 。设</a:t>
            </a:r>
          </a:p>
          <a:p>
            <a:pPr marL="0" indent="0" algn="just">
              <a:spcBef>
                <a:spcPts val="700"/>
              </a:spcBef>
              <a:buSzTx/>
              <a:buNone/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 i="0"/>
              <a:t>=</a:t>
            </a:r>
            <a:r>
              <a:t>a</a:t>
            </a:r>
            <a:r>
              <a:rPr i="0" baseline="-30000"/>
              <a:t>1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 i="0"/>
              <a:t>l</a:t>
            </a:r>
            <a:r>
              <a:rPr i="0" baseline="-30000"/>
              <a:t>1</a:t>
            </a:r>
            <a:r>
              <a:rPr i="0"/>
              <a:t>+…+</a:t>
            </a:r>
            <a:r>
              <a:t>a</a:t>
            </a:r>
            <a:r>
              <a:rPr i="0" baseline="-30000"/>
              <a:t>k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 i="0"/>
              <a:t>l</a:t>
            </a:r>
            <a:r>
              <a:rPr i="0" baseline="-30000"/>
              <a:t>k</a:t>
            </a:r>
            <a:r>
              <a:rPr i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</a:p>
          <a:p>
            <a:pPr marL="0" indent="0" algn="just">
              <a:spcBef>
                <a:spcPts val="700"/>
              </a:spcBef>
              <a:buSzTx/>
              <a:buNone/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</a:t>
            </a:r>
            <a:r>
              <a:rPr i="0"/>
              <a:t>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²</a:t>
            </a:r>
            <a:r>
              <a:rPr i="0"/>
              <a:t>=</a:t>
            </a:r>
            <a:r>
              <a:t>a</a:t>
            </a:r>
            <a:r>
              <a:rPr i="0" baseline="-30000"/>
              <a:t>1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²</a:t>
            </a:r>
            <a:r>
              <a:rPr i="0"/>
              <a:t>l</a:t>
            </a:r>
            <a:r>
              <a:rPr i="0" baseline="-30000"/>
              <a:t>1</a:t>
            </a:r>
            <a:r>
              <a:rPr i="0"/>
              <a:t>+…+</a:t>
            </a:r>
            <a:r>
              <a:t>a</a:t>
            </a:r>
            <a:r>
              <a:rPr i="0" baseline="-30000"/>
              <a:t>k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²</a:t>
            </a:r>
            <a:r>
              <a:rPr i="0"/>
              <a:t>l</a:t>
            </a:r>
            <a:r>
              <a:rPr i="0" baseline="-30000"/>
              <a:t>k</a:t>
            </a:r>
            <a:r>
              <a:rPr i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是两个这样的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853108" y="6579576"/>
            <a:ext cx="282735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13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98450"/>
            <a:ext cx="8766175" cy="13176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0" name="成组"/>
          <p:cNvGrpSpPr/>
          <p:nvPr/>
        </p:nvGrpSpPr>
        <p:grpSpPr>
          <a:xfrm>
            <a:off x="266700" y="1233303"/>
            <a:ext cx="8610600" cy="4024534"/>
            <a:chOff x="0" y="0"/>
            <a:chExt cx="8610600" cy="4024533"/>
          </a:xfrm>
        </p:grpSpPr>
        <p:sp>
          <p:nvSpPr>
            <p:cNvPr id="138" name="于是，  x′≡ a′1(mod m1)  ………………，  x ′≡ a′k (mod mk)；  x ″≡a1 ″(mod m1)，  ……………………，  x ″ ≡a k ″(mod mk)。…"/>
            <p:cNvSpPr/>
            <p:nvPr/>
          </p:nvSpPr>
          <p:spPr>
            <a:xfrm>
              <a:off x="0" y="0"/>
              <a:ext cx="86106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700"/>
                </a:spcBef>
                <a:tabLst>
                  <a:tab pos="2286000" algn="l"/>
                </a:tabLst>
                <a:defRPr sz="3200">
                  <a:latin typeface="宋体"/>
                  <a:ea typeface="宋体"/>
                  <a:cs typeface="宋体"/>
                  <a:sym typeface="宋体"/>
                </a:defRPr>
              </a:pPr>
              <a:r>
                <a:t>于是，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	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¢º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a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(mod m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)</a:t>
              </a:r>
              <a:br>
                <a:rPr>
                  <a:latin typeface="Trebuchet MS"/>
                  <a:ea typeface="Trebuchet MS"/>
                  <a:cs typeface="Trebuchet MS"/>
                  <a:sym typeface="Trebuchet MS"/>
                </a:rPr>
              </a:b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	………………</a:t>
              </a:r>
              <a:r>
                <a:t>，</a:t>
              </a:r>
              <a:br/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	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x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¢º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a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k 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(mod m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k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)</a:t>
              </a:r>
              <a:r>
                <a:t>；</a:t>
              </a:r>
              <a:br/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	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x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²º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a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1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(mod m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)</a:t>
              </a:r>
              <a:r>
                <a:t>，</a:t>
              </a:r>
              <a:br/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	……………………</a:t>
              </a:r>
              <a:r>
                <a:t>，</a:t>
              </a:r>
              <a:br/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	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x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rPr i="1">
                  <a:latin typeface="Trebuchet MS"/>
                  <a:ea typeface="Trebuchet MS"/>
                  <a:cs typeface="Trebuchet MS"/>
                  <a:sym typeface="Trebuchet MS"/>
                </a:rPr>
                <a:t>a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 k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(mod m</a:t>
              </a:r>
              <a:r>
                <a:rPr baseline="-30000">
                  <a:latin typeface="Trebuchet MS"/>
                  <a:ea typeface="Trebuchet MS"/>
                  <a:cs typeface="Trebuchet MS"/>
                  <a:sym typeface="Trebuchet MS"/>
                </a:rPr>
                <a:t>k</a:t>
              </a:r>
              <a:r>
                <a:rPr>
                  <a:latin typeface="Trebuchet MS"/>
                  <a:ea typeface="Trebuchet MS"/>
                  <a:cs typeface="Trebuchet MS"/>
                  <a:sym typeface="Trebuchet MS"/>
                </a:rPr>
                <a:t>)</a:t>
              </a:r>
              <a:r>
                <a:t>。</a:t>
              </a:r>
            </a:p>
            <a:p>
              <a:pPr>
                <a:spcBef>
                  <a:spcPts val="700"/>
                </a:spcBef>
                <a:tabLst>
                  <a:tab pos="2286000" algn="l"/>
                </a:tabLst>
                <a:defRPr sz="3200"/>
              </a:pPr>
              <a:r>
                <a:rPr>
                  <a:latin typeface="宋体"/>
                  <a:ea typeface="宋体"/>
                  <a:cs typeface="宋体"/>
                  <a:sym typeface="宋体"/>
                </a:rPr>
                <a:t>所以，若</a:t>
              </a:r>
              <a:r>
                <a:rPr i="1"/>
                <a:t>a</a:t>
              </a:r>
              <a:r>
                <a:rPr baseline="-30000"/>
                <a:t>1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</a:t>
              </a:r>
              <a:r>
                <a:t>,…,</a:t>
              </a:r>
              <a:r>
                <a:rPr i="1"/>
                <a:t>a</a:t>
              </a:r>
              <a:r>
                <a:rPr baseline="-30000"/>
                <a:t>k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和</a:t>
              </a:r>
              <a:r>
                <a:rPr i="1"/>
                <a:t>a</a:t>
              </a:r>
              <a:r>
                <a:rPr baseline="-30000"/>
                <a:t>1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</a:t>
              </a:r>
              <a:r>
                <a:t>, …, </a:t>
              </a:r>
              <a:r>
                <a:rPr i="1"/>
                <a:t>a</a:t>
              </a:r>
              <a:r>
                <a:rPr baseline="-30000"/>
                <a:t>k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²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不全同，则</a:t>
              </a:r>
            </a:p>
            <a:p>
              <a:pPr>
                <a:spcBef>
                  <a:spcPts val="700"/>
                </a:spcBef>
                <a:tabLst>
                  <a:tab pos="2286000" algn="l"/>
                </a:tabLst>
                <a:defRPr sz="3200"/>
              </a:pPr>
              <a:r>
                <a:t>	</a:t>
              </a:r>
              <a:r>
                <a:rPr i="1"/>
                <a:t>x</a:t>
              </a:r>
              <a: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¢º </a:t>
              </a:r>
              <a:r>
                <a:rPr i="1"/>
                <a:t>x</a:t>
              </a:r>
              <a:r>
                <a:t> 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¢¢</a:t>
              </a:r>
              <a:r>
                <a:t> (mod m</a:t>
              </a:r>
              <a:r>
                <a:rPr baseline="-30000"/>
                <a:t>1</a:t>
              </a:r>
              <a:r>
                <a:t>…m</a:t>
              </a:r>
              <a:r>
                <a:rPr baseline="-30000"/>
                <a:t>k</a:t>
              </a:r>
              <a:r>
                <a:t>)</a:t>
              </a:r>
            </a:p>
          </p:txBody>
        </p:sp>
        <p:sp>
          <p:nvSpPr>
            <p:cNvPr id="139" name="线条"/>
            <p:cNvSpPr/>
            <p:nvPr/>
          </p:nvSpPr>
          <p:spPr>
            <a:xfrm flipH="1">
              <a:off x="2805332" y="3719731"/>
              <a:ext cx="76201" cy="3048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145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98450"/>
            <a:ext cx="8766175" cy="1317625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这就是说，我们得到的m1…mk个x mod m1…m k 在不同的剩余类内，但mod m1…mk只有m1…mk个剩余类，所以下面的定理成立："/>
          <p:cNvSpPr txBox="1">
            <a:spLocks noGrp="1"/>
          </p:cNvSpPr>
          <p:nvPr>
            <p:ph type="body" idx="4294967295"/>
          </p:nvPr>
        </p:nvSpPr>
        <p:spPr>
          <a:xfrm>
            <a:off x="304800" y="1524000"/>
            <a:ext cx="8610600" cy="3581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tabLst>
                <a:tab pos="2286000" algn="l"/>
              </a:tabLst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这就是说，我们得到的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0000" dirty="0" err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个</a:t>
            </a:r>
            <a:r>
              <a:rPr i="1" dirty="0" err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mod m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…m 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在不同的剩余类内，但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…m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只有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0000" dirty="0" err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个剩余类，所以下面的定理成立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14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311275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设m=m1…mk，而m1,…,mk两两互质。在(5)中，使a1,…,ak分别遍历mod m1 , …, mod mk的各一个完全剩余系，则x遍历mod m的一个完全剩余系。"/>
          <p:cNvSpPr txBox="1"/>
          <p:nvPr/>
        </p:nvSpPr>
        <p:spPr>
          <a:xfrm>
            <a:off x="228599" y="1371600"/>
            <a:ext cx="8763002" cy="255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3200">
                <a:latin typeface="+mn-lt"/>
                <a:ea typeface="+mn-ea"/>
                <a:cs typeface="+mn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m=m</a:t>
            </a:r>
            <a:r>
              <a:rPr baseline="-30000"/>
              <a:t>1</a:t>
            </a:r>
            <a:r>
              <a:t>…m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，而</a:t>
            </a:r>
            <a:r>
              <a:t>m</a:t>
            </a:r>
            <a:r>
              <a:rPr baseline="-30000"/>
              <a:t>1</a:t>
            </a:r>
            <a:r>
              <a:t>,…,m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两两互质。在</a:t>
            </a:r>
            <a:r>
              <a:t>(</a:t>
            </a:r>
            <a:r>
              <a:rPr>
                <a:solidFill>
                  <a:srgbClr val="212745"/>
                </a:solidFill>
              </a:rPr>
              <a:t>5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中，使</a:t>
            </a:r>
            <a:r>
              <a:t>a</a:t>
            </a:r>
            <a:r>
              <a:rPr baseline="-30000"/>
              <a:t>1</a:t>
            </a:r>
            <a:r>
              <a:t>,…,a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分别遍历</a:t>
            </a:r>
            <a:r>
              <a:t>mod m</a:t>
            </a:r>
            <a:r>
              <a:rPr baseline="-30000"/>
              <a:t>1 </a:t>
            </a:r>
            <a:r>
              <a:t>, …,</a:t>
            </a:r>
            <a:br/>
            <a:r>
              <a:t>mod m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的各一个完全剩余系，则</a:t>
            </a:r>
            <a:r>
              <a:rPr i="1"/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遍历</a:t>
            </a:r>
            <a:r>
              <a:t>mod m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的一个完全剩余系。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15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6050"/>
            <a:ext cx="7772400" cy="13589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设n是任意正整数，试看mod n的任意剩余类A。设a∈A。若a和n互质，则A中任意数和n互质。此时我们称剩余类A和n互质。…"/>
          <p:cNvSpPr txBox="1">
            <a:spLocks noGrp="1"/>
          </p:cNvSpPr>
          <p:nvPr>
            <p:ph type="body" idx="4294967295"/>
          </p:nvPr>
        </p:nvSpPr>
        <p:spPr>
          <a:xfrm>
            <a:off x="228599" y="1181686"/>
            <a:ext cx="8763002" cy="50384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786384">
              <a:spcBef>
                <a:spcPts val="600"/>
              </a:spcBef>
              <a:defRPr sz="2752">
                <a:latin typeface="+mn-lt"/>
                <a:ea typeface="+mn-ea"/>
                <a:cs typeface="+mn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是任意正整数，试看</a:t>
            </a:r>
            <a:r>
              <a:rPr sz="2800" dirty="0" err="1"/>
              <a:t>mod</a:t>
            </a:r>
            <a:r>
              <a:rPr sz="2800" dirty="0"/>
              <a:t> 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的任意剩余类</a:t>
            </a:r>
            <a:r>
              <a:rPr sz="2800" dirty="0" err="1"/>
              <a:t>A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。设</a:t>
            </a:r>
            <a:r>
              <a:rPr sz="2800" dirty="0" err="1"/>
              <a:t>a</a:t>
            </a:r>
            <a:r>
              <a:rPr sz="2800" dirty="0" err="1">
                <a:latin typeface="Symbol"/>
                <a:ea typeface="Symbol"/>
                <a:cs typeface="Symbol"/>
                <a:sym typeface="Symbol"/>
              </a:rPr>
              <a:t>Î</a:t>
            </a:r>
            <a:r>
              <a:rPr sz="2800" dirty="0" err="1"/>
              <a:t>A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。若</a:t>
            </a:r>
            <a:r>
              <a:rPr sz="2800" dirty="0" err="1"/>
              <a:t>a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互质，则</a:t>
            </a:r>
            <a:r>
              <a:rPr sz="2800" dirty="0" err="1"/>
              <a:t>A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中任意数和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互质。此时我们称</a:t>
            </a:r>
            <a:r>
              <a:rPr sz="2800"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剩余类</a:t>
            </a:r>
            <a:r>
              <a:rPr sz="2800" dirty="0" err="1">
                <a:solidFill>
                  <a:schemeClr val="accent1"/>
                </a:solidFill>
              </a:rPr>
              <a:t>A</a:t>
            </a:r>
            <a:r>
              <a:rPr sz="2800"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sz="2800" dirty="0" err="1">
                <a:solidFill>
                  <a:schemeClr val="accent1"/>
                </a:solidFill>
              </a:rPr>
              <a:t>n</a:t>
            </a:r>
            <a:r>
              <a:rPr sz="2800"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互质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endParaRPr lang="en-US"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r>
              <a:rPr lang="zh-CN" altLang="en-US" sz="2800" dirty="0"/>
              <a:t>例如：</a:t>
            </a:r>
            <a:r>
              <a:rPr lang="en" altLang="zh-CN" sz="2800" dirty="0"/>
              <a:t>n=4</a:t>
            </a:r>
          </a:p>
          <a:p>
            <a:pPr marL="46038" indent="0" algn="ctr">
              <a:buNone/>
            </a:pPr>
            <a:r>
              <a:rPr lang="en" altLang="zh-CN" sz="2800" dirty="0"/>
              <a:t>A={3,7,11,15……}, a=3</a:t>
            </a:r>
            <a:r>
              <a:rPr lang="en-US" altLang="zh-CN" sz="2800" dirty="0"/>
              <a:t>, (3,4)=1</a:t>
            </a:r>
            <a:endParaRPr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0" indent="0" defTabSz="786384">
              <a:spcBef>
                <a:spcPts val="600"/>
              </a:spcBef>
              <a:defRPr sz="2752">
                <a:latin typeface="+mn-lt"/>
                <a:ea typeface="+mn-ea"/>
                <a:cs typeface="+mn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事实上，若</a:t>
            </a:r>
            <a:r>
              <a:rPr sz="2800" dirty="0" err="1"/>
              <a:t>b</a:t>
            </a:r>
            <a:r>
              <a:rPr sz="2800" dirty="0" err="1"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sz="2800" dirty="0" err="1"/>
              <a:t>a</a:t>
            </a:r>
            <a:r>
              <a:rPr sz="2800" dirty="0"/>
              <a:t>(mod n)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则</a:t>
            </a:r>
            <a:r>
              <a:rPr sz="2800" dirty="0" err="1"/>
              <a:t>a</a:t>
            </a:r>
            <a:r>
              <a:rPr sz="2800" dirty="0"/>
              <a:t>=</a:t>
            </a:r>
            <a:r>
              <a:rPr sz="2800" dirty="0" err="1"/>
              <a:t>b+qn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，倘若</a:t>
            </a:r>
            <a:r>
              <a:rPr sz="2800" dirty="0" err="1"/>
              <a:t>b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sz="2800" dirty="0" err="1"/>
              <a:t>n</a:t>
            </a:r>
            <a:r>
              <a:rPr sz="2800" dirty="0"/>
              <a:t> 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有一个大于</a:t>
            </a:r>
            <a:r>
              <a:rPr sz="2800" dirty="0"/>
              <a:t>1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的公因数</a:t>
            </a:r>
            <a:r>
              <a:rPr sz="2800" dirty="0"/>
              <a:t>d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rPr sz="2800" dirty="0"/>
              <a:t>d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也是</a:t>
            </a:r>
            <a:r>
              <a:rPr sz="2800" dirty="0"/>
              <a:t>a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的因数，因而是</a:t>
            </a:r>
            <a:r>
              <a:rPr sz="2800" dirty="0"/>
              <a:t>a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sz="2800" dirty="0"/>
              <a:t>n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的公因数，此为矛盾。可见，若</a:t>
            </a:r>
            <a:r>
              <a:rPr sz="2800" dirty="0"/>
              <a:t>A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中有一个数和</a:t>
            </a:r>
            <a:r>
              <a:rPr sz="2800" dirty="0"/>
              <a:t>n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互质，则其中所有的数都和</a:t>
            </a:r>
            <a:r>
              <a:rPr sz="2800" dirty="0"/>
              <a:t>n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互质。故</a:t>
            </a:r>
            <a:r>
              <a:rPr sz="2800" dirty="0"/>
              <a:t>A 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中的数或者都和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互质，或者都和</a:t>
            </a:r>
            <a:r>
              <a:rPr sz="2800" dirty="0" err="1"/>
              <a:t>n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不互质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。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15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358900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和n互质的剩余类的个数记为ϕ(n)，称为Euler(欧拉)函数。从和n互质的每一个剩余类中取出一个数，这样得到的ϕ(n)个数便称之为作成mod n的一个简化剩余系。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32104">
              <a:lnSpc>
                <a:spcPct val="90000"/>
              </a:lnSpc>
              <a:spcBef>
                <a:spcPts val="600"/>
              </a:spcBef>
              <a:defRPr sz="291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互质的剩余类的个数记为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dirty="0"/>
              <a:t>(n)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称为</a:t>
            </a:r>
            <a:r>
              <a:rPr dirty="0" err="1">
                <a:solidFill>
                  <a:schemeClr val="accent1"/>
                </a:solidFill>
              </a:rPr>
              <a:t>Euler</a:t>
            </a:r>
            <a:r>
              <a:rPr dirty="0">
                <a:solidFill>
                  <a:schemeClr val="accent1"/>
                </a:solidFill>
              </a:rPr>
              <a:t>(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欧拉</a:t>
            </a:r>
            <a:r>
              <a:rPr dirty="0">
                <a:solidFill>
                  <a:schemeClr val="accent1"/>
                </a:solidFill>
              </a:rPr>
              <a:t>)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函数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。从和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互质的每一个剩余类中取出一个数，这样得到的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dirty="0"/>
              <a:t>(n)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个数便称之为作成</a:t>
            </a:r>
            <a:r>
              <a:rPr dirty="0" err="1"/>
              <a:t>mod</a:t>
            </a:r>
            <a:r>
              <a:rPr dirty="0"/>
              <a:t> 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的一个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简化剩余系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 defTabSz="832104">
              <a:lnSpc>
                <a:spcPct val="90000"/>
              </a:lnSpc>
              <a:spcBef>
                <a:spcPts val="600"/>
              </a:spcBef>
              <a:defRPr sz="291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显然，从</a:t>
            </a:r>
            <a:r>
              <a:rPr dirty="0" err="1"/>
              <a:t>mod</a:t>
            </a:r>
            <a:r>
              <a:rPr dirty="0"/>
              <a:t> 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的一个完全剩余系中取出与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互质的那些数就得到</a:t>
            </a:r>
            <a:r>
              <a:rPr dirty="0" err="1"/>
              <a:t>mod</a:t>
            </a:r>
            <a:r>
              <a:rPr dirty="0"/>
              <a:t> </a:t>
            </a:r>
            <a:r>
              <a:rPr dirty="0" err="1"/>
              <a:t>n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的一个简化剩余系，因而</a:t>
            </a:r>
            <a:r>
              <a:rPr dirty="0" err="1">
                <a:solidFill>
                  <a:schemeClr val="accent1"/>
                </a:solidFill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dirty="0">
                <a:solidFill>
                  <a:schemeClr val="accent1"/>
                </a:solidFill>
              </a:rPr>
              <a:t>(n)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等于</a:t>
            </a:r>
            <a:r>
              <a:rPr dirty="0" err="1">
                <a:solidFill>
                  <a:schemeClr val="accent1"/>
                </a:solidFill>
                <a:latin typeface="Symbol"/>
                <a:ea typeface="Symbol"/>
                <a:cs typeface="Symbol"/>
                <a:sym typeface="Symbol"/>
              </a:rPr>
              <a:t>£</a:t>
            </a:r>
            <a:r>
              <a:rPr dirty="0" err="1">
                <a:solidFill>
                  <a:schemeClr val="accent1"/>
                </a:solidFill>
              </a:rPr>
              <a:t>n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的正数中和</a:t>
            </a:r>
            <a:r>
              <a:rPr dirty="0" err="1">
                <a:solidFill>
                  <a:schemeClr val="accent1"/>
                </a:solidFill>
              </a:rPr>
              <a:t>n</a:t>
            </a:r>
            <a:r>
              <a:rPr dirty="0" err="1"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互质的数的个数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 defTabSz="832104">
              <a:lnSpc>
                <a:spcPct val="90000"/>
              </a:lnSpc>
              <a:spcBef>
                <a:spcPts val="600"/>
              </a:spcBef>
              <a:defRPr sz="2912">
                <a:latin typeface="宋体"/>
                <a:ea typeface="宋体"/>
                <a:cs typeface="宋体"/>
                <a:sym typeface="宋体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例如，</a:t>
            </a:r>
            <a:r>
              <a:rPr dirty="0" err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=10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mod n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的一个完全剩余系为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，一个简化剩余系为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(10)=4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1" build="p" bldLvl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16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58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设m=m1…mk，而m1, …, mk两两互质。则  ϕ(m)= ϕ(m1) ϕ(m2) …ϕ(mk)  (9)…"/>
          <p:cNvSpPr txBox="1">
            <a:spLocks noGrp="1"/>
          </p:cNvSpPr>
          <p:nvPr>
            <p:ph type="body" idx="4294967295"/>
          </p:nvPr>
        </p:nvSpPr>
        <p:spPr>
          <a:xfrm>
            <a:off x="228599" y="1447800"/>
            <a:ext cx="8763002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77823">
              <a:spcBef>
                <a:spcPts val="700"/>
              </a:spcBef>
              <a:buSzTx/>
              <a:buNone/>
              <a:defRPr sz="3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m=m</a:t>
            </a:r>
            <a:r>
              <a:rPr baseline="-31000"/>
              <a:t>1</a:t>
            </a:r>
            <a:r>
              <a:t>…m</a:t>
            </a:r>
            <a:r>
              <a:rPr baseline="-31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，而</a:t>
            </a:r>
            <a:r>
              <a:t>m</a:t>
            </a:r>
            <a:r>
              <a:rPr baseline="-31000"/>
              <a:t>1</a:t>
            </a:r>
            <a:r>
              <a:t>, …, m</a:t>
            </a:r>
            <a:r>
              <a:rPr baseline="-31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两两互质。则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(m)=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1000"/>
              <a:t>1</a:t>
            </a:r>
            <a:r>
              <a:t>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1000"/>
              <a:t>2</a:t>
            </a:r>
            <a:r>
              <a:t>) 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1000"/>
              <a:t>k</a:t>
            </a:r>
            <a:r>
              <a:t>) 	(</a:t>
            </a:r>
            <a:r>
              <a:rPr>
                <a:solidFill>
                  <a:srgbClr val="212745"/>
                </a:solidFill>
              </a:rPr>
              <a:t>9</a:t>
            </a:r>
            <a:r>
              <a:t>)</a:t>
            </a:r>
          </a:p>
          <a:p>
            <a:pPr marL="0" indent="0" defTabSz="877823">
              <a:spcBef>
                <a:spcPts val="700"/>
              </a:spcBef>
              <a:buSzTx/>
              <a:buNone/>
              <a:defRPr sz="3072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这个结论实质是说在秦九韶定理证明中构造的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+…+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，若每个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各自遍历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 m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(i=1, … , k)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的一个简化剩余系，则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遍历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mod m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的一个简化剩余系。因为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有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(m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个取法，所以得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有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(m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(m</a:t>
            </a:r>
            <a:r>
              <a:rPr baseline="-31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个取法。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1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16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58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设mod mi的一个简化剩余系为Di (i=1, … , k)，mod m的一个简化剩余系为D，我们证明：D1×D2×…×Dk与D可以建立1-1映射。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50391">
              <a:lnSpc>
                <a:spcPct val="90000"/>
              </a:lnSpc>
              <a:spcBef>
                <a:spcPts val="700"/>
              </a:spcBef>
              <a:defRPr sz="297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mod m</a:t>
            </a:r>
            <a:r>
              <a:rPr baseline="-3180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的一个简化剩余系为</a:t>
            </a:r>
            <a:r>
              <a:t>D</a:t>
            </a:r>
            <a:r>
              <a:rPr baseline="-31806"/>
              <a:t>i</a:t>
            </a:r>
            <a:r>
              <a:t> (i=1, … , k)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mod m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的一个简化剩余系为</a:t>
            </a:r>
            <a:r>
              <a:t>D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，我们证明：</a:t>
            </a:r>
            <a:r>
              <a:t>D</a:t>
            </a:r>
            <a:r>
              <a:rPr baseline="-31806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1806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18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D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可以建立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映射。 </a:t>
            </a:r>
          </a:p>
          <a:p>
            <a:pPr marL="0" indent="0" defTabSz="850391">
              <a:lnSpc>
                <a:spcPct val="90000"/>
              </a:lnSpc>
              <a:spcBef>
                <a:spcPts val="700"/>
              </a:spcBef>
              <a:buSzTx/>
              <a:buNone/>
              <a:defRPr sz="2976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定义映射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如下</a:t>
            </a:r>
            <a:r>
              <a:t>:</a:t>
            </a:r>
            <a:br/>
            <a:r>
              <a:t>	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t>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,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t>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+…+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1"/>
          </a:p>
          <a:p>
            <a:pPr marL="0" indent="0" defTabSz="850391">
              <a:lnSpc>
                <a:spcPct val="90000"/>
              </a:lnSpc>
              <a:spcBef>
                <a:spcPts val="700"/>
              </a:spcBef>
              <a:buSzTx/>
              <a:buNone/>
              <a:defRPr sz="2976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对任意</a:t>
            </a:r>
            <a: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t>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,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t>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Î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，有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(i=1, … , k)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互质，而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(mod m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，从而有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i=1, … , 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，由定理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5.2.3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互质。即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31806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到Ｄ内的一个映射，由遍历定理知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是单射。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17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5887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再证σ为满射，对任意x∈Ｄ，则由遍历定理知，存在a1,…,ak分别属于mod m１，…，mod mk的完全剩余系，使得x= a1l1+…+aklk 。下面证明(a1,…,ak)∈D1×D2×…×Dk，由于x与m互质，所以x与mi互质。而x≡ai (mod mi)，因而ai与mi互质，即(a1,…,ak)∈D1×D2×…×Dk。因此σ为1-1映射。于是D的元素个数与D1×D2×…×Dk的元素数相同。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786384">
              <a:spcBef>
                <a:spcPts val="600"/>
              </a:spcBef>
              <a:buSzTx/>
              <a:buNone/>
              <a:defRPr sz="27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再证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为满射，对任意</a:t>
            </a:r>
            <a:r>
              <a:rPr i="1"/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Î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Ｄ，则由遍历定理知，存在</a:t>
            </a:r>
            <a:r>
              <a:rPr i="1"/>
              <a:t>a</a:t>
            </a:r>
            <a:r>
              <a:rPr baseline="-33906"/>
              <a:t>1</a:t>
            </a:r>
            <a:r>
              <a:t>,…,</a:t>
            </a:r>
            <a:r>
              <a:rPr i="1"/>
              <a:t>a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分别属于</a:t>
            </a:r>
            <a:r>
              <a:t>mod m</a:t>
            </a:r>
            <a:r>
              <a:rPr baseline="-33906">
                <a:latin typeface="楷体_GB2312"/>
                <a:ea typeface="楷体_GB2312"/>
                <a:cs typeface="楷体_GB2312"/>
                <a:sym typeface="楷体_GB2312"/>
              </a:rPr>
              <a:t>１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mod m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的完全剩余系，使得</a:t>
            </a:r>
            <a:r>
              <a:rPr i="1"/>
              <a:t>x</a:t>
            </a:r>
            <a:r>
              <a:t>= </a:t>
            </a:r>
            <a:r>
              <a:rPr i="1"/>
              <a:t>a</a:t>
            </a:r>
            <a:r>
              <a:rPr i="1" baseline="-33906"/>
              <a:t>1</a:t>
            </a:r>
            <a:r>
              <a:rPr i="1"/>
              <a:t>l</a:t>
            </a:r>
            <a:r>
              <a:rPr i="1" baseline="-33906"/>
              <a:t>1</a:t>
            </a:r>
            <a:r>
              <a:t>+…+</a:t>
            </a:r>
            <a:r>
              <a:rPr i="1"/>
              <a:t>a</a:t>
            </a:r>
            <a:r>
              <a:rPr i="1" baseline="-33906"/>
              <a:t>k</a:t>
            </a:r>
            <a:r>
              <a:rPr i="1"/>
              <a:t>l</a:t>
            </a:r>
            <a:r>
              <a:rPr i="1" baseline="-33906"/>
              <a:t>k</a:t>
            </a:r>
            <a:r>
              <a:rPr i="1"/>
              <a:t>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。下面证明</a:t>
            </a:r>
            <a:r>
              <a:t>(</a:t>
            </a:r>
            <a:r>
              <a:rPr i="1"/>
              <a:t>a</a:t>
            </a:r>
            <a:r>
              <a:rPr baseline="-33906"/>
              <a:t>1</a:t>
            </a:r>
            <a:r>
              <a:t>,…,</a:t>
            </a:r>
            <a:r>
              <a:rPr i="1"/>
              <a:t>a</a:t>
            </a:r>
            <a:r>
              <a:rPr baseline="-33906"/>
              <a:t>k</a:t>
            </a:r>
            <a:r>
              <a:t>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Î</a:t>
            </a:r>
            <a:r>
              <a:t>D</a:t>
            </a:r>
            <a:r>
              <a:rPr baseline="-33906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，由于</a:t>
            </a:r>
            <a:r>
              <a:rPr i="1"/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m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互质，所以</a:t>
            </a:r>
            <a:r>
              <a:rPr i="1"/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m</a:t>
            </a:r>
            <a:r>
              <a:rPr baseline="-3390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互质。而</a:t>
            </a:r>
            <a:r>
              <a:rPr i="1"/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i="1"/>
              <a:t>a</a:t>
            </a:r>
            <a:r>
              <a:rPr baseline="-33906"/>
              <a:t>i </a:t>
            </a:r>
            <a:r>
              <a:t>(mod m</a:t>
            </a:r>
            <a:r>
              <a:rPr baseline="-33906"/>
              <a:t>i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，因而</a:t>
            </a:r>
            <a:r>
              <a:rPr i="1"/>
              <a:t>a</a:t>
            </a:r>
            <a:r>
              <a:rPr baseline="-3390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m</a:t>
            </a:r>
            <a:r>
              <a:rPr baseline="-33906"/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互质，即</a:t>
            </a:r>
            <a:r>
              <a:t>(</a:t>
            </a:r>
            <a:r>
              <a:rPr i="1"/>
              <a:t>a</a:t>
            </a:r>
            <a:r>
              <a:rPr baseline="-33906"/>
              <a:t>1</a:t>
            </a:r>
            <a:r>
              <a:t>,…,</a:t>
            </a:r>
            <a:r>
              <a:rPr i="1"/>
              <a:t>a</a:t>
            </a:r>
            <a:r>
              <a:rPr baseline="-33906"/>
              <a:t>k</a:t>
            </a:r>
            <a:r>
              <a:t>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Î</a:t>
            </a:r>
            <a:r>
              <a:t>D</a:t>
            </a:r>
            <a:r>
              <a:rPr baseline="-33906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。因此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映射。于是</a:t>
            </a:r>
            <a:r>
              <a:t>D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的元素个数与</a:t>
            </a:r>
            <a:r>
              <a:t>D</a:t>
            </a:r>
            <a:r>
              <a:rPr baseline="-33906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的元素数相同。</a:t>
            </a:r>
          </a:p>
          <a:p>
            <a:pPr marL="0" indent="0" defTabSz="786384">
              <a:spcBef>
                <a:spcPts val="600"/>
              </a:spcBef>
              <a:buSzTx/>
              <a:buNone/>
              <a:defRPr sz="27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注意到</a:t>
            </a:r>
            <a:r>
              <a:t>D</a:t>
            </a:r>
            <a:r>
              <a:rPr baseline="-33906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´</a:t>
            </a:r>
            <a:r>
              <a:t>D</a:t>
            </a:r>
            <a:r>
              <a:rPr baseline="-33906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的元素数为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3906"/>
              <a:t>1</a:t>
            </a:r>
            <a:r>
              <a:t>)…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3906"/>
              <a:t>k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，Ｄ的元素数为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，故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＝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3906"/>
              <a:t>1</a:t>
            </a:r>
            <a:r>
              <a:t>)…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</a:t>
            </a:r>
            <a:r>
              <a:rPr baseline="-33906"/>
              <a:t>k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　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1" build="p" bldLvl="5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17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设    是n的质因数分解式，p1, …, pk都不同，于是"/>
          <p:cNvSpPr txBox="1">
            <a:spLocks noGrp="1"/>
          </p:cNvSpPr>
          <p:nvPr>
            <p:ph type="body" sz="half" idx="4294967295"/>
          </p:nvPr>
        </p:nvSpPr>
        <p:spPr>
          <a:xfrm>
            <a:off x="228599" y="1295400"/>
            <a:ext cx="8763002" cy="1905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just">
              <a:lnSpc>
                <a:spcPct val="125000"/>
              </a:lnSpc>
              <a:spcBef>
                <a:spcPts val="700"/>
              </a:spcBef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			</a:t>
            </a:r>
            <a:r>
              <a:t>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t>n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的质因数分解式，</a:t>
            </a:r>
            <a:r>
              <a:rPr i="1"/>
              <a:t>p</a:t>
            </a:r>
            <a:r>
              <a:rPr baseline="-30000"/>
              <a:t>1</a:t>
            </a:r>
            <a:r>
              <a:t>, …, </a:t>
            </a:r>
            <a:r>
              <a:rPr i="1"/>
              <a:t>p</a:t>
            </a:r>
            <a:r>
              <a:rPr baseline="-30000"/>
              <a:t>k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都不同，于是</a:t>
            </a:r>
          </a:p>
        </p:txBody>
      </p:sp>
      <p:pic>
        <p:nvPicPr>
          <p:cNvPr id="177" name="image.pdf" descr="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743200"/>
            <a:ext cx="4724400" cy="1404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age.pdf" descr="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62" y="1270000"/>
            <a:ext cx="2166938" cy="685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18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首先考虑最简单情形；n=p为质数，则ϕ(n)=p-1=p(1-1/p)，结论成立。…"/>
          <p:cNvSpPr txBox="1">
            <a:spLocks noGrp="1"/>
          </p:cNvSpPr>
          <p:nvPr>
            <p:ph type="body" idx="4294967295"/>
          </p:nvPr>
        </p:nvSpPr>
        <p:spPr>
          <a:xfrm>
            <a:off x="228599" y="1295400"/>
            <a:ext cx="8763002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首先考虑最简单情形；</a:t>
            </a:r>
            <a:r>
              <a:t>n=p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为质数，则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(n)=p-1=p(1-1/p)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，结论成立。</a:t>
            </a:r>
          </a:p>
          <a:p>
            <a:pPr marL="0" indent="0">
              <a:spcBef>
                <a:spcPts val="600"/>
              </a:spcBef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其次考虑</a:t>
            </a:r>
            <a:r>
              <a:t>n=p</a:t>
            </a:r>
            <a:r>
              <a:rPr baseline="30000"/>
              <a:t>r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为质数，而求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(p</a:t>
            </a:r>
            <a:r>
              <a:rPr baseline="30000"/>
              <a:t>r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。一个数</a:t>
            </a:r>
            <a:r>
              <a:rPr i="1"/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t>p</a:t>
            </a:r>
            <a:r>
              <a:rPr baseline="30000"/>
              <a:t>r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互质等于说</a:t>
            </a:r>
            <a:r>
              <a:rPr i="1"/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不是</a:t>
            </a:r>
            <a:r>
              <a:t>p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的倍数。今在从</a:t>
            </a:r>
            <a:r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p</a:t>
            </a:r>
            <a:r>
              <a:rPr baseline="30000"/>
              <a:t>r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t>p</a:t>
            </a:r>
            <a:r>
              <a:rPr baseline="30000"/>
              <a:t>r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个数中，是</a:t>
            </a:r>
            <a:r>
              <a:t>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的倍数的共</a:t>
            </a:r>
            <a:r>
              <a:t>p</a:t>
            </a:r>
            <a:r>
              <a:rPr baseline="30000"/>
              <a:t>r-1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个，即</a:t>
            </a:r>
          </a:p>
          <a:p>
            <a:pPr marL="0" indent="0">
              <a:spcBef>
                <a:spcPts val="600"/>
              </a:spcBef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	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2p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p</a:t>
            </a:r>
            <a:r>
              <a:rPr baseline="30000"/>
              <a:t>r-1</a:t>
            </a:r>
            <a:r>
              <a:t>p</a:t>
            </a:r>
            <a:br/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因而和</a:t>
            </a:r>
            <a:r>
              <a:t>p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互质的共</a:t>
            </a:r>
            <a:r>
              <a:t>p</a:t>
            </a:r>
            <a:r>
              <a:rPr baseline="30000"/>
              <a:t>r</a:t>
            </a:r>
            <a:r>
              <a:t>- p</a:t>
            </a:r>
            <a:r>
              <a:rPr baseline="30000"/>
              <a:t>r-1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个，故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	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(n)=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(p</a:t>
            </a:r>
            <a:r>
              <a:rPr baseline="30000"/>
              <a:t>r</a:t>
            </a:r>
            <a:r>
              <a:t>)= p</a:t>
            </a:r>
            <a:r>
              <a:rPr baseline="30000"/>
              <a:t>r</a:t>
            </a:r>
            <a:r>
              <a:t>- p</a:t>
            </a:r>
            <a:r>
              <a:rPr baseline="30000"/>
              <a:t>r-1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Arial"/>
              </a:rPr>
              <a:t>p</a:t>
            </a:r>
            <a:r>
              <a:rPr baseline="30000">
                <a:latin typeface="+mn-lt"/>
                <a:ea typeface="+mn-ea"/>
                <a:cs typeface="+mn-cs"/>
                <a:sym typeface="Arial"/>
              </a:rPr>
              <a:t>r</a:t>
            </a:r>
            <a:r>
              <a:rPr>
                <a:latin typeface="+mn-lt"/>
                <a:ea typeface="+mn-ea"/>
                <a:cs typeface="+mn-cs"/>
                <a:sym typeface="Arial"/>
              </a:rPr>
              <a:t>(1-1/p)</a:t>
            </a:r>
          </a:p>
          <a:p>
            <a:pPr marL="0" indent="0">
              <a:spcBef>
                <a:spcPts val="600"/>
              </a:spcBef>
              <a:buSzTx/>
              <a:buNone/>
              <a:defRPr sz="28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结论成立。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88233" y="6540817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18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050"/>
            <a:ext cx="7772400" cy="1408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9" name="成组"/>
          <p:cNvGrpSpPr/>
          <p:nvPr/>
        </p:nvGrpSpPr>
        <p:grpSpPr>
          <a:xfrm>
            <a:off x="155131" y="1146183"/>
            <a:ext cx="8763003" cy="1817386"/>
            <a:chOff x="0" y="-10290"/>
            <a:chExt cx="8763001" cy="1817384"/>
          </a:xfrm>
        </p:grpSpPr>
        <p:sp>
          <p:nvSpPr>
            <p:cNvPr id="186" name="第三考虑一般情况，               ，p1,…,pk互不相同，则(pi, pj)=1 (i≠j)。从而                     。由定理5.4.5及上述第二中情形证明有"/>
            <p:cNvSpPr/>
            <p:nvPr/>
          </p:nvSpPr>
          <p:spPr>
            <a:xfrm>
              <a:off x="0" y="0"/>
              <a:ext cx="8763001" cy="1807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20000"/>
                </a:lnSpc>
                <a:spcBef>
                  <a:spcPts val="700"/>
                </a:spcBef>
                <a:defRPr sz="3200">
                  <a:latin typeface="宋体"/>
                  <a:ea typeface="宋体"/>
                  <a:cs typeface="宋体"/>
                  <a:sym typeface="宋体"/>
                </a:defRPr>
              </a:pPr>
              <a:r>
                <a:rPr dirty="0" err="1"/>
                <a:t>第三考虑一般情况</a:t>
              </a:r>
              <a:r>
                <a:rPr dirty="0"/>
                <a:t>，        ，</a:t>
              </a:r>
              <a:r>
                <a:rPr b="1" i="1" dirty="0">
                  <a:latin typeface="Trebuchet MS"/>
                  <a:ea typeface="Trebuchet MS"/>
                  <a:cs typeface="Trebuchet MS"/>
                  <a:sym typeface="Trebuchet MS"/>
                </a:rPr>
                <a:t>p</a:t>
              </a:r>
              <a:r>
                <a:rPr b="1" baseline="-30000" dirty="0"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r>
                <a:rPr dirty="0"/>
                <a:t>,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…</a:t>
              </a:r>
              <a:r>
                <a:rPr dirty="0"/>
                <a:t>,</a:t>
              </a:r>
              <a:r>
                <a:rPr b="1" i="1" dirty="0" err="1">
                  <a:latin typeface="Trebuchet MS"/>
                  <a:ea typeface="Trebuchet MS"/>
                  <a:cs typeface="Trebuchet MS"/>
                  <a:sym typeface="Trebuchet MS"/>
                </a:rPr>
                <a:t>p</a:t>
              </a:r>
              <a:r>
                <a:rPr b="1" baseline="-30000" dirty="0" err="1">
                  <a:latin typeface="Trebuchet MS"/>
                  <a:ea typeface="Trebuchet MS"/>
                  <a:cs typeface="Trebuchet MS"/>
                  <a:sym typeface="Trebuchet MS"/>
                </a:rPr>
                <a:t>k</a:t>
              </a:r>
              <a:r>
                <a:rPr dirty="0" err="1"/>
                <a:t>互不相同，则</a:t>
              </a:r>
              <a:r>
                <a:rPr dirty="0"/>
                <a:t>(</a:t>
              </a:r>
              <a:r>
                <a:rPr b="1" i="1" dirty="0">
                  <a:latin typeface="Trebuchet MS"/>
                  <a:ea typeface="Trebuchet MS"/>
                  <a:cs typeface="Trebuchet MS"/>
                  <a:sym typeface="Trebuchet MS"/>
                </a:rPr>
                <a:t>p</a:t>
              </a:r>
              <a:r>
                <a:rPr b="1" baseline="-30000" dirty="0">
                  <a:latin typeface="Trebuchet MS"/>
                  <a:ea typeface="Trebuchet MS"/>
                  <a:cs typeface="Trebuchet MS"/>
                  <a:sym typeface="Trebuchet MS"/>
                </a:rPr>
                <a:t>i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, </a:t>
              </a:r>
              <a:r>
                <a:rPr b="1" i="1" dirty="0" err="1">
                  <a:latin typeface="Trebuchet MS"/>
                  <a:ea typeface="Trebuchet MS"/>
                  <a:cs typeface="Trebuchet MS"/>
                  <a:sym typeface="Trebuchet MS"/>
                </a:rPr>
                <a:t>p</a:t>
              </a:r>
              <a:r>
                <a:rPr b="1" baseline="-30000" dirty="0" err="1">
                  <a:latin typeface="Trebuchet MS"/>
                  <a:ea typeface="Trebuchet MS"/>
                  <a:cs typeface="Trebuchet MS"/>
                  <a:sym typeface="Trebuchet MS"/>
                </a:rPr>
                <a:t>j</a:t>
              </a:r>
              <a:r>
                <a:rPr dirty="0"/>
                <a:t>)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=1 (i</a:t>
              </a:r>
              <a:r>
                <a:rPr dirty="0">
                  <a:latin typeface="Symbol"/>
                  <a:ea typeface="Symbol"/>
                  <a:cs typeface="Symbol"/>
                  <a:sym typeface="Symbol"/>
                </a:rPr>
                <a:t>¹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j)</a:t>
              </a:r>
              <a:r>
                <a:rPr dirty="0"/>
                <a:t>。</a:t>
              </a:r>
              <a:r>
                <a:rPr dirty="0" err="1"/>
                <a:t>从而</a:t>
              </a:r>
              <a:r>
                <a:rPr lang="zh-CN" altLang="en-US" dirty="0"/>
                <a:t>           </a:t>
              </a:r>
              <a:r>
                <a:rPr dirty="0"/>
                <a:t>。由定理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5.4.5</a:t>
              </a:r>
              <a:r>
                <a:rPr dirty="0"/>
                <a:t>及上述第二中情形证明有</a:t>
              </a:r>
              <a:r>
                <a:rPr b="1" dirty="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</a:p>
          </p:txBody>
        </p:sp>
        <p:pic>
          <p:nvPicPr>
            <p:cNvPr id="187" name="image.pdf" descr="imag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9293" y="-10290"/>
              <a:ext cx="1764415" cy="5580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8" name="image.pdf" descr="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2184" y="613443"/>
              <a:ext cx="2041641" cy="575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90" name="image.pdf" descr="ima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3427412"/>
            <a:ext cx="6577013" cy="2744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193" name="根据定理5.3.1：若 (a, m)=1，则 ax≡b (mod m)有唯一解。用另一种方法证明解的存在性，只需考虑ax≡1 (mod m)。因为若x0是ax≡1 (mod m)的解，则可得x0b为 ax≡b (mod m)的解。…"/>
          <p:cNvSpPr txBox="1">
            <a:spLocks noGrp="1"/>
          </p:cNvSpPr>
          <p:nvPr>
            <p:ph type="body" idx="4294967295"/>
          </p:nvPr>
        </p:nvSpPr>
        <p:spPr>
          <a:xfrm>
            <a:off x="228599" y="990600"/>
            <a:ext cx="8763002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根据定理</a:t>
            </a:r>
            <a:r>
              <a:t>5.3.1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：若 </a:t>
            </a:r>
            <a:r>
              <a:t>(a, m)=1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 </a:t>
            </a:r>
            <a:r>
              <a:t>ax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b (mod 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有唯一解。用另一种方法证明解的存在性，只需考虑</a:t>
            </a:r>
            <a:r>
              <a:t>ax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1 (mod 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。因为若</a:t>
            </a:r>
            <a:r>
              <a:t>x</a:t>
            </a:r>
            <a:r>
              <a:rPr baseline="-30000"/>
              <a:t>0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t>ax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1 (mod 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的解，则可得</a:t>
            </a:r>
            <a:r>
              <a:t>x</a:t>
            </a:r>
            <a:r>
              <a:rPr baseline="-30000"/>
              <a:t>0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 </a:t>
            </a:r>
            <a:r>
              <a:t>ax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b (mod 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的解。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r</a:t>
            </a:r>
            <a:r>
              <a:rPr baseline="-30000"/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r</a:t>
            </a:r>
            <a:r>
              <a:rPr baseline="-30000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baseline="-30000"/>
              <a:t>(m)</a:t>
            </a:r>
            <a:r>
              <a:t>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t>mod m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的一个简化剩余系，则</a:t>
            </a:r>
            <a:r>
              <a:t>(r</a:t>
            </a:r>
            <a:r>
              <a:rPr baseline="-30000"/>
              <a:t>i</a:t>
            </a:r>
            <a:r>
              <a:t>, m)=1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i=1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j</a:t>
            </a:r>
            <a:r>
              <a:t>(m)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，从而</a:t>
            </a:r>
            <a:r>
              <a:t>(r</a:t>
            </a:r>
            <a:r>
              <a:rPr baseline="-30000"/>
              <a:t>1</a:t>
            </a:r>
            <a:r>
              <a:t>…r</a:t>
            </a:r>
            <a:r>
              <a:rPr baseline="-30000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baseline="-30000"/>
              <a:t>(m)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m)=1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1" build="p" bldLvl="5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成组"/>
          <p:cNvGrpSpPr/>
          <p:nvPr/>
        </p:nvGrpSpPr>
        <p:grpSpPr>
          <a:xfrm>
            <a:off x="228599" y="850899"/>
            <a:ext cx="8763003" cy="837342"/>
            <a:chOff x="0" y="0"/>
            <a:chExt cx="8763001" cy="837340"/>
          </a:xfrm>
        </p:grpSpPr>
        <p:sp>
          <p:nvSpPr>
            <p:cNvPr id="195" name="再看ar1,…,arϕ(n)，因为(a, m)=1，所以(ari, m)=1。又因为ri≡rj(mod m)，所以ari≡ arj(mod m)  (i≠j)。也就是说ar1，…,arϕ(m) 也作成mod m 的一个简化剩余系。从而这两个简化剩余系中的数关于mod m合同可以建立一个1-1映射关系。因此，ar1…arϕ(m)≡r1…rϕ(m) (mod m)。…"/>
            <p:cNvSpPr/>
            <p:nvPr/>
          </p:nvSpPr>
          <p:spPr>
            <a:xfrm>
              <a:off x="0" y="0"/>
              <a:ext cx="87630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3200"/>
              </a:pPr>
              <a:r>
                <a:rPr>
                  <a:latin typeface="宋体"/>
                  <a:ea typeface="宋体"/>
                  <a:cs typeface="宋体"/>
                  <a:sym typeface="宋体"/>
                </a:rPr>
                <a:t>再看</a:t>
              </a:r>
              <a:r>
                <a:t>ar</a:t>
              </a:r>
              <a:r>
                <a:rPr baseline="-30000"/>
                <a:t>1</a:t>
              </a:r>
              <a:r>
                <a:t>,…,ar</a:t>
              </a:r>
              <a:r>
                <a:rPr baseline="-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-30000"/>
                <a:t>(n)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，因为</a:t>
              </a:r>
              <a:r>
                <a:t>(a, m)=1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，所以</a:t>
              </a:r>
              <a:r>
                <a:t>(ar</a:t>
              </a:r>
              <a:r>
                <a:rPr baseline="-30000"/>
                <a:t>i</a:t>
              </a:r>
              <a:r>
                <a:t>, m)=1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。又因为</a:t>
              </a:r>
              <a:r>
                <a:t>r</a:t>
              </a:r>
              <a:r>
                <a:rPr baseline="-30000"/>
                <a:t>i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r</a:t>
              </a:r>
              <a:r>
                <a:rPr baseline="-30000"/>
                <a:t>j</a:t>
              </a:r>
              <a:r>
                <a:t>(mod 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，所以</a:t>
              </a:r>
              <a:r>
                <a:t>ar</a:t>
              </a:r>
              <a:r>
                <a:rPr baseline="-30000"/>
                <a:t>i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 ar</a:t>
              </a:r>
              <a:r>
                <a:rPr baseline="-30000"/>
                <a:t>j</a:t>
              </a:r>
              <a:r>
                <a:t>(mod m)  (i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¹</a:t>
              </a:r>
              <a:r>
                <a:t>j)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。也就是说</a:t>
              </a:r>
              <a:r>
                <a:t>ar</a:t>
              </a:r>
              <a:r>
                <a:rPr baseline="-30000"/>
                <a:t>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</a:t>
              </a:r>
              <a:r>
                <a:t>…,ar</a:t>
              </a:r>
              <a:r>
                <a:rPr baseline="-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-30000"/>
                <a:t>(m)</a:t>
              </a:r>
              <a:r>
                <a:t> 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也作成</a:t>
              </a:r>
              <a:r>
                <a:t>mod m 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的一个简化剩余系。从而这两个简化剩余系中的数关于</a:t>
              </a:r>
              <a:r>
                <a:t>mod m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合同可以建立一个</a:t>
              </a:r>
              <a:r>
                <a:t>1-1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映射关系。因此，</a:t>
              </a:r>
              <a:r>
                <a:t>ar</a:t>
              </a:r>
              <a:r>
                <a:rPr baseline="-30000"/>
                <a:t>1</a:t>
              </a:r>
              <a:r>
                <a:t>…ar</a:t>
              </a:r>
              <a:r>
                <a:rPr baseline="-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-30000"/>
                <a:t>(m)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r</a:t>
              </a:r>
              <a:r>
                <a:rPr baseline="-30000"/>
                <a:t>1</a:t>
              </a:r>
              <a:r>
                <a:t>…r</a:t>
              </a:r>
              <a:r>
                <a:rPr baseline="-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-30000"/>
                <a:t>(m) </a:t>
              </a:r>
              <a:r>
                <a:t>(mod 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。</a:t>
              </a:r>
            </a:p>
            <a:p>
              <a:pPr>
                <a:lnSpc>
                  <a:spcPct val="90000"/>
                </a:lnSpc>
                <a:defRPr sz="3200"/>
              </a:pPr>
              <a:r>
                <a:rPr>
                  <a:latin typeface="宋体"/>
                  <a:ea typeface="宋体"/>
                  <a:cs typeface="宋体"/>
                  <a:sym typeface="宋体"/>
                </a:rPr>
                <a:t>而</a:t>
              </a:r>
              <a:r>
                <a:t>(r</a:t>
              </a:r>
              <a:r>
                <a:rPr baseline="-30000"/>
                <a:t>1</a:t>
              </a:r>
              <a:r>
                <a:t>…r</a:t>
              </a:r>
              <a:r>
                <a:rPr baseline="-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-30000"/>
                <a:t>(m)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</a:t>
              </a:r>
              <a:r>
                <a:t>m)=1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，故消去律成立，于是：</a:t>
              </a:r>
            </a:p>
            <a:p>
              <a:pPr>
                <a:lnSpc>
                  <a:spcPct val="90000"/>
                </a:lnSpc>
                <a:defRPr sz="3200"/>
              </a:pPr>
              <a:r>
                <a:t>a</a:t>
              </a:r>
              <a:r>
                <a:rPr baseline="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30000"/>
                <a:t>(m)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1(mod 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。</a:t>
              </a:r>
              <a:r>
                <a:t>ax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1 (mod 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的一个解为：</a:t>
              </a:r>
            </a:p>
            <a:p>
              <a:pPr>
                <a:lnSpc>
                  <a:spcPct val="90000"/>
                </a:lnSpc>
                <a:defRPr sz="3200"/>
              </a:pPr>
              <a:r>
                <a:t>a</a:t>
              </a:r>
              <a:r>
                <a:rPr baseline="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30000"/>
                <a:t>(m)-1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，从而</a:t>
              </a:r>
              <a:r>
                <a:t>ax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t>b (mod m)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的一个解为</a:t>
              </a:r>
              <a:r>
                <a:t>ba</a:t>
              </a:r>
              <a:r>
                <a:rPr baseline="30000">
                  <a:latin typeface="Symbol"/>
                  <a:ea typeface="Symbol"/>
                  <a:cs typeface="Symbol"/>
                  <a:sym typeface="Symbol"/>
                </a:rPr>
                <a:t>j</a:t>
              </a:r>
              <a:r>
                <a:rPr baseline="30000"/>
                <a:t>(m)-1</a:t>
              </a:r>
              <a:r>
                <a:rPr>
                  <a:latin typeface="宋体"/>
                  <a:ea typeface="宋体"/>
                  <a:cs typeface="宋体"/>
                  <a:sym typeface="宋体"/>
                </a:rPr>
                <a:t>。 </a:t>
              </a:r>
            </a:p>
          </p:txBody>
        </p:sp>
        <p:sp>
          <p:nvSpPr>
            <p:cNvPr id="196" name="线条"/>
            <p:cNvSpPr/>
            <p:nvPr/>
          </p:nvSpPr>
          <p:spPr>
            <a:xfrm flipH="1">
              <a:off x="1937628" y="523377"/>
              <a:ext cx="152401" cy="29051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7" name="线条"/>
            <p:cNvSpPr/>
            <p:nvPr/>
          </p:nvSpPr>
          <p:spPr>
            <a:xfrm flipH="1">
              <a:off x="5626100" y="546827"/>
              <a:ext cx="152401" cy="29051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9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若a和n互质，则aϕ(n)≡1(mod n)"/>
          <p:cNvSpPr txBox="1"/>
          <p:nvPr/>
        </p:nvSpPr>
        <p:spPr>
          <a:xfrm>
            <a:off x="381000" y="1524000"/>
            <a:ext cx="8305800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tabLst>
                <a:tab pos="3708400" algn="l"/>
              </a:tabLst>
              <a:defRPr sz="3200"/>
            </a:pPr>
            <a:r>
              <a:rPr>
                <a:latin typeface="宋体"/>
                <a:ea typeface="宋体"/>
                <a:cs typeface="宋体"/>
                <a:sym typeface="宋体"/>
              </a:rPr>
              <a:t>若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和</a:t>
            </a:r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互质，则</a:t>
            </a:r>
            <a:r>
              <a:t>a</a:t>
            </a:r>
            <a:r>
              <a:rPr baseline="30000">
                <a:latin typeface="Symbol"/>
                <a:ea typeface="Symbol"/>
                <a:cs typeface="Symbol"/>
                <a:sym typeface="Symbol"/>
              </a:rPr>
              <a:t>j</a:t>
            </a:r>
            <a:r>
              <a:rPr baseline="30000"/>
              <a:t>(n)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1(mod n)</a:t>
            </a:r>
          </a:p>
        </p:txBody>
      </p:sp>
      <p:sp>
        <p:nvSpPr>
          <p:cNvPr id="20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20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6050"/>
            <a:ext cx="8835980" cy="14076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6" name="成组"/>
          <p:cNvGrpSpPr/>
          <p:nvPr/>
        </p:nvGrpSpPr>
        <p:grpSpPr>
          <a:xfrm>
            <a:off x="228599" y="2771457"/>
            <a:ext cx="8763003" cy="1302342"/>
            <a:chOff x="0" y="0"/>
            <a:chExt cx="8763001" cy="1302340"/>
          </a:xfrm>
        </p:grpSpPr>
        <p:sp>
          <p:nvSpPr>
            <p:cNvPr id="204" name="推论1(Fermat小定理Ⅰ)  若p是质数而p|a，则：ap-1≡1(mod p)。"/>
            <p:cNvSpPr txBox="1"/>
            <p:nvPr/>
          </p:nvSpPr>
          <p:spPr>
            <a:xfrm>
              <a:off x="0" y="0"/>
              <a:ext cx="8763001" cy="1302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30000"/>
                </a:lnSpc>
                <a:tabLst>
                  <a:tab pos="3708400" algn="l"/>
                </a:tabLst>
                <a:defRPr sz="3200">
                  <a:solidFill>
                    <a:srgbClr val="212745"/>
                  </a:solidFill>
                </a:defRPr>
              </a:pPr>
              <a:r>
                <a:rPr dirty="0">
                  <a:latin typeface="宋体"/>
                  <a:ea typeface="宋体"/>
                  <a:cs typeface="宋体"/>
                  <a:sym typeface="宋体"/>
                </a:rPr>
                <a:t>推论</a:t>
              </a:r>
              <a:r>
                <a:rPr dirty="0"/>
                <a:t>1(</a:t>
              </a:r>
              <a:r>
                <a:rPr dirty="0" err="1"/>
                <a:t>Fermat</a:t>
              </a:r>
              <a:r>
                <a:rPr dirty="0" err="1">
                  <a:latin typeface="宋体"/>
                  <a:ea typeface="宋体"/>
                  <a:cs typeface="宋体"/>
                  <a:sym typeface="宋体"/>
                </a:rPr>
                <a:t>小定理</a:t>
              </a:r>
              <a:r>
                <a:rPr dirty="0" err="1"/>
                <a:t>Ⅰ</a:t>
              </a:r>
              <a:r>
                <a:rPr dirty="0"/>
                <a:t>)</a:t>
              </a:r>
              <a:r>
                <a:rPr dirty="0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  </a:t>
              </a:r>
              <a:r>
                <a:rPr dirty="0" err="1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若</a:t>
              </a:r>
              <a:r>
                <a:rPr dirty="0" err="1">
                  <a:solidFill>
                    <a:srgbClr val="000000"/>
                  </a:solidFill>
                </a:rPr>
                <a:t>p</a:t>
              </a:r>
              <a:r>
                <a:rPr dirty="0" err="1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是质数而</a:t>
              </a:r>
              <a:r>
                <a:rPr dirty="0" err="1">
                  <a:solidFill>
                    <a:srgbClr val="000000"/>
                  </a:solidFill>
                </a:rPr>
                <a:t>p|a</a:t>
              </a:r>
              <a:r>
                <a:rPr dirty="0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，</a:t>
              </a:r>
              <a:br>
                <a:rPr lang="en-US" dirty="0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</a:br>
              <a:r>
                <a:rPr dirty="0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则：</a:t>
              </a:r>
              <a:r>
                <a:rPr dirty="0">
                  <a:solidFill>
                    <a:srgbClr val="000000"/>
                  </a:solidFill>
                </a:rPr>
                <a:t>a</a:t>
              </a:r>
              <a:r>
                <a:rPr baseline="30000" dirty="0">
                  <a:solidFill>
                    <a:srgbClr val="000000"/>
                  </a:solidFill>
                </a:rPr>
                <a:t>p-1</a:t>
              </a:r>
              <a:r>
                <a:rPr dirty="0">
                  <a:solidFill>
                    <a:srgbClr val="000000"/>
                  </a:solidFill>
                  <a:latin typeface="Symbol"/>
                  <a:ea typeface="Symbol"/>
                  <a:cs typeface="Symbol"/>
                  <a:sym typeface="Symbol"/>
                </a:rPr>
                <a:t>º</a:t>
              </a:r>
              <a:r>
                <a:rPr dirty="0">
                  <a:solidFill>
                    <a:srgbClr val="000000"/>
                  </a:solidFill>
                </a:rPr>
                <a:t>1(mod p)</a:t>
              </a:r>
              <a:r>
                <a:rPr dirty="0">
                  <a:solidFill>
                    <a:srgbClr val="000000"/>
                  </a:solidFill>
                  <a:latin typeface="宋体"/>
                  <a:ea typeface="宋体"/>
                  <a:cs typeface="宋体"/>
                  <a:sym typeface="宋体"/>
                </a:rPr>
                <a:t>。</a:t>
              </a:r>
            </a:p>
          </p:txBody>
        </p:sp>
        <p:sp>
          <p:nvSpPr>
            <p:cNvPr id="205" name="线条"/>
            <p:cNvSpPr/>
            <p:nvPr/>
          </p:nvSpPr>
          <p:spPr>
            <a:xfrm>
              <a:off x="7237437" y="228600"/>
              <a:ext cx="152401" cy="3048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07" name="推论2（Fermat小定理Ⅱ） 若p为质数，则对任意整数a都有ap≡a(mod p)。"/>
          <p:cNvSpPr txBox="1"/>
          <p:nvPr/>
        </p:nvSpPr>
        <p:spPr>
          <a:xfrm>
            <a:off x="228599" y="4495800"/>
            <a:ext cx="8763002" cy="1405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tabLst>
                <a:tab pos="3708400" algn="l"/>
              </a:tabLst>
              <a:defRPr sz="3200">
                <a:solidFill>
                  <a:srgbClr val="212745"/>
                </a:solidFill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推论</a:t>
            </a:r>
            <a:r>
              <a:t>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（</a:t>
            </a:r>
            <a:r>
              <a:t>Fermat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小定理</a:t>
            </a:r>
            <a:r>
              <a:t>Ⅱ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</a:t>
            </a:r>
            <a:r>
              <a:rPr>
                <a:solidFill>
                  <a:srgbClr val="000000"/>
                </a:solidFill>
                <a:latin typeface="宋体"/>
                <a:ea typeface="宋体"/>
                <a:cs typeface="宋体"/>
                <a:sym typeface="宋体"/>
              </a:rPr>
              <a:t> 若</a:t>
            </a:r>
            <a:r>
              <a:rPr>
                <a:solidFill>
                  <a:srgbClr val="000000"/>
                </a:solidFill>
              </a:rPr>
              <a:t>p</a:t>
            </a:r>
            <a:r>
              <a:rPr>
                <a:solidFill>
                  <a:srgbClr val="000000"/>
                </a:solidFill>
                <a:latin typeface="宋体"/>
                <a:ea typeface="宋体"/>
                <a:cs typeface="宋体"/>
                <a:sym typeface="宋体"/>
              </a:rPr>
              <a:t>为质数，则对任意整数</a:t>
            </a:r>
            <a:r>
              <a:rPr>
                <a:solidFill>
                  <a:srgbClr val="000000"/>
                </a:solidFill>
              </a:rPr>
              <a:t>a</a:t>
            </a:r>
            <a:r>
              <a:rPr>
                <a:solidFill>
                  <a:srgbClr val="000000"/>
                </a:solidFill>
                <a:latin typeface="宋体"/>
                <a:ea typeface="宋体"/>
                <a:cs typeface="宋体"/>
                <a:sym typeface="宋体"/>
              </a:rPr>
              <a:t>都有</a:t>
            </a:r>
            <a:r>
              <a:rPr>
                <a:solidFill>
                  <a:srgbClr val="000000"/>
                </a:solidFill>
              </a:rPr>
              <a:t>a</a:t>
            </a:r>
            <a:r>
              <a:rPr baseline="30000">
                <a:solidFill>
                  <a:srgbClr val="000000"/>
                </a:solidFill>
              </a:rPr>
              <a:t>p</a:t>
            </a:r>
            <a:r>
              <a:rPr>
                <a:solidFill>
                  <a:srgbClr val="000000"/>
                </a:solid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>
                <a:solidFill>
                  <a:srgbClr val="000000"/>
                </a:solidFill>
              </a:rPr>
              <a:t>a(mod p)</a:t>
            </a:r>
            <a:r>
              <a:rPr>
                <a:solidFill>
                  <a:srgbClr val="000000"/>
                </a:solidFill>
                <a:latin typeface="宋体"/>
                <a:ea typeface="宋体"/>
                <a:cs typeface="宋体"/>
                <a:sym typeface="宋体"/>
              </a:rPr>
              <a:t>。</a:t>
            </a:r>
            <a:r>
              <a:rPr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1" animBg="1" advAuto="0"/>
      <p:bldP spid="207" grpId="2" build="p" bldLvl="5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210" name="P167-1…"/>
          <p:cNvSpPr>
            <a:spLocks noGrp="1"/>
          </p:cNvSpPr>
          <p:nvPr>
            <p:ph type="body" sz="quarter" idx="4294967295"/>
          </p:nvPr>
        </p:nvSpPr>
        <p:spPr>
          <a:xfrm>
            <a:off x="234174" y="855505"/>
            <a:ext cx="8768992" cy="13468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pPr>
            <a:r>
              <a:t>P167-1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pPr>
            <a:r>
              <a:t>1.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今有物不知其数，三三数之剩二，五五数之剩三，七七数之剩二，问至少物几何</a:t>
            </a:r>
            <a:r>
              <a:t>? 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孙子算经</a:t>
            </a:r>
            <a:r>
              <a:t>)</a:t>
            </a:r>
          </a:p>
        </p:txBody>
      </p:sp>
      <p:sp>
        <p:nvSpPr>
          <p:cNvPr id="211" name="思考题："/>
          <p:cNvSpPr txBox="1"/>
          <p:nvPr/>
        </p:nvSpPr>
        <p:spPr>
          <a:xfrm>
            <a:off x="557530" y="102597"/>
            <a:ext cx="3023804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481263" indent="-481263">
              <a:buSzPct val="100000"/>
              <a:buChar char="•"/>
              <a:defRPr sz="4800"/>
            </a:lvl1pPr>
          </a:lstStyle>
          <a:p>
            <a:r>
              <a:t>思考题：</a:t>
            </a:r>
          </a:p>
        </p:txBody>
      </p:sp>
      <p:sp>
        <p:nvSpPr>
          <p:cNvPr id="212" name="解：…"/>
          <p:cNvSpPr txBox="1"/>
          <p:nvPr/>
        </p:nvSpPr>
        <p:spPr>
          <a:xfrm>
            <a:off x="236501" y="2205993"/>
            <a:ext cx="8556384" cy="398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66700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解：      </a:t>
            </a:r>
          </a:p>
          <a:p>
            <a:pPr indent="666750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2(mod 3)</a:t>
            </a:r>
          </a:p>
          <a:p>
            <a:pPr indent="800100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3(mod 5)</a:t>
            </a:r>
          </a:p>
          <a:p>
            <a:pPr indent="800100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2(mod 7)</a:t>
            </a:r>
          </a:p>
          <a:p>
            <a:pPr indent="333375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因为</a:t>
            </a:r>
            <a:r>
              <a:t>3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t>35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互质，所以有</a:t>
            </a:r>
            <a:r>
              <a:t>1=-1×35+12×3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，即</a:t>
            </a:r>
            <a:r>
              <a:t>l</a:t>
            </a:r>
            <a:r>
              <a:rPr baseline="-5999"/>
              <a:t>1</a:t>
            </a:r>
            <a:r>
              <a:t>=-35</a:t>
            </a:r>
          </a:p>
          <a:p>
            <a:pPr indent="333375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同理</a:t>
            </a:r>
            <a:r>
              <a:t>5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t>21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互质，有</a:t>
            </a:r>
            <a:r>
              <a:t>1=1×21+(-1)×4×5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，即</a:t>
            </a:r>
            <a:r>
              <a:t>l</a:t>
            </a:r>
            <a:r>
              <a:rPr baseline="-5999"/>
              <a:t>2</a:t>
            </a:r>
            <a:r>
              <a:t>=21</a:t>
            </a:r>
          </a:p>
          <a:p>
            <a:pPr indent="333375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t>15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互质，有</a:t>
            </a:r>
            <a:r>
              <a:t>1=1×15+(-1)×2×7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，即</a:t>
            </a:r>
            <a:r>
              <a:t>l</a:t>
            </a:r>
            <a:r>
              <a:rPr baseline="-5999"/>
              <a:t>3</a:t>
            </a:r>
            <a:r>
              <a:t>=15</a:t>
            </a:r>
          </a:p>
          <a:p>
            <a:pPr indent="333375" algn="just" defTabSz="266700">
              <a:defRPr sz="28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所以</a:t>
            </a:r>
            <a:r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2×(-35)+3×21+2×15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</a:t>
            </a:r>
            <a:r>
              <a:t>23(mod 105)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1" animBg="1" advAuto="0"/>
    </p:bldLst>
  </p:timing>
</p:sld>
</file>

<file path=ppt/theme/theme1.xml><?xml version="1.0" encoding="utf-8"?>
<a:theme xmlns:a="http://schemas.openxmlformats.org/drawingml/2006/main" name="气流">
  <a:themeElements>
    <a:clrScheme name="气流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E67C8"/>
      </a:accent1>
      <a:accent2>
        <a:srgbClr val="5ECCF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气流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气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气流">
  <a:themeElements>
    <a:clrScheme name="气流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E67C8"/>
      </a:accent1>
      <a:accent2>
        <a:srgbClr val="5ECCF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气流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气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2221</Words>
  <Application>Microsoft Macintosh PowerPoint</Application>
  <PresentationFormat>全屏显示(4:3)</PresentationFormat>
  <Paragraphs>122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楷体_GB2312</vt:lpstr>
      <vt:lpstr>宋体</vt:lpstr>
      <vt:lpstr>Arial</vt:lpstr>
      <vt:lpstr>Georgia</vt:lpstr>
      <vt:lpstr>Symbol</vt:lpstr>
      <vt:lpstr>Times New Roman</vt:lpstr>
      <vt:lpstr>Trebuchet MS</vt:lpstr>
      <vt:lpstr>气流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Microsoft Office User</cp:lastModifiedBy>
  <cp:revision>8</cp:revision>
  <dcterms:modified xsi:type="dcterms:W3CDTF">2024-05-30T01:21:53Z</dcterms:modified>
</cp:coreProperties>
</file>