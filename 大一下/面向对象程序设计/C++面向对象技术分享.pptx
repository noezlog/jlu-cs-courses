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2"/>
  </p:notesMasterIdLst>
  <p:sldIdLst>
    <p:sldId id="256" r:id="rId2"/>
    <p:sldId id="257" r:id="rId3"/>
    <p:sldId id="279" r:id="rId4"/>
    <p:sldId id="373" r:id="rId5"/>
    <p:sldId id="374" r:id="rId6"/>
    <p:sldId id="423" r:id="rId7"/>
    <p:sldId id="375" r:id="rId8"/>
    <p:sldId id="386" r:id="rId9"/>
    <p:sldId id="377" r:id="rId10"/>
    <p:sldId id="378" r:id="rId11"/>
    <p:sldId id="379" r:id="rId12"/>
    <p:sldId id="380" r:id="rId13"/>
    <p:sldId id="381" r:id="rId14"/>
    <p:sldId id="382" r:id="rId15"/>
    <p:sldId id="387" r:id="rId16"/>
    <p:sldId id="383" r:id="rId17"/>
    <p:sldId id="384" r:id="rId18"/>
    <p:sldId id="385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95" r:id="rId27"/>
    <p:sldId id="396" r:id="rId28"/>
    <p:sldId id="397" r:id="rId29"/>
    <p:sldId id="398" r:id="rId30"/>
    <p:sldId id="400" r:id="rId31"/>
    <p:sldId id="401" r:id="rId32"/>
    <p:sldId id="402" r:id="rId33"/>
    <p:sldId id="403" r:id="rId34"/>
    <p:sldId id="419" r:id="rId35"/>
    <p:sldId id="420" r:id="rId36"/>
    <p:sldId id="421" r:id="rId37"/>
    <p:sldId id="422" r:id="rId38"/>
    <p:sldId id="404" r:id="rId39"/>
    <p:sldId id="405" r:id="rId40"/>
    <p:sldId id="406" r:id="rId41"/>
    <p:sldId id="418" r:id="rId42"/>
    <p:sldId id="407" r:id="rId43"/>
    <p:sldId id="408" r:id="rId44"/>
    <p:sldId id="417" r:id="rId45"/>
    <p:sldId id="409" r:id="rId46"/>
    <p:sldId id="410" r:id="rId47"/>
    <p:sldId id="412" r:id="rId48"/>
    <p:sldId id="413" r:id="rId49"/>
    <p:sldId id="414" r:id="rId50"/>
    <p:sldId id="415" r:id="rId51"/>
    <p:sldId id="416" r:id="rId52"/>
    <p:sldId id="425" r:id="rId53"/>
    <p:sldId id="426" r:id="rId54"/>
    <p:sldId id="427" r:id="rId55"/>
    <p:sldId id="428" r:id="rId56"/>
    <p:sldId id="429" r:id="rId57"/>
    <p:sldId id="430" r:id="rId58"/>
    <p:sldId id="431" r:id="rId59"/>
    <p:sldId id="432" r:id="rId60"/>
    <p:sldId id="433" r:id="rId61"/>
    <p:sldId id="434" r:id="rId62"/>
    <p:sldId id="455" r:id="rId63"/>
    <p:sldId id="435" r:id="rId64"/>
    <p:sldId id="436" r:id="rId65"/>
    <p:sldId id="437" r:id="rId66"/>
    <p:sldId id="438" r:id="rId67"/>
    <p:sldId id="443" r:id="rId68"/>
    <p:sldId id="444" r:id="rId69"/>
    <p:sldId id="445" r:id="rId70"/>
    <p:sldId id="446" r:id="rId71"/>
    <p:sldId id="439" r:id="rId72"/>
    <p:sldId id="440" r:id="rId73"/>
    <p:sldId id="441" r:id="rId74"/>
    <p:sldId id="442" r:id="rId75"/>
    <p:sldId id="447" r:id="rId76"/>
    <p:sldId id="448" r:id="rId77"/>
    <p:sldId id="449" r:id="rId78"/>
    <p:sldId id="450" r:id="rId79"/>
    <p:sldId id="451" r:id="rId80"/>
    <p:sldId id="452" r:id="rId81"/>
    <p:sldId id="453" r:id="rId82"/>
    <p:sldId id="454" r:id="rId83"/>
    <p:sldId id="458" r:id="rId84"/>
    <p:sldId id="459" r:id="rId85"/>
    <p:sldId id="460" r:id="rId86"/>
    <p:sldId id="461" r:id="rId87"/>
    <p:sldId id="463" r:id="rId88"/>
    <p:sldId id="465" r:id="rId89"/>
    <p:sldId id="466" r:id="rId90"/>
    <p:sldId id="260" r:id="rId91"/>
    <p:sldId id="261" r:id="rId92"/>
    <p:sldId id="262" r:id="rId93"/>
    <p:sldId id="263" r:id="rId94"/>
    <p:sldId id="264" r:id="rId95"/>
    <p:sldId id="265" r:id="rId96"/>
    <p:sldId id="267" r:id="rId97"/>
    <p:sldId id="268" r:id="rId98"/>
    <p:sldId id="269" r:id="rId99"/>
    <p:sldId id="274" r:id="rId100"/>
    <p:sldId id="270" r:id="rId101"/>
    <p:sldId id="272" r:id="rId102"/>
    <p:sldId id="273" r:id="rId103"/>
    <p:sldId id="271" r:id="rId104"/>
    <p:sldId id="362" r:id="rId105"/>
    <p:sldId id="361" r:id="rId106"/>
    <p:sldId id="364" r:id="rId107"/>
    <p:sldId id="367" r:id="rId108"/>
    <p:sldId id="365" r:id="rId109"/>
    <p:sldId id="366" r:id="rId110"/>
    <p:sldId id="368" r:id="rId111"/>
  </p:sldIdLst>
  <p:sldSz cx="12192000" cy="6858000"/>
  <p:notesSz cx="6858000" cy="9144000"/>
  <p:custDataLst>
    <p:tags r:id="rId1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27A2C67-FFF1-4D15-BF56-6511486D2C45}">
          <p14:sldIdLst>
            <p14:sldId id="256"/>
            <p14:sldId id="257"/>
            <p14:sldId id="279"/>
            <p14:sldId id="373"/>
            <p14:sldId id="374"/>
            <p14:sldId id="423"/>
            <p14:sldId id="375"/>
            <p14:sldId id="386"/>
            <p14:sldId id="377"/>
            <p14:sldId id="378"/>
            <p14:sldId id="379"/>
            <p14:sldId id="380"/>
            <p14:sldId id="381"/>
            <p14:sldId id="382"/>
            <p14:sldId id="387"/>
            <p14:sldId id="383"/>
            <p14:sldId id="384"/>
            <p14:sldId id="385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400"/>
            <p14:sldId id="401"/>
            <p14:sldId id="402"/>
            <p14:sldId id="403"/>
            <p14:sldId id="419"/>
            <p14:sldId id="420"/>
            <p14:sldId id="421"/>
            <p14:sldId id="422"/>
            <p14:sldId id="404"/>
            <p14:sldId id="405"/>
            <p14:sldId id="406"/>
            <p14:sldId id="418"/>
            <p14:sldId id="407"/>
            <p14:sldId id="408"/>
            <p14:sldId id="417"/>
            <p14:sldId id="409"/>
            <p14:sldId id="410"/>
            <p14:sldId id="412"/>
            <p14:sldId id="413"/>
            <p14:sldId id="414"/>
            <p14:sldId id="415"/>
            <p14:sldId id="416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55"/>
            <p14:sldId id="435"/>
            <p14:sldId id="436"/>
            <p14:sldId id="437"/>
            <p14:sldId id="438"/>
            <p14:sldId id="443"/>
            <p14:sldId id="444"/>
            <p14:sldId id="445"/>
            <p14:sldId id="446"/>
            <p14:sldId id="439"/>
            <p14:sldId id="440"/>
            <p14:sldId id="441"/>
            <p14:sldId id="442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  <p14:sldId id="458"/>
            <p14:sldId id="459"/>
            <p14:sldId id="460"/>
            <p14:sldId id="461"/>
            <p14:sldId id="463"/>
            <p14:sldId id="465"/>
            <p14:sldId id="466"/>
          </p14:sldIdLst>
        </p14:section>
        <p14:section name="向面向对象前进" id="{5A940003-9CDE-4656-9DE4-C21136669DE5}">
          <p14:sldIdLst>
            <p14:sldId id="260"/>
          </p14:sldIdLst>
        </p14:section>
        <p14:section name="论题 1：为什么要设计" id="{FDC9B6D8-C670-49B7-958B-ED19239C776D}">
          <p14:sldIdLst>
            <p14:sldId id="261"/>
            <p14:sldId id="262"/>
            <p14:sldId id="263"/>
            <p14:sldId id="264"/>
            <p14:sldId id="265"/>
            <p14:sldId id="267"/>
            <p14:sldId id="268"/>
            <p14:sldId id="269"/>
            <p14:sldId id="274"/>
            <p14:sldId id="270"/>
            <p14:sldId id="272"/>
            <p14:sldId id="273"/>
            <p14:sldId id="271"/>
            <p14:sldId id="362"/>
            <p14:sldId id="361"/>
            <p14:sldId id="364"/>
            <p14:sldId id="367"/>
            <p14:sldId id="365"/>
            <p14:sldId id="366"/>
            <p14:sldId id="3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gs" Target="tags/tag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面向对象技术分享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云猫猫</a:t>
            </a:r>
          </a:p>
          <a:p>
            <a:r>
              <a:rPr lang="en-US" altLang="zh-CN"/>
              <a:t>2025-06-08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李志凯（云猫猫）</a:t>
            </a:r>
            <a:endParaRPr lang="en-US" altLang="zh-CN"/>
          </a:p>
          <a:p>
            <a:pPr marL="0" lvl="0" indent="0">
              <a:buNone/>
            </a:pPr>
            <a:endParaRPr lang="zh-CN" altLang="en-US" strike="sngStrike">
              <a:solidFill>
                <a:schemeClr val="bg1">
                  <a:lumMod val="75000"/>
                </a:schemeClr>
              </a:solidFill>
            </a:endParaRPr>
          </a:p>
          <a:p>
            <a:pPr lvl="1"/>
            <a:endParaRPr lang="zh-CN" altLang="en-US"/>
          </a:p>
          <a:p>
            <a:pPr lvl="1"/>
            <a:endParaRPr lang="zh-CN" altLang="en-US" i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自我介绍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鉴于这是一个复习性质的活动</a:t>
            </a:r>
          </a:p>
          <a:p>
            <a:pPr lvl="1"/>
            <a:r>
              <a:rPr lang="zh-CN" altLang="en-US"/>
              <a:t>一半：回顾</a:t>
            </a:r>
            <a:r>
              <a:rPr lang="en-US" altLang="zh-CN"/>
              <a:t> C++ </a:t>
            </a:r>
            <a:r>
              <a:rPr lang="zh-CN" altLang="en-US"/>
              <a:t>中的一些基础语法</a:t>
            </a:r>
          </a:p>
          <a:p>
            <a:pPr lvl="1"/>
            <a:r>
              <a:rPr lang="zh-CN" altLang="en-US"/>
              <a:t>一半：软件工程与设计模式中的一些教条</a:t>
            </a:r>
          </a:p>
          <a:p>
            <a:pPr lvl="0"/>
            <a:endParaRPr lang="zh-CN" altLang="en-US"/>
          </a:p>
          <a:p>
            <a:pPr lvl="0"/>
            <a:r>
              <a:rPr lang="zh-CN" altLang="en-US"/>
              <a:t>希望能在复习之余</a:t>
            </a:r>
          </a:p>
          <a:p>
            <a:pPr lvl="1"/>
            <a:r>
              <a:rPr lang="zh-CN" altLang="en-US"/>
              <a:t>给想要了解面向对象设计的同学一点启发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8700" y="482727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挑选了我觉得我可能讲的更明白的东西，不是所有内容，比如模板和异常处理我觉得</a:t>
            </a:r>
            <a:r>
              <a:rPr lang="en-US" altLang="zh-CN"/>
              <a:t>ppt</a:t>
            </a:r>
            <a:r>
              <a:rPr lang="zh-CN" altLang="en-US"/>
              <a:t>也讲的不错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的标准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995170"/>
            <a:ext cx="11981815" cy="404431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C++</a:t>
            </a:r>
            <a:r>
              <a:rPr lang="zh-CN" altLang="en-US">
                <a:sym typeface="+mn-ea"/>
              </a:rPr>
              <a:t>的标准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建议先学习</a:t>
            </a:r>
            <a:r>
              <a:rPr lang="en-US" altLang="zh-CN"/>
              <a:t>c++11</a:t>
            </a:r>
            <a:r>
              <a:rPr lang="zh-CN" altLang="en-US"/>
              <a:t>标准</a:t>
            </a:r>
          </a:p>
          <a:p>
            <a:r>
              <a:rPr lang="zh-CN" altLang="en-US"/>
              <a:t>所新加入的东西比较多</a:t>
            </a:r>
          </a:p>
          <a:p>
            <a:endParaRPr lang="zh-CN" altLang="en-US"/>
          </a:p>
          <a:p>
            <a:r>
              <a:rPr lang="zh-CN" altLang="en-US"/>
              <a:t>支持的数据结构有：</a:t>
            </a:r>
          </a:p>
          <a:p>
            <a:pPr algn="l"/>
            <a:r>
              <a:rPr lang="zh-CN" altLang="en-US"/>
              <a:t>类似</a:t>
            </a:r>
            <a:r>
              <a:rPr lang="en-US" altLang="zh-CN"/>
              <a:t>hash</a:t>
            </a:r>
            <a:r>
              <a:rPr lang="zh-CN" altLang="en-US"/>
              <a:t>表的功能</a:t>
            </a:r>
            <a:r>
              <a:rPr lang="en-US" altLang="zh-CN"/>
              <a:t>                   &lt;unordered_map&gt;</a:t>
            </a:r>
          </a:p>
          <a:p>
            <a:r>
              <a:rPr lang="zh-CN" altLang="en-US">
                <a:sym typeface="+mn-ea"/>
              </a:rPr>
              <a:t>类似平衡树，红黑树的功能</a:t>
            </a:r>
            <a:r>
              <a:rPr lang="en-US" altLang="zh-CN">
                <a:sym typeface="+mn-ea"/>
              </a:rPr>
              <a:t> &lt;map&gt;</a:t>
            </a:r>
            <a:endParaRPr lang="en-US" altLang="zh-CN"/>
          </a:p>
          <a:p>
            <a:r>
              <a:rPr lang="zh-CN" altLang="en-US"/>
              <a:t>类似堆的功能</a:t>
            </a:r>
            <a:r>
              <a:rPr lang="en-US" altLang="zh-CN"/>
              <a:t>			&lt;priority_queue&gt;</a:t>
            </a:r>
          </a:p>
          <a:p>
            <a:r>
              <a:rPr lang="zh-CN" altLang="en-US"/>
              <a:t>等等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内存分区概述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10000"/>
          </a:bodyPr>
          <a:lstStyle/>
          <a:p>
            <a:r>
              <a:rPr lang="zh-CN" altLang="en-US"/>
              <a:t>静态区</a:t>
            </a:r>
            <a:r>
              <a:rPr lang="en-US" altLang="zh-CN"/>
              <a:t>	</a:t>
            </a:r>
            <a:r>
              <a:rPr lang="zh-CN" altLang="en-US"/>
              <a:t>全局变量、静态变量</a:t>
            </a:r>
          </a:p>
          <a:p>
            <a:r>
              <a:rPr lang="zh-CN" altLang="en-US"/>
              <a:t>栈区</a:t>
            </a:r>
            <a:r>
              <a:rPr lang="en-US" altLang="zh-CN"/>
              <a:t>	</a:t>
            </a:r>
            <a:r>
              <a:rPr lang="zh-CN" altLang="en-US"/>
              <a:t>局部变量，函数调用栈帧</a:t>
            </a:r>
            <a:r>
              <a:rPr lang="en-US" altLang="zh-CN"/>
              <a:t>        </a:t>
            </a:r>
            <a:r>
              <a:rPr lang="zh-CN" altLang="en-US"/>
              <a:t>函数结束自动回收</a:t>
            </a:r>
          </a:p>
          <a:p>
            <a:r>
              <a:rPr lang="zh-CN" altLang="en-US"/>
              <a:t>堆区</a:t>
            </a:r>
            <a:r>
              <a:rPr lang="en-US" altLang="zh-CN"/>
              <a:t>	new </a:t>
            </a:r>
            <a:r>
              <a:rPr lang="zh-CN" altLang="en-US"/>
              <a:t>分配的动态内存（程序员手动管理）</a:t>
            </a:r>
          </a:p>
          <a:p>
            <a:r>
              <a:rPr lang="zh-CN" altLang="en-US"/>
              <a:t>静态管理（例：</a:t>
            </a:r>
            <a:r>
              <a:rPr lang="en-US" altLang="zh-CN"/>
              <a:t>int a = 5;</a:t>
            </a:r>
            <a:r>
              <a:rPr lang="zh-CN" altLang="en-US"/>
              <a:t>）</a:t>
            </a:r>
          </a:p>
          <a:p>
            <a:r>
              <a:rPr lang="zh-CN" altLang="en-US"/>
              <a:t>优点：自动分配与回收，简单易用</a:t>
            </a:r>
          </a:p>
          <a:p>
            <a:r>
              <a:rPr lang="zh-CN" altLang="en-US"/>
              <a:t>缺点：生命周期和作用域固定；数组大小必须是编译期常量；构造灵活性差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</a:t>
            </a:r>
            <a:r>
              <a:rPr lang="zh-CN" altLang="en-US"/>
              <a:t>动态管理（例：</a:t>
            </a:r>
            <a:r>
              <a:rPr lang="en-US" altLang="zh-CN"/>
              <a:t>int* p = new int(5);</a:t>
            </a:r>
            <a:r>
              <a:rPr lang="zh-CN" altLang="en-US"/>
              <a:t>）</a:t>
            </a:r>
          </a:p>
          <a:p>
            <a:r>
              <a:rPr lang="zh-CN" altLang="en-US"/>
              <a:t>优点：对象</a:t>
            </a:r>
            <a:r>
              <a:rPr lang="en-US" altLang="zh-CN"/>
              <a:t>/</a:t>
            </a:r>
            <a:r>
              <a:rPr lang="zh-CN" altLang="en-US"/>
              <a:t>数组创建更灵活，适合运行时不确定的资源</a:t>
            </a:r>
          </a:p>
          <a:p>
            <a:r>
              <a:rPr lang="zh-CN" altLang="en-US"/>
              <a:t>缺点：需手动释放，易出现内存泄漏或悬空指针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包含警戒和</a:t>
            </a:r>
            <a:r>
              <a:rPr lang="en-US" altLang="zh-CN"/>
              <a:t>program once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class A {};</a:t>
            </a:r>
          </a:p>
          <a:p>
            <a:endParaRPr lang="en-US" altLang="zh-CN"/>
          </a:p>
          <a:p>
            <a:r>
              <a:rPr lang="en-US" altLang="zh-CN"/>
              <a:t>// File: B.h</a:t>
            </a:r>
          </a:p>
          <a:p>
            <a:r>
              <a:rPr lang="en-US" altLang="zh-CN"/>
              <a:t>#include "A.h"</a:t>
            </a:r>
          </a:p>
          <a:p>
            <a:r>
              <a:rPr lang="en-US" altLang="zh-CN"/>
              <a:t>class B {};</a:t>
            </a:r>
          </a:p>
          <a:p>
            <a:pPr lvl="1"/>
            <a:endParaRPr lang="en-US" altLang="zh-CN"/>
          </a:p>
          <a:p>
            <a:r>
              <a:rPr lang="en-US" altLang="zh-CN"/>
              <a:t>// File: main.cpp</a:t>
            </a:r>
          </a:p>
          <a:p>
            <a:r>
              <a:rPr lang="en-US" altLang="zh-CN"/>
              <a:t>#include "A.h"                               </a:t>
            </a:r>
            <a:r>
              <a:rPr lang="zh-CN" altLang="en-US"/>
              <a:t>会导致以下问题</a:t>
            </a:r>
            <a:endParaRPr lang="en-US" altLang="zh-CN"/>
          </a:p>
          <a:p>
            <a:r>
              <a:rPr lang="en-US" altLang="zh-CN"/>
              <a:t>#include "B.h"                               error: redefinition of class 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0365" y="268605"/>
            <a:ext cx="9465310" cy="6087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>
                <a:sym typeface="+mn-ea"/>
              </a:rPr>
              <a:t>在</a:t>
            </a:r>
            <a:r>
              <a:rPr lang="en-US" altLang="zh-CN" sz="2800">
                <a:sym typeface="+mn-ea"/>
              </a:rPr>
              <a:t>.h</a:t>
            </a:r>
            <a:r>
              <a:rPr lang="zh-CN" altLang="en-US" sz="2800">
                <a:sym typeface="+mn-ea"/>
              </a:rPr>
              <a:t>文件里面声明，</a:t>
            </a:r>
            <a:r>
              <a:rPr lang="en-US" altLang="zh-CN" sz="2800">
                <a:sym typeface="+mn-ea"/>
              </a:rPr>
              <a:t>DOGH</a:t>
            </a:r>
            <a:r>
              <a:rPr lang="zh-CN" altLang="en-US" sz="2800">
                <a:sym typeface="+mn-ea"/>
              </a:rPr>
              <a:t>就是个名字</a:t>
            </a:r>
            <a:r>
              <a:rPr lang="en-US" altLang="zh-CN" sz="2800">
                <a:sym typeface="+mn-ea"/>
              </a:rPr>
              <a:t>,</a:t>
            </a:r>
            <a:r>
              <a:rPr lang="zh-CN" altLang="en-US" sz="2800">
                <a:sym typeface="+mn-ea"/>
              </a:rPr>
              <a:t>不要重复就可以</a:t>
            </a:r>
          </a:p>
          <a:p>
            <a:endParaRPr lang="zh-CN" altLang="en-US" sz="2800"/>
          </a:p>
          <a:p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512570"/>
            <a:ext cx="8229600" cy="38328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Abstract Data Type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ADT</a:t>
            </a:r>
            <a:r>
              <a:rPr lang="zh-CN" altLang="en-US">
                <a:sym typeface="+mn-ea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各计算机编程语言有各自的表示方法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C++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中用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class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表示类型的抽象</a:t>
            </a:r>
          </a:p>
          <a:p>
            <a:pPr marL="0" lvl="0" indent="0"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endParaRPr lang="zh-CN" altLang="en-US"/>
          </a:p>
          <a:p>
            <a:pPr marL="0"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2800">
                <a:sym typeface="+mn-ea"/>
              </a:rPr>
              <a:t>类定义的组成</a:t>
            </a:r>
            <a:endParaRPr lang="en-US" altLang="zh-CN" sz="2800" noProof="1">
              <a:sym typeface="+mn-ea"/>
            </a:endParaRPr>
          </a:p>
          <a:p>
            <a:pPr lvl="1"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2800">
                <a:sym typeface="+mn-ea"/>
              </a:rPr>
              <a:t>数据成员 (或称成员数据)（数据的抽象）</a:t>
            </a:r>
            <a:endParaRPr lang="zh-CN" altLang="en-US" sz="2800" noProof="1"/>
          </a:p>
          <a:p>
            <a:pPr lvl="1"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2800">
                <a:sym typeface="+mn-ea"/>
              </a:rPr>
              <a:t>成员函数 (或称函数成员)（行为的抽象）</a:t>
            </a:r>
            <a:endParaRPr lang="zh-CN" altLang="en-US" sz="2800" noProof="1">
              <a:sym typeface="+mn-ea"/>
            </a:endParaRPr>
          </a:p>
          <a:p>
            <a:pPr marL="0" lvl="0" indent="0"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Abstract Data Type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ADT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格式：</a:t>
            </a:r>
          </a:p>
          <a:p>
            <a:pPr marL="457200" lvl="0" indent="-457200"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class &lt;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类名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&gt; { </a:t>
            </a:r>
            <a:endParaRPr lang="en-US" altLang="zh-CN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>
              <a:spcBef>
                <a:spcPts val="700"/>
              </a:spcBef>
              <a:buClr>
                <a:srgbClr val="C00000"/>
              </a:buClr>
              <a:buSzPct val="100000"/>
            </a:pP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//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数据成员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  </a:t>
            </a:r>
            <a:b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</a:b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//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函数成员</a:t>
            </a:r>
            <a:endParaRPr lang="en-US" altLang="zh-CN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pPr lvl="0">
              <a:spcBef>
                <a:spcPts val="700"/>
              </a:spcBef>
              <a:buClr>
                <a:srgbClr val="C00000"/>
              </a:buClr>
              <a:buSzPct val="100000"/>
            </a:pPr>
            <a:endParaRPr lang="en-US" altLang="zh-CN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pPr lvl="0">
              <a:spcBef>
                <a:spcPts val="700"/>
              </a:spcBef>
              <a:buClr>
                <a:srgbClr val="C00000"/>
              </a:buClr>
              <a:buSzPct val="100000"/>
            </a:pP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 } 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；</a:t>
            </a:r>
          </a:p>
          <a:p>
            <a:pPr lvl="0">
              <a:spcBef>
                <a:spcPts val="700"/>
              </a:spcBef>
              <a:buClr>
                <a:srgbClr val="C00000"/>
              </a:buClr>
              <a:buSzPct val="100000"/>
            </a:pP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；不要忘记打了，虽然很多编译器自动补全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/>
              <a:t>推荐两个文件一个类，</a:t>
            </a:r>
            <a:r>
              <a:rPr lang="en-US" altLang="zh-CN"/>
              <a:t>.h,.cpp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ADT</a:t>
            </a:r>
            <a:r>
              <a:rPr lang="zh-CN" altLang="en-US"/>
              <a:t>的前置声明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// A.h</a:t>
            </a:r>
          </a:p>
          <a:p>
            <a:r>
              <a:rPr lang="en-US" altLang="zh-CN"/>
              <a:t>class B;  // </a:t>
            </a:r>
            <a:r>
              <a:rPr lang="zh-CN" altLang="en-US"/>
              <a:t>前置声明</a:t>
            </a:r>
          </a:p>
          <a:p>
            <a:r>
              <a:rPr lang="en-US" altLang="zh-CN"/>
              <a:t>class A {</a:t>
            </a:r>
          </a:p>
          <a:p>
            <a:r>
              <a:rPr lang="en-US" altLang="zh-CN"/>
              <a:t>    B* b; };</a:t>
            </a:r>
          </a:p>
          <a:p>
            <a:r>
              <a:rPr lang="en-US" altLang="zh-CN"/>
              <a:t>// B.h</a:t>
            </a:r>
          </a:p>
          <a:p>
            <a:r>
              <a:rPr lang="en-US" altLang="zh-CN"/>
              <a:t>class A;</a:t>
            </a:r>
          </a:p>
          <a:p>
            <a:r>
              <a:rPr lang="en-US" altLang="zh-CN"/>
              <a:t>class B {</a:t>
            </a:r>
          </a:p>
          <a:p>
            <a:r>
              <a:rPr lang="en-US" altLang="zh-CN"/>
              <a:t>    A* a;</a:t>
            </a:r>
          </a:p>
          <a:p>
            <a:r>
              <a:rPr lang="en-US" altLang="zh-CN"/>
              <a:t>};</a:t>
            </a:r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ADT</a:t>
            </a:r>
            <a:r>
              <a:rPr lang="zh-CN" altLang="en-US">
                <a:sym typeface="+mn-ea"/>
              </a:rPr>
              <a:t>的前置声明不能做的事情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</a:t>
            </a:r>
            <a:r>
              <a:rPr lang="en-US" altLang="zh-CN" dirty="0" err="1"/>
              <a:t>a</a:t>
            </a:r>
            <a:r>
              <a:rPr lang="en-US" altLang="zh-CN" dirty="0"/>
              <a:t>;           </a:t>
            </a:r>
            <a:r>
              <a:rPr lang="zh-CN" altLang="en-US" dirty="0"/>
              <a:t>（创建对象）</a:t>
            </a:r>
            <a:r>
              <a:rPr lang="en-US" altLang="zh-CN" dirty="0"/>
              <a:t>	</a:t>
            </a:r>
            <a:r>
              <a:rPr lang="zh-CN" altLang="en-US" dirty="0"/>
              <a:t>编译器不知道</a:t>
            </a:r>
            <a:r>
              <a:rPr lang="en-US" altLang="zh-CN" dirty="0"/>
              <a:t> A </a:t>
            </a:r>
            <a:r>
              <a:rPr lang="zh-CN" altLang="en-US" dirty="0"/>
              <a:t>的大小</a:t>
            </a:r>
          </a:p>
          <a:p>
            <a:r>
              <a:rPr lang="en-US" altLang="zh-CN" dirty="0" err="1"/>
              <a:t>a.someMethod</a:t>
            </a:r>
            <a:r>
              <a:rPr lang="en-US" altLang="zh-CN" dirty="0"/>
              <a:t>();	</a:t>
            </a:r>
            <a:r>
              <a:rPr lang="zh-CN" altLang="en-US" dirty="0"/>
              <a:t>编译器不知道</a:t>
            </a:r>
            <a:r>
              <a:rPr lang="en-US" altLang="zh-CN" dirty="0"/>
              <a:t> A </a:t>
            </a:r>
            <a:r>
              <a:rPr lang="zh-CN" altLang="en-US" dirty="0"/>
              <a:t>有没有这个方法</a:t>
            </a:r>
          </a:p>
          <a:p>
            <a:r>
              <a:rPr lang="en-US" altLang="zh-CN" dirty="0" err="1"/>
              <a:t>sizeof</a:t>
            </a:r>
            <a:r>
              <a:rPr lang="en-US" altLang="zh-CN" dirty="0"/>
              <a:t>(A)	    </a:t>
            </a:r>
            <a:r>
              <a:rPr lang="zh-CN" altLang="en-US" dirty="0"/>
              <a:t>类定义不完整，无法计算大小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成员函数的实现</a:t>
            </a:r>
            <a:r>
              <a:rPr lang="en-US" altLang="zh-CN"/>
              <a:t> .h(</a:t>
            </a:r>
            <a:r>
              <a:rPr lang="zh-CN" altLang="en-US"/>
              <a:t>推荐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10000"/>
          </a:bodyPr>
          <a:lstStyle/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class Student {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public: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Student(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sc,int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 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{ score = 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sc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; strength =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str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; } 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void study(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hours);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void exercise();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private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b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otherFunc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();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private: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score;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strength;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};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成员函数的实现</a:t>
            </a:r>
            <a:r>
              <a:rPr lang="en-US" altLang="zh-CN">
                <a:sym typeface="+mn-ea"/>
              </a:rPr>
              <a:t> .cpp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void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Student::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study(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hours)  {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this-&gt;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score += hours;   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this-&gt;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strength -= 2; 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this-&gt;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OtherFunc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 );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void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Student:: 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exercise( )  {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this-&gt;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strength += 3; 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成员函数的实现</a:t>
            </a:r>
            <a:r>
              <a:rPr lang="en-US" altLang="zh-CN">
                <a:sym typeface="+mn-ea"/>
              </a:rPr>
              <a:t> 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class Student {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public: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Student(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sc,int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 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{ score = 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sc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; strength =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str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; } </a:t>
            </a:r>
          </a:p>
          <a:p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void study(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hours)  {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this-&gt;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score += hours;   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this-&gt;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strength -= 2; </a:t>
            </a:r>
            <a:b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this-&gt;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OtherFunc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 );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}//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类内定义的函数默认是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inline</a:t>
            </a:r>
          </a:p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};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this</a:t>
            </a:r>
            <a:r>
              <a:rPr lang="zh-CN" altLang="en-US"/>
              <a:t>指针（</a:t>
            </a:r>
            <a:r>
              <a:rPr lang="zh-CN" altLang="en-US">
                <a:sym typeface="+mn-ea"/>
              </a:rPr>
              <a:t>相当于自己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是一个关键字，也是一个保留字；</a:t>
            </a:r>
            <a:endParaRPr lang="zh-CN" altLang="en-US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是非静态成员函数隐含的第一个形参（函数里面可以不声明使用）</a:t>
            </a:r>
            <a:endParaRPr lang="zh-CN" altLang="en-US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其类型相当于：  T * const this</a:t>
            </a:r>
            <a:endParaRPr lang="zh-CN" altLang="en-US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this的作用域和生存期是在非静态成员函数的{ } 内</a:t>
            </a:r>
            <a:endParaRPr lang="zh-CN" altLang="en-US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this指针永远指向当前对象 </a:t>
            </a:r>
            <a:endParaRPr lang="zh-CN" altLang="en-US" dirty="0">
              <a:solidFill>
                <a:schemeClr val="bg2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72605" y="979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this</a:t>
            </a:r>
            <a:r>
              <a:rPr lang="zh-CN" altLang="en-US">
                <a:sym typeface="+mn-ea"/>
              </a:rPr>
              <a:t>指针（相当于自己）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7565" y="1813560"/>
            <a:ext cx="424815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#include &lt;iostream&gt;</a:t>
            </a:r>
          </a:p>
          <a:p>
            <a:r>
              <a:rPr lang="en-US" altLang="zh-CN"/>
              <a:t>using namespace std;</a:t>
            </a:r>
          </a:p>
          <a:p>
            <a:r>
              <a:rPr lang="en-US" altLang="zh-CN"/>
              <a:t>class A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int s;</a:t>
            </a:r>
          </a:p>
          <a:p>
            <a:r>
              <a:rPr lang="en-US" altLang="zh-CN"/>
              <a:t>    string name;</a:t>
            </a:r>
          </a:p>
          <a:p>
            <a:r>
              <a:rPr lang="en-US" altLang="zh-CN"/>
              <a:t>    void p() {</a:t>
            </a:r>
          </a:p>
          <a:p>
            <a:r>
              <a:rPr lang="en-US" altLang="zh-CN"/>
              <a:t>        cout &lt;&lt; "my name is" &lt;&lt; name &lt;&lt; endl;//name</a:t>
            </a:r>
            <a:r>
              <a:rPr lang="zh-CN" altLang="en-US"/>
              <a:t>默认</a:t>
            </a:r>
            <a:r>
              <a:rPr lang="en-US" altLang="zh-CN"/>
              <a:t>this-&gt;name</a:t>
            </a:r>
          </a:p>
          <a:p>
            <a:r>
              <a:rPr lang="en-US" altLang="zh-CN"/>
              <a:t>        this-&gt;t();//t()</a:t>
            </a:r>
            <a:r>
              <a:rPr lang="zh-CN" altLang="en-US"/>
              <a:t>类内使用默认是自己</a:t>
            </a:r>
          </a:p>
          <a:p>
            <a:r>
              <a:rPr lang="en-US" altLang="zh-CN"/>
              <a:t>    }</a:t>
            </a:r>
          </a:p>
          <a:p>
            <a:r>
              <a:rPr lang="en-US" altLang="zh-CN"/>
              <a:t>    void t() {</a:t>
            </a:r>
          </a:p>
          <a:p>
            <a:r>
              <a:rPr lang="en-US" altLang="zh-CN"/>
              <a:t>        cout &lt;&lt; s &lt;&lt; endl;</a:t>
            </a:r>
          </a:p>
          <a:p>
            <a:r>
              <a:rPr lang="en-US" altLang="zh-CN"/>
              <a:t>    }</a:t>
            </a:r>
          </a:p>
          <a:p>
            <a:r>
              <a:rPr lang="en-US" altLang="zh-CN"/>
              <a:t>};</a:t>
            </a:r>
          </a:p>
          <a:p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5466080" y="1945640"/>
            <a:ext cx="406400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int main()</a:t>
            </a:r>
            <a:endParaRPr lang="en-US" altLang="zh-CN"/>
          </a:p>
          <a:p>
            <a:r>
              <a:rPr lang="en-US" altLang="zh-CN">
                <a:sym typeface="+mn-ea"/>
              </a:rPr>
              <a:t>{</a:t>
            </a:r>
            <a:endParaRPr lang="en-US" altLang="zh-CN"/>
          </a:p>
          <a:p>
            <a:r>
              <a:rPr lang="en-US" altLang="zh-CN">
                <a:sym typeface="+mn-ea"/>
              </a:rPr>
              <a:t>    A a; A b;</a:t>
            </a:r>
            <a:endParaRPr lang="en-US" altLang="zh-CN"/>
          </a:p>
          <a:p>
            <a:r>
              <a:rPr lang="en-US" altLang="zh-CN">
                <a:sym typeface="+mn-ea"/>
              </a:rPr>
              <a:t>    a.name = "li"; a.s = 1;</a:t>
            </a:r>
            <a:endParaRPr lang="en-US" altLang="zh-CN"/>
          </a:p>
          <a:p>
            <a:r>
              <a:rPr lang="en-US" altLang="zh-CN">
                <a:sym typeface="+mn-ea"/>
              </a:rPr>
              <a:t>    b.name = "L"; b.s = 2;</a:t>
            </a:r>
            <a:endParaRPr lang="en-US" altLang="zh-CN"/>
          </a:p>
          <a:p>
            <a:r>
              <a:rPr lang="en-US" altLang="zh-CN">
                <a:sym typeface="+mn-ea"/>
              </a:rPr>
              <a:t>    a.p();</a:t>
            </a:r>
            <a:endParaRPr lang="en-US" altLang="zh-CN"/>
          </a:p>
          <a:p>
            <a:r>
              <a:rPr lang="en-US" altLang="zh-CN">
                <a:sym typeface="+mn-ea"/>
              </a:rPr>
              <a:t>    b.p();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    return 0;</a:t>
            </a:r>
            <a:endParaRPr lang="en-US" altLang="zh-CN"/>
          </a:p>
          <a:p>
            <a:r>
              <a:rPr lang="en-US" altLang="zh-CN">
                <a:sym typeface="+mn-ea"/>
              </a:rPr>
              <a:t>}</a:t>
            </a:r>
            <a:endParaRPr lang="en-US" altLang="zh-CN"/>
          </a:p>
          <a:p>
            <a:r>
              <a:rPr lang="en-US" altLang="zh-CN">
                <a:sym typeface="+mn-ea"/>
              </a:rPr>
              <a:t>//my name isli</a:t>
            </a:r>
            <a:endParaRPr lang="en-US" altLang="zh-CN"/>
          </a:p>
          <a:p>
            <a:r>
              <a:rPr lang="en-US" altLang="zh-CN">
                <a:sym typeface="+mn-ea"/>
              </a:rPr>
              <a:t>//1</a:t>
            </a:r>
            <a:endParaRPr lang="en-US" altLang="zh-CN"/>
          </a:p>
          <a:p>
            <a:r>
              <a:rPr lang="en-US" altLang="zh-CN">
                <a:sym typeface="+mn-ea"/>
              </a:rPr>
              <a:t>//my name isL</a:t>
            </a:r>
            <a:endParaRPr lang="en-US" altLang="zh-CN"/>
          </a:p>
          <a:p>
            <a:r>
              <a:rPr lang="en-US" altLang="zh-CN">
                <a:sym typeface="+mn-ea"/>
              </a:rPr>
              <a:t>//2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inline(</a:t>
            </a:r>
            <a:r>
              <a:rPr lang="zh-CN" altLang="en-US"/>
              <a:t>加快运行速度</a:t>
            </a:r>
            <a:r>
              <a:rPr lang="en-US" altLang="zh-CN"/>
              <a:t>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class T  {</a:t>
            </a:r>
            <a:endParaRPr lang="en-US" altLang="zh-CN" noProof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public: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</a:t>
            </a:r>
            <a:endParaRPr lang="en-US" altLang="zh-CN" noProof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inline void k( );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这里的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inline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无实际意义</a:t>
            </a:r>
          </a:p>
          <a:p>
            <a:pPr marL="457200" lvl="1" indent="457200">
              <a:buClr>
                <a:srgbClr val="0070C0"/>
              </a:buClr>
              <a:buSzPct val="100000"/>
              <a:buNone/>
            </a:pPr>
            <a:r>
              <a:rPr lang="en-US" altLang="zh-CN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//</a:t>
            </a:r>
            <a:r>
              <a:rPr lang="zh-CN" altLang="en-US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适用于比较小而简短的函数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};</a:t>
            </a:r>
            <a:endParaRPr lang="en-US" altLang="zh-CN" noProof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inline void T::h( ) 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这里的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inline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有意义</a:t>
            </a:r>
            <a:endParaRPr lang="zh-CN" altLang="en-US" noProof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  }</a:t>
            </a:r>
            <a:endParaRPr lang="en-US" altLang="zh-CN" noProof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inline(</a:t>
            </a:r>
            <a:r>
              <a:rPr lang="zh-CN" altLang="en-US">
                <a:sym typeface="+mn-ea"/>
              </a:rPr>
              <a:t>减少函数调用开销，加快运行速度</a:t>
            </a:r>
            <a:r>
              <a:rPr lang="en-US" altLang="zh-CN">
                <a:sym typeface="+mn-ea"/>
              </a:rPr>
              <a:t>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inline int add(int a, int b) {</a:t>
            </a:r>
          </a:p>
          <a:p>
            <a:r>
              <a:rPr lang="en-US" altLang="zh-CN"/>
              <a:t>    return a + b;</a:t>
            </a:r>
          </a:p>
          <a:p>
            <a:r>
              <a:rPr lang="en-US" altLang="zh-CN"/>
              <a:t>}</a:t>
            </a:r>
          </a:p>
          <a:p>
            <a:endParaRPr lang="en-US" altLang="zh-CN"/>
          </a:p>
          <a:p>
            <a:r>
              <a:rPr lang="en-US" altLang="zh-CN"/>
              <a:t>int main() {</a:t>
            </a:r>
          </a:p>
          <a:p>
            <a:r>
              <a:rPr lang="en-US" altLang="zh-CN"/>
              <a:t>    int x = add(3, 4);  // </a:t>
            </a:r>
            <a:r>
              <a:rPr lang="zh-CN" altLang="en-US"/>
              <a:t>编译器可能把这变成：</a:t>
            </a:r>
            <a:r>
              <a:rPr lang="en-US" altLang="zh-CN"/>
              <a:t>int x = 3 + 4;</a:t>
            </a:r>
          </a:p>
          <a:p>
            <a:r>
              <a:rPr lang="en-US" altLang="zh-CN"/>
              <a:t>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Inline</a:t>
            </a:r>
            <a:r>
              <a:rPr lang="zh-CN" altLang="en-US" dirty="0">
                <a:sym typeface="+mn-ea"/>
              </a:rPr>
              <a:t>不适用情况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函数体太大</a:t>
            </a:r>
          </a:p>
          <a:p>
            <a:r>
              <a:rPr lang="zh-CN" altLang="en-US" dirty="0"/>
              <a:t>递归函数</a:t>
            </a:r>
          </a:p>
          <a:p>
            <a:r>
              <a:rPr lang="zh-CN" altLang="en-US" dirty="0"/>
              <a:t>虚函数</a:t>
            </a:r>
          </a:p>
          <a:p>
            <a:r>
              <a:rPr lang="zh-CN" altLang="en-US" dirty="0"/>
              <a:t>多次修改频繁的函数</a:t>
            </a:r>
          </a:p>
          <a:p>
            <a:endParaRPr lang="zh-CN" altLang="en-US" dirty="0"/>
          </a:p>
          <a:p>
            <a:r>
              <a:rPr lang="zh-CN" altLang="en-US" dirty="0"/>
              <a:t>简单来说就是功能和结构简单的函数合适使用它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const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2500" lnSpcReduction="20000"/>
          </a:bodyPr>
          <a:lstStyle/>
          <a:p>
            <a:r>
              <a:rPr lang="en-US" altLang="zh-CN" dirty="0"/>
              <a:t>const </a:t>
            </a:r>
            <a:r>
              <a:rPr lang="zh-CN" altLang="en-US" dirty="0"/>
              <a:t>成员变量（常量成员变量）</a:t>
            </a:r>
          </a:p>
          <a:p>
            <a:r>
              <a:rPr lang="zh-CN" altLang="en-US" dirty="0"/>
              <a:t>表示这个成员变量只读，必须在构造函数初始化列表中赋值</a:t>
            </a:r>
          </a:p>
          <a:p>
            <a:r>
              <a:rPr lang="zh-CN" altLang="en-US" dirty="0"/>
              <a:t>表示这个函数不会修改任何成员变量。</a:t>
            </a:r>
          </a:p>
          <a:p>
            <a:r>
              <a:rPr lang="en-US" altLang="zh-CN" dirty="0"/>
              <a:t>class Circle {</a:t>
            </a:r>
          </a:p>
          <a:p>
            <a:r>
              <a:rPr lang="en-US" altLang="zh-CN" dirty="0"/>
              <a:t>private:</a:t>
            </a:r>
          </a:p>
          <a:p>
            <a:r>
              <a:rPr lang="en-US" altLang="zh-CN" dirty="0"/>
              <a:t>    const double pi;  // </a:t>
            </a:r>
            <a:r>
              <a:rPr lang="zh-CN" altLang="en-US" dirty="0"/>
              <a:t>常量成员</a:t>
            </a:r>
          </a:p>
          <a:p>
            <a:r>
              <a:rPr lang="en-US" altLang="zh-CN" dirty="0"/>
              <a:t>public:</a:t>
            </a:r>
          </a:p>
          <a:p>
            <a:r>
              <a:rPr lang="en-US" altLang="zh-CN" dirty="0"/>
              <a:t>    Circle() : pi(3.14159) {}  // </a:t>
            </a:r>
            <a:r>
              <a:rPr lang="zh-CN" altLang="en-US" dirty="0"/>
              <a:t>必须初始化</a:t>
            </a:r>
          </a:p>
          <a:p>
            <a:r>
              <a:rPr lang="en-US" altLang="zh-CN" dirty="0"/>
              <a:t>    double </a:t>
            </a:r>
            <a:r>
              <a:rPr lang="en-US" altLang="zh-CN" dirty="0" err="1"/>
              <a:t>getPi</a:t>
            </a:r>
            <a:r>
              <a:rPr lang="en-US" altLang="zh-CN" dirty="0"/>
              <a:t>() const { return pi; }</a:t>
            </a:r>
          </a:p>
          <a:p>
            <a:r>
              <a:rPr lang="en-US" altLang="zh-CN" dirty="0"/>
              <a:t>};</a:t>
            </a:r>
          </a:p>
          <a:p>
            <a:r>
              <a:rPr lang="en-US" altLang="zh-CN" dirty="0"/>
              <a:t>//</a:t>
            </a:r>
            <a:r>
              <a:rPr lang="zh-CN" altLang="en-US" dirty="0"/>
              <a:t>不初始化或者</a:t>
            </a:r>
            <a:r>
              <a:rPr lang="en-US" altLang="zh-CN" dirty="0" err="1"/>
              <a:t>Circke</a:t>
            </a:r>
            <a:r>
              <a:rPr lang="en-US" altLang="zh-CN" dirty="0"/>
              <a:t>(){pi=3.14</a:t>
            </a:r>
            <a:r>
              <a:rPr lang="zh-CN" altLang="en-US" dirty="0"/>
              <a:t>都是错的</a:t>
            </a:r>
            <a:r>
              <a:rPr lang="en-US" altLang="zh-CN" dirty="0"/>
              <a:t>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const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zh-CN" altLang="en-US" dirty="0">
                <a:sym typeface="+mn-ea"/>
              </a:rPr>
              <a:t>只能调用其他</a:t>
            </a:r>
            <a:r>
              <a:rPr lang="en-US" altLang="zh-CN" dirty="0">
                <a:sym typeface="+mn-ea"/>
              </a:rPr>
              <a:t> const </a:t>
            </a:r>
            <a:r>
              <a:rPr lang="zh-CN" altLang="en-US" dirty="0">
                <a:sym typeface="+mn-ea"/>
              </a:rPr>
              <a:t>成员函数。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必须写在函数名之后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const int </a:t>
            </a:r>
            <a:r>
              <a:rPr lang="en-US" altLang="zh-CN" dirty="0" err="1">
                <a:sym typeface="+mn-ea"/>
              </a:rPr>
              <a:t>getScore</a:t>
            </a:r>
            <a:r>
              <a:rPr lang="en-US" altLang="zh-CN" dirty="0">
                <a:sym typeface="+mn-ea"/>
              </a:rPr>
              <a:t>() const 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{ return score; }  // const </a:t>
            </a:r>
            <a:r>
              <a:rPr lang="zh-CN" altLang="en-US" dirty="0">
                <a:sym typeface="+mn-ea"/>
              </a:rPr>
              <a:t>成员函数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en-US" dirty="0"/>
              <a:t>作用：返回值是一个</a:t>
            </a:r>
            <a:r>
              <a:rPr lang="en-US" altLang="zh-CN" dirty="0"/>
              <a:t>“</a:t>
            </a:r>
            <a:r>
              <a:rPr lang="zh-CN" altLang="en-US" dirty="0"/>
              <a:t>常量的</a:t>
            </a:r>
            <a:r>
              <a:rPr lang="en-US" altLang="zh-CN" dirty="0"/>
              <a:t> double”</a:t>
            </a:r>
          </a:p>
          <a:p>
            <a:pPr marL="0" indent="0">
              <a:buNone/>
            </a:pPr>
            <a:r>
              <a:rPr lang="zh-CN" altLang="en-US" dirty="0"/>
              <a:t>意思是返回的</a:t>
            </a:r>
            <a:r>
              <a:rPr lang="en-US" altLang="zh-CN" dirty="0"/>
              <a:t> double </a:t>
            </a:r>
            <a:r>
              <a:rPr lang="zh-CN" altLang="en-US" dirty="0"/>
              <a:t>不能被修改（但这几乎没有实际意义，因为</a:t>
            </a:r>
            <a:r>
              <a:rPr lang="en-US" altLang="zh-CN" dirty="0"/>
              <a:t> double </a:t>
            </a:r>
            <a:r>
              <a:rPr lang="zh-CN" altLang="en-US" dirty="0"/>
              <a:t>是基本类型，返回时是值传递，调用者拿到的是副本，本来就不能改原值）</a:t>
            </a:r>
          </a:p>
          <a:p>
            <a:pPr marL="0" indent="0">
              <a:buNone/>
            </a:pPr>
            <a:r>
              <a:rPr lang="zh-CN" altLang="en-US" dirty="0"/>
              <a:t>所以：这个</a:t>
            </a:r>
            <a:r>
              <a:rPr lang="en-US" altLang="zh-CN" dirty="0"/>
              <a:t> const </a:t>
            </a:r>
            <a:r>
              <a:rPr lang="zh-CN" altLang="en-US" dirty="0"/>
              <a:t>对于基本类型</a:t>
            </a:r>
            <a:r>
              <a:rPr lang="en-US" altLang="zh-CN" dirty="0"/>
              <a:t> </a:t>
            </a:r>
            <a:r>
              <a:rPr lang="zh-CN" altLang="en-US" dirty="0"/>
              <a:t>几乎没有用处（更有用的是返回引用或指针时）</a:t>
            </a:r>
          </a:p>
          <a:p>
            <a:pPr marL="0" indent="0">
              <a:buNone/>
            </a:pPr>
            <a:r>
              <a:rPr lang="en-US" altLang="zh-CN" dirty="0"/>
              <a:t>const string&amp; </a:t>
            </a:r>
            <a:r>
              <a:rPr lang="en-US" altLang="zh-CN" dirty="0" err="1"/>
              <a:t>getName</a:t>
            </a:r>
            <a:r>
              <a:rPr lang="en-US" altLang="zh-CN" dirty="0"/>
              <a:t>() const;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const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const </a:t>
            </a:r>
            <a:r>
              <a:rPr lang="zh-CN" altLang="en-US"/>
              <a:t>对象</a:t>
            </a:r>
          </a:p>
          <a:p>
            <a:r>
              <a:rPr lang="zh-CN" altLang="en-US"/>
              <a:t>对象本身是常量，只能调用</a:t>
            </a:r>
            <a:r>
              <a:rPr lang="en-US" altLang="zh-CN"/>
              <a:t> const </a:t>
            </a:r>
            <a:r>
              <a:rPr lang="zh-CN" altLang="en-US"/>
              <a:t>成员函数</a:t>
            </a:r>
          </a:p>
          <a:p>
            <a:r>
              <a:rPr lang="zh-CN" altLang="en-US"/>
              <a:t>假设</a:t>
            </a:r>
            <a:r>
              <a:rPr lang="en-US" altLang="zh-CN"/>
              <a:t>getScore</a:t>
            </a:r>
            <a:r>
              <a:rPr lang="zh-CN" altLang="en-US"/>
              <a:t>是</a:t>
            </a:r>
            <a:r>
              <a:rPr lang="en-US" altLang="zh-CN"/>
              <a:t>const</a:t>
            </a:r>
            <a:r>
              <a:rPr lang="zh-CN" altLang="en-US"/>
              <a:t>函数，</a:t>
            </a:r>
            <a:r>
              <a:rPr lang="en-US" altLang="zh-CN"/>
              <a:t>setScore</a:t>
            </a:r>
            <a:r>
              <a:rPr lang="zh-CN" altLang="en-US"/>
              <a:t>不是</a:t>
            </a:r>
          </a:p>
          <a:p>
            <a:r>
              <a:rPr lang="en-US" altLang="zh-CN"/>
              <a:t>const Student stu(100);</a:t>
            </a:r>
          </a:p>
          <a:p>
            <a:r>
              <a:rPr lang="en-US" altLang="zh-CN"/>
              <a:t>stu.getScore();      // OK</a:t>
            </a:r>
          </a:p>
          <a:p>
            <a:r>
              <a:rPr lang="en-US" altLang="zh-CN"/>
              <a:t>// stu.setScore(90); // </a:t>
            </a:r>
            <a:r>
              <a:rPr lang="en-US" altLang="en-US"/>
              <a:t>❌</a:t>
            </a:r>
            <a:r>
              <a:rPr lang="en-US" altLang="zh-CN"/>
              <a:t> </a:t>
            </a:r>
            <a:r>
              <a:rPr lang="zh-CN" altLang="en-US"/>
              <a:t>错误：不能调用非</a:t>
            </a:r>
            <a:r>
              <a:rPr lang="en-US" altLang="zh-CN"/>
              <a:t> const </a:t>
            </a:r>
            <a:r>
              <a:rPr lang="zh-CN" altLang="en-US"/>
              <a:t>成员函数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static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10000"/>
          </a:bodyPr>
          <a:lstStyle/>
          <a:p>
            <a:r>
              <a:rPr lang="en-US" altLang="zh-CN"/>
              <a:t>static </a:t>
            </a:r>
            <a:r>
              <a:rPr lang="zh-CN" altLang="en-US"/>
              <a:t>成员变量（静态成员变量）</a:t>
            </a:r>
          </a:p>
          <a:p>
            <a:r>
              <a:rPr lang="zh-CN" altLang="en-US"/>
              <a:t>类共享，全体对象只有一份拷贝，保存在全局静态区。</a:t>
            </a:r>
          </a:p>
          <a:p>
            <a:r>
              <a:rPr lang="zh-CN" altLang="en-US"/>
              <a:t>需要在类外显式定义一次（否则链接错误）。</a:t>
            </a:r>
          </a:p>
          <a:p>
            <a:r>
              <a:rPr lang="zh-CN" altLang="en-US"/>
              <a:t>可通过类名访问：</a:t>
            </a:r>
            <a:r>
              <a:rPr lang="en-US" altLang="zh-CN"/>
              <a:t>ClassName::var</a:t>
            </a:r>
          </a:p>
          <a:p>
            <a:r>
              <a:rPr lang="en-US" altLang="zh-CN"/>
              <a:t>class Counter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static int count;//</a:t>
            </a:r>
            <a:r>
              <a:rPr lang="en-US" altLang="zh-CN">
                <a:sym typeface="+mn-ea"/>
              </a:rPr>
              <a:t>static int count=0;</a:t>
            </a:r>
            <a:r>
              <a:rPr lang="zh-CN" altLang="en-US">
                <a:sym typeface="+mn-ea"/>
              </a:rPr>
              <a:t>会报错</a:t>
            </a:r>
            <a:endParaRPr lang="en-US" altLang="zh-CN"/>
          </a:p>
          <a:p>
            <a:r>
              <a:rPr lang="en-US" altLang="zh-CN"/>
              <a:t>    Counter() { ++count; }</a:t>
            </a:r>
          </a:p>
          <a:p>
            <a:r>
              <a:rPr lang="en-US" altLang="zh-CN"/>
              <a:t>};</a:t>
            </a:r>
          </a:p>
          <a:p>
            <a:r>
              <a:rPr lang="en-US" altLang="zh-CN"/>
              <a:t>int Counter::count = 0;//</a:t>
            </a:r>
            <a:r>
              <a:rPr lang="zh-CN" altLang="en-US"/>
              <a:t>这句话不写会报错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static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2500" lnSpcReduction="20000"/>
          </a:bodyPr>
          <a:lstStyle/>
          <a:p>
            <a:r>
              <a:rPr lang="en-US" altLang="zh-CN"/>
              <a:t>static </a:t>
            </a:r>
            <a:r>
              <a:rPr lang="zh-CN" altLang="en-US"/>
              <a:t>成员函数（静态成员函数）</a:t>
            </a:r>
          </a:p>
          <a:p>
            <a:r>
              <a:rPr lang="zh-CN" altLang="en-US"/>
              <a:t>不依赖任何对象，也不能访问非静态成员。</a:t>
            </a:r>
          </a:p>
          <a:p>
            <a:r>
              <a:rPr lang="zh-CN" altLang="en-US"/>
              <a:t>可通过类名调用，无需对象。</a:t>
            </a:r>
          </a:p>
          <a:p>
            <a:r>
              <a:rPr lang="en-US" altLang="zh-CN"/>
              <a:t>class Math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static int add(int a, int b) { return a + b; }</a:t>
            </a:r>
          </a:p>
          <a:p>
            <a:r>
              <a:rPr lang="en-US" altLang="zh-CN"/>
              <a:t>};</a:t>
            </a:r>
          </a:p>
          <a:p>
            <a:endParaRPr lang="en-US" altLang="zh-CN"/>
          </a:p>
          <a:p>
            <a:r>
              <a:rPr lang="en-US" altLang="zh-CN"/>
              <a:t>int main() {</a:t>
            </a:r>
          </a:p>
          <a:p>
            <a:r>
              <a:rPr lang="en-US" altLang="zh-CN"/>
              <a:t>    cout &lt;&lt; Math::add(2, 3) &lt;&lt; endl;  // </a:t>
            </a:r>
            <a:r>
              <a:rPr lang="zh-CN" altLang="en-US"/>
              <a:t>输出</a:t>
            </a:r>
            <a:r>
              <a:rPr lang="en-US" altLang="zh-CN"/>
              <a:t> 5</a:t>
            </a:r>
          </a:p>
          <a:p>
            <a:r>
              <a:rPr lang="en-US" altLang="zh-CN"/>
              <a:t>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static and const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class Config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static const int MAX = 100;  // OK</a:t>
            </a:r>
            <a:r>
              <a:rPr lang="zh-CN" altLang="en-US"/>
              <a:t>：整型常量</a:t>
            </a:r>
          </a:p>
          <a:p>
            <a:r>
              <a:rPr lang="en-US" altLang="zh-CN"/>
              <a:t>};//static const  </a:t>
            </a:r>
            <a:r>
              <a:rPr lang="zh-CN" altLang="en-US"/>
              <a:t>可以写反，但是函数推荐这个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引用</a:t>
            </a:r>
            <a:r>
              <a:rPr lang="en-US" altLang="zh-CN"/>
              <a:t>&amp;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函数参数传递：避免拷贝</a:t>
            </a:r>
          </a:p>
          <a:p>
            <a:r>
              <a:rPr lang="en-US" altLang="zh-CN"/>
              <a:t>void update(int&amp; x) {</a:t>
            </a:r>
          </a:p>
          <a:p>
            <a:r>
              <a:rPr lang="en-US" altLang="zh-CN"/>
              <a:t>    x += 10;</a:t>
            </a:r>
          </a:p>
          <a:p>
            <a:r>
              <a:rPr lang="en-US" altLang="zh-CN"/>
              <a:t>}</a:t>
            </a:r>
          </a:p>
          <a:p>
            <a:endParaRPr lang="en-US" altLang="zh-CN"/>
          </a:p>
          <a:p>
            <a:r>
              <a:rPr lang="en-US" altLang="zh-CN"/>
              <a:t>int a = 5;</a:t>
            </a:r>
          </a:p>
          <a:p>
            <a:r>
              <a:rPr lang="en-US" altLang="zh-CN"/>
              <a:t>update(a);  // a </a:t>
            </a:r>
            <a:r>
              <a:rPr lang="zh-CN" altLang="en-US"/>
              <a:t>变成</a:t>
            </a:r>
            <a:r>
              <a:rPr lang="en-US" altLang="zh-CN"/>
              <a:t> 15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引用</a:t>
            </a:r>
            <a:r>
              <a:rPr lang="en-US" altLang="zh-CN">
                <a:sym typeface="+mn-ea"/>
              </a:rPr>
              <a:t>&amp;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常量引用（</a:t>
            </a:r>
            <a:r>
              <a:rPr lang="en-US" altLang="zh-CN"/>
              <a:t>const reference</a:t>
            </a:r>
            <a:r>
              <a:rPr lang="zh-CN" altLang="en-US"/>
              <a:t>）：只读大对象传参</a:t>
            </a:r>
          </a:p>
          <a:p>
            <a:r>
              <a:rPr lang="en-US" altLang="zh-CN"/>
              <a:t>void print(const string&amp; msg) {</a:t>
            </a:r>
          </a:p>
          <a:p>
            <a:r>
              <a:rPr lang="en-US" altLang="zh-CN"/>
              <a:t>    cout &lt;&lt; msg &lt;&lt; endl;</a:t>
            </a:r>
          </a:p>
          <a:p>
            <a:r>
              <a:rPr lang="en-US" altLang="zh-CN"/>
              <a:t>}</a:t>
            </a:r>
          </a:p>
          <a:p>
            <a:pPr marL="0" indent="0">
              <a:buNone/>
            </a:pPr>
            <a:r>
              <a:rPr lang="en-US" altLang="zh-CN"/>
              <a:t> </a:t>
            </a:r>
            <a:r>
              <a:rPr lang="zh-CN" altLang="en-US"/>
              <a:t>不拷贝，避免性能开销，同时防止修改。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引用</a:t>
            </a:r>
            <a:r>
              <a:rPr lang="en-US" altLang="zh-CN">
                <a:sym typeface="+mn-ea"/>
              </a:rPr>
              <a:t>&amp;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作为别名</a:t>
            </a:r>
            <a:endParaRPr lang="en-US" altLang="zh-CN"/>
          </a:p>
          <a:p>
            <a:r>
              <a:rPr lang="en-US" altLang="zh-CN"/>
              <a:t>int a = 42;</a:t>
            </a:r>
          </a:p>
          <a:p>
            <a:r>
              <a:rPr lang="en-US" altLang="zh-CN"/>
              <a:t>int&amp; b = a;</a:t>
            </a:r>
          </a:p>
          <a:p>
            <a:r>
              <a:rPr lang="en-US" altLang="zh-CN"/>
              <a:t>b += 10;  // </a:t>
            </a:r>
            <a:r>
              <a:rPr lang="zh-CN" altLang="en-US"/>
              <a:t>实际是</a:t>
            </a:r>
            <a:r>
              <a:rPr lang="en-US" altLang="zh-CN"/>
              <a:t> a += 10;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构造函数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默认构造函数（</a:t>
            </a:r>
            <a:r>
              <a:rPr lang="en-US" altLang="zh-CN"/>
              <a:t>Default Constructor</a:t>
            </a:r>
            <a:r>
              <a:rPr lang="zh-CN" altLang="en-US"/>
              <a:t>）</a:t>
            </a:r>
          </a:p>
          <a:p>
            <a:r>
              <a:rPr lang="zh-CN" altLang="en-US"/>
              <a:t>定义：不带参数的构造函数。</a:t>
            </a:r>
          </a:p>
          <a:p>
            <a:r>
              <a:rPr lang="zh-CN" altLang="en-US"/>
              <a:t>用途：初始化对象为默认状态。</a:t>
            </a:r>
          </a:p>
          <a:p>
            <a:r>
              <a:rPr lang="en-US" altLang="zh-CN"/>
              <a:t>class A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int a;</a:t>
            </a:r>
          </a:p>
          <a:p>
            <a:r>
              <a:rPr lang="en-US" altLang="zh-CN"/>
              <a:t>};</a:t>
            </a:r>
          </a:p>
          <a:p>
            <a:pPr marL="0" indent="0">
              <a:buNone/>
            </a:pPr>
            <a:r>
              <a:rPr lang="en-US" altLang="zh-CN"/>
              <a:t>    A s;//</a:t>
            </a:r>
            <a:r>
              <a:rPr lang="zh-CN" altLang="en-US"/>
              <a:t>可以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构造函数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10000"/>
          </a:bodyPr>
          <a:lstStyle/>
          <a:p>
            <a:r>
              <a:rPr lang="en-US" altLang="zh-CN"/>
              <a:t>#include &lt;iostream&gt;</a:t>
            </a:r>
          </a:p>
          <a:p>
            <a:r>
              <a:rPr lang="en-US" altLang="zh-CN"/>
              <a:t>using namespace std;</a:t>
            </a:r>
          </a:p>
          <a:p>
            <a:r>
              <a:rPr lang="en-US" altLang="zh-CN"/>
              <a:t>class A {</a:t>
            </a:r>
          </a:p>
          <a:p>
            <a:r>
              <a:rPr lang="en-US" altLang="zh-CN"/>
              <a:t>public:int a;    A() {a = 2;}//a=2};</a:t>
            </a:r>
          </a:p>
          <a:p>
            <a:r>
              <a:rPr lang="en-US" altLang="zh-CN"/>
              <a:t>int main() {</a:t>
            </a:r>
          </a:p>
          <a:p>
            <a:r>
              <a:rPr lang="en-US" altLang="zh-CN"/>
              <a:t>    A s;//A* s;s=new A();</a:t>
            </a:r>
            <a:r>
              <a:rPr lang="zh-CN" altLang="en-US"/>
              <a:t>是声明对象</a:t>
            </a:r>
            <a:endParaRPr lang="en-US" altLang="zh-CN"/>
          </a:p>
          <a:p>
            <a:r>
              <a:rPr lang="en-US" altLang="zh-CN"/>
              <a:t>//A s() </a:t>
            </a:r>
            <a:r>
              <a:rPr lang="zh-CN" altLang="en-US"/>
              <a:t>是函数声明这是不对的，不传参数就是</a:t>
            </a:r>
            <a:r>
              <a:rPr lang="en-US" altLang="zh-CN"/>
              <a:t> A s;</a:t>
            </a:r>
          </a:p>
          <a:p>
            <a:r>
              <a:rPr lang="en-US" altLang="zh-CN"/>
              <a:t>    cout &lt;&lt; s.a;//</a:t>
            </a:r>
            <a:r>
              <a:rPr lang="zh-CN" altLang="en-US"/>
              <a:t>输出</a:t>
            </a:r>
            <a:r>
              <a:rPr lang="en-US" altLang="zh-CN"/>
              <a:t>2</a:t>
            </a:r>
          </a:p>
          <a:p>
            <a:r>
              <a:rPr lang="en-US" altLang="zh-CN"/>
              <a:t>    return 0;</a:t>
            </a:r>
          </a:p>
          <a:p>
            <a:r>
              <a:rPr lang="en-US" altLang="zh-CN"/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构造函数（可以同时拥有多个不同的构造函数）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885440" cy="4351655"/>
          </a:xfrm>
        </p:spPr>
        <p:txBody>
          <a:bodyPr>
            <a:normAutofit/>
          </a:bodyPr>
          <a:lstStyle/>
          <a:p>
            <a:r>
              <a:rPr lang="en-US" altLang="zh-CN"/>
              <a:t>class A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int a;</a:t>
            </a:r>
          </a:p>
          <a:p>
            <a:r>
              <a:rPr lang="en-US" altLang="zh-CN"/>
              <a:t>    A() {a = 2;}</a:t>
            </a:r>
          </a:p>
          <a:p>
            <a:r>
              <a:rPr lang="en-US" altLang="zh-CN"/>
              <a:t>    A(int c) {a = c;  }</a:t>
            </a:r>
          </a:p>
          <a:p>
            <a:r>
              <a:rPr lang="en-US" altLang="zh-CN"/>
              <a:t>    A(int b, int c) {a = b + c; }</a:t>
            </a:r>
          </a:p>
          <a:p>
            <a:r>
              <a:rPr lang="en-US" altLang="zh-CN"/>
              <a:t>};//</a:t>
            </a:r>
            <a:r>
              <a:rPr lang="zh-CN" altLang="en-US"/>
              <a:t>可以带参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511040" y="1874520"/>
            <a:ext cx="4977765" cy="3668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>
                <a:sym typeface="+mn-ea"/>
              </a:rPr>
              <a:t>int main() {</a:t>
            </a:r>
            <a:endParaRPr lang="en-US" altLang="zh-CN" sz="3200"/>
          </a:p>
          <a:p>
            <a:r>
              <a:rPr lang="en-US" altLang="zh-CN" sz="3200">
                <a:sym typeface="+mn-ea"/>
              </a:rPr>
              <a:t>    A s(3);</a:t>
            </a:r>
            <a:endParaRPr lang="en-US" altLang="zh-CN" sz="3200"/>
          </a:p>
          <a:p>
            <a:r>
              <a:rPr lang="en-US" altLang="zh-CN" sz="3200">
                <a:sym typeface="+mn-ea"/>
              </a:rPr>
              <a:t>    cout &lt;&lt; s.a&lt;&lt;endl;//3</a:t>
            </a:r>
            <a:endParaRPr lang="en-US" altLang="zh-CN" sz="3200"/>
          </a:p>
          <a:p>
            <a:r>
              <a:rPr lang="en-US" altLang="zh-CN" sz="3200">
                <a:sym typeface="+mn-ea"/>
              </a:rPr>
              <a:t>    A ss(2,3);</a:t>
            </a:r>
            <a:endParaRPr lang="en-US" altLang="zh-CN" sz="3200"/>
          </a:p>
          <a:p>
            <a:r>
              <a:rPr lang="en-US" altLang="zh-CN" sz="3200">
                <a:sym typeface="+mn-ea"/>
              </a:rPr>
              <a:t>    cout &lt;&lt; ss.a&lt;&lt;endl;//5</a:t>
            </a:r>
            <a:endParaRPr lang="en-US" altLang="zh-CN" sz="3200"/>
          </a:p>
          <a:p>
            <a:r>
              <a:rPr lang="en-US" altLang="zh-CN" sz="3200">
                <a:sym typeface="+mn-ea"/>
              </a:rPr>
              <a:t>    return 0;</a:t>
            </a:r>
            <a:endParaRPr lang="en-US" altLang="zh-CN" sz="3200"/>
          </a:p>
          <a:p>
            <a:r>
              <a:rPr lang="en-US" altLang="zh-CN" sz="3200">
                <a:sym typeface="+mn-ea"/>
              </a:rPr>
              <a:t>}</a:t>
            </a:r>
            <a:endParaRPr lang="en-US" altLang="zh-CN" sz="3200"/>
          </a:p>
          <a:p>
            <a:endParaRPr lang="zh-CN" altLang="en-US" sz="3200"/>
          </a:p>
        </p:txBody>
      </p:sp>
      <p:sp>
        <p:nvSpPr>
          <p:cNvPr id="8" name="文本框 7"/>
          <p:cNvSpPr txBox="1"/>
          <p:nvPr/>
        </p:nvSpPr>
        <p:spPr>
          <a:xfrm>
            <a:off x="3545840" y="9296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构造函数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891280" cy="4351655"/>
          </a:xfrm>
        </p:spPr>
        <p:txBody>
          <a:bodyPr/>
          <a:lstStyle/>
          <a:p>
            <a:r>
              <a:rPr lang="en-US" altLang="zh-CN">
                <a:sym typeface="+mn-ea"/>
              </a:rPr>
              <a:t>class A {</a:t>
            </a:r>
            <a:endParaRPr lang="en-US" altLang="zh-CN"/>
          </a:p>
          <a:p>
            <a:r>
              <a:rPr lang="en-US" altLang="zh-CN">
                <a:sym typeface="+mn-ea"/>
              </a:rPr>
              <a:t>public:</a:t>
            </a:r>
            <a:endParaRPr lang="en-US" altLang="zh-CN"/>
          </a:p>
          <a:p>
            <a:r>
              <a:rPr lang="en-US" altLang="zh-CN">
                <a:sym typeface="+mn-ea"/>
              </a:rPr>
              <a:t>    int a;</a:t>
            </a:r>
            <a:endParaRPr lang="en-US" altLang="zh-CN"/>
          </a:p>
          <a:p>
            <a:r>
              <a:rPr lang="en-US" altLang="zh-CN">
                <a:sym typeface="+mn-ea"/>
              </a:rPr>
              <a:t>    A() {a = 2;}</a:t>
            </a:r>
            <a:endParaRPr lang="en-US" altLang="zh-CN"/>
          </a:p>
          <a:p>
            <a:r>
              <a:rPr lang="en-US" altLang="zh-CN">
                <a:sym typeface="+mn-ea"/>
              </a:rPr>
              <a:t>    A(int c) {a = c;  }</a:t>
            </a:r>
            <a:endParaRPr lang="en-US" altLang="zh-CN"/>
          </a:p>
          <a:p>
            <a:r>
              <a:rPr lang="en-US" altLang="zh-CN">
                <a:sym typeface="+mn-ea"/>
              </a:rPr>
              <a:t>    A(int b, int c) {a = b + c; }</a:t>
            </a:r>
            <a:endParaRPr lang="en-US" altLang="zh-CN"/>
          </a:p>
          <a:p>
            <a:r>
              <a:rPr lang="en-US" altLang="zh-CN">
                <a:sym typeface="+mn-ea"/>
              </a:rPr>
              <a:t>};//</a:t>
            </a:r>
            <a:r>
              <a:rPr lang="zh-CN" altLang="en-US">
                <a:sym typeface="+mn-ea"/>
              </a:rPr>
              <a:t>可以带参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009515" y="1986280"/>
            <a:ext cx="4906645" cy="3804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如果没有定义构造函数那么只能</a:t>
            </a:r>
            <a:r>
              <a:rPr lang="en-US" altLang="zh-CN"/>
              <a:t> A a</a:t>
            </a:r>
            <a:r>
              <a:rPr lang="zh-CN" altLang="en-US"/>
              <a:t>声明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只要定义了构造函数，那么就只能使用已经定义的构造函数，不然报错</a:t>
            </a:r>
          </a:p>
          <a:p>
            <a:endParaRPr lang="zh-CN" altLang="en-US"/>
          </a:p>
          <a:p>
            <a:r>
              <a:rPr lang="zh-CN" altLang="en-US"/>
              <a:t>需要注意的是，至少得有一个构造函数得在</a:t>
            </a:r>
            <a:r>
              <a:rPr lang="en-US" altLang="zh-CN"/>
              <a:t>public:</a:t>
            </a:r>
            <a:r>
              <a:rPr lang="zh-CN" altLang="en-US"/>
              <a:t>里面，因为外界只能这么去创建，不然就没有用了。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拷贝构造函数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9405" lvl="0" indent="-319405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4400" dirty="0">
                <a:latin typeface="+mj-lt"/>
                <a:ea typeface="+mj-ea"/>
                <a:cs typeface="+mj-cs"/>
                <a:sym typeface="+mn-ea"/>
              </a:rPr>
              <a:t>//自定义拷贝构造函数</a:t>
            </a:r>
            <a:br>
              <a:rPr lang="zh-CN" altLang="en-US" sz="4400" dirty="0">
                <a:latin typeface="+mj-lt"/>
                <a:ea typeface="+mj-ea"/>
                <a:cs typeface="+mj-cs"/>
                <a:sym typeface="+mn-ea"/>
              </a:rPr>
            </a:br>
            <a:r>
              <a:rPr lang="zh-CN" altLang="en-US" sz="4400" dirty="0">
                <a:latin typeface="+mj-lt"/>
                <a:ea typeface="+mj-ea"/>
                <a:cs typeface="+mj-cs"/>
                <a:sym typeface="+mn-ea"/>
              </a:rPr>
              <a:t> MyClass(const MyClass &amp; obj)</a:t>
            </a:r>
            <a:endParaRPr lang="zh-CN" altLang="en-US" sz="4400" dirty="0">
              <a:latin typeface="+mj-lt"/>
              <a:ea typeface="+mj-ea"/>
              <a:cs typeface="+mj-cs"/>
            </a:endParaRPr>
          </a:p>
          <a:p>
            <a:pPr marL="319405" lvl="0" indent="-319405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4400" dirty="0">
                <a:latin typeface="+mj-lt"/>
                <a:ea typeface="+mj-ea"/>
                <a:cs typeface="+mj-cs"/>
                <a:sym typeface="+mn-ea"/>
              </a:rPr>
              <a:t>     {</a:t>
            </a:r>
            <a:endParaRPr lang="zh-CN" altLang="en-US" sz="4400" dirty="0">
              <a:latin typeface="+mj-lt"/>
              <a:ea typeface="+mj-ea"/>
              <a:cs typeface="+mj-cs"/>
            </a:endParaRPr>
          </a:p>
          <a:p>
            <a:pPr marL="319405" lvl="0" indent="-319405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4400" dirty="0">
                <a:latin typeface="+mj-lt"/>
                <a:ea typeface="+mj-ea"/>
                <a:cs typeface="+mj-cs"/>
                <a:sym typeface="+mn-ea"/>
              </a:rPr>
              <a:t>       //略</a:t>
            </a:r>
            <a:endParaRPr lang="zh-CN" altLang="en-US" sz="4400" dirty="0">
              <a:latin typeface="+mj-lt"/>
              <a:ea typeface="+mj-ea"/>
              <a:cs typeface="+mj-cs"/>
            </a:endParaRPr>
          </a:p>
          <a:p>
            <a:pPr marL="319405" lvl="0" indent="-319405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4400" dirty="0">
                <a:latin typeface="+mj-lt"/>
                <a:ea typeface="+mj-ea"/>
                <a:cs typeface="+mj-cs"/>
                <a:sym typeface="+mn-ea"/>
              </a:rPr>
              <a:t>     }</a:t>
            </a:r>
          </a:p>
          <a:p>
            <a:pPr marL="0" lvl="1" indent="-319405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深拷贝只能通过自定义拷贝构造函数实现</a:t>
            </a:r>
            <a:endParaRPr lang="zh-CN" altLang="en-US" sz="4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19405" lvl="0" indent="-319405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endParaRPr lang="zh-CN" altLang="en-US" sz="4400" dirty="0">
              <a:latin typeface="+mj-lt"/>
              <a:ea typeface="+mj-ea"/>
              <a:cs typeface="+mj-cs"/>
            </a:endParaRPr>
          </a:p>
          <a:p>
            <a:endParaRPr lang="zh-CN" alt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拷贝构造函数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018155" cy="4351655"/>
          </a:xfrm>
        </p:spPr>
        <p:txBody>
          <a:bodyPr>
            <a:normAutofit/>
          </a:bodyPr>
          <a:lstStyle/>
          <a:p>
            <a:r>
              <a:rPr lang="en-US" altLang="zh-CN"/>
              <a:t>class A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int* a;</a:t>
            </a:r>
          </a:p>
          <a:p>
            <a:r>
              <a:rPr lang="en-US" altLang="zh-CN"/>
              <a:t>    A() {</a:t>
            </a:r>
          </a:p>
          <a:p>
            <a:r>
              <a:rPr lang="en-US" altLang="zh-CN"/>
              <a:t>        a = new int();</a:t>
            </a:r>
          </a:p>
          <a:p>
            <a:r>
              <a:rPr lang="en-US" altLang="zh-CN"/>
              <a:t>        *a = 1;</a:t>
            </a:r>
          </a:p>
          <a:p>
            <a:r>
              <a:rPr lang="en-US" altLang="zh-CN"/>
              <a:t>    }</a:t>
            </a:r>
          </a:p>
          <a:p>
            <a:r>
              <a:rPr lang="en-US" altLang="zh-CN"/>
              <a:t>};</a:t>
            </a:r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795520" y="1825625"/>
            <a:ext cx="5161280" cy="4044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ym typeface="+mn-ea"/>
              </a:rPr>
              <a:t>    </a:t>
            </a:r>
            <a:r>
              <a:rPr lang="en-US" altLang="zh-CN" sz="2800">
                <a:sym typeface="+mn-ea"/>
              </a:rPr>
              <a:t>A a;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*(a.a) = 1;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A b = a;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cout &lt;&lt; *(a.a) &lt;&lt; endl;//1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(*(a.a))++;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cout &lt;&lt; *(a.a) &lt;&lt; endl;//2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cout &lt;&lt; *(b.a) &lt;&lt; endl;//2</a:t>
            </a:r>
            <a:endParaRPr lang="en-US" altLang="zh-CN" sz="2800"/>
          </a:p>
          <a:p>
            <a:endParaRPr lang="en-US" altLang="zh-CN" sz="2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拷贝构造函数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885440" cy="4351655"/>
          </a:xfrm>
        </p:spPr>
        <p:txBody>
          <a:bodyPr/>
          <a:lstStyle/>
          <a:p>
            <a:r>
              <a:rPr lang="en-US" altLang="zh-CN"/>
              <a:t> A(const A&amp; s) {</a:t>
            </a:r>
          </a:p>
          <a:p>
            <a:r>
              <a:rPr lang="en-US" altLang="zh-CN"/>
              <a:t>     a = new int();</a:t>
            </a:r>
          </a:p>
          <a:p>
            <a:r>
              <a:rPr lang="en-US" altLang="zh-CN"/>
              <a:t>     (*a) = *(s.a);</a:t>
            </a:r>
          </a:p>
          <a:p>
            <a:r>
              <a:rPr lang="en-US" altLang="zh-CN"/>
              <a:t> }//</a:t>
            </a:r>
            <a:r>
              <a:rPr lang="zh-CN" altLang="en-US"/>
              <a:t>加入他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724400" y="2226945"/>
            <a:ext cx="5273040" cy="3950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/>
              <a:t>A a;</a:t>
            </a:r>
          </a:p>
          <a:p>
            <a:r>
              <a:rPr lang="en-US" altLang="zh-CN" sz="2800"/>
              <a:t>*(a.a) = 1;</a:t>
            </a:r>
          </a:p>
          <a:p>
            <a:r>
              <a:rPr lang="en-US" altLang="zh-CN" sz="2800"/>
              <a:t>A b = a;</a:t>
            </a:r>
          </a:p>
          <a:p>
            <a:r>
              <a:rPr lang="en-US" altLang="zh-CN" sz="2800"/>
              <a:t>cout &lt;&lt; *(a.a) &lt;&lt; endl;//1</a:t>
            </a:r>
          </a:p>
          <a:p>
            <a:r>
              <a:rPr lang="en-US" altLang="zh-CN" sz="2800"/>
              <a:t>(*(a.a))++;</a:t>
            </a:r>
          </a:p>
          <a:p>
            <a:r>
              <a:rPr lang="en-US" altLang="zh-CN" sz="2800"/>
              <a:t>cout &lt;&lt; *(a.a) &lt;&lt; endl;//2</a:t>
            </a:r>
          </a:p>
          <a:p>
            <a:r>
              <a:rPr lang="en-US" altLang="zh-CN" sz="2800"/>
              <a:t>cout &lt;&lt; *(b.a) &lt;&lt; endl;//1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拷贝构造函数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5000" lnSpcReduction="20000"/>
          </a:bodyPr>
          <a:lstStyle/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/>
              <a:t> A a;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/>
              <a:t> *(a.a) = 1;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/>
              <a:t> A b = a;//</a:t>
            </a:r>
            <a:r>
              <a:rPr lang="zh-CN" altLang="en-US"/>
              <a:t>拷贝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/>
              <a:t> cout &lt;&lt; *(a.a) &lt;&lt; endl;//1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/>
              <a:t> (*(a.a))++;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/>
              <a:t> cout &lt;&lt; *(a.a) &lt;&lt; endl;//2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/>
              <a:t> cout &lt;&lt; *(b.a) &lt;&lt; endl;//1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/>
              <a:t> A c(a);//</a:t>
            </a:r>
            <a:r>
              <a:rPr lang="zh-CN" altLang="en-US"/>
              <a:t>拷贝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/>
              <a:t> cout &lt;&lt; *(a.a) &lt;&lt; endl;//2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/>
              <a:t> cout &lt;&lt; *(c.a) &lt;&lt; endl;//2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/>
              <a:t> b = a;//</a:t>
            </a:r>
            <a:r>
              <a:rPr lang="zh-CN" altLang="en-US"/>
              <a:t>赋值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/>
              <a:t> cout &lt;&lt; *(a.a) &lt;&lt; endl;//2</a:t>
            </a:r>
          </a:p>
          <a:p>
            <a:pPr marL="319405" lvl="0" indent="-31940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/>
              <a:t> cout &lt;&lt; *(b.a) &lt;&lt; endl;//2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析构函数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负责对象销毁前，最后需要执行的清理工作</a:t>
            </a:r>
          </a:p>
          <a:p>
            <a:r>
              <a:rPr lang="en-US" altLang="zh-CN"/>
              <a:t>     </a:t>
            </a:r>
            <a:r>
              <a:rPr lang="zh-CN" altLang="en-US"/>
              <a:t>释放空间</a:t>
            </a:r>
          </a:p>
          <a:p>
            <a:r>
              <a:rPr lang="zh-CN" altLang="en-US"/>
              <a:t> </a:t>
            </a:r>
            <a:r>
              <a:rPr lang="en-US" altLang="zh-CN"/>
              <a:t>       </a:t>
            </a:r>
            <a:r>
              <a:rPr lang="zh-CN" altLang="en-US"/>
              <a:t>例子：用</a:t>
            </a:r>
            <a:r>
              <a:rPr lang="en-US" altLang="zh-CN"/>
              <a:t> new </a:t>
            </a:r>
            <a:r>
              <a:rPr lang="zh-CN" altLang="en-US"/>
              <a:t>动态申请的空间要主动释放，不然只会释放指针占用的空间而不会释放指针指向的空间</a:t>
            </a:r>
          </a:p>
          <a:p>
            <a:r>
              <a:rPr lang="en-US" altLang="zh-CN"/>
              <a:t>    </a:t>
            </a:r>
            <a:r>
              <a:rPr lang="zh-CN" altLang="en-US"/>
              <a:t>完成一些应该有的功能</a:t>
            </a:r>
          </a:p>
          <a:p>
            <a:r>
              <a:rPr lang="en-US" altLang="zh-CN"/>
              <a:t>           </a:t>
            </a:r>
            <a:r>
              <a:rPr lang="zh-CN" altLang="en-US"/>
              <a:t>例子：要计算某个对象的数量，那么应该在构造函数里面加</a:t>
            </a:r>
            <a:r>
              <a:rPr lang="en-US" altLang="zh-CN"/>
              <a:t>1</a:t>
            </a:r>
            <a:r>
              <a:rPr lang="zh-CN" altLang="en-US"/>
              <a:t>，析构函数里面减</a:t>
            </a:r>
            <a:r>
              <a:rPr lang="en-US" altLang="zh-CN"/>
              <a:t>1</a:t>
            </a:r>
            <a:r>
              <a:rPr lang="zh-CN" altLang="en-US"/>
              <a:t>（</a:t>
            </a:r>
            <a:r>
              <a:rPr lang="en-US" altLang="zh-CN"/>
              <a:t>static int count</a:t>
            </a:r>
            <a:r>
              <a:rPr lang="zh-CN" altLang="en-US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析构函数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8945" lvl="1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Font typeface="Wingdings" panose="05000000000000000000" charset="0"/>
              <a:buNone/>
            </a:pPr>
            <a:r>
              <a:rPr lang="zh-CN" altLang="en-US" sz="2800">
                <a:sym typeface="+mn-ea"/>
              </a:rPr>
              <a:t>程序区、栈区：生存期结束后，自动执行</a:t>
            </a:r>
          </a:p>
          <a:p>
            <a:pPr marL="448945" lvl="1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Font typeface="Wingdings" panose="05000000000000000000" charset="0"/>
              <a:buNone/>
            </a:pPr>
            <a:r>
              <a:rPr lang="zh-CN" altLang="en-US" sz="2800">
                <a:sym typeface="+mn-ea"/>
              </a:rPr>
              <a:t>函数结束自动就释放了</a:t>
            </a:r>
            <a:endParaRPr lang="zh-CN" altLang="en-US" sz="2800" noProof="1"/>
          </a:p>
          <a:p>
            <a:pPr marL="448945" lvl="1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Font typeface="Wingdings" panose="05000000000000000000" charset="0"/>
              <a:buNone/>
            </a:pPr>
            <a:r>
              <a:rPr lang="zh-CN" altLang="en-US" sz="2800">
                <a:sym typeface="+mn-ea"/>
              </a:rPr>
              <a:t>堆区：需显式调用</a:t>
            </a:r>
            <a:endParaRPr lang="zh-CN" altLang="en-US" sz="2800" noProof="1">
              <a:sym typeface="+mn-ea"/>
            </a:endParaRPr>
          </a:p>
          <a:p>
            <a:r>
              <a:rPr lang="en-US" altLang="zh-CN"/>
              <a:t>A* s;</a:t>
            </a:r>
          </a:p>
          <a:p>
            <a:r>
              <a:rPr lang="en-US" altLang="zh-CN"/>
              <a:t>s = new A();</a:t>
            </a:r>
          </a:p>
          <a:p>
            <a:r>
              <a:rPr lang="en-US" altLang="zh-CN"/>
              <a:t>cout &lt;&lt; s-&gt;b;</a:t>
            </a:r>
          </a:p>
          <a:p>
            <a:r>
              <a:rPr lang="en-US" altLang="zh-CN"/>
              <a:t>s-&gt;~A();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运算符重载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7500" lnSpcReduction="10000"/>
          </a:bodyPr>
          <a:lstStyle/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可重载运算符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operator new             	operator delete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operator new[ ]		operator delete[ ]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^     &amp;     |    ~    &lt;&lt;   &gt;&gt;                //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位运算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+     -      *     /      %                     //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算术运算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&lt;     &gt; ==  !=  &lt;=   &gt;=   &amp;&amp;   ||    !  //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逻辑运算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=   +=    -=   *=   /=   %=   ^=    &amp;=   |=   &gt;&gt;=    &lt;&lt;=   //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赋值运算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++   --   //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递增、递减运算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-&gt;*    -&gt;      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,   ( )  [ ]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等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运算符重载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Clr>
                <a:srgbClr val="0000FF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1">
                <a:sym typeface="+mn-ea"/>
              </a:rPr>
              <a:t>自由函数的形式</a:t>
            </a:r>
            <a:endParaRPr lang="en-US" altLang="zh-CN" sz="2800" b="1" noProof="1"/>
          </a:p>
          <a:p>
            <a:pPr lvl="1">
              <a:lnSpc>
                <a:spcPct val="90000"/>
              </a:lnSpc>
              <a:buClr>
                <a:srgbClr val="0000FF"/>
              </a:buClr>
              <a:buSzPct val="100000"/>
            </a:pPr>
            <a:r>
              <a:rPr lang="en-US" altLang="zh-CN" sz="2800" b="1">
                <a:sym typeface="+mn-ea"/>
              </a:rPr>
              <a:t>TVector operator+(const Tvector&amp; v1,const Tvector&amp; v2) {</a:t>
            </a:r>
            <a:br>
              <a:rPr lang="en-US" altLang="zh-CN" sz="2800" b="1">
                <a:sym typeface="+mn-ea"/>
              </a:rPr>
            </a:br>
            <a:r>
              <a:rPr lang="en-US" altLang="zh-CN" sz="2800" b="1">
                <a:sym typeface="+mn-ea"/>
              </a:rPr>
              <a:t>       return TVector(v1.x+v2.x,v1.y+v2.y);</a:t>
            </a:r>
            <a:br>
              <a:rPr lang="en-US" altLang="zh-CN" sz="2800" b="1">
                <a:sym typeface="+mn-ea"/>
              </a:rPr>
            </a:br>
            <a:r>
              <a:rPr lang="en-US" altLang="zh-CN" sz="2800" b="1">
                <a:sym typeface="+mn-ea"/>
              </a:rPr>
              <a:t>}</a:t>
            </a:r>
            <a:br>
              <a:rPr lang="en-US" altLang="zh-CN" sz="2800" b="1">
                <a:sym typeface="+mn-ea"/>
              </a:rPr>
            </a:br>
            <a:r>
              <a:rPr lang="en-US" altLang="zh-CN" sz="2800" b="1">
                <a:sym typeface="+mn-ea"/>
              </a:rPr>
              <a:t>a+b  </a:t>
            </a:r>
            <a:r>
              <a:rPr lang="zh-CN" altLang="zh-CN" sz="2800" b="1">
                <a:sym typeface="+mn-ea"/>
              </a:rPr>
              <a:t>  编译时，转换成 </a:t>
            </a:r>
            <a:r>
              <a:rPr lang="en-US" altLang="zh-CN" sz="2800" b="1">
                <a:solidFill>
                  <a:srgbClr val="0000FF"/>
                </a:solidFill>
                <a:sym typeface="+mn-ea"/>
              </a:rPr>
              <a:t>operator+(a,b)</a:t>
            </a:r>
            <a:endParaRPr lang="en-US" altLang="zh-CN" sz="2800" b="1" noProof="1">
              <a:solidFill>
                <a:srgbClr val="0000FF"/>
              </a:solidFill>
              <a:sym typeface="+mn-ea"/>
            </a:endParaRPr>
          </a:p>
          <a:p>
            <a:pPr lvl="1">
              <a:lnSpc>
                <a:spcPct val="90000"/>
              </a:lnSpc>
              <a:buClr>
                <a:srgbClr val="0000FF"/>
              </a:buClr>
              <a:buSzPct val="100000"/>
            </a:pPr>
            <a:endParaRPr lang="en-US" altLang="zh-CN" sz="2800" b="1" noProof="1">
              <a:solidFill>
                <a:srgbClr val="0000FF"/>
              </a:solidFill>
              <a:sym typeface="+mn-ea"/>
            </a:endParaRPr>
          </a:p>
          <a:p>
            <a:pPr fontAlgn="auto">
              <a:lnSpc>
                <a:spcPct val="90000"/>
              </a:lnSpc>
              <a:buClr>
                <a:srgbClr val="0000FF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zh-CN" sz="2800" b="1">
                <a:sym typeface="+mn-ea"/>
              </a:rPr>
              <a:t>成员函数的形式</a:t>
            </a:r>
            <a:endParaRPr lang="en-US" altLang="zh-CN" sz="2800" b="1" noProof="1"/>
          </a:p>
          <a:p>
            <a:pPr lvl="1">
              <a:lnSpc>
                <a:spcPct val="90000"/>
              </a:lnSpc>
              <a:buClr>
                <a:srgbClr val="0000FF"/>
              </a:buClr>
              <a:buSzPct val="100000"/>
            </a:pPr>
            <a:r>
              <a:rPr lang="en-US" altLang="zh-CN" sz="2800" b="1">
                <a:sym typeface="+mn-ea"/>
              </a:rPr>
              <a:t>class TVector {</a:t>
            </a:r>
            <a:br>
              <a:rPr lang="en-US" altLang="zh-CN" sz="2800" b="1">
                <a:sym typeface="+mn-ea"/>
              </a:rPr>
            </a:br>
            <a:r>
              <a:rPr lang="en-US" altLang="zh-CN" sz="2800" b="1">
                <a:sym typeface="+mn-ea"/>
              </a:rPr>
              <a:t>public: </a:t>
            </a:r>
            <a:br>
              <a:rPr lang="en-US" altLang="zh-CN" sz="2800" b="1">
                <a:sym typeface="+mn-ea"/>
              </a:rPr>
            </a:br>
            <a:r>
              <a:rPr lang="en-US" altLang="zh-CN" sz="2800" b="1">
                <a:sym typeface="+mn-ea"/>
              </a:rPr>
              <a:t>       TVector operator+(const TVector&amp; rhs) const </a:t>
            </a:r>
            <a:br>
              <a:rPr lang="en-US" altLang="zh-CN" sz="2800" b="1">
                <a:sym typeface="+mn-ea"/>
              </a:rPr>
            </a:br>
            <a:r>
              <a:rPr lang="en-US" altLang="zh-CN" sz="2800" b="1">
                <a:sym typeface="+mn-ea"/>
              </a:rPr>
              <a:t>                {     return Tvector(x+rhs.x,y+rhs.y);  }</a:t>
            </a:r>
            <a:br>
              <a:rPr lang="en-US" altLang="zh-CN" sz="2800" b="1">
                <a:sym typeface="+mn-ea"/>
              </a:rPr>
            </a:br>
            <a:r>
              <a:rPr lang="en-US" altLang="zh-CN" sz="2800" b="1">
                <a:sym typeface="+mn-ea"/>
              </a:rPr>
              <a:t>}；//</a:t>
            </a:r>
            <a:r>
              <a:rPr lang="zh-CN" altLang="en-US" sz="2800" b="1">
                <a:sym typeface="+mn-ea"/>
              </a:rPr>
              <a:t>相当于第一个是自己</a:t>
            </a:r>
            <a:endParaRPr lang="en-US" altLang="zh-CN" sz="2800" b="1" noProof="1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运算符重载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class A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A(int s1,int s2):a(s1),b(s2){}</a:t>
            </a:r>
          </a:p>
          <a:p>
            <a:r>
              <a:rPr lang="en-US" altLang="zh-CN"/>
              <a:t>    int a,  b;</a:t>
            </a:r>
          </a:p>
          <a:p>
            <a:r>
              <a:rPr lang="en-US" altLang="zh-CN"/>
              <a:t>};</a:t>
            </a:r>
          </a:p>
          <a:p>
            <a:r>
              <a:rPr lang="en-US" altLang="zh-CN"/>
              <a:t>int main() {</a:t>
            </a:r>
          </a:p>
          <a:p>
            <a:r>
              <a:rPr lang="en-US" altLang="zh-CN"/>
              <a:t>    A t1(1, 2);</a:t>
            </a:r>
          </a:p>
          <a:p>
            <a:r>
              <a:rPr lang="en-US" altLang="zh-CN"/>
              <a:t>    A t2(2, 1);</a:t>
            </a:r>
          </a:p>
          <a:p>
            <a:r>
              <a:rPr lang="en-US" altLang="zh-CN"/>
              <a:t>    cout &lt;&lt; (t1 &lt; t2);//</a:t>
            </a:r>
            <a:r>
              <a:rPr lang="zh-CN" altLang="en-US"/>
              <a:t>报错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运算符重载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2500" lnSpcReduction="20000"/>
          </a:bodyPr>
          <a:lstStyle/>
          <a:p>
            <a:r>
              <a:rPr lang="en-US" altLang="zh-CN"/>
              <a:t>class A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A(int s1,int s2):a(s1),b(s2){}</a:t>
            </a:r>
          </a:p>
          <a:p>
            <a:r>
              <a:rPr lang="en-US" altLang="zh-CN"/>
              <a:t>    int a,  b;</a:t>
            </a:r>
          </a:p>
          <a:p>
            <a:r>
              <a:rPr lang="en-US" altLang="zh-CN"/>
              <a:t>     bool operator &lt;(A&amp; v) {</a:t>
            </a:r>
          </a:p>
          <a:p>
            <a:r>
              <a:rPr lang="en-US" altLang="zh-CN"/>
              <a:t>        return v.b&gt;b;//</a:t>
            </a:r>
            <a:r>
              <a:rPr lang="zh-CN" altLang="en-US"/>
              <a:t>第一个参数默认是自己</a:t>
            </a:r>
            <a:r>
              <a:rPr lang="en-US" altLang="zh-CN"/>
              <a:t>this    this=t1 v=t2</a:t>
            </a:r>
          </a:p>
          <a:p>
            <a:r>
              <a:rPr lang="en-US" altLang="zh-CN"/>
              <a:t>    }</a:t>
            </a:r>
          </a:p>
          <a:p>
            <a:r>
              <a:rPr lang="en-US" altLang="zh-CN"/>
              <a:t>};</a:t>
            </a:r>
          </a:p>
          <a:p>
            <a:r>
              <a:rPr lang="en-US" altLang="zh-CN"/>
              <a:t>    A t1(1, 2);</a:t>
            </a:r>
          </a:p>
          <a:p>
            <a:r>
              <a:rPr lang="en-US" altLang="zh-CN"/>
              <a:t>    A t2(2, 1);</a:t>
            </a:r>
          </a:p>
          <a:p>
            <a:r>
              <a:rPr lang="en-US" altLang="zh-CN"/>
              <a:t>    cout &lt;&lt; (t1 &lt; t2);//0 “t1&lt;t2”</a:t>
            </a:r>
            <a:r>
              <a:rPr lang="zh-CN" altLang="en-US"/>
              <a:t>不成立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运算符重载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5000" lnSpcReduction="20000"/>
          </a:bodyPr>
          <a:lstStyle/>
          <a:p>
            <a:r>
              <a:rPr lang="en-US" altLang="zh-CN">
                <a:sym typeface="+mn-ea"/>
              </a:rPr>
              <a:t>class A {</a:t>
            </a:r>
            <a:endParaRPr lang="en-US" altLang="zh-CN"/>
          </a:p>
          <a:p>
            <a:r>
              <a:rPr lang="en-US" altLang="zh-CN">
                <a:sym typeface="+mn-ea"/>
              </a:rPr>
              <a:t>public:</a:t>
            </a:r>
            <a:endParaRPr lang="en-US" altLang="zh-CN"/>
          </a:p>
          <a:p>
            <a:r>
              <a:rPr lang="en-US" altLang="zh-CN">
                <a:sym typeface="+mn-ea"/>
              </a:rPr>
              <a:t>    A(int s1,int s2):a(s1),b(s2){}</a:t>
            </a:r>
            <a:endParaRPr lang="en-US" altLang="zh-CN"/>
          </a:p>
          <a:p>
            <a:r>
              <a:rPr lang="en-US" altLang="zh-CN">
                <a:sym typeface="+mn-ea"/>
              </a:rPr>
              <a:t>    int a,  b;</a:t>
            </a:r>
            <a:endParaRPr lang="en-US" altLang="zh-CN"/>
          </a:p>
          <a:p>
            <a:r>
              <a:rPr lang="en-US" altLang="zh-CN">
                <a:sym typeface="+mn-ea"/>
              </a:rPr>
              <a:t>     bool operator &gt;(A&amp; v) {</a:t>
            </a:r>
            <a:endParaRPr lang="en-US" altLang="zh-CN"/>
          </a:p>
          <a:p>
            <a:r>
              <a:rPr lang="en-US" altLang="zh-CN">
                <a:sym typeface="+mn-ea"/>
              </a:rPr>
              <a:t>        return v.b&gt;b;//</a:t>
            </a:r>
            <a:r>
              <a:rPr lang="zh-CN" altLang="en-US">
                <a:sym typeface="+mn-ea"/>
              </a:rPr>
              <a:t>第一个参数默认是自己</a:t>
            </a:r>
            <a:r>
              <a:rPr lang="en-US" altLang="zh-CN">
                <a:sym typeface="+mn-ea"/>
              </a:rPr>
              <a:t>this    this=t1 v=t2</a:t>
            </a:r>
            <a:endParaRPr lang="en-US" altLang="zh-CN"/>
          </a:p>
          <a:p>
            <a:r>
              <a:rPr lang="en-US" altLang="zh-CN">
                <a:sym typeface="+mn-ea"/>
              </a:rPr>
              <a:t>    }</a:t>
            </a:r>
            <a:endParaRPr lang="en-US" altLang="zh-CN"/>
          </a:p>
          <a:p>
            <a:r>
              <a:rPr lang="en-US" altLang="zh-CN">
                <a:sym typeface="+mn-ea"/>
              </a:rPr>
              <a:t>};</a:t>
            </a:r>
            <a:endParaRPr lang="en-US" altLang="zh-CN"/>
          </a:p>
          <a:p>
            <a:r>
              <a:rPr lang="en-US" altLang="zh-CN">
                <a:sym typeface="+mn-ea"/>
              </a:rPr>
              <a:t>    A t1(1, 2);</a:t>
            </a:r>
            <a:endParaRPr lang="en-US" altLang="zh-CN"/>
          </a:p>
          <a:p>
            <a:r>
              <a:rPr lang="en-US" altLang="zh-CN">
                <a:sym typeface="+mn-ea"/>
              </a:rPr>
              <a:t>    A t2(2, 1);</a:t>
            </a:r>
            <a:endParaRPr lang="en-US" altLang="zh-CN"/>
          </a:p>
          <a:p>
            <a:r>
              <a:rPr lang="en-US" altLang="zh-CN">
                <a:sym typeface="+mn-ea"/>
              </a:rPr>
              <a:t>    cout &lt;&lt; (t1 &gt; t2);//1 “t1&gt;t2”</a:t>
            </a:r>
            <a:r>
              <a:rPr lang="zh-CN" altLang="en-US">
                <a:sym typeface="+mn-ea"/>
              </a:rPr>
              <a:t>成立</a:t>
            </a:r>
          </a:p>
          <a:p>
            <a:r>
              <a:rPr lang="en-US" altLang="zh-CN">
                <a:sym typeface="+mn-ea"/>
              </a:rPr>
              <a:t>//&gt; &lt; &gt;= &lt;= == !=</a:t>
            </a:r>
            <a:r>
              <a:rPr lang="zh-CN" altLang="en-US">
                <a:sym typeface="+mn-ea"/>
              </a:rPr>
              <a:t>都是类似，就是个名字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运算符重载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338955" cy="4351655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/>
              <a:t>class A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A(int s1,int s2):a(s1),b(s2){}</a:t>
            </a:r>
          </a:p>
          <a:p>
            <a:r>
              <a:rPr lang="en-US" altLang="zh-CN"/>
              <a:t>    int a,  b;</a:t>
            </a:r>
          </a:p>
          <a:p>
            <a:r>
              <a:rPr lang="en-US" altLang="zh-CN"/>
              <a:t>     A&amp; operator +(A&amp; v) {</a:t>
            </a:r>
          </a:p>
          <a:p>
            <a:r>
              <a:rPr lang="en-US" altLang="zh-CN"/>
              <a:t>         a += v.a;</a:t>
            </a:r>
          </a:p>
          <a:p>
            <a:r>
              <a:rPr lang="en-US" altLang="zh-CN"/>
              <a:t>         return (*this);</a:t>
            </a:r>
          </a:p>
          <a:p>
            <a:r>
              <a:rPr lang="en-US" altLang="zh-CN"/>
              <a:t>}</a:t>
            </a:r>
          </a:p>
          <a:p>
            <a:r>
              <a:rPr lang="en-US" altLang="zh-CN"/>
              <a:t>};</a:t>
            </a:r>
          </a:p>
          <a:p>
            <a:r>
              <a:rPr lang="en-US" altLang="zh-CN"/>
              <a:t>+ - / *</a:t>
            </a:r>
            <a:r>
              <a:rPr lang="zh-CN" altLang="en-US"/>
              <a:t>全部是你自定义，就是个名字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299200" y="1996440"/>
            <a:ext cx="406400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ym typeface="+mn-ea"/>
              </a:rPr>
              <a:t>    A t1(1, 2);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A t2(2, 1);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A t3 = t1 + t2;// 3 2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t1.a++;// 3 2</a:t>
            </a:r>
            <a:endParaRPr lang="en-US" altLang="zh-CN" sz="2800"/>
          </a:p>
          <a:p>
            <a:endParaRPr lang="en-US" altLang="zh-CN" sz="2800"/>
          </a:p>
        </p:txBody>
      </p:sp>
      <p:sp>
        <p:nvSpPr>
          <p:cNvPr id="7" name="文本框 6"/>
          <p:cNvSpPr txBox="1"/>
          <p:nvPr/>
        </p:nvSpPr>
        <p:spPr>
          <a:xfrm>
            <a:off x="6553200" y="3886200"/>
            <a:ext cx="4064000" cy="2186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ym typeface="+mn-ea"/>
              </a:rPr>
              <a:t>    </a:t>
            </a:r>
          </a:p>
          <a:p>
            <a:r>
              <a:rPr lang="en-US" altLang="zh-CN" sz="2800">
                <a:sym typeface="+mn-ea"/>
              </a:rPr>
              <a:t>     A t1(1, 2);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A t2(2, 1);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A&amp; t3 = t1 + t2;// 3 2</a:t>
            </a:r>
            <a:endParaRPr lang="en-US" altLang="zh-CN" sz="2800"/>
          </a:p>
          <a:p>
            <a:r>
              <a:rPr lang="en-US" altLang="zh-CN" sz="2800">
                <a:sym typeface="+mn-ea"/>
              </a:rPr>
              <a:t>    t1.a++;// 4 2</a:t>
            </a:r>
          </a:p>
          <a:p>
            <a:r>
              <a:rPr lang="en-US" altLang="zh-CN" sz="2800"/>
              <a:t>t3</a:t>
            </a:r>
            <a:r>
              <a:rPr lang="zh-CN" altLang="en-US" sz="2800"/>
              <a:t>为引用前面的也应该是引用，不然报错</a:t>
            </a:r>
            <a:endParaRPr lang="en-US" altLang="zh-CN" sz="2800"/>
          </a:p>
          <a:p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运算符重载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653915" cy="435165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class Counter {</a:t>
            </a:r>
          </a:p>
          <a:p>
            <a:r>
              <a:rPr lang="en-US" altLang="zh-CN"/>
              <a:t>private:</a:t>
            </a:r>
          </a:p>
          <a:p>
            <a:r>
              <a:rPr lang="en-US" altLang="zh-CN"/>
              <a:t>    int value;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  Counter(int v = 0) : value(v) {}</a:t>
            </a:r>
          </a:p>
          <a:p>
            <a:r>
              <a:rPr lang="en-US" altLang="zh-CN"/>
              <a:t>      Counter&amp; operator++() {</a:t>
            </a:r>
          </a:p>
          <a:p>
            <a:r>
              <a:rPr lang="en-US" altLang="zh-CN"/>
              <a:t>        ++value;</a:t>
            </a:r>
          </a:p>
          <a:p>
            <a:r>
              <a:rPr lang="en-US" altLang="zh-CN"/>
              <a:t>        return *this;</a:t>
            </a:r>
          </a:p>
          <a:p>
            <a:r>
              <a:rPr lang="en-US" altLang="zh-CN"/>
              <a:t>    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63920" y="1945640"/>
            <a:ext cx="49276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Counter operator++(int) {</a:t>
            </a:r>
          </a:p>
          <a:p>
            <a:r>
              <a:rPr lang="en-US" altLang="zh-CN"/>
              <a:t>    Counter temp = *this;</a:t>
            </a:r>
          </a:p>
          <a:p>
            <a:r>
              <a:rPr lang="en-US" altLang="zh-CN"/>
              <a:t>    ++value;</a:t>
            </a:r>
          </a:p>
          <a:p>
            <a:r>
              <a:rPr lang="en-US" altLang="zh-CN"/>
              <a:t>    return temp;</a:t>
            </a:r>
          </a:p>
          <a:p>
            <a:r>
              <a:rPr lang="en-US" altLang="zh-CN"/>
              <a:t>}//</a:t>
            </a:r>
            <a:r>
              <a:rPr lang="zh-CN" altLang="en-US"/>
              <a:t>先返回副本再自增</a:t>
            </a:r>
            <a:endParaRPr lang="en-US" altLang="zh-CN"/>
          </a:p>
          <a:p>
            <a:r>
              <a:rPr lang="en-US" altLang="zh-CN"/>
              <a:t>//operator++(int) </a:t>
            </a:r>
            <a:r>
              <a:rPr lang="zh-CN" altLang="en-US"/>
              <a:t>带有一个</a:t>
            </a:r>
            <a:r>
              <a:rPr lang="en-US" altLang="zh-CN"/>
              <a:t> int </a:t>
            </a:r>
            <a:r>
              <a:rPr lang="zh-CN" altLang="en-US"/>
              <a:t>类型的哑元参数，用于区分前缀和后缀版本。</a:t>
            </a:r>
          </a:p>
          <a:p>
            <a:r>
              <a:rPr lang="en-US" altLang="zh-CN"/>
              <a:t>void display() const {</a:t>
            </a:r>
          </a:p>
          <a:p>
            <a:r>
              <a:rPr lang="en-US" altLang="zh-CN"/>
              <a:t>    cout &lt;&lt; "</a:t>
            </a:r>
            <a:r>
              <a:rPr lang="zh-CN" altLang="en-US"/>
              <a:t>当前值</a:t>
            </a:r>
            <a:r>
              <a:rPr lang="en-US" altLang="zh-CN"/>
              <a:t>: " &lt;&lt; value &lt;&lt; endl}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902960" y="443484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Counter c(5);</a:t>
            </a:r>
          </a:p>
          <a:p>
            <a:r>
              <a:rPr lang="en-US" altLang="zh-CN"/>
              <a:t>c.display();//5</a:t>
            </a:r>
          </a:p>
          <a:p>
            <a:r>
              <a:rPr lang="en-US" altLang="zh-CN"/>
              <a:t>c++.display();//5</a:t>
            </a:r>
          </a:p>
          <a:p>
            <a:r>
              <a:rPr lang="en-US" altLang="zh-CN"/>
              <a:t>c.display();//6</a:t>
            </a:r>
          </a:p>
          <a:p>
            <a:r>
              <a:rPr lang="en-US" altLang="zh-CN"/>
              <a:t>(++c).display();//7</a:t>
            </a:r>
          </a:p>
          <a:p>
            <a:r>
              <a:rPr lang="en-US" altLang="zh-CN"/>
              <a:t>c.display();//7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友元（</a:t>
            </a:r>
            <a:r>
              <a:rPr lang="en-US" altLang="zh-CN"/>
              <a:t>friend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752465" cy="4351655"/>
          </a:xfrm>
        </p:spPr>
        <p:txBody>
          <a:bodyPr/>
          <a:lstStyle/>
          <a:p>
            <a:pPr lvl="0" algn="l">
              <a:lnSpc>
                <a:spcPct val="90000"/>
              </a:lnSpc>
              <a:buClrTx/>
              <a:buSzTx/>
            </a:pPr>
            <a:r>
              <a:rPr lang="en-US" altLang="zh-CN">
                <a:sym typeface="黑体" panose="02010609060101010101" pitchFamily="49" charset="-122"/>
              </a:rPr>
              <a:t>class Wallet {</a:t>
            </a:r>
            <a:endParaRPr lang="en-US" altLang="zh-CN" noProof="1">
              <a:sym typeface="黑体" panose="02010609060101010101" pitchFamily="49" charset="-122"/>
            </a:endParaRPr>
          </a:p>
          <a:p>
            <a:pPr lvl="0" algn="l">
              <a:lnSpc>
                <a:spcPct val="90000"/>
              </a:lnSpc>
              <a:buClrTx/>
              <a:buSzTx/>
            </a:pPr>
            <a:r>
              <a:rPr lang="en-US" altLang="zh-CN">
                <a:sym typeface="黑体" panose="02010609060101010101" pitchFamily="49" charset="-122"/>
              </a:rPr>
              <a:t>   friend void Show(Wallet&amp;);</a:t>
            </a:r>
            <a:endParaRPr lang="en-US" altLang="zh-CN" noProof="1">
              <a:sym typeface="黑体" panose="02010609060101010101" pitchFamily="49" charset="-122"/>
            </a:endParaRPr>
          </a:p>
          <a:p>
            <a:pPr lvl="0" algn="l">
              <a:lnSpc>
                <a:spcPct val="90000"/>
              </a:lnSpc>
              <a:buClrTx/>
              <a:buSzTx/>
            </a:pPr>
            <a:r>
              <a:rPr lang="en-US" altLang="zh-CN">
                <a:sym typeface="黑体" panose="02010609060101010101" pitchFamily="49" charset="-122"/>
              </a:rPr>
              <a:t>   friend void B::func(A&amp;);</a:t>
            </a:r>
          </a:p>
          <a:p>
            <a:pPr lvl="0" algn="l">
              <a:lnSpc>
                <a:spcPct val="90000"/>
              </a:lnSpc>
              <a:buClrTx/>
              <a:buSzTx/>
            </a:pPr>
            <a:r>
              <a:rPr lang="en-US" altLang="zh-CN">
                <a:sym typeface="黑体" panose="02010609060101010101" pitchFamily="49" charset="-122"/>
              </a:rPr>
              <a:t>//</a:t>
            </a:r>
            <a:r>
              <a:rPr lang="zh-CN" altLang="en-US">
                <a:sym typeface="黑体" panose="02010609060101010101" pitchFamily="49" charset="-122"/>
              </a:rPr>
              <a:t>该函数可以访问</a:t>
            </a:r>
            <a:endParaRPr lang="en-US" altLang="zh-CN">
              <a:sym typeface="黑体" panose="02010609060101010101" pitchFamily="49" charset="-122"/>
            </a:endParaRPr>
          </a:p>
          <a:p>
            <a:pPr lvl="0" algn="l">
              <a:lnSpc>
                <a:spcPct val="90000"/>
              </a:lnSpc>
              <a:buClrTx/>
              <a:buSzTx/>
            </a:pPr>
            <a:r>
              <a:rPr lang="en-US" altLang="zh-CN">
                <a:sym typeface="黑体" panose="02010609060101010101" pitchFamily="49" charset="-122"/>
              </a:rPr>
              <a:t>   friend class Parent;</a:t>
            </a:r>
          </a:p>
          <a:p>
            <a:pPr lvl="0" algn="l">
              <a:lnSpc>
                <a:spcPct val="90000"/>
              </a:lnSpc>
              <a:buClrTx/>
              <a:buSzTx/>
            </a:pPr>
            <a:r>
              <a:rPr lang="en-US" altLang="zh-CN">
                <a:sym typeface="黑体" panose="02010609060101010101" pitchFamily="49" charset="-122"/>
              </a:rPr>
              <a:t> //</a:t>
            </a:r>
            <a:r>
              <a:rPr lang="zh-CN" altLang="en-US">
                <a:sym typeface="黑体" panose="02010609060101010101" pitchFamily="49" charset="-122"/>
              </a:rPr>
              <a:t>所有成员函数可以访问</a:t>
            </a:r>
            <a:br>
              <a:rPr lang="en-US" altLang="zh-CN">
                <a:sym typeface="黑体" panose="02010609060101010101" pitchFamily="49" charset="-122"/>
              </a:rPr>
            </a:br>
            <a:r>
              <a:rPr lang="en-US" altLang="zh-CN">
                <a:sym typeface="黑体" panose="02010609060101010101" pitchFamily="49" charset="-122"/>
              </a:rPr>
              <a:t>private:</a:t>
            </a:r>
            <a:br>
              <a:rPr lang="en-US" altLang="zh-CN">
                <a:sym typeface="黑体" panose="02010609060101010101" pitchFamily="49" charset="-122"/>
              </a:rPr>
            </a:br>
            <a:r>
              <a:rPr lang="en-US" altLang="zh-CN">
                <a:sym typeface="黑体" panose="02010609060101010101" pitchFamily="49" charset="-122"/>
              </a:rPr>
              <a:t>          int money; int history;</a:t>
            </a:r>
            <a:br>
              <a:rPr lang="en-US" altLang="zh-CN">
                <a:sym typeface="黑体" panose="02010609060101010101" pitchFamily="49" charset="-122"/>
              </a:rPr>
            </a:br>
            <a:r>
              <a:rPr lang="en-US" altLang="zh-CN">
                <a:sym typeface="黑体" panose="02010609060101010101" pitchFamily="49" charset="-122"/>
              </a:rPr>
              <a:t>};</a:t>
            </a:r>
            <a:endParaRPr lang="en-US" altLang="zh-CN" noProof="1">
              <a:sym typeface="黑体" panose="02010609060101010101" pitchFamily="49" charset="-122"/>
            </a:endParaRPr>
          </a:p>
          <a:p>
            <a:endParaRPr lang="en-US" altLang="zh-CN" b="1">
              <a:solidFill>
                <a:srgbClr val="0000FF"/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友元（</a:t>
            </a:r>
            <a:r>
              <a:rPr lang="en-US" altLang="zh-CN">
                <a:sym typeface="+mn-ea"/>
              </a:rPr>
              <a:t>friend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l">
              <a:lnSpc>
                <a:spcPct val="80000"/>
              </a:lnSpc>
              <a:buClr>
                <a:srgbClr val="0000FF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友元的本质都是友元函数，没有友员数据</a:t>
            </a:r>
            <a:b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endParaRPr lang="zh-CN" altLang="en-US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lvl="0" indent="0" algn="l">
              <a:lnSpc>
                <a:spcPct val="80000"/>
              </a:lnSpc>
              <a:buClr>
                <a:srgbClr val="0000FF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友元函数不是类的成员</a:t>
            </a:r>
            <a:b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endParaRPr lang="zh-CN" altLang="en-US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lvl="0" indent="0" algn="l">
              <a:lnSpc>
                <a:spcPct val="80000"/>
              </a:lnSpc>
              <a:buClr>
                <a:srgbClr val="0000FF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友元关系是单向的</a:t>
            </a:r>
          </a:p>
          <a:p>
            <a:pPr marL="342900" lvl="0" indent="-342900" algn="l">
              <a:lnSpc>
                <a:spcPct val="80000"/>
              </a:lnSpc>
              <a:buClr>
                <a:srgbClr val="0000FF"/>
              </a:buClr>
              <a:buSzTx/>
              <a:buFont typeface="Wingdings" panose="05000000000000000000" pitchFamily="2" charset="2"/>
              <a:buChar char="n"/>
            </a:pPr>
            <a:endParaRPr lang="zh-CN" altLang="en-US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lvl="0" indent="0" algn="l">
              <a:lnSpc>
                <a:spcPct val="80000"/>
              </a:lnSpc>
              <a:buClr>
                <a:srgbClr val="0000FF"/>
              </a:buClr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友元关系没有传递性</a:t>
            </a:r>
            <a:endParaRPr lang="zh-CN" altLang="en-US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嵌套类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0895" y="1522095"/>
            <a:ext cx="7799705" cy="4988560"/>
          </a:xfrm>
        </p:spPr>
        <p:txBody>
          <a:bodyPr>
            <a:noAutofit/>
          </a:bodyPr>
          <a:lstStyle/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E {//</a:t>
            </a:r>
            <a:r>
              <a:rPr lang="zh-CN" altLang="en-US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里面看外面是透明的，除此之外不行</a:t>
            </a:r>
            <a:endParaRPr lang="en-US" altLang="zh-CN" sz="1700" dirty="0" err="1"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int x;</a:t>
            </a:r>
          </a:p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class B { int c;};</a:t>
            </a:r>
          </a:p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class I {</a:t>
            </a:r>
          </a:p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B b;                 // OK</a:t>
            </a:r>
          </a:p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int y;</a:t>
            </a:r>
          </a:p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void f(E* p, int i) {</a:t>
            </a:r>
          </a:p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p-&gt;x = i;       // OK</a:t>
            </a:r>
          </a:p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b.c=1;//error</a:t>
            </a:r>
          </a:p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}</a:t>
            </a:r>
          </a:p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};</a:t>
            </a:r>
          </a:p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int g(I* p) {</a:t>
            </a:r>
          </a:p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return p-&gt;y; // error: I::y is private</a:t>
            </a:r>
          </a:p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}</a:t>
            </a:r>
          </a:p>
          <a:p>
            <a:pPr lvl="0" indent="0"/>
            <a:r>
              <a:rPr lang="en-US" altLang="zh-CN" sz="17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en-US" altLang="zh-CN" sz="1700" dirty="0" err="1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zh-CN" altLang="en-US" sz="6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类间关系的强弱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sym typeface="+mn-ea"/>
              </a:rPr>
              <a:t>A.h</a:t>
            </a:r>
            <a:r>
              <a:rPr lang="zh-CN" altLang="en-US" dirty="0">
                <a:sym typeface="+mn-ea"/>
              </a:rPr>
              <a:t>必须包含</a:t>
            </a:r>
            <a:r>
              <a:rPr lang="en-US" altLang="zh-CN" dirty="0" err="1">
                <a:sym typeface="+mn-ea"/>
              </a:rPr>
              <a:t>B.h</a:t>
            </a:r>
            <a:r>
              <a:rPr lang="zh-CN" altLang="en-US" dirty="0">
                <a:sym typeface="+mn-ea"/>
              </a:rPr>
              <a:t>才能编译成功，则</a:t>
            </a:r>
            <a:r>
              <a:rPr lang="en-US" altLang="zh-CN" dirty="0">
                <a:sym typeface="+mn-ea"/>
              </a:rPr>
              <a:t>A</a:t>
            </a:r>
            <a:r>
              <a:rPr lang="zh-CN" altLang="en-US" dirty="0">
                <a:sym typeface="+mn-ea"/>
              </a:rPr>
              <a:t>与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之间存在强关联。</a:t>
            </a:r>
          </a:p>
          <a:p>
            <a:r>
              <a:rPr lang="en-US" altLang="zh-CN" dirty="0">
                <a:sym typeface="+mn-ea"/>
              </a:rPr>
              <a:t> A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类间有双向关系，且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与</a:t>
            </a:r>
            <a:r>
              <a:rPr lang="en-US" altLang="zh-CN" dirty="0">
                <a:sym typeface="+mn-ea"/>
              </a:rPr>
              <a:t>A</a:t>
            </a:r>
            <a:r>
              <a:rPr lang="zh-CN" altLang="en-US" dirty="0">
                <a:sym typeface="+mn-ea"/>
              </a:rPr>
              <a:t>之间有强关联，那么</a:t>
            </a:r>
            <a:r>
              <a:rPr lang="en-US" altLang="zh-CN" dirty="0">
                <a:sym typeface="+mn-ea"/>
              </a:rPr>
              <a:t>A</a:t>
            </a:r>
            <a:r>
              <a:rPr lang="zh-CN" altLang="en-US" dirty="0">
                <a:sym typeface="+mn-ea"/>
              </a:rPr>
              <a:t>与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之间存在硬关联。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 A.cpp</a:t>
            </a:r>
            <a:r>
              <a:rPr lang="zh-CN" altLang="en-US" dirty="0">
                <a:sym typeface="+mn-ea"/>
              </a:rPr>
              <a:t>中必须包含</a:t>
            </a:r>
            <a:r>
              <a:rPr lang="en-US" altLang="zh-CN" dirty="0" err="1">
                <a:sym typeface="+mn-ea"/>
              </a:rPr>
              <a:t>B.h</a:t>
            </a:r>
            <a:r>
              <a:rPr lang="zh-CN" altLang="en-US" dirty="0">
                <a:sym typeface="+mn-ea"/>
              </a:rPr>
              <a:t>才能编译通过，则</a:t>
            </a:r>
            <a:r>
              <a:rPr lang="en-US" altLang="zh-CN" dirty="0">
                <a:sym typeface="+mn-ea"/>
              </a:rPr>
              <a:t>A</a:t>
            </a:r>
            <a:r>
              <a:rPr lang="zh-CN" altLang="en-US" dirty="0">
                <a:sym typeface="+mn-ea"/>
              </a:rPr>
              <a:t>与</a:t>
            </a:r>
            <a:r>
              <a:rPr lang="en-US" altLang="zh-CN" dirty="0">
                <a:sym typeface="+mn-ea"/>
              </a:rPr>
              <a:t>B</a:t>
            </a:r>
            <a:r>
              <a:rPr lang="zh-CN" altLang="en-US" dirty="0">
                <a:sym typeface="+mn-ea"/>
              </a:rPr>
              <a:t>之间存在弱关联。</a:t>
            </a:r>
            <a:endParaRPr lang="zh-CN" altLang="en-US" dirty="0"/>
          </a:p>
          <a:p>
            <a:pPr fontAlgn="auto">
              <a:lnSpc>
                <a:spcPct val="90000"/>
              </a:lnSpc>
              <a:buClrTx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类间的联系依次减弱</a:t>
            </a:r>
            <a:endParaRPr lang="zh-CN" altLang="en-US" noProof="1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继承：类间的垂直关系</a:t>
            </a:r>
            <a:endParaRPr lang="zh-CN" altLang="en-US" noProof="1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硬联系(硬关联)</a:t>
            </a:r>
            <a:endParaRPr lang="zh-CN" altLang="en-US" noProof="1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强联系(强关联)</a:t>
            </a:r>
            <a:endParaRPr lang="zh-CN" altLang="en-US" noProof="1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弱联系(弱关联)</a:t>
            </a:r>
            <a:endParaRPr lang="zh-CN" altLang="en-US" noProof="1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软联系(软关联)</a:t>
            </a:r>
            <a:endParaRPr lang="en-US" altLang="zh-CN" noProof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水平方向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1115" y="1871345"/>
            <a:ext cx="7048500" cy="425958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关联种类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1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一般关联：强调非偶然性的“知道”。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一般关联</a:t>
            </a: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zh-CN" altLang="en-US" dirty="0">
                <a:sym typeface="+mn-ea"/>
              </a:rPr>
              <a:t>可单向，可双向</a:t>
            </a:r>
            <a:endParaRPr lang="zh-CN" altLang="en-US" dirty="0"/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zh-CN" altLang="en-US" dirty="0">
                <a:sym typeface="+mn-ea"/>
              </a:rPr>
              <a:t>可一对一，</a:t>
            </a:r>
            <a:endParaRPr lang="zh-CN" altLang="en-US" dirty="0"/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zh-CN" altLang="en-US" dirty="0">
                <a:sym typeface="+mn-ea"/>
              </a:rPr>
              <a:t>可一对多，多对一</a:t>
            </a:r>
            <a:endParaRPr lang="zh-CN" altLang="en-US" dirty="0"/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zh-CN" altLang="en-US" dirty="0">
                <a:sym typeface="+mn-ea"/>
              </a:rPr>
              <a:t>可多对多</a:t>
            </a:r>
            <a:endParaRPr lang="en-US" altLang="zh-CN" sz="2400" noProof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自关联：</a:t>
            </a:r>
            <a:r>
              <a:rPr lang="zh-CN" altLang="en-US" dirty="0">
                <a:sym typeface="+mn-ea"/>
              </a:rPr>
              <a:t>关联本类对象</a:t>
            </a:r>
          </a:p>
          <a:p>
            <a:pPr marL="0" lvl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关联类：</a:t>
            </a:r>
            <a:r>
              <a:rPr lang="zh-CN" altLang="en-US" dirty="0">
                <a:sym typeface="+mn-ea"/>
              </a:rPr>
              <a:t>将关联关系抽象成一个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多个独立的关联类，使得关联类既表示关联关系，也表示关联对象。</a:t>
            </a:r>
            <a:endParaRPr lang="en-US" altLang="zh-CN" sz="2400" noProof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 dirty="0">
                <a:sym typeface="+mn-ea"/>
              </a:rPr>
              <a:t>聚集关联：强调整体-部分关系</a:t>
            </a:r>
            <a:endParaRPr lang="zh-CN" altLang="en-US" sz="2400" noProof="1"/>
          </a:p>
          <a:p>
            <a:pPr lvl="1" indent="635" algn="l" fontAlgn="base">
              <a:lnSpc>
                <a:spcPct val="130000"/>
              </a:lnSpc>
            </a:pPr>
            <a:r>
              <a:rPr lang="zh-CN" altLang="en-US" dirty="0">
                <a:sym typeface="+mn-ea"/>
              </a:rPr>
              <a:t>聚合关系:   B “has-a” A, 但B类不负责A类对象的生存与消亡。</a:t>
            </a:r>
            <a:endParaRPr lang="zh-CN" altLang="en-US" dirty="0"/>
          </a:p>
          <a:p>
            <a:pPr lvl="1" indent="635" algn="l" fontAlgn="base">
              <a:lnSpc>
                <a:spcPct val="130000"/>
              </a:lnSpc>
            </a:pPr>
            <a:r>
              <a:rPr lang="zh-CN" altLang="en-US" dirty="0">
                <a:sym typeface="+mn-ea"/>
              </a:rPr>
              <a:t>组合关系： B “contain-a” A, B类负责A类对象的生存与消亡。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面向对象的三大基本特征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  <a:t>封装：</a:t>
            </a:r>
            <a:b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</a:b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  <a:t>   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  <a:t>通过对客观事物的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  <a:t>抽象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  <a:t>，分析事物的本质特征，总结和提炼事物的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  <a:t>行为和属性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  <a:t>，并用类和对象表示的过程。</a:t>
            </a:r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  <a:t>信息隐蔽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  <a:t>:</a:t>
            </a:r>
            <a:b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</a:b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  <a:t>   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  <a:t>在用类和对象表示事物时，只将行为和属性公开给可信的外部事物。相应地，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  <a:t>隐藏自身的内部特征信息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rPr>
              <a:t>。</a:t>
            </a:r>
            <a:endParaRPr lang="zh-CN" altLang="en-US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r>
              <a:rPr lang="zh-CN" altLang="en-US"/>
              <a:t>就好比一台电脑有很多零部件，我们把它们组装成一台电脑，但是我们不知道电脑里面具体细节，但是键盘，鼠标，显示屏是给我们使用的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面向对象的三大基本特征</a:t>
            </a:r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3685" y="2202815"/>
            <a:ext cx="4023360" cy="359664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水平关系-普通关联、聚合、组合和依赖---黑盒复用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use</a:t>
            </a:r>
            <a:endParaRPr lang="zh-CN" altLang="en-US" noProof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垂直关系-继承--白盒复用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                   is</a:t>
            </a:r>
            <a:endParaRPr lang="zh-CN" altLang="en-US" noProof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还是以电脑为例，比如说你的电脑店要升级，卖新的电脑，那么你就去进一批电脑来，但是这个电脑这么做的你不知道，但是你可以拿来赚钱，但是如果你是那个要升级电脑的人，你就得对这个电脑十分的了解，才能知道把哪些东西怎么换，怎么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继承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 algn="l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en-US" altLang="zh-CN" dirty="0">
                <a:solidFill>
                  <a:srgbClr val="343537"/>
                </a:solidFill>
                <a:latin typeface="+mn-ea"/>
                <a:sym typeface="Calibri" panose="020F0502020204030204" charset="0"/>
              </a:rPr>
              <a:t>继承语法格式</a:t>
            </a:r>
            <a:br>
              <a:rPr lang="en-US" altLang="zh-CN" dirty="0">
                <a:solidFill>
                  <a:srgbClr val="343537"/>
                </a:solidFill>
                <a:latin typeface="+mn-ea"/>
                <a:sym typeface="Calibri" panose="020F0502020204030204" charset="0"/>
              </a:rPr>
            </a:br>
            <a: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  <a:t>class &lt;派生类名&gt; :&lt;继承方式&gt;&lt;基类名称&gt;, …</a:t>
            </a:r>
            <a:b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</a:br>
            <a: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  <a:t>{</a:t>
            </a:r>
            <a:b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</a:br>
            <a: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  <a:t>    ….</a:t>
            </a:r>
            <a:b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</a:br>
            <a: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  <a:t>};</a:t>
            </a:r>
            <a:endParaRPr lang="en-US" altLang="zh-CN" dirty="0">
              <a:solidFill>
                <a:srgbClr val="343537"/>
              </a:solidFill>
              <a:latin typeface="+mn-ea"/>
            </a:endParaRPr>
          </a:p>
          <a:p>
            <a:pPr marL="342900" indent="-342900" algn="l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  <a:t>例：</a:t>
            </a:r>
            <a:b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</a:br>
            <a: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  <a:t>class Child : public Parent1, private Parent2 </a:t>
            </a:r>
            <a:b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</a:br>
            <a: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  <a:t>{</a:t>
            </a:r>
            <a:b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</a:br>
            <a: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  <a:t>public:    Child( int n);</a:t>
            </a:r>
            <a:b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</a:br>
            <a: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  <a:t>               void ChildFunc( );</a:t>
            </a:r>
            <a:b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</a:br>
            <a: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  <a:t>private:   int data1;</a:t>
            </a:r>
            <a:b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</a:br>
            <a: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  <a:t>               OtherClass  * ptr;            </a:t>
            </a:r>
            <a:b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</a:br>
            <a:r>
              <a:rPr lang="en-US" altLang="zh-CN" dirty="0">
                <a:solidFill>
                  <a:srgbClr val="343537"/>
                </a:solidFill>
                <a:latin typeface="+mn-ea"/>
                <a:sym typeface="+mn-ea"/>
              </a:rPr>
              <a:t>};</a:t>
            </a:r>
            <a:endParaRPr lang="en-US" altLang="zh-CN" dirty="0">
              <a:solidFill>
                <a:srgbClr val="343537"/>
              </a:solidFill>
              <a:latin typeface="+mn-ea"/>
              <a:sym typeface="Calibri" panose="020F0502020204030204" charset="0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 algn="l">
              <a:lnSpc>
                <a:spcPct val="80000"/>
              </a:lnSpc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en-US" altLang="zh-CN" sz="2800" dirty="0">
                <a:solidFill>
                  <a:srgbClr val="343537"/>
                </a:solidFill>
                <a:latin typeface="+mn-ea"/>
                <a:sym typeface="Calibri" panose="020F0502020204030204" charset="0"/>
              </a:rPr>
              <a:t>继承方式：</a:t>
            </a:r>
            <a:br>
              <a:rPr lang="en-US" altLang="zh-CN" sz="2800" dirty="0">
                <a:solidFill>
                  <a:srgbClr val="343537"/>
                </a:solidFill>
                <a:latin typeface="+mn-ea"/>
                <a:sym typeface="Calibri" panose="020F0502020204030204" charset="0"/>
              </a:rPr>
            </a:br>
            <a:r>
              <a:rPr lang="en-US" altLang="zh-CN" sz="2800" dirty="0">
                <a:solidFill>
                  <a:srgbClr val="343537"/>
                </a:solidFill>
                <a:latin typeface="+mn-ea"/>
                <a:sym typeface="Calibri" panose="020F0502020204030204" charset="0"/>
              </a:rPr>
              <a:t>    </a:t>
            </a:r>
            <a:r>
              <a:rPr lang="en-US" altLang="zh-CN" sz="2800" dirty="0">
                <a:solidFill>
                  <a:srgbClr val="343537"/>
                </a:solidFill>
                <a:latin typeface="+mn-ea"/>
                <a:sym typeface="黑体" panose="02010609060101010101" pitchFamily="49" charset="-122"/>
              </a:rPr>
              <a:t>public、protected、private三种</a:t>
            </a:r>
          </a:p>
          <a:p>
            <a:pPr marL="0" indent="0" algn="l">
              <a:lnSpc>
                <a:spcPct val="80000"/>
              </a:lnSpc>
              <a:buClr>
                <a:schemeClr val="accent1"/>
              </a:buClr>
              <a:buFont typeface="Wingdings" panose="05000000000000000000" charset="0"/>
              <a:buNone/>
            </a:pPr>
            <a:br>
              <a:rPr lang="en-US" altLang="zh-CN" sz="2800" dirty="0">
                <a:solidFill>
                  <a:srgbClr val="343537"/>
                </a:solidFill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solidFill>
                  <a:srgbClr val="343537"/>
                </a:solidFill>
                <a:latin typeface="+mn-ea"/>
                <a:sym typeface="黑体" panose="02010609060101010101" pitchFamily="49" charset="-122"/>
              </a:rPr>
              <a:t>     默认为private继承(无明确指定的继承方式时)</a:t>
            </a:r>
          </a:p>
          <a:p>
            <a:pPr marL="0" indent="0" algn="l">
              <a:lnSpc>
                <a:spcPct val="80000"/>
              </a:lnSpc>
              <a:buClr>
                <a:schemeClr val="accent1"/>
              </a:buClr>
              <a:buFont typeface="Wingdings" panose="05000000000000000000" charset="0"/>
              <a:buNone/>
            </a:pPr>
            <a:r>
              <a:rPr lang="en-US" altLang="zh-CN" sz="2800" dirty="0">
                <a:solidFill>
                  <a:srgbClr val="343537"/>
                </a:solidFill>
                <a:latin typeface="+mn-ea"/>
                <a:sym typeface="黑体" panose="02010609060101010101" pitchFamily="49" charset="-122"/>
              </a:rPr>
              <a:t>基类</a:t>
            </a:r>
          </a:p>
          <a:p>
            <a:pPr marL="457200" lvl="1" indent="0" algn="l" fontAlgn="base">
              <a:lnSpc>
                <a:spcPct val="80000"/>
              </a:lnSpc>
              <a:buClr>
                <a:schemeClr val="accent1"/>
              </a:buClr>
              <a:buSzPct val="100000"/>
              <a:buFont typeface="Wingdings" panose="05000000000000000000" charset="0"/>
              <a:buNone/>
            </a:pPr>
            <a:r>
              <a:rPr lang="en-US" altLang="zh-CN" sz="2800" dirty="0">
                <a:solidFill>
                  <a:srgbClr val="343537"/>
                </a:solidFill>
                <a:latin typeface="+mn-ea"/>
                <a:sym typeface="黑体" panose="02010609060101010101" pitchFamily="49" charset="-122"/>
              </a:rPr>
              <a:t>单继承：只有一个基类</a:t>
            </a:r>
          </a:p>
          <a:p>
            <a:pPr marL="457200" lvl="1" indent="0" algn="l" fontAlgn="base">
              <a:lnSpc>
                <a:spcPct val="80000"/>
              </a:lnSpc>
              <a:buClr>
                <a:schemeClr val="accent1"/>
              </a:buClr>
              <a:buSzPct val="100000"/>
              <a:buFont typeface="Wingdings" panose="05000000000000000000" charset="0"/>
              <a:buNone/>
            </a:pPr>
            <a:r>
              <a:rPr lang="en-US" altLang="zh-CN" sz="2800" dirty="0">
                <a:solidFill>
                  <a:srgbClr val="343537"/>
                </a:solidFill>
                <a:latin typeface="+mn-ea"/>
                <a:sym typeface="黑体" panose="02010609060101010101" pitchFamily="49" charset="-122"/>
              </a:rPr>
              <a:t>多(重)继承:有两个或两个以上的基类</a:t>
            </a:r>
            <a:br>
              <a:rPr lang="en-US" altLang="zh-CN" sz="2800" dirty="0">
                <a:solidFill>
                  <a:srgbClr val="343537"/>
                </a:solidFill>
                <a:latin typeface="+mn-ea"/>
                <a:sym typeface="黑体" panose="02010609060101010101" pitchFamily="49" charset="-122"/>
              </a:rPr>
            </a:br>
            <a:endParaRPr lang="en-US" altLang="zh-CN" sz="2800" dirty="0">
              <a:solidFill>
                <a:srgbClr val="343537"/>
              </a:solidFill>
              <a:latin typeface="+mn-ea"/>
              <a:sym typeface="黑体" panose="02010609060101010101" pitchFamily="49" charset="-122"/>
            </a:endParaRPr>
          </a:p>
          <a:p>
            <a:pPr marL="0" indent="0" algn="l" fontAlgn="base">
              <a:lnSpc>
                <a:spcPct val="80000"/>
              </a:lnSpc>
              <a:spcBef>
                <a:spcPct val="0"/>
              </a:spcBef>
              <a:buClr>
                <a:schemeClr val="accent1"/>
              </a:buClr>
              <a:buFont typeface="Wingdings" panose="05000000000000000000" charset="0"/>
              <a:buNone/>
            </a:pPr>
            <a:r>
              <a:rPr lang="en-US" altLang="zh-CN" sz="2800" dirty="0">
                <a:solidFill>
                  <a:srgbClr val="343537"/>
                </a:solidFill>
                <a:latin typeface="+mn-ea"/>
                <a:sym typeface="黑体" panose="02010609060101010101" pitchFamily="49" charset="-122"/>
              </a:rPr>
              <a:t>派生类</a:t>
            </a:r>
          </a:p>
          <a:p>
            <a:pPr marL="457200" lvl="1" indent="0" algn="l" fontAlgn="base">
              <a:lnSpc>
                <a:spcPct val="80000"/>
              </a:lnSpc>
              <a:buClr>
                <a:schemeClr val="accent1"/>
              </a:buClr>
              <a:buSzPct val="100000"/>
              <a:buFont typeface="Wingdings" panose="05000000000000000000" charset="0"/>
              <a:buNone/>
            </a:pPr>
            <a:r>
              <a:rPr lang="en-US" altLang="zh-CN" sz="2800" dirty="0">
                <a:solidFill>
                  <a:srgbClr val="343537"/>
                </a:solidFill>
                <a:latin typeface="+mn-ea"/>
                <a:sym typeface="黑体" panose="02010609060101010101" pitchFamily="49" charset="-122"/>
              </a:rPr>
              <a:t>派生类可以是其它继承的基类，即派生类可继续派生</a:t>
            </a:r>
          </a:p>
          <a:p>
            <a:pPr marL="457200" lvl="1" indent="0" algn="l" fontAlgn="base">
              <a:lnSpc>
                <a:spcPct val="80000"/>
              </a:lnSpc>
              <a:buClr>
                <a:schemeClr val="accent1"/>
              </a:buClr>
              <a:buSzPct val="100000"/>
              <a:buFont typeface="Wingdings" panose="05000000000000000000" charset="0"/>
              <a:buNone/>
            </a:pPr>
            <a:r>
              <a:rPr lang="en-US" altLang="zh-CN" sz="2800" dirty="0">
                <a:solidFill>
                  <a:srgbClr val="343537"/>
                </a:solidFill>
                <a:latin typeface="+mn-ea"/>
                <a:sym typeface="黑体" panose="02010609060101010101" pitchFamily="49" charset="-122"/>
              </a:rPr>
              <a:t>多层继承和继承树</a:t>
            </a:r>
            <a:br>
              <a:rPr lang="en-US" altLang="zh-CN" sz="2800" dirty="0">
                <a:solidFill>
                  <a:srgbClr val="343537"/>
                </a:solidFill>
                <a:latin typeface="+mn-ea"/>
                <a:sym typeface="黑体" panose="02010609060101010101" pitchFamily="49" charset="-122"/>
              </a:rPr>
            </a:br>
            <a:endParaRPr lang="en-US" altLang="zh-CN" sz="2800" dirty="0">
              <a:solidFill>
                <a:srgbClr val="343537"/>
              </a:solidFill>
              <a:latin typeface="+mn-ea"/>
              <a:sym typeface="黑体" panose="02010609060101010101" pitchFamily="49" charset="-122"/>
            </a:endParaRPr>
          </a:p>
          <a:p>
            <a:pPr marL="0" indent="0" algn="l" fontAlgn="base">
              <a:lnSpc>
                <a:spcPct val="80000"/>
              </a:lnSpc>
              <a:spcBef>
                <a:spcPct val="0"/>
              </a:spcBef>
              <a:buClr>
                <a:schemeClr val="accent1"/>
              </a:buClr>
              <a:buFont typeface="Wingdings" panose="05000000000000000000" charset="0"/>
              <a:buNone/>
            </a:pPr>
            <a:r>
              <a:rPr lang="en-US" altLang="zh-CN" sz="2800" dirty="0">
                <a:solidFill>
                  <a:srgbClr val="343537"/>
                </a:solidFill>
                <a:latin typeface="+mn-ea"/>
                <a:sym typeface="黑体" panose="02010609060101010101" pitchFamily="49" charset="-122"/>
              </a:rPr>
              <a:t>父类、子类</a:t>
            </a:r>
          </a:p>
          <a:p>
            <a:pPr marL="457200" lvl="1" indent="0" algn="l" fontAlgn="base">
              <a:lnSpc>
                <a:spcPct val="80000"/>
              </a:lnSpc>
              <a:buClr>
                <a:schemeClr val="accent1"/>
              </a:buClr>
              <a:buSzPct val="100000"/>
              <a:buFont typeface="Wingdings" panose="05000000000000000000" charset="0"/>
              <a:buNone/>
            </a:pPr>
            <a:r>
              <a:rPr lang="en-US" altLang="zh-CN" sz="2800" dirty="0">
                <a:solidFill>
                  <a:srgbClr val="343537"/>
                </a:solidFill>
                <a:latin typeface="+mn-ea"/>
                <a:sym typeface="黑体" panose="02010609060101010101" pitchFamily="49" charset="-122"/>
              </a:rPr>
              <a:t>在public继承下，称基类为父类，派生类为子类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继承</a:t>
            </a:r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5365" y="2919095"/>
            <a:ext cx="7620000" cy="216408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5765" y="1527810"/>
            <a:ext cx="8839200" cy="422592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34440" y="60725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外部访问呢？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buClr>
                <a:srgbClr val="046FB6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派生类的构造函数：</a:t>
            </a:r>
            <a:endParaRPr lang="zh-CN" altLang="en-US" sz="2800" strike="noStrike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2" fontAlgn="auto">
              <a:buClr>
                <a:srgbClr val="046FB6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构造顺序：先基类，再成员类，最后派生类</a:t>
            </a:r>
            <a:endParaRPr lang="zh-CN" altLang="en-US" sz="2800" strike="noStrike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2" fontAlgn="auto">
              <a:buClr>
                <a:srgbClr val="046FB6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初始化列表中可以指定基类的构造函数或拷贝构造函数</a:t>
            </a:r>
            <a:endParaRPr lang="zh-CN" altLang="en-US" sz="2800" strike="noStrike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2" fontAlgn="auto">
              <a:buClr>
                <a:srgbClr val="046FB6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多重继承时，基类按先后顺序构造</a:t>
            </a:r>
            <a:b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</a:br>
            <a:endParaRPr lang="en-US" altLang="zh-CN" sz="2800" strike="noStrike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fontAlgn="auto">
              <a:buClr>
                <a:srgbClr val="046FB6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派生类的析构函数：</a:t>
            </a:r>
            <a:endParaRPr lang="zh-CN" altLang="en-US" sz="2800" strike="noStrike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</a:endParaRPr>
          </a:p>
          <a:p>
            <a:pPr lvl="2" fontAlgn="auto">
              <a:buClr>
                <a:srgbClr val="046FB6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先执行派生类的析构，再自动执行基类析构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2 111 111 99 1</a:t>
            </a:r>
          </a:p>
          <a:p>
            <a:r>
              <a:rPr lang="en-US" altLang="zh-CN"/>
              <a:t>OK a(1, 99);</a:t>
            </a:r>
          </a:p>
          <a:p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890" y="457835"/>
            <a:ext cx="7162800" cy="602742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4 3 2 1 0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62</a:t>
            </a:fld>
            <a:endParaRPr lang="zh-CN" altLang="en-US"/>
          </a:p>
        </p:txBody>
      </p:sp>
      <p:pic>
        <p:nvPicPr>
          <p:cNvPr id="5" name="图片 4" descr="IMG_20250607_1420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524250" y="0"/>
            <a:ext cx="5143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派生类中的成员函数</a:t>
            </a:r>
            <a:endParaRPr lang="en-US" altLang="zh-CN" sz="2800" dirty="0"/>
          </a:p>
          <a:p>
            <a:pPr marL="742950" lvl="1" indent="-342900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派生类中的构造、析构、拷贝、赋值</a:t>
            </a:r>
            <a:endParaRPr lang="en-US" altLang="zh-CN" sz="2800" noProof="1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914400" lvl="2" indent="0">
              <a:buClr>
                <a:srgbClr val="C00000"/>
              </a:buClr>
              <a:buSzPct val="100000"/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若无明确定义，则使用缺省的</a:t>
            </a:r>
            <a:endParaRPr lang="zh-CN" altLang="en-US" sz="2800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742950" lvl="1" indent="-342900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派生类中的静态函数</a:t>
            </a:r>
            <a:endParaRPr lang="zh-CN" altLang="en-US" sz="2800" noProof="1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914400" lvl="2" indent="0">
              <a:buClr>
                <a:srgbClr val="C00000"/>
              </a:buClr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派生类定义的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+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继承自基类的</a:t>
            </a:r>
            <a:endParaRPr lang="zh-CN" altLang="en-US" sz="2800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742950" lvl="1" indent="-342900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继承的基类函数</a:t>
            </a:r>
            <a:endParaRPr lang="zh-CN" altLang="en-US" sz="2800" noProof="1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742950" lvl="1" indent="-342900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派生类中明确定义的函数</a:t>
            </a:r>
            <a:endParaRPr lang="zh-CN" altLang="en-US" sz="2800" b="1" noProof="1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newdefine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：派生类中新定义的函数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(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基类中无同名的函数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)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redefine:    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派生类中新定义的函数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(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基类中有同名、同原型的函数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)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overload:   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派生类中多个同名的重载函数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overwrite:  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派生类中定义了某个函数，且基类中有同名的函数，则派生类的函数会</a:t>
            </a:r>
            <a:b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</a:b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                 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 将基类的同名函数隐藏（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hide)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掉。</a:t>
            </a:r>
          </a:p>
          <a:p>
            <a:pPr marL="1257300" lvl="2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使用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using 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override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：若基类中的某个函数时虚的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(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带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virtual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关键字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)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，并在派生类中定义了同名的函数，称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override</a:t>
            </a:r>
            <a:endParaRPr lang="zh-CN" altLang="en-US" sz="28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newdefine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：派生类中新定义的函数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(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基类中无同名的函数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)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redefine:    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派生类中新定义的函数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(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基类中有同名、同原型的函数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)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overload:   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派生类中多个同名的重载函数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overwrite:  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派生类中定义了某个函数，且基类中有同名的函数，则派生类的函数会</a:t>
            </a:r>
            <a:b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</a:b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                 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 将基类的同名函数隐藏（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hide)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掉。</a:t>
            </a:r>
          </a:p>
          <a:p>
            <a:pPr marL="1257300" lvl="2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使用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using 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override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：若基类中的某个函数时虚的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(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带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virtual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关键字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)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，并在派生类中定义了同名的函数，称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override</a:t>
            </a:r>
            <a:endParaRPr lang="zh-CN" altLang="en-US" sz="28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//////////////////// 1. newdefine</a:t>
            </a:r>
            <a:r>
              <a:rPr lang="zh-CN" altLang="en-US"/>
              <a:t>：派生类新定义的函数</a:t>
            </a:r>
            <a:r>
              <a:rPr lang="en-US" altLang="zh-CN"/>
              <a:t> ////////////////////</a:t>
            </a:r>
          </a:p>
          <a:p>
            <a:r>
              <a:rPr lang="en-US" altLang="zh-CN"/>
              <a:t>class Base1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void baseFunc() { cout &lt;&lt; "Base1::baseFunc()\n"; }</a:t>
            </a:r>
          </a:p>
          <a:p>
            <a:r>
              <a:rPr lang="en-US" altLang="zh-CN"/>
              <a:t>};</a:t>
            </a:r>
          </a:p>
          <a:p>
            <a:endParaRPr lang="en-US" altLang="zh-CN"/>
          </a:p>
          <a:p>
            <a:r>
              <a:rPr lang="en-US" altLang="zh-CN"/>
              <a:t>class Derived1 : public Base1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void newFunc() { cout &lt;&lt; "Derived1::newFunc() (newdefine)\n"; }</a:t>
            </a:r>
          </a:p>
          <a:p>
            <a:r>
              <a:rPr lang="en-US" altLang="zh-CN"/>
              <a:t>};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//////////////////// 2. redefine</a:t>
            </a:r>
            <a:r>
              <a:rPr lang="zh-CN" altLang="en-US"/>
              <a:t>：派生类重新定义基类中同名同参数函数</a:t>
            </a:r>
            <a:r>
              <a:rPr lang="en-US" altLang="zh-CN"/>
              <a:t> </a:t>
            </a:r>
          </a:p>
          <a:p>
            <a:r>
              <a:rPr lang="en-US" altLang="zh-CN"/>
              <a:t>class Base2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void greet() { cout &lt;&lt; "Base2::greet()\n"; }</a:t>
            </a:r>
          </a:p>
          <a:p>
            <a:r>
              <a:rPr lang="en-US" altLang="zh-CN"/>
              <a:t>};</a:t>
            </a:r>
          </a:p>
          <a:p>
            <a:endParaRPr lang="en-US" altLang="zh-CN"/>
          </a:p>
          <a:p>
            <a:r>
              <a:rPr lang="en-US" altLang="zh-CN"/>
              <a:t>class Derived2 : public Base2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void greet() { cout &lt;&lt; "Derived2::greet() (redefine)\n"; }</a:t>
            </a:r>
          </a:p>
          <a:p>
            <a:r>
              <a:rPr lang="en-US" altLang="zh-CN"/>
              <a:t>};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5000" lnSpcReduction="10000"/>
          </a:bodyPr>
          <a:lstStyle/>
          <a:p>
            <a:r>
              <a:rPr lang="en-US" altLang="zh-CN"/>
              <a:t>//////////////////// 3. overload</a:t>
            </a:r>
            <a:r>
              <a:rPr lang="zh-CN" altLang="en-US"/>
              <a:t>：派生类定义多个重载函数</a:t>
            </a:r>
            <a:r>
              <a:rPr lang="en-US" altLang="zh-CN"/>
              <a:t> ////////////////////</a:t>
            </a:r>
          </a:p>
          <a:p>
            <a:r>
              <a:rPr lang="en-US" altLang="zh-CN"/>
              <a:t>class Base3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void show(int x) { cout &lt;&lt; "Base3::show(int): " &lt;&lt; x &lt;&lt; endl; }</a:t>
            </a:r>
          </a:p>
          <a:p>
            <a:r>
              <a:rPr lang="en-US" altLang="zh-CN"/>
              <a:t>};</a:t>
            </a:r>
          </a:p>
          <a:p>
            <a:endParaRPr lang="en-US" altLang="zh-CN"/>
          </a:p>
          <a:p>
            <a:r>
              <a:rPr lang="en-US" altLang="zh-CN"/>
              <a:t>class Derived3 : public Base3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void show(double x) { cout &lt;&lt; "Derived3::show(double): " &lt;&lt; x &lt;&lt; endl; }</a:t>
            </a:r>
          </a:p>
          <a:p>
            <a:r>
              <a:rPr lang="en-US" altLang="zh-CN"/>
              <a:t>    void show(string s) { cout &lt;&lt; "Derived3::show(string): " &lt;&lt; s &lt;&lt; endl; }</a:t>
            </a:r>
          </a:p>
          <a:p>
            <a:r>
              <a:rPr lang="en-US" altLang="zh-CN"/>
              <a:t>};</a:t>
            </a:r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//////////////////// 4. overwrite</a:t>
            </a:r>
            <a:r>
              <a:rPr lang="zh-CN" altLang="en-US"/>
              <a:t>（</a:t>
            </a:r>
            <a:r>
              <a:rPr lang="en-US" altLang="zh-CN"/>
              <a:t>hide</a:t>
            </a:r>
            <a:r>
              <a:rPr lang="zh-CN" altLang="en-US"/>
              <a:t>）：子类隐藏基类函数</a:t>
            </a:r>
            <a:r>
              <a:rPr lang="en-US" altLang="zh-CN"/>
              <a:t> </a:t>
            </a:r>
          </a:p>
          <a:p>
            <a:r>
              <a:rPr lang="en-US" altLang="zh-CN"/>
              <a:t>class Base4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void display(int x) { cout &lt;&lt; "Base4::display(int): " &lt;&lt; x &lt;&lt; endl; }</a:t>
            </a:r>
          </a:p>
          <a:p>
            <a:r>
              <a:rPr lang="en-US" altLang="zh-CN"/>
              <a:t>};</a:t>
            </a:r>
          </a:p>
          <a:p>
            <a:endParaRPr lang="en-US" altLang="zh-CN"/>
          </a:p>
          <a:p>
            <a:r>
              <a:rPr lang="en-US" altLang="zh-CN"/>
              <a:t>class Derived4 : public Base4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void display(double x) { cout &lt;&lt; "Derived4::display(double): " &lt;&lt; x &lt;&lt; endl; }</a:t>
            </a:r>
          </a:p>
          <a:p>
            <a:r>
              <a:rPr lang="en-US" altLang="zh-CN"/>
              <a:t>};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044950" cy="435165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CN" dirty="0">
                <a:sym typeface="+mn-ea"/>
              </a:rPr>
              <a:t>class A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>
                <a:sym typeface="+mn-ea"/>
              </a:rPr>
              <a:t>{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>
                <a:sym typeface="+mn-ea"/>
              </a:rPr>
              <a:t>public: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>
                <a:sym typeface="+mn-ea"/>
              </a:rPr>
              <a:t>     virtual void H( );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>
                <a:sym typeface="+mn-ea"/>
              </a:rPr>
              <a:t>private: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>
                <a:sym typeface="+mn-ea"/>
              </a:rPr>
              <a:t>    void K( );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>
                <a:sym typeface="+mn-ea"/>
              </a:rPr>
              <a:t>    int data;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>
                <a:sym typeface="+mn-ea"/>
              </a:rPr>
              <a:t>};</a:t>
            </a:r>
            <a:endParaRPr lang="en-US" altLang="zh-CN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639310" y="1691005"/>
            <a:ext cx="5339715" cy="4665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 algn="l">
              <a:lnSpc>
                <a:spcPct val="8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800" dirty="0">
                <a:sym typeface="黑体" panose="02010609060101010101" pitchFamily="49" charset="-122"/>
              </a:rPr>
              <a:t>class B:public A {</a:t>
            </a:r>
            <a:endParaRPr lang="en-US" altLang="zh-CN" sz="2800" dirty="0"/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800" dirty="0">
                <a:sym typeface="黑体" panose="02010609060101010101" pitchFamily="49" charset="-122"/>
              </a:rPr>
              <a:t>public:</a:t>
            </a:r>
            <a:endParaRPr lang="en-US" altLang="zh-CN" sz="2800" dirty="0"/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800" dirty="0">
                <a:sym typeface="黑体" panose="02010609060101010101" pitchFamily="49" charset="-122"/>
              </a:rPr>
              <a:t>       virtual void H( )</a:t>
            </a:r>
            <a:br>
              <a:rPr lang="en-US" altLang="zh-CN" sz="2800" dirty="0">
                <a:sym typeface="黑体" panose="02010609060101010101" pitchFamily="49" charset="-122"/>
              </a:rPr>
            </a:br>
            <a:r>
              <a:rPr lang="en-US" altLang="zh-CN" sz="2800" dirty="0">
                <a:sym typeface="黑体" panose="02010609060101010101" pitchFamily="49" charset="-122"/>
              </a:rPr>
              <a:t>         { /* override 了基类的虚函数H( )  */    }</a:t>
            </a:r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800" dirty="0">
                <a:sym typeface="黑体" panose="02010609060101010101" pitchFamily="49" charset="-122"/>
              </a:rPr>
              <a:t>};</a:t>
            </a:r>
            <a:endParaRPr lang="en-US" altLang="zh-CN" sz="2800" dirty="0"/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zh-CN" sz="2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fontAlgn="auto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选择：</a:t>
            </a:r>
            <a:endParaRPr lang="zh-CN" altLang="en-US" sz="2800" noProof="1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627380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优先选择组合，而不是继承</a:t>
            </a:r>
            <a:endParaRPr lang="zh-CN" altLang="en-US" sz="2800" strike="noStrike" noProof="1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627380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在需要派生新的子类的情况下，才应采用公有继承。</a:t>
            </a:r>
            <a:endParaRPr lang="zh-CN" altLang="en-US" sz="2800" strike="noStrike" noProof="1"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多重继承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b="1" dirty="0">
                <a:sym typeface="+mn-ea"/>
              </a:rPr>
              <a:t>派生类的构造和析构的顺序</a:t>
            </a:r>
            <a:endParaRPr lang="zh-CN" altLang="en-US" sz="2800" b="1" dirty="0"/>
          </a:p>
          <a:p>
            <a:pPr marL="800100" lvl="1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sym typeface="+mn-ea"/>
              </a:rPr>
              <a:t>构造时，严格按继承顺序构造。</a:t>
            </a:r>
            <a:endParaRPr lang="zh-CN" altLang="en-US" sz="2800" dirty="0"/>
          </a:p>
          <a:p>
            <a:pPr marL="800100" lvl="1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sym typeface="+mn-ea"/>
              </a:rPr>
              <a:t>析构时，正好与构造顺序相反。</a:t>
            </a:r>
            <a:br>
              <a:rPr lang="en-US" altLang="zh-CN" sz="2800" dirty="0">
                <a:sym typeface="+mn-ea"/>
              </a:rPr>
            </a:br>
            <a:r>
              <a:rPr lang="en-US" altLang="zh-CN"/>
              <a:t>A_build</a:t>
            </a:r>
          </a:p>
          <a:p>
            <a:pPr marL="800100" lvl="1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en-US" altLang="zh-CN"/>
              <a:t>B_build</a:t>
            </a:r>
          </a:p>
          <a:p>
            <a:pPr marL="800100" lvl="1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en-US" altLang="zh-CN"/>
              <a:t>C_build</a:t>
            </a:r>
          </a:p>
          <a:p>
            <a:pPr marL="800100" lvl="1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en-US" altLang="zh-CN"/>
              <a:t>C_delete</a:t>
            </a:r>
          </a:p>
          <a:p>
            <a:pPr marL="800100" lvl="1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en-US" altLang="zh-CN"/>
              <a:t>B_delete</a:t>
            </a:r>
          </a:p>
          <a:p>
            <a:pPr marL="800100" lvl="1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en-US" altLang="zh-CN"/>
              <a:t>A_delete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72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990" y="1487170"/>
            <a:ext cx="4915535" cy="540004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多重继承下的名字冲突问题</a:t>
            </a:r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1875" y="1833245"/>
            <a:ext cx="9492615" cy="488823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多重继承下的名字冲突问题</a:t>
            </a:r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2045" y="1856105"/>
            <a:ext cx="7406640" cy="429006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多重继承下的名字冲突问题</a:t>
            </a:r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1540" y="1825625"/>
            <a:ext cx="5328285" cy="435165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0180" y="24815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类</a:t>
            </a:r>
            <a:r>
              <a:rPr lang="en-US" altLang="zh-CN"/>
              <a:t> D </a:t>
            </a:r>
            <a:r>
              <a:rPr lang="zh-CN" altLang="en-US"/>
              <a:t>中只会保留一份</a:t>
            </a:r>
            <a:r>
              <a:rPr lang="en-US" altLang="zh-CN"/>
              <a:t> A </a:t>
            </a:r>
            <a:r>
              <a:rPr lang="zh-CN" altLang="en-US"/>
              <a:t>的子对象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虚函数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8030" y="1825625"/>
            <a:ext cx="8154670" cy="435165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虚析构函数的作用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7500" lnSpcReduction="10000"/>
          </a:bodyPr>
          <a:lstStyle/>
          <a:p>
            <a:r>
              <a:rPr lang="en-US" altLang="zh-CN"/>
              <a:t>class Base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~Base() { cout &lt;&lt; "Base destructor\n"; }</a:t>
            </a:r>
          </a:p>
          <a:p>
            <a:r>
              <a:rPr lang="en-US" altLang="zh-CN"/>
              <a:t>};</a:t>
            </a:r>
          </a:p>
          <a:p>
            <a:r>
              <a:rPr lang="en-US" altLang="zh-CN"/>
              <a:t>class Derived : public Base {</a:t>
            </a:r>
          </a:p>
          <a:p>
            <a:r>
              <a:rPr lang="en-US" altLang="zh-CN"/>
              <a:t>public:</a:t>
            </a:r>
          </a:p>
          <a:p>
            <a:r>
              <a:rPr lang="en-US" altLang="zh-CN"/>
              <a:t>    ~Derived() { cout &lt;&lt; "Derived destructor\n"; }</a:t>
            </a:r>
          </a:p>
          <a:p>
            <a:r>
              <a:rPr lang="en-US" altLang="zh-CN"/>
              <a:t>};</a:t>
            </a:r>
          </a:p>
          <a:p>
            <a:r>
              <a:rPr lang="en-US" altLang="zh-CN"/>
              <a:t>int main() {</a:t>
            </a:r>
          </a:p>
          <a:p>
            <a:r>
              <a:rPr lang="en-US" altLang="zh-CN"/>
              <a:t>    Base* p = new Derived;</a:t>
            </a:r>
          </a:p>
          <a:p>
            <a:r>
              <a:rPr lang="en-US" altLang="zh-CN"/>
              <a:t>    delete p;  // </a:t>
            </a:r>
            <a:r>
              <a:rPr lang="en-US" altLang="en-US"/>
              <a:t>❌</a:t>
            </a:r>
            <a:r>
              <a:rPr lang="en-US" altLang="zh-CN"/>
              <a:t> </a:t>
            </a:r>
            <a:r>
              <a:rPr lang="zh-CN" altLang="en-US"/>
              <a:t>只调用</a:t>
            </a:r>
            <a:r>
              <a:rPr lang="en-US" altLang="zh-CN"/>
              <a:t> Base </a:t>
            </a:r>
            <a:r>
              <a:rPr lang="zh-CN" altLang="en-US"/>
              <a:t>析构函数，</a:t>
            </a:r>
            <a:r>
              <a:rPr lang="en-US" altLang="zh-CN"/>
              <a:t>Derived </a:t>
            </a:r>
            <a:r>
              <a:rPr lang="zh-CN" altLang="en-US"/>
              <a:t>析构函数不会被调用</a:t>
            </a:r>
          </a:p>
          <a:p>
            <a:r>
              <a:rPr lang="en-US" altLang="zh-CN"/>
              <a:t>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虚函数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285750" lvl="0" indent="-28575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虚函数的格式(必须是非静态成员函数)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声明：virtual 返回类型 函数名(参数列表)[const];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定义：同一般成员函数</a:t>
            </a:r>
          </a:p>
          <a:p>
            <a:pPr marL="285750" lvl="0" indent="-28575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虚函数说明：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必须是成员函数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静态成员函数和构造函数、拷贝构造函数不能是虚的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析构函数可以是虚的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若类中有其它虚函数，那么析构函数也应该是虚的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赋值函数通常不定义为虚的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虚函数可以带const修饰，也可以不带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黑体" panose="02010609060101010101" pitchFamily="49" charset="-122"/>
              </a:rPr>
              <a:t>访问控制可以任意 (public、protected、private）</a:t>
            </a:r>
          </a:p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接口类和纯虚函数和抽象类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5000" lnSpcReduction="10000"/>
          </a:bodyPr>
          <a:lstStyle/>
          <a:p>
            <a:r>
              <a:rPr lang="zh-CN" altLang="en-US" dirty="0"/>
              <a:t>与抽象类的区别</a:t>
            </a:r>
          </a:p>
          <a:p>
            <a:r>
              <a:rPr lang="zh-CN" altLang="en-US" dirty="0"/>
              <a:t>比较项</a:t>
            </a:r>
            <a:r>
              <a:rPr lang="en-US" altLang="zh-CN" dirty="0"/>
              <a:t>	                     </a:t>
            </a:r>
            <a:r>
              <a:rPr lang="zh-CN" altLang="en-US" dirty="0"/>
              <a:t>接口类（</a:t>
            </a:r>
            <a:r>
              <a:rPr lang="en-US" altLang="zh-CN" dirty="0"/>
              <a:t>Interface</a:t>
            </a:r>
            <a:r>
              <a:rPr lang="zh-CN" altLang="en-US" dirty="0"/>
              <a:t>）</a:t>
            </a:r>
            <a:r>
              <a:rPr lang="en-US" altLang="zh-CN" dirty="0"/>
              <a:t>	</a:t>
            </a:r>
            <a:r>
              <a:rPr lang="zh-CN" altLang="en-US" dirty="0"/>
              <a:t>抽象类（</a:t>
            </a:r>
            <a:r>
              <a:rPr lang="en-US" altLang="zh-CN" dirty="0"/>
              <a:t>Abstract Class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纯虚函数</a:t>
            </a:r>
            <a:r>
              <a:rPr lang="en-US" altLang="zh-CN" dirty="0"/>
              <a:t>	</a:t>
            </a:r>
            <a:r>
              <a:rPr lang="zh-CN" altLang="en-US" dirty="0"/>
              <a:t>全部是纯虚函数</a:t>
            </a:r>
            <a:r>
              <a:rPr lang="en-US" altLang="zh-CN" dirty="0"/>
              <a:t>	</a:t>
            </a:r>
            <a:r>
              <a:rPr lang="zh-CN" altLang="en-US" dirty="0"/>
              <a:t>至少一个纯虚函数</a:t>
            </a:r>
          </a:p>
          <a:p>
            <a:r>
              <a:rPr lang="zh-CN" altLang="en-US" dirty="0"/>
              <a:t>数据成员</a:t>
            </a:r>
            <a:r>
              <a:rPr lang="en-US" altLang="zh-CN" dirty="0"/>
              <a:t>	</a:t>
            </a:r>
            <a:r>
              <a:rPr lang="zh-CN" altLang="en-US" dirty="0"/>
              <a:t>一般无数据成员</a:t>
            </a:r>
            <a:r>
              <a:rPr lang="en-US" altLang="zh-CN" dirty="0"/>
              <a:t>	</a:t>
            </a:r>
            <a:r>
              <a:rPr lang="zh-CN" altLang="en-US" dirty="0"/>
              <a:t>可有数据成员</a:t>
            </a:r>
          </a:p>
          <a:p>
            <a:r>
              <a:rPr lang="zh-CN" altLang="en-US" dirty="0"/>
              <a:t>作用</a:t>
            </a:r>
            <a:r>
              <a:rPr lang="en-US" altLang="zh-CN" dirty="0"/>
              <a:t>	                  </a:t>
            </a:r>
            <a:r>
              <a:rPr lang="zh-CN" altLang="en-US" dirty="0"/>
              <a:t>规范</a:t>
            </a:r>
            <a:r>
              <a:rPr lang="en-US" altLang="zh-CN" dirty="0"/>
              <a:t>	                                  </a:t>
            </a:r>
            <a:r>
              <a:rPr lang="zh-CN" altLang="en-US" dirty="0"/>
              <a:t>可提供部分实现和默认行为</a:t>
            </a:r>
          </a:p>
          <a:p>
            <a:r>
              <a:rPr lang="zh-CN" altLang="en-US" dirty="0"/>
              <a:t>使用目的</a:t>
            </a:r>
            <a:r>
              <a:rPr lang="en-US" altLang="zh-CN" dirty="0"/>
              <a:t>	</a:t>
            </a:r>
            <a:r>
              <a:rPr lang="zh-CN" altLang="en-US" dirty="0"/>
              <a:t>定义</a:t>
            </a:r>
            <a:r>
              <a:rPr lang="en-US" altLang="zh-CN" dirty="0"/>
              <a:t>“</a:t>
            </a:r>
            <a:r>
              <a:rPr lang="zh-CN" altLang="en-US" dirty="0"/>
              <a:t>能做什么</a:t>
            </a:r>
            <a:r>
              <a:rPr lang="en-US" altLang="zh-CN" dirty="0"/>
              <a:t>”	</a:t>
            </a:r>
            <a:r>
              <a:rPr lang="zh-CN" altLang="en-US" dirty="0"/>
              <a:t>定义</a:t>
            </a:r>
            <a:r>
              <a:rPr lang="en-US" altLang="zh-CN" dirty="0"/>
              <a:t>“</a:t>
            </a:r>
            <a:r>
              <a:rPr lang="zh-CN" altLang="en-US" dirty="0"/>
              <a:t>是什么</a:t>
            </a:r>
            <a:r>
              <a:rPr lang="en-US" altLang="zh-CN" dirty="0"/>
              <a:t>+</a:t>
            </a:r>
            <a:r>
              <a:rPr lang="zh-CN" altLang="en-US" dirty="0"/>
              <a:t>做什么</a:t>
            </a:r>
            <a:r>
              <a:rPr lang="en-US" altLang="zh-CN" dirty="0"/>
              <a:t>”class </a:t>
            </a:r>
            <a:r>
              <a:rPr lang="en-US" altLang="zh-CN" dirty="0" err="1"/>
              <a:t>IShape</a:t>
            </a:r>
            <a:r>
              <a:rPr lang="en-US" altLang="zh-CN" dirty="0"/>
              <a:t> {</a:t>
            </a:r>
          </a:p>
          <a:p>
            <a:r>
              <a:rPr lang="en-US" altLang="zh-CN" dirty="0"/>
              <a:t>public:</a:t>
            </a:r>
          </a:p>
          <a:p>
            <a:r>
              <a:rPr lang="en-US" altLang="zh-CN" dirty="0"/>
              <a:t>    virtual void draw() = 0;        // </a:t>
            </a:r>
            <a:r>
              <a:rPr lang="zh-CN" altLang="en-US" dirty="0"/>
              <a:t>纯虚函数</a:t>
            </a:r>
          </a:p>
          <a:p>
            <a:r>
              <a:rPr lang="en-US" altLang="zh-CN" dirty="0"/>
              <a:t>    virtual double area() = 0;      // </a:t>
            </a:r>
            <a:r>
              <a:rPr lang="zh-CN" altLang="en-US" dirty="0"/>
              <a:t>纯虚函数</a:t>
            </a:r>
          </a:p>
          <a:p>
            <a:r>
              <a:rPr lang="en-US" altLang="zh-CN" dirty="0"/>
              <a:t>    virtual ~</a:t>
            </a:r>
            <a:r>
              <a:rPr lang="en-US" altLang="zh-CN" dirty="0" err="1"/>
              <a:t>IShape</a:t>
            </a:r>
            <a:r>
              <a:rPr lang="en-US" altLang="zh-CN" dirty="0"/>
              <a:t>() {}            // </a:t>
            </a:r>
            <a:r>
              <a:rPr lang="zh-CN" altLang="en-US" dirty="0"/>
              <a:t>虚析构函数（必须）</a:t>
            </a:r>
          </a:p>
          <a:p>
            <a:r>
              <a:rPr lang="en-US" altLang="zh-CN" dirty="0"/>
              <a:t>};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虚函数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7500" lnSpcReduction="10000"/>
          </a:bodyPr>
          <a:lstStyle/>
          <a:p>
            <a:pPr marL="342900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虚函数中访问的非虚函数</a:t>
            </a:r>
            <a:endParaRPr lang="zh-CN" altLang="en-US" sz="2800" strike="noStrike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lvl="1" indent="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None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静态编联，使用本地版本</a:t>
            </a:r>
            <a:endParaRPr lang="zh-CN" altLang="en-US" sz="2800" strike="noStrike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342900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非虚函数中访问的虚函数</a:t>
            </a:r>
            <a:endParaRPr lang="zh-CN" altLang="en-US" sz="2800" strike="noStrike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lvl="1" indent="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None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动态编联</a:t>
            </a:r>
            <a:endParaRPr lang="zh-CN" altLang="en-US" sz="2800" strike="noStrike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342900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虚函数中访问的虚函数</a:t>
            </a:r>
            <a:endParaRPr lang="zh-CN" altLang="en-US" sz="2800" strike="noStrike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lvl="1" indent="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None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动态编联</a:t>
            </a:r>
            <a:endParaRPr lang="zh-CN" altLang="en-US" sz="2800" strike="noStrike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342900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构造函数和虚函数</a:t>
            </a:r>
            <a:endParaRPr lang="zh-CN" altLang="en-US" sz="2800" strike="noStrike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800100" lvl="1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构造函数不能为虚函数</a:t>
            </a:r>
            <a:endParaRPr lang="zh-CN" altLang="en-US" sz="2800" strike="noStrike" noProof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800100" lvl="1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调用的虚函数采用静态编联，使用本地版本</a:t>
            </a:r>
            <a:endParaRPr lang="zh-CN" altLang="en-US" sz="2800" strike="noStrike" noProof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342900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析构函数和虚函数</a:t>
            </a:r>
            <a:endParaRPr lang="zh-CN" altLang="en-US" sz="2800" strike="noStrike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800100" lvl="1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析构函数可以为虚函数</a:t>
            </a:r>
            <a:endParaRPr lang="zh-CN" altLang="en-US" sz="2800" strike="noStrike" noProof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800100" lvl="1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若类中含有虚函数，那么析构函数也应为虚函数</a:t>
            </a:r>
            <a:r>
              <a:rPr lang="en-US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.</a:t>
            </a:r>
            <a:endParaRPr lang="en-US" altLang="zh-CN" sz="2800" strike="noStrike" noProof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marL="800100" lvl="1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charset="0"/>
                <a:sym typeface="+mn-ea"/>
              </a:rPr>
              <a:t>调用的虚函数采用静态编联，使用本地版本</a:t>
            </a:r>
            <a:endParaRPr lang="zh-CN" altLang="en-US" sz="2800" strike="noStrike" noProof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虚函数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510" y="1515110"/>
            <a:ext cx="7585075" cy="496125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81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456930" y="1844040"/>
            <a:ext cx="40640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A::build</a:t>
            </a:r>
          </a:p>
          <a:p>
            <a:r>
              <a:rPr lang="en-US" altLang="zh-CN"/>
              <a:t>A::f</a:t>
            </a:r>
          </a:p>
          <a:p>
            <a:r>
              <a:rPr lang="en-US" altLang="zh-CN"/>
              <a:t>A::g</a:t>
            </a:r>
          </a:p>
          <a:p>
            <a:r>
              <a:rPr lang="en-US" altLang="zh-CN"/>
              <a:t>A::t</a:t>
            </a:r>
          </a:p>
          <a:p>
            <a:r>
              <a:rPr lang="en-US" altLang="zh-CN"/>
              <a:t>A::k</a:t>
            </a:r>
          </a:p>
          <a:p>
            <a:r>
              <a:rPr lang="en-US" altLang="zh-CN"/>
              <a:t>next_example</a:t>
            </a:r>
          </a:p>
          <a:p>
            <a:r>
              <a:rPr lang="en-US" altLang="zh-CN"/>
              <a:t>A::build</a:t>
            </a:r>
          </a:p>
          <a:p>
            <a:r>
              <a:rPr lang="en-US" altLang="zh-CN"/>
              <a:t>B::build</a:t>
            </a:r>
          </a:p>
          <a:p>
            <a:r>
              <a:rPr lang="en-US" altLang="zh-CN"/>
              <a:t>B::f</a:t>
            </a:r>
          </a:p>
          <a:p>
            <a:r>
              <a:rPr lang="en-US" altLang="zh-CN"/>
              <a:t>A::g</a:t>
            </a:r>
          </a:p>
          <a:p>
            <a:r>
              <a:rPr lang="en-US" altLang="zh-CN"/>
              <a:t>B::t</a:t>
            </a:r>
          </a:p>
          <a:p>
            <a:r>
              <a:rPr lang="en-US" altLang="zh-CN"/>
              <a:t>B::k</a:t>
            </a:r>
          </a:p>
          <a:p>
            <a:r>
              <a:rPr lang="en-US" altLang="zh-CN"/>
              <a:t>B::h</a:t>
            </a:r>
          </a:p>
          <a:p>
            <a:r>
              <a:rPr lang="en-US" altLang="zh-CN"/>
              <a:t>B::k</a:t>
            </a:r>
          </a:p>
          <a:p>
            <a:r>
              <a:rPr lang="en-US" altLang="zh-CN"/>
              <a:t>B::h</a:t>
            </a:r>
          </a:p>
          <a:p>
            <a:r>
              <a:rPr lang="en-US" altLang="zh-CN"/>
              <a:t>B::delete</a:t>
            </a:r>
          </a:p>
          <a:p>
            <a:r>
              <a:rPr lang="en-US" altLang="zh-CN"/>
              <a:t>A::delete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虚函数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975" y="1922145"/>
            <a:ext cx="5170170" cy="284099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82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53210" y="51054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如果析构函数没有虚的话，那么只有</a:t>
            </a:r>
            <a:r>
              <a:rPr lang="en-US" altLang="zh-CN"/>
              <a:t>delete::A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val = 4</a:t>
            </a:r>
            <a:br>
              <a:rPr lang="en-US" altLang="zh-CN"/>
            </a:br>
            <a:r>
              <a:rPr lang="en-US" altLang="zh-CN"/>
              <a:t>num = 12</a:t>
            </a:r>
            <a:br>
              <a:rPr lang="en-US" altLang="zh-CN"/>
            </a:br>
            <a:r>
              <a:rPr lang="en-US" altLang="zh-CN"/>
              <a:t>A::g()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83</a:t>
            </a:fld>
            <a:endParaRPr lang="zh-CN" altLang="en-US"/>
          </a:p>
        </p:txBody>
      </p:sp>
      <p:pic>
        <p:nvPicPr>
          <p:cNvPr id="5" name="图片 4" descr="IMG_20250607_1420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667125" y="142875"/>
            <a:ext cx="4065270" cy="765111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8 1 9 2 11 20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84</a:t>
            </a:fld>
            <a:endParaRPr lang="zh-CN" altLang="en-US"/>
          </a:p>
        </p:txBody>
      </p:sp>
      <p:pic>
        <p:nvPicPr>
          <p:cNvPr id="5" name="图片 4" descr="IMG_20250607_1420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478530" y="36195"/>
            <a:ext cx="3796030" cy="813371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85</a:t>
            </a:fld>
            <a:endParaRPr lang="zh-CN" altLang="en-US"/>
          </a:p>
        </p:txBody>
      </p:sp>
      <p:pic>
        <p:nvPicPr>
          <p:cNvPr id="5" name="图片 4" descr="IMG_20250607_1507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948940" y="-1336675"/>
            <a:ext cx="5143500" cy="953262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另外一道往年真题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86</a:t>
            </a:fld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" y="1353185"/>
            <a:ext cx="7550150" cy="525589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5000" lnSpcReduction="10000"/>
          </a:bodyPr>
          <a:lstStyle/>
          <a:p>
            <a:r>
              <a:rPr lang="en-US" altLang="zh-CN">
                <a:sym typeface="+mn-ea"/>
              </a:rPr>
              <a:t>creating M</a:t>
            </a:r>
            <a:endParaRPr lang="en-US" altLang="zh-CN"/>
          </a:p>
          <a:p>
            <a:r>
              <a:rPr lang="en-US" altLang="zh-CN">
                <a:sym typeface="+mn-ea"/>
              </a:rPr>
              <a:t>creating A</a:t>
            </a:r>
            <a:endParaRPr lang="en-US" altLang="zh-CN"/>
          </a:p>
          <a:p>
            <a:r>
              <a:rPr lang="en-US" altLang="zh-CN">
                <a:sym typeface="+mn-ea"/>
              </a:rPr>
              <a:t>creating A</a:t>
            </a:r>
            <a:endParaRPr lang="en-US" altLang="zh-CN"/>
          </a:p>
          <a:p>
            <a:r>
              <a:rPr lang="en-US" altLang="zh-CN">
                <a:sym typeface="+mn-ea"/>
              </a:rPr>
              <a:t>creating B</a:t>
            </a:r>
            <a:endParaRPr lang="en-US" altLang="zh-CN"/>
          </a:p>
          <a:p>
            <a:r>
              <a:rPr lang="en-US" altLang="zh-CN">
                <a:sym typeface="+mn-ea"/>
              </a:rPr>
              <a:t>in B::func1</a:t>
            </a:r>
            <a:endParaRPr lang="en-US" altLang="zh-CN"/>
          </a:p>
          <a:p>
            <a:r>
              <a:rPr lang="en-US" altLang="zh-CN">
                <a:sym typeface="+mn-ea"/>
              </a:rPr>
              <a:t>in A::func2</a:t>
            </a:r>
            <a:endParaRPr lang="en-US" altLang="zh-CN"/>
          </a:p>
          <a:p>
            <a:r>
              <a:rPr lang="en-US" altLang="zh-CN">
                <a:sym typeface="+mn-ea"/>
              </a:rPr>
              <a:t>in B::func3</a:t>
            </a:r>
            <a:endParaRPr lang="en-US" altLang="zh-CN"/>
          </a:p>
          <a:p>
            <a:r>
              <a:rPr lang="en-US" altLang="zh-CN">
                <a:sym typeface="+mn-ea"/>
              </a:rPr>
              <a:t>in B::func4(int)</a:t>
            </a:r>
            <a:endParaRPr lang="en-US" altLang="zh-CN"/>
          </a:p>
          <a:p>
            <a:r>
              <a:rPr lang="en-US" altLang="zh-CN">
                <a:sym typeface="+mn-ea"/>
              </a:rPr>
              <a:t>erasing A</a:t>
            </a:r>
            <a:endParaRPr lang="en-US" altLang="zh-CN"/>
          </a:p>
          <a:p>
            <a:r>
              <a:rPr lang="en-US" altLang="zh-CN">
                <a:sym typeface="+mn-ea"/>
              </a:rPr>
              <a:t>erasing B</a:t>
            </a:r>
            <a:endParaRPr lang="en-US" altLang="zh-CN"/>
          </a:p>
          <a:p>
            <a:r>
              <a:rPr lang="en-US" altLang="zh-CN">
                <a:sym typeface="+mn-ea"/>
              </a:rPr>
              <a:t>erasing A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判断选择填空简答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多翻</a:t>
            </a:r>
            <a:endParaRPr lang="en-US" altLang="zh-CN"/>
          </a:p>
          <a:p>
            <a:r>
              <a:rPr lang="zh-CN" altLang="en-US">
                <a:sym typeface="+mn-ea"/>
              </a:rPr>
              <a:t>多理解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88</a:t>
            </a:fld>
            <a:endParaRPr lang="zh-CN" alt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写程序大题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一定不要空着</a:t>
            </a:r>
          </a:p>
          <a:p>
            <a:r>
              <a:rPr lang="zh-CN" altLang="en-US"/>
              <a:t>有啥写啥</a:t>
            </a:r>
          </a:p>
          <a:p>
            <a:r>
              <a:rPr lang="zh-CN" altLang="en-US"/>
              <a:t>就算你自己看不懂也要让老师觉得：</a:t>
            </a:r>
          </a:p>
          <a:p>
            <a:r>
              <a:rPr lang="zh-CN" altLang="en-US"/>
              <a:t>哇，这位同学写了这么多代码，一定会吧</a:t>
            </a:r>
          </a:p>
          <a:p>
            <a:r>
              <a:rPr lang="zh-CN" altLang="en-US"/>
              <a:t>但是做这一点最基本的是格式正确</a:t>
            </a:r>
          </a:p>
          <a:p>
            <a:r>
              <a:rPr lang="en-US" altLang="zh-CN"/>
              <a:t>class{//</a:t>
            </a:r>
            <a:r>
              <a:rPr lang="zh-CN" altLang="en-US"/>
              <a:t>漏类的名字</a:t>
            </a:r>
            <a:br>
              <a:rPr lang="en-US" altLang="zh-CN"/>
            </a:br>
            <a:endParaRPr lang="en-US" altLang="zh-CN"/>
          </a:p>
          <a:p>
            <a:r>
              <a:rPr lang="en-US" altLang="zh-CN"/>
              <a:t>}</a:t>
            </a:r>
            <a:r>
              <a:rPr lang="zh-CN" altLang="en-US"/>
              <a:t>不写分号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89</a:t>
            </a:fld>
            <a:endParaRPr lang="zh-CN" alt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在面向对象设计中的一些困惑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为什么我设计的总是和标准答案不一样？</a:t>
            </a:r>
          </a:p>
          <a:p>
            <a:r>
              <a:rPr lang="zh-CN" altLang="en-US"/>
              <a:t>为什么明明记忆了很多案例，但是仍然不能做出灵活的设计？</a:t>
            </a:r>
          </a:p>
          <a:p>
            <a:r>
              <a:rPr lang="zh-CN" altLang="en-US"/>
              <a:t>为什么软件工程设计中有那么多难以理解的教条？</a:t>
            </a:r>
          </a:p>
          <a:p>
            <a:endParaRPr lang="zh-CN" altLang="en-US"/>
          </a:p>
          <a:p>
            <a:r>
              <a:rPr lang="zh-CN" altLang="en-US"/>
              <a:t>使用相对严密的推理</a:t>
            </a:r>
          </a:p>
          <a:p>
            <a:pPr lvl="1"/>
            <a:r>
              <a:rPr lang="zh-CN" altLang="en-US"/>
              <a:t>为大家阐述面向对象设计的一些方法。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90</a:t>
            </a:fld>
            <a:endParaRPr lang="zh-CN" alt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软件为什么要设计？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论题</a:t>
            </a:r>
            <a:r>
              <a:rPr lang="en-US" altLang="zh-CN"/>
              <a:t> T-1</a:t>
            </a:r>
            <a:r>
              <a:rPr lang="zh-CN" altLang="en-US"/>
              <a:t>：</a:t>
            </a:r>
          </a:p>
          <a:p>
            <a:pPr lvl="1"/>
            <a:r>
              <a:rPr lang="zh-CN" altLang="en-US"/>
              <a:t>为什么在编程实现一个程序之前要对软件的结构进行设计？</a:t>
            </a:r>
          </a:p>
          <a:p>
            <a:pPr lvl="1"/>
            <a:r>
              <a:rPr lang="zh-CN" altLang="en-US"/>
              <a:t>这也是我们本次分享会要介绍的最重要的一个论题。</a:t>
            </a:r>
          </a:p>
          <a:p>
            <a:pPr lvl="1"/>
            <a:endParaRPr lang="zh-CN" altLang="en-US"/>
          </a:p>
          <a:p>
            <a:pPr lvl="0"/>
            <a:r>
              <a:rPr lang="zh-CN" altLang="en-US"/>
              <a:t>早期的程序员</a:t>
            </a:r>
          </a:p>
          <a:p>
            <a:pPr lvl="1"/>
            <a:r>
              <a:rPr lang="zh-CN" altLang="en-US"/>
              <a:t>确实是有不经过设计阶段就直接开始编写代码的情况的</a:t>
            </a:r>
          </a:p>
          <a:p>
            <a:pPr lvl="1"/>
            <a:r>
              <a:rPr lang="zh-CN" altLang="en-US"/>
              <a:t>但是这种情况现在已经比较少见了</a:t>
            </a:r>
          </a:p>
          <a:p>
            <a:pPr lvl="0"/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91</a:t>
            </a:fld>
            <a:endParaRPr lang="zh-CN" alt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情境想象一个情境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情境</a:t>
            </a:r>
            <a:r>
              <a:rPr lang="en-US" altLang="zh-CN"/>
              <a:t> S-1</a:t>
            </a:r>
            <a:r>
              <a:rPr lang="zh-CN" altLang="en-US"/>
              <a:t>：你需要</a:t>
            </a:r>
            <a:r>
              <a:rPr lang="zh-CN" altLang="en-US" strike="sngStrike">
                <a:solidFill>
                  <a:schemeClr val="bg1">
                    <a:lumMod val="65000"/>
                  </a:schemeClr>
                </a:solidFill>
              </a:rPr>
              <a:t>带领一个团队</a:t>
            </a:r>
            <a:r>
              <a:rPr lang="zh-CN" altLang="en-US"/>
              <a:t>去开发一款</a:t>
            </a:r>
            <a:r>
              <a:rPr lang="zh-CN" altLang="en-US" b="1"/>
              <a:t>狼人杀游戏</a:t>
            </a:r>
            <a:endParaRPr lang="zh-CN" altLang="en-US"/>
          </a:p>
          <a:p>
            <a:pPr lvl="1"/>
            <a:r>
              <a:rPr lang="zh-CN" altLang="en-US"/>
              <a:t>在游戏中你需要实现</a:t>
            </a:r>
          </a:p>
          <a:p>
            <a:pPr lvl="1"/>
            <a:r>
              <a:rPr lang="en-US" altLang="zh-CN"/>
              <a:t>“</a:t>
            </a:r>
            <a:r>
              <a:rPr lang="zh-CN" altLang="en-US" b="1"/>
              <a:t>平民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 b="1"/>
              <a:t>狼人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 b="1"/>
              <a:t>女巫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 b="1"/>
              <a:t>预言家</a:t>
            </a:r>
            <a:r>
              <a:rPr lang="en-US" altLang="zh-CN"/>
              <a:t>” </a:t>
            </a:r>
            <a:r>
              <a:rPr lang="zh-CN" altLang="en-US"/>
              <a:t>等身份</a:t>
            </a:r>
          </a:p>
          <a:p>
            <a:pPr lvl="1"/>
            <a:r>
              <a:rPr lang="zh-CN" altLang="en-US"/>
              <a:t>狼人每晚能杀一个人，预言家每晚可以验一个人</a:t>
            </a:r>
          </a:p>
          <a:p>
            <a:pPr lvl="0"/>
            <a:endParaRPr lang="zh-CN" altLang="en-US"/>
          </a:p>
          <a:p>
            <a:pPr lvl="0"/>
            <a:r>
              <a:rPr lang="zh-CN" altLang="en-US"/>
              <a:t>我们先抛开游戏阶段的各种细节</a:t>
            </a:r>
          </a:p>
          <a:p>
            <a:pPr lvl="1"/>
            <a:r>
              <a:rPr lang="zh-CN" altLang="en-US" sz="2400"/>
              <a:t>只考虑身份与身份行为的关系</a:t>
            </a:r>
          </a:p>
          <a:p>
            <a:pPr lvl="1"/>
            <a:r>
              <a:rPr lang="zh-CN" altLang="en-US" sz="2400"/>
              <a:t>在描述成员方法的时候，我们忽略方法的参数和返回值，只关注名字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92</a:t>
            </a:fld>
            <a:endParaRPr lang="zh-CN" alt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S-1.1 </a:t>
            </a:r>
            <a:r>
              <a:rPr lang="zh-CN" altLang="en-US"/>
              <a:t>一种符合直觉的设计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/>
              <a:t>假设你刚刚学过面向对象程序设计</a:t>
            </a:r>
          </a:p>
          <a:p>
            <a:pPr lvl="1"/>
            <a:r>
              <a:rPr lang="zh-CN" altLang="en-US"/>
              <a:t>很可能设计出这样的一个结构，而且这个结构看起来很合理</a:t>
            </a:r>
          </a:p>
          <a:p>
            <a:pPr lvl="0"/>
            <a:endParaRPr lang="zh-CN" altLang="en-US"/>
          </a:p>
          <a:p>
            <a:pPr lvl="0"/>
            <a:r>
              <a:rPr lang="zh-CN" altLang="en-US"/>
              <a:t>理由是：</a:t>
            </a:r>
          </a:p>
          <a:p>
            <a:pPr lvl="1"/>
            <a:r>
              <a:rPr lang="zh-CN" altLang="en-US"/>
              <a:t>由于所有玩家都有可能死亡，都能竞选警长</a:t>
            </a:r>
          </a:p>
          <a:p>
            <a:pPr lvl="1"/>
            <a:r>
              <a:rPr lang="zh-CN" altLang="en-US"/>
              <a:t>所以把这一属性放到基类中</a:t>
            </a:r>
          </a:p>
          <a:p>
            <a:pPr lvl="1"/>
            <a:r>
              <a:rPr lang="zh-CN" altLang="en-US"/>
              <a:t>平民、狼人、女巫、预言家</a:t>
            </a:r>
            <a:r>
              <a:rPr lang="zh-CN" altLang="en-US" b="1"/>
              <a:t>继承</a:t>
            </a:r>
            <a:r>
              <a:rPr lang="zh-CN" altLang="en-US"/>
              <a:t>自玩家</a:t>
            </a:r>
          </a:p>
          <a:p>
            <a:pPr lvl="0"/>
            <a:endParaRPr lang="zh-CN" altLang="en-US"/>
          </a:p>
          <a:p>
            <a:pPr lvl="0"/>
            <a:r>
              <a:rPr lang="zh-CN" altLang="en-US"/>
              <a:t>那么有多少人觉得这是一个好的设计？</a:t>
            </a:r>
          </a:p>
          <a:p>
            <a:pPr lvl="1"/>
            <a:r>
              <a:rPr lang="zh-CN" altLang="en-US" sz="2400"/>
              <a:t>有多少人觉得这是一个不好的设计？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93</a:t>
            </a:fld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7669530" y="2900045"/>
            <a:ext cx="4337050" cy="2622550"/>
            <a:chOff x="12078" y="4567"/>
            <a:chExt cx="6830" cy="413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78" y="4567"/>
              <a:ext cx="6830" cy="4131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7721" y="4567"/>
              <a:ext cx="118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S-1.1</a:t>
              </a:r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8058199" y="1537212"/>
            <a:ext cx="3975861" cy="2075165"/>
            <a:chOff x="11802" y="1553"/>
            <a:chExt cx="10415" cy="630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02" y="1553"/>
              <a:ext cx="10415" cy="6301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9892" y="1553"/>
              <a:ext cx="2325" cy="1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S-1.1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S-1.2 </a:t>
            </a:r>
            <a:r>
              <a:rPr lang="zh-CN" altLang="en-US"/>
              <a:t>当你</a:t>
            </a:r>
            <a:r>
              <a:rPr lang="zh-CN" altLang="en-US" sz="3100" strike="sngStrike">
                <a:solidFill>
                  <a:schemeClr val="bg1">
                    <a:lumMod val="65000"/>
                  </a:schemeClr>
                </a:solidFill>
              </a:rPr>
              <a:t>和你的团队</a:t>
            </a:r>
            <a:r>
              <a:rPr lang="zh-CN" altLang="en-US"/>
              <a:t>兴致勃勃地干了一个月后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/>
              <a:t>这个时候甲方找到你</a:t>
            </a:r>
          </a:p>
          <a:p>
            <a:pPr lvl="1"/>
            <a:r>
              <a:rPr lang="zh-CN" altLang="en-US"/>
              <a:t>说，</a:t>
            </a:r>
            <a:r>
              <a:rPr lang="en-US" altLang="zh-CN"/>
              <a:t>“</a:t>
            </a:r>
            <a:r>
              <a:rPr lang="zh-CN" altLang="en-US"/>
              <a:t>能不能增加一种名为</a:t>
            </a:r>
            <a:r>
              <a:rPr lang="en-US" altLang="zh-CN">
                <a:solidFill>
                  <a:srgbClr val="FF0000"/>
                </a:solidFill>
              </a:rPr>
              <a:t>“</a:t>
            </a:r>
            <a:r>
              <a:rPr lang="zh-CN" altLang="en-US">
                <a:solidFill>
                  <a:srgbClr val="FF0000"/>
                </a:solidFill>
              </a:rPr>
              <a:t>种狼</a:t>
            </a:r>
            <a:r>
              <a:rPr lang="en-US" altLang="zh-CN">
                <a:solidFill>
                  <a:srgbClr val="FF0000"/>
                </a:solidFill>
              </a:rPr>
              <a:t>”</a:t>
            </a:r>
            <a:r>
              <a:rPr lang="zh-CN" altLang="en-US"/>
              <a:t>的身份</a:t>
            </a:r>
            <a:r>
              <a:rPr lang="en-US" altLang="zh-CN"/>
              <a:t>”</a:t>
            </a:r>
          </a:p>
          <a:p>
            <a:pPr lvl="1"/>
            <a:r>
              <a:rPr lang="zh-CN" altLang="en-US"/>
              <a:t>种狼也可以杀人但是，种狼执行杀人操作之后</a:t>
            </a:r>
          </a:p>
          <a:p>
            <a:pPr lvl="2"/>
            <a:r>
              <a:rPr lang="zh-CN" altLang="en-US"/>
              <a:t>无论该玩家原来是什么身份</a:t>
            </a:r>
          </a:p>
          <a:p>
            <a:pPr lvl="2"/>
            <a:r>
              <a:rPr lang="zh-CN" altLang="en-US"/>
              <a:t>被杀的人都将被变为狼人（当然，他并不会真的被杀死）</a:t>
            </a:r>
          </a:p>
          <a:p>
            <a:pPr lvl="1"/>
            <a:endParaRPr lang="zh-CN" altLang="en-US"/>
          </a:p>
          <a:p>
            <a:pPr lvl="0"/>
            <a:r>
              <a:rPr lang="zh-CN" altLang="en-US"/>
              <a:t>甲方认为这个变化是一个极其微小的变化</a:t>
            </a:r>
          </a:p>
          <a:p>
            <a:pPr lvl="1"/>
            <a:r>
              <a:rPr lang="zh-CN" altLang="en-US"/>
              <a:t>甲方的理由是</a:t>
            </a:r>
            <a:r>
              <a:rPr lang="en-US" altLang="zh-CN"/>
              <a:t> “</a:t>
            </a:r>
            <a:r>
              <a:rPr lang="zh-CN" altLang="en-US"/>
              <a:t>仅增加了一种新的身份</a:t>
            </a:r>
            <a:r>
              <a:rPr lang="en-US" altLang="zh-CN"/>
              <a:t>” </a:t>
            </a:r>
            <a:r>
              <a:rPr lang="zh-CN" altLang="en-US"/>
              <a:t>而原来有四种身份</a:t>
            </a:r>
          </a:p>
          <a:p>
            <a:pPr lvl="1"/>
            <a:r>
              <a:rPr lang="zh-CN" altLang="en-US"/>
              <a:t>所以这种增加在设计上是微不足道的</a:t>
            </a:r>
          </a:p>
          <a:p>
            <a:pPr lvl="0"/>
            <a:endParaRPr lang="zh-CN" altLang="en-US"/>
          </a:p>
          <a:p>
            <a:pPr lvl="0"/>
            <a:r>
              <a:rPr lang="zh-CN" altLang="en-US"/>
              <a:t>但是这时你好像发现了哪里不对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94</a:t>
            </a:fld>
            <a:endParaRPr lang="zh-CN" alt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S-1.2 </a:t>
            </a:r>
            <a:r>
              <a:rPr lang="zh-CN" altLang="en-US"/>
              <a:t>哪里不对呢？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zh-CN" altLang="en-US"/>
              <a:t>原先我们知道一个玩家只能有一个身份</a:t>
            </a:r>
          </a:p>
          <a:p>
            <a:pPr lvl="1"/>
            <a:r>
              <a:rPr lang="zh-CN" altLang="en-US"/>
              <a:t>所以我们让</a:t>
            </a:r>
            <a:r>
              <a:rPr lang="en-US" altLang="zh-CN"/>
              <a:t> “</a:t>
            </a:r>
            <a:r>
              <a:rPr lang="zh-CN" altLang="en-US"/>
              <a:t>平民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狼人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女巫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预言家</a:t>
            </a:r>
            <a:r>
              <a:rPr lang="en-US" altLang="zh-CN"/>
              <a:t>” </a:t>
            </a:r>
            <a:r>
              <a:rPr lang="zh-CN" altLang="en-US"/>
              <a:t>派生自</a:t>
            </a:r>
            <a:r>
              <a:rPr lang="en-US" altLang="zh-CN"/>
              <a:t> “</a:t>
            </a:r>
            <a:r>
              <a:rPr lang="zh-CN" altLang="en-US"/>
              <a:t>玩家</a:t>
            </a:r>
            <a:r>
              <a:rPr lang="en-US" altLang="zh-CN"/>
              <a:t>” </a:t>
            </a:r>
            <a:r>
              <a:rPr lang="zh-CN" altLang="en-US"/>
              <a:t>类</a:t>
            </a:r>
          </a:p>
          <a:p>
            <a:pPr lvl="1"/>
            <a:endParaRPr lang="zh-CN" altLang="en-US"/>
          </a:p>
          <a:p>
            <a:pPr lvl="0"/>
            <a:r>
              <a:rPr lang="zh-CN" altLang="en-US"/>
              <a:t>但是，一个玩家只能拥有一个身份</a:t>
            </a:r>
          </a:p>
          <a:p>
            <a:pPr lvl="1"/>
            <a:r>
              <a:rPr lang="zh-CN" altLang="en-US"/>
              <a:t>并不意味着，一个玩家一旦具有了某个身份，这个身份将无法改变</a:t>
            </a:r>
          </a:p>
          <a:p>
            <a:pPr lvl="1"/>
            <a:r>
              <a:rPr lang="zh-CN" altLang="en-US"/>
              <a:t>在先前的设计中一旦我们实例化一个子类对象</a:t>
            </a:r>
          </a:p>
          <a:p>
            <a:pPr lvl="1"/>
            <a:r>
              <a:rPr lang="zh-CN" altLang="en-US"/>
              <a:t>这个对象的动态类别，将无法发生改变</a:t>
            </a:r>
          </a:p>
          <a:p>
            <a:pPr lvl="1"/>
            <a:r>
              <a:rPr lang="zh-CN" altLang="en-US"/>
              <a:t>因此</a:t>
            </a:r>
            <a:r>
              <a:rPr lang="en-US" altLang="zh-CN">
                <a:solidFill>
                  <a:srgbClr val="FF0000"/>
                </a:solidFill>
              </a:rPr>
              <a:t>“</a:t>
            </a:r>
            <a:r>
              <a:rPr lang="zh-CN" altLang="en-US">
                <a:solidFill>
                  <a:srgbClr val="FF0000"/>
                </a:solidFill>
              </a:rPr>
              <a:t>种狼</a:t>
            </a:r>
            <a:r>
              <a:rPr lang="en-US" altLang="zh-CN">
                <a:solidFill>
                  <a:srgbClr val="FF0000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杀人将其变为狼人的操作将难以被实现</a:t>
            </a:r>
          </a:p>
          <a:p>
            <a:pPr lvl="0"/>
            <a:endParaRPr lang="zh-CN" altLang="en-US"/>
          </a:p>
          <a:p>
            <a:pPr lvl="0"/>
            <a:r>
              <a:rPr lang="zh-CN" altLang="en-US"/>
              <a:t>现实世界中的编程团队每天都会遇到这样的糟心事</a:t>
            </a:r>
          </a:p>
          <a:p>
            <a:pPr lvl="1"/>
            <a:r>
              <a:rPr lang="zh-CN" altLang="en-US" sz="2400"/>
              <a:t>由于在设计的时候没有预留足够的灵活空间</a:t>
            </a:r>
          </a:p>
          <a:p>
            <a:pPr lvl="1"/>
            <a:r>
              <a:rPr lang="zh-CN" altLang="en-US" sz="2400"/>
              <a:t>最终，</a:t>
            </a:r>
            <a:r>
              <a:rPr lang="zh-CN" altLang="en-US" sz="2400" b="1"/>
              <a:t>程序逻辑上的看似微小的变化会导致大量的代码修改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95</a:t>
            </a:fld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8216314" y="-123"/>
            <a:ext cx="3975861" cy="2075165"/>
            <a:chOff x="11802" y="1553"/>
            <a:chExt cx="10415" cy="630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02" y="1553"/>
              <a:ext cx="10415" cy="6301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9892" y="1553"/>
              <a:ext cx="2325" cy="1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S-1.1</a:t>
              </a:r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S-1.3 </a:t>
            </a:r>
            <a:r>
              <a:rPr lang="zh-CN" altLang="en-US"/>
              <a:t>为了避免悲剧的发生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你坐着时光机回到了一个月之前那个夜晚</a:t>
            </a:r>
          </a:p>
          <a:p>
            <a:pPr lvl="1"/>
            <a:r>
              <a:rPr lang="zh-CN" altLang="en-US"/>
              <a:t>你意识如果不纠正</a:t>
            </a:r>
            <a:r>
              <a:rPr lang="en-US" altLang="zh-CN"/>
              <a:t> S-1.1 </a:t>
            </a:r>
            <a:r>
              <a:rPr lang="zh-CN" altLang="en-US"/>
              <a:t>的错误设计</a:t>
            </a:r>
          </a:p>
          <a:p>
            <a:pPr lvl="1"/>
            <a:r>
              <a:rPr lang="zh-CN" altLang="en-US"/>
              <a:t>那么一个月后整个团队都会和你一起吃苦，于是你修改了设计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96</a:t>
            </a:fld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0" y="3649980"/>
            <a:ext cx="5537200" cy="3208020"/>
            <a:chOff x="12078" y="4567"/>
            <a:chExt cx="6830" cy="413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78" y="4567"/>
              <a:ext cx="6830" cy="4131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7721" y="4567"/>
              <a:ext cx="1187" cy="4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S-1.1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946140" y="3571240"/>
            <a:ext cx="5040663" cy="3014980"/>
            <a:chOff x="9753" y="5624"/>
            <a:chExt cx="7549" cy="438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53" y="5624"/>
              <a:ext cx="7549" cy="4386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5787" y="5624"/>
              <a:ext cx="1515" cy="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S-1.3</a:t>
              </a:r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T-1.1 </a:t>
            </a:r>
            <a:r>
              <a:rPr lang="zh-CN" altLang="en-US">
                <a:sym typeface="+mn-ea"/>
              </a:rPr>
              <a:t>论题：为什么要设计？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/>
              <a:t>如果我编写了一个程序</a:t>
            </a:r>
          </a:p>
          <a:p>
            <a:pPr lvl="1"/>
            <a:r>
              <a:rPr lang="zh-CN" altLang="en-US"/>
              <a:t>这个程序可能能通过测试，可能无法通过测试</a:t>
            </a:r>
          </a:p>
          <a:p>
            <a:pPr lvl="1"/>
            <a:r>
              <a:rPr lang="zh-CN" altLang="en-US"/>
              <a:t>一个无法通过测试的程序必然是</a:t>
            </a:r>
            <a:r>
              <a:rPr lang="en-US" altLang="zh-CN"/>
              <a:t> </a:t>
            </a:r>
            <a:r>
              <a:rPr lang="en-US" altLang="zh-CN" b="1"/>
              <a:t>“</a:t>
            </a:r>
            <a:r>
              <a:rPr lang="zh-CN" altLang="en-US" b="1"/>
              <a:t>错误</a:t>
            </a:r>
            <a:r>
              <a:rPr lang="en-US" altLang="zh-CN" b="1"/>
              <a:t>”</a:t>
            </a:r>
            <a:r>
              <a:rPr lang="en-US" altLang="zh-CN"/>
              <a:t> </a:t>
            </a:r>
            <a:r>
              <a:rPr lang="zh-CN" altLang="en-US"/>
              <a:t>的</a:t>
            </a:r>
          </a:p>
          <a:p>
            <a:pPr lvl="1"/>
            <a:endParaRPr lang="zh-CN" altLang="en-US"/>
          </a:p>
          <a:p>
            <a:pPr lvl="0"/>
            <a:r>
              <a:rPr lang="zh-CN" altLang="en-US"/>
              <a:t>但是一个设计</a:t>
            </a:r>
          </a:p>
          <a:p>
            <a:pPr lvl="1"/>
            <a:r>
              <a:rPr lang="zh-CN" altLang="en-US"/>
              <a:t>我们往往很难</a:t>
            </a:r>
            <a:r>
              <a:rPr lang="en-US" altLang="zh-CN"/>
              <a:t> “</a:t>
            </a:r>
            <a:r>
              <a:rPr lang="zh-CN" altLang="en-US"/>
              <a:t>一锤定音</a:t>
            </a:r>
            <a:r>
              <a:rPr lang="en-US" altLang="zh-CN"/>
              <a:t>”</a:t>
            </a:r>
            <a:r>
              <a:rPr lang="zh-CN" altLang="en-US"/>
              <a:t>，去说哪些设计是</a:t>
            </a:r>
            <a:r>
              <a:rPr lang="en-US" altLang="zh-CN"/>
              <a:t> “</a:t>
            </a:r>
            <a:r>
              <a:rPr lang="zh-CN" altLang="en-US"/>
              <a:t>错误</a:t>
            </a:r>
            <a:r>
              <a:rPr lang="en-US" altLang="zh-CN"/>
              <a:t>” </a:t>
            </a:r>
            <a:r>
              <a:rPr lang="zh-CN" altLang="en-US"/>
              <a:t>的</a:t>
            </a:r>
          </a:p>
          <a:p>
            <a:pPr lvl="1"/>
            <a:r>
              <a:rPr lang="zh-CN" altLang="en-US"/>
              <a:t>软件设计不同，软件实现出来也必然不同，</a:t>
            </a:r>
            <a:r>
              <a:rPr lang="zh-CN" altLang="en-US" b="1"/>
              <a:t>但是往往都能实现</a:t>
            </a:r>
            <a:endParaRPr lang="zh-CN" altLang="en-US"/>
          </a:p>
          <a:p>
            <a:pPr lvl="0"/>
            <a:endParaRPr lang="zh-CN" altLang="en-US"/>
          </a:p>
          <a:p>
            <a:pPr lvl="0"/>
            <a:r>
              <a:rPr lang="zh-CN" altLang="en-US"/>
              <a:t>什么是一个好的设计呢？</a:t>
            </a:r>
          </a:p>
          <a:p>
            <a:pPr lvl="1"/>
            <a:r>
              <a:rPr lang="zh-CN" altLang="en-US" sz="2400"/>
              <a:t>能够</a:t>
            </a:r>
            <a:r>
              <a:rPr lang="zh-CN" altLang="en-US" sz="2400" b="1"/>
              <a:t>适应未来变化</a:t>
            </a:r>
            <a:r>
              <a:rPr lang="zh-CN" altLang="en-US" sz="2400"/>
              <a:t>的设计，就是一个好的设计。</a:t>
            </a:r>
          </a:p>
          <a:p>
            <a:pPr lvl="1"/>
            <a:r>
              <a:rPr lang="zh-CN" altLang="en-US"/>
              <a:t>什么是能适应未来的变化？</a:t>
            </a:r>
          </a:p>
          <a:p>
            <a:pPr lvl="2"/>
            <a:r>
              <a:rPr lang="zh-CN" altLang="en-US" sz="2000">
                <a:solidFill>
                  <a:srgbClr val="FF0000"/>
                </a:solidFill>
              </a:rPr>
              <a:t>当新的需求到来时，我们实现新功能时对软件的修改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尽可能少</a:t>
            </a:r>
            <a:r>
              <a:rPr lang="zh-CN" altLang="en-US" sz="2000">
                <a:solidFill>
                  <a:srgbClr val="FF0000"/>
                </a:solidFill>
              </a:rPr>
              <a:t>。</a:t>
            </a:r>
          </a:p>
          <a:p>
            <a:pPr lvl="2"/>
            <a:endParaRPr lang="zh-CN" altLang="en-US"/>
          </a:p>
          <a:p>
            <a:pPr lvl="2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97</a:t>
            </a:fld>
            <a:endParaRPr lang="zh-CN" alt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6701790" y="3843020"/>
            <a:ext cx="5040663" cy="3014980"/>
            <a:chOff x="9753" y="5624"/>
            <a:chExt cx="7549" cy="438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53" y="5624"/>
              <a:ext cx="7549" cy="4386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5787" y="5624"/>
              <a:ext cx="1515" cy="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S-1.3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S-1.4 </a:t>
            </a:r>
            <a:r>
              <a:rPr lang="zh-CN" altLang="en-US"/>
              <a:t>对比两个设计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S-1.3 </a:t>
            </a:r>
            <a:r>
              <a:rPr lang="zh-CN" altLang="en-US"/>
              <a:t>在引入种狼后，只需要对</a:t>
            </a:r>
            <a:r>
              <a:rPr lang="en-US" altLang="zh-CN"/>
              <a:t> “</a:t>
            </a:r>
            <a:r>
              <a:rPr lang="zh-CN" altLang="en-US"/>
              <a:t>狼人</a:t>
            </a:r>
            <a:r>
              <a:rPr lang="en-US" altLang="zh-CN"/>
              <a:t>” </a:t>
            </a:r>
            <a:r>
              <a:rPr lang="zh-CN" altLang="en-US"/>
              <a:t>再做派生即可</a:t>
            </a:r>
          </a:p>
          <a:p>
            <a:pPr lvl="1"/>
            <a:r>
              <a:rPr lang="en-US" altLang="zh-CN"/>
              <a:t>“</a:t>
            </a:r>
            <a:r>
              <a:rPr lang="zh-CN" altLang="en-US"/>
              <a:t>杀人</a:t>
            </a:r>
            <a:r>
              <a:rPr lang="en-US" altLang="zh-CN"/>
              <a:t>()” </a:t>
            </a:r>
            <a:r>
              <a:rPr lang="zh-CN" altLang="en-US"/>
              <a:t>本身是一个虚函数，所以</a:t>
            </a:r>
            <a:r>
              <a:rPr lang="en-US" altLang="zh-CN"/>
              <a:t> “</a:t>
            </a:r>
            <a:r>
              <a:rPr lang="zh-CN" altLang="en-US"/>
              <a:t>种狼</a:t>
            </a:r>
            <a:r>
              <a:rPr lang="en-US" altLang="zh-CN"/>
              <a:t>” </a:t>
            </a:r>
            <a:r>
              <a:rPr lang="zh-CN" altLang="en-US"/>
              <a:t>可以重写狼人的</a:t>
            </a:r>
            <a:r>
              <a:rPr lang="en-US" altLang="zh-CN"/>
              <a:t> “</a:t>
            </a:r>
            <a:r>
              <a:rPr lang="zh-CN" altLang="en-US"/>
              <a:t>杀人</a:t>
            </a:r>
            <a:r>
              <a:rPr lang="en-US" altLang="zh-CN"/>
              <a:t>()” </a:t>
            </a:r>
            <a:r>
              <a:rPr lang="zh-CN" altLang="en-US"/>
              <a:t>方法</a:t>
            </a:r>
          </a:p>
          <a:p>
            <a:pPr lvl="0"/>
            <a:r>
              <a:rPr lang="en-US" altLang="zh-CN"/>
              <a:t>S-1.1 </a:t>
            </a:r>
            <a:r>
              <a:rPr lang="zh-CN" altLang="en-US"/>
              <a:t>这个设计就真的一无是处吗？</a:t>
            </a:r>
          </a:p>
          <a:p>
            <a:pPr lvl="1"/>
            <a:r>
              <a:rPr lang="zh-CN" altLang="en-US"/>
              <a:t>并不是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98</a:t>
            </a:fld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0" y="3649980"/>
            <a:ext cx="5537200" cy="3208020"/>
            <a:chOff x="12078" y="4567"/>
            <a:chExt cx="6830" cy="413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78" y="4567"/>
              <a:ext cx="6830" cy="4131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7721" y="4567"/>
              <a:ext cx="1187" cy="4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S-1.1</a:t>
              </a:r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S-1.4 </a:t>
            </a:r>
            <a:r>
              <a:rPr lang="zh-CN" altLang="en-US"/>
              <a:t>上面给出的只是一个简单的例子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在真正的游戏中考虑的问题将更多</a:t>
            </a:r>
          </a:p>
          <a:p>
            <a:pPr lvl="1"/>
            <a:r>
              <a:rPr lang="zh-CN" altLang="en-US"/>
              <a:t>所以实际上如果你真的想实现一个狼人杀游戏的话</a:t>
            </a:r>
          </a:p>
          <a:p>
            <a:pPr lvl="1"/>
            <a:r>
              <a:rPr lang="zh-CN" altLang="en-US"/>
              <a:t>上述的两种设计其实都是比较片面的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99</a:t>
            </a:fld>
            <a:endParaRPr lang="zh-CN" alt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T-1.2 </a:t>
            </a:r>
            <a:r>
              <a:rPr lang="zh-CN" altLang="en-US"/>
              <a:t>为什么软件设计没有银弹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一个良好的软件设计其实是在分析</a:t>
            </a:r>
          </a:p>
          <a:p>
            <a:pPr lvl="1"/>
            <a:r>
              <a:rPr lang="zh-CN" altLang="en-US"/>
              <a:t>软件的哪些部分，是</a:t>
            </a:r>
            <a:r>
              <a:rPr lang="zh-CN" altLang="en-US">
                <a:sym typeface="+mn-ea"/>
              </a:rPr>
              <a:t>可能</a:t>
            </a:r>
            <a:r>
              <a:rPr lang="zh-CN" altLang="en-US"/>
              <a:t>发生变化的</a:t>
            </a:r>
          </a:p>
          <a:p>
            <a:pPr lvl="1"/>
            <a:r>
              <a:rPr lang="zh-CN" altLang="en-US"/>
              <a:t>软件的哪些部分，是最不可能发现变化的</a:t>
            </a:r>
          </a:p>
          <a:p>
            <a:pPr lvl="1"/>
            <a:r>
              <a:rPr lang="zh-CN" altLang="en-US"/>
              <a:t>对于将来很可能发生变化的：</a:t>
            </a:r>
            <a:r>
              <a:rPr lang="zh-CN" altLang="en-US">
                <a:sym typeface="+mn-ea"/>
              </a:rPr>
              <a:t>设计</a:t>
            </a:r>
            <a:r>
              <a:rPr lang="zh-CN" altLang="en-US"/>
              <a:t>的</a:t>
            </a:r>
            <a:r>
              <a:rPr lang="zh-CN" altLang="en-US">
                <a:sym typeface="+mn-ea"/>
              </a:rPr>
              <a:t>灵活</a:t>
            </a:r>
            <a:r>
              <a:rPr lang="zh-CN" altLang="en-US"/>
              <a:t>更重要</a:t>
            </a:r>
          </a:p>
          <a:p>
            <a:pPr lvl="1"/>
            <a:r>
              <a:rPr lang="zh-CN" altLang="en-US"/>
              <a:t>对于将来不太可能发生变化的部分：</a:t>
            </a:r>
            <a:r>
              <a:rPr lang="zh-CN" altLang="en-US">
                <a:sym typeface="+mn-ea"/>
              </a:rPr>
              <a:t>实现</a:t>
            </a:r>
            <a:r>
              <a:rPr lang="zh-CN" altLang="en-US"/>
              <a:t>的简洁更重要</a:t>
            </a:r>
          </a:p>
          <a:p>
            <a:pPr lvl="1"/>
            <a:r>
              <a:rPr lang="zh-CN" altLang="en-US" b="1"/>
              <a:t>只有能预知未来的</a:t>
            </a:r>
            <a:r>
              <a:rPr lang="zh-CN" altLang="en-US" b="1">
                <a:solidFill>
                  <a:srgbClr val="FF0000"/>
                </a:solidFill>
              </a:rPr>
              <a:t>所有变化</a:t>
            </a:r>
            <a:r>
              <a:rPr lang="zh-CN" altLang="en-US" b="1"/>
              <a:t>，才有可能找到软件的最佳设计</a:t>
            </a:r>
          </a:p>
          <a:p>
            <a:pPr lvl="2"/>
            <a:endParaRPr lang="zh-CN" altLang="en-US"/>
          </a:p>
          <a:p>
            <a:pPr lvl="0"/>
            <a:r>
              <a:rPr lang="zh-CN" altLang="en-US" b="1"/>
              <a:t>因为我们没有通用的预测未来的方法</a:t>
            </a:r>
          </a:p>
          <a:p>
            <a:pPr lvl="1"/>
            <a:r>
              <a:rPr lang="zh-CN" altLang="en-US"/>
              <a:t>所以软件设计也必然不存在完美的方法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100</a:t>
            </a:fld>
            <a:endParaRPr lang="zh-CN" alt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M-1 </a:t>
            </a:r>
            <a:r>
              <a:rPr lang="zh-CN" altLang="en-US"/>
              <a:t>一个简单的模型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“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</a:rPr>
              <a:t>幸福的家庭都是相似的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，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</a:rPr>
              <a:t>不幸的家庭各有各的不幸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。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”</a:t>
            </a:r>
          </a:p>
          <a:p>
            <a:pPr lvl="1"/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——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《安娜卡列尼娜》列夫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·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托尔斯泰</a:t>
            </a:r>
          </a:p>
          <a:p>
            <a:pPr lvl="0"/>
            <a:r>
              <a:rPr lang="zh-CN" altLang="en-US" dirty="0"/>
              <a:t>假设我们有一个基类</a:t>
            </a:r>
            <a:r>
              <a:rPr lang="en-US" altLang="zh-CN" dirty="0"/>
              <a:t> A</a:t>
            </a:r>
          </a:p>
          <a:p>
            <a:pPr lvl="1"/>
            <a:r>
              <a:rPr lang="zh-CN" altLang="en-US" dirty="0"/>
              <a:t>基类</a:t>
            </a:r>
            <a:r>
              <a:rPr lang="en-US" altLang="zh-CN" dirty="0"/>
              <a:t> A </a:t>
            </a:r>
            <a:r>
              <a:rPr lang="zh-CN" altLang="en-US" dirty="0"/>
              <a:t>有方法</a:t>
            </a:r>
            <a:r>
              <a:rPr lang="en-US" altLang="zh-CN" dirty="0"/>
              <a:t> f()</a:t>
            </a:r>
          </a:p>
          <a:p>
            <a:pPr lvl="1"/>
            <a:r>
              <a:rPr lang="zh-CN" altLang="en-US" dirty="0"/>
              <a:t>基类</a:t>
            </a:r>
            <a:r>
              <a:rPr lang="en-US" altLang="zh-CN" dirty="0"/>
              <a:t> A </a:t>
            </a:r>
            <a:r>
              <a:rPr lang="zh-CN" altLang="en-US" dirty="0"/>
              <a:t>有子类</a:t>
            </a:r>
            <a:r>
              <a:rPr lang="en-US" altLang="zh-CN" dirty="0"/>
              <a:t> A1, A2, A3</a:t>
            </a:r>
          </a:p>
          <a:p>
            <a:pPr lvl="1"/>
            <a:r>
              <a:rPr lang="zh-CN" altLang="en-US" dirty="0"/>
              <a:t>考虑我们应该将方法</a:t>
            </a:r>
            <a:r>
              <a:rPr lang="en-US" altLang="zh-CN" dirty="0"/>
              <a:t> f() </a:t>
            </a:r>
            <a:r>
              <a:rPr lang="zh-CN" altLang="en-US" dirty="0"/>
              <a:t>相关的程序</a:t>
            </a:r>
            <a:r>
              <a:rPr lang="en-US" altLang="zh-CN" dirty="0"/>
              <a:t> “</a:t>
            </a:r>
            <a:r>
              <a:rPr lang="zh-CN" altLang="en-US" dirty="0"/>
              <a:t>写在哪</a:t>
            </a:r>
            <a:r>
              <a:rPr lang="en-US" altLang="zh-CN" dirty="0"/>
              <a:t>”</a:t>
            </a:r>
            <a:r>
              <a:rPr lang="zh-CN" altLang="en-US" dirty="0"/>
              <a:t>？</a:t>
            </a:r>
          </a:p>
          <a:p>
            <a:pPr lvl="0"/>
            <a:r>
              <a:rPr lang="en-US" altLang="zh-CN" sz="2800" dirty="0"/>
              <a:t>1. </a:t>
            </a:r>
            <a:r>
              <a:rPr lang="zh-CN" altLang="en-US" sz="2800" dirty="0"/>
              <a:t>作为</a:t>
            </a:r>
            <a:r>
              <a:rPr lang="en-US" altLang="zh-CN" sz="2800" dirty="0"/>
              <a:t> A </a:t>
            </a:r>
            <a:r>
              <a:rPr lang="zh-CN" altLang="en-US" sz="2800" dirty="0"/>
              <a:t>类的非虚函数：将实现写在基类中</a:t>
            </a:r>
          </a:p>
          <a:p>
            <a:pPr lvl="0"/>
            <a:r>
              <a:rPr lang="en-US" altLang="zh-CN" sz="2800" dirty="0"/>
              <a:t>2. </a:t>
            </a:r>
            <a:r>
              <a:rPr lang="zh-CN" altLang="en-US" sz="2800" dirty="0"/>
              <a:t>作为</a:t>
            </a:r>
            <a:r>
              <a:rPr lang="en-US" altLang="zh-CN" sz="2800" dirty="0"/>
              <a:t> A </a:t>
            </a:r>
            <a:r>
              <a:rPr lang="zh-CN" altLang="en-US" sz="2800" dirty="0"/>
              <a:t>类的虚函数：将实现写在子类中</a:t>
            </a:r>
          </a:p>
          <a:p>
            <a:pPr lvl="0"/>
            <a:r>
              <a:rPr lang="en-US" altLang="zh-CN" sz="2800" dirty="0"/>
              <a:t>3. </a:t>
            </a:r>
            <a:r>
              <a:rPr lang="zh-CN" altLang="en-US" sz="2800" dirty="0"/>
              <a:t>将实现委托给其他类：将实现写在其他类中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101</a:t>
            </a:fld>
            <a:endParaRPr lang="zh-CN" alt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M-1.1 </a:t>
            </a:r>
            <a:r>
              <a:rPr lang="zh-CN" altLang="en-US"/>
              <a:t>一个例子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所有的动物都会叫</a:t>
            </a:r>
          </a:p>
          <a:p>
            <a:pPr lvl="0"/>
            <a:r>
              <a:rPr lang="zh-CN" altLang="en-US"/>
              <a:t>如果你认为所有的动物，在叫这件事上都一样，你不关心</a:t>
            </a:r>
          </a:p>
          <a:p>
            <a:pPr lvl="1"/>
            <a:r>
              <a:rPr lang="zh-CN" altLang="en-US"/>
              <a:t>那就应该把</a:t>
            </a:r>
            <a:r>
              <a:rPr lang="en-US" altLang="zh-CN"/>
              <a:t>“</a:t>
            </a:r>
            <a:r>
              <a:rPr lang="zh-CN" altLang="en-US"/>
              <a:t>叫</a:t>
            </a:r>
            <a:r>
              <a:rPr lang="en-US" altLang="zh-CN"/>
              <a:t>”</a:t>
            </a:r>
            <a:r>
              <a:rPr lang="zh-CN" altLang="en-US"/>
              <a:t>的方法实现在父类</a:t>
            </a:r>
            <a:r>
              <a:rPr lang="en-US" altLang="zh-CN"/>
              <a:t>“</a:t>
            </a:r>
            <a:r>
              <a:rPr lang="zh-CN" altLang="en-US"/>
              <a:t>动物</a:t>
            </a:r>
            <a:r>
              <a:rPr lang="en-US" altLang="zh-CN"/>
              <a:t>”</a:t>
            </a:r>
            <a:r>
              <a:rPr lang="zh-CN" altLang="en-US"/>
              <a:t>里</a:t>
            </a:r>
          </a:p>
          <a:p>
            <a:pPr lvl="0"/>
            <a:r>
              <a:rPr lang="zh-CN" altLang="en-US"/>
              <a:t>如果你认为所有的动物各有各自的不同的叫法</a:t>
            </a:r>
          </a:p>
          <a:p>
            <a:pPr lvl="1"/>
            <a:r>
              <a:rPr lang="zh-CN" altLang="en-US"/>
              <a:t>那就应该把</a:t>
            </a:r>
            <a:r>
              <a:rPr lang="en-US" altLang="zh-CN"/>
              <a:t>“</a:t>
            </a:r>
            <a:r>
              <a:rPr lang="zh-CN" altLang="en-US">
                <a:sym typeface="+mn-ea"/>
              </a:rPr>
              <a:t>叫</a:t>
            </a:r>
            <a:r>
              <a:rPr lang="en-US" altLang="zh-CN"/>
              <a:t>”</a:t>
            </a:r>
            <a:r>
              <a:rPr lang="zh-CN" altLang="en-US"/>
              <a:t>的方法作为父类</a:t>
            </a:r>
            <a:r>
              <a:rPr lang="en-US" altLang="zh-CN"/>
              <a:t>“</a:t>
            </a:r>
            <a:r>
              <a:rPr lang="zh-CN" altLang="en-US"/>
              <a:t>动物</a:t>
            </a:r>
            <a:r>
              <a:rPr lang="en-US" altLang="zh-CN"/>
              <a:t>”</a:t>
            </a:r>
            <a:r>
              <a:rPr lang="zh-CN" altLang="en-US"/>
              <a:t>的虚函数</a:t>
            </a:r>
          </a:p>
          <a:p>
            <a:pPr lvl="1"/>
            <a:r>
              <a:rPr lang="zh-CN" altLang="en-US"/>
              <a:t>利用子类给出</a:t>
            </a:r>
            <a:r>
              <a:rPr lang="en-US" altLang="zh-CN"/>
              <a:t>“</a:t>
            </a:r>
            <a:r>
              <a:rPr lang="zh-CN" altLang="en-US"/>
              <a:t>叫</a:t>
            </a:r>
            <a:r>
              <a:rPr lang="en-US" altLang="zh-CN"/>
              <a:t>”</a:t>
            </a:r>
            <a:r>
              <a:rPr lang="zh-CN" altLang="en-US"/>
              <a:t>的实现</a:t>
            </a:r>
          </a:p>
          <a:p>
            <a:pPr lvl="0"/>
            <a:r>
              <a:rPr lang="zh-CN" altLang="en-US"/>
              <a:t>如果你认为上面两者都大概率都不对</a:t>
            </a:r>
          </a:p>
          <a:p>
            <a:pPr lvl="1"/>
            <a:r>
              <a:rPr lang="zh-CN" altLang="en-US"/>
              <a:t>比如有的动物</a:t>
            </a:r>
            <a:r>
              <a:rPr lang="en-US" altLang="zh-CN"/>
              <a:t>“</a:t>
            </a:r>
            <a:r>
              <a:rPr lang="zh-CN" altLang="en-US"/>
              <a:t>友善地</a:t>
            </a:r>
            <a:r>
              <a:rPr lang="zh-CN" altLang="en-US">
                <a:sym typeface="+mn-ea"/>
              </a:rPr>
              <a:t>叫</a:t>
            </a:r>
            <a:r>
              <a:rPr lang="en-US" altLang="zh-CN"/>
              <a:t>”</a:t>
            </a:r>
            <a:r>
              <a:rPr lang="zh-CN" altLang="en-US"/>
              <a:t>，有的动物</a:t>
            </a:r>
            <a:r>
              <a:rPr lang="en-US" altLang="zh-CN"/>
              <a:t>“</a:t>
            </a:r>
            <a:r>
              <a:rPr lang="zh-CN" altLang="en-US"/>
              <a:t>中立地叫</a:t>
            </a:r>
            <a:r>
              <a:rPr lang="en-US" altLang="zh-CN"/>
              <a:t>”</a:t>
            </a:r>
            <a:r>
              <a:rPr lang="zh-CN" altLang="en-US"/>
              <a:t>，有得动物</a:t>
            </a:r>
            <a:r>
              <a:rPr lang="en-US" altLang="zh-CN"/>
              <a:t>“</a:t>
            </a:r>
            <a:r>
              <a:rPr lang="zh-CN" altLang="en-US"/>
              <a:t>敌对地叫</a:t>
            </a:r>
            <a:r>
              <a:rPr lang="en-US" altLang="zh-CN"/>
              <a:t>”</a:t>
            </a:r>
          </a:p>
          <a:p>
            <a:pPr lvl="1"/>
            <a:r>
              <a:rPr lang="zh-CN" altLang="en-US"/>
              <a:t>那就应该重新定义一个类，叫</a:t>
            </a:r>
            <a:r>
              <a:rPr lang="en-US" altLang="zh-CN"/>
              <a:t>“</a:t>
            </a:r>
            <a:r>
              <a:rPr lang="zh-CN" altLang="en-US"/>
              <a:t>鸣叫方式</a:t>
            </a:r>
            <a:r>
              <a:rPr lang="en-US" altLang="zh-CN"/>
              <a:t>”</a:t>
            </a:r>
            <a:r>
              <a:rPr lang="zh-CN" altLang="en-US"/>
              <a:t>，然后派生三个子类</a:t>
            </a:r>
          </a:p>
          <a:p>
            <a:pPr lvl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102</a:t>
            </a:fld>
            <a:endParaRPr lang="zh-CN" alt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T-1.3 </a:t>
            </a:r>
            <a:r>
              <a:rPr lang="zh-CN" altLang="en-US"/>
              <a:t>但是也不用灰心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尽管我们不能预测未来的</a:t>
            </a:r>
            <a:r>
              <a:rPr lang="zh-CN" altLang="en-US" b="1">
                <a:solidFill>
                  <a:srgbClr val="FF0000"/>
                </a:solidFill>
              </a:rPr>
              <a:t>所有变化</a:t>
            </a:r>
            <a:endParaRPr lang="zh-CN" altLang="en-US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但是作为一个程序员</a:t>
            </a:r>
          </a:p>
          <a:p>
            <a:pPr lvl="1"/>
            <a:r>
              <a:rPr lang="zh-CN" altLang="en-US"/>
              <a:t>在一定程度上，</a:t>
            </a:r>
            <a:r>
              <a:rPr lang="zh-CN" altLang="en-US">
                <a:sym typeface="+mn-ea"/>
              </a:rPr>
              <a:t>我们其实能够</a:t>
            </a:r>
            <a:r>
              <a:rPr lang="zh-CN" altLang="en-US"/>
              <a:t>分析出软件在哪些部分</a:t>
            </a:r>
            <a:r>
              <a:rPr lang="zh-CN" altLang="en-US" b="1">
                <a:solidFill>
                  <a:srgbClr val="00B050"/>
                </a:solidFill>
              </a:rPr>
              <a:t>很可能发生变化</a:t>
            </a:r>
            <a:endParaRPr lang="zh-CN" altLang="en-US" b="1"/>
          </a:p>
          <a:p>
            <a:pPr lvl="0"/>
            <a:endParaRPr lang="zh-CN" altLang="en-US" b="1"/>
          </a:p>
          <a:p>
            <a:pPr lvl="0"/>
            <a:r>
              <a:rPr lang="zh-CN" altLang="en-US"/>
              <a:t>因此接下来我们将从适应变化的角度</a:t>
            </a:r>
          </a:p>
          <a:p>
            <a:pPr lvl="1"/>
            <a:r>
              <a:rPr lang="zh-CN" altLang="en-US"/>
              <a:t>和大家分析面向对象设计的一些基本原则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103</a:t>
            </a:fld>
            <a:endParaRPr lang="zh-CN" alt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T-2 </a:t>
            </a:r>
            <a:r>
              <a:rPr lang="zh-CN" altLang="en-US"/>
              <a:t>为什么要使用面向对象的设计方式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相比于结构化设计，面向对象的设计好在哪？</a:t>
            </a:r>
          </a:p>
          <a:p>
            <a:pPr lvl="1"/>
            <a:r>
              <a:rPr lang="zh-CN" altLang="en-US"/>
              <a:t>减少代码冗余：防止“牵一发而动全身”的困境出现</a:t>
            </a:r>
          </a:p>
          <a:p>
            <a:pPr lvl="1"/>
            <a:r>
              <a:rPr lang="zh-CN" altLang="en-US"/>
              <a:t>符合人思考问题的逻辑：有利于分工合作</a:t>
            </a:r>
          </a:p>
          <a:p>
            <a:pPr lvl="1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104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41730" y="3592830"/>
            <a:ext cx="353695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int max(int x, int y) {</a:t>
            </a:r>
          </a:p>
          <a:p>
            <a:r>
              <a:rPr lang="zh-CN" altLang="en-US"/>
              <a:t>    return </a:t>
            </a:r>
            <a:r>
              <a:rPr lang="zh-CN" altLang="en-US">
                <a:solidFill>
                  <a:srgbClr val="FF0000"/>
                </a:solidFill>
              </a:rPr>
              <a:t>x &gt; y ? x : y</a:t>
            </a:r>
            <a:r>
              <a:rPr lang="zh-CN" altLang="en-US"/>
              <a:t>;</a:t>
            </a:r>
          </a:p>
          <a:p>
            <a:r>
              <a:rPr lang="zh-CN" altLang="en-US"/>
              <a:t>}</a:t>
            </a:r>
          </a:p>
          <a:p>
            <a:r>
              <a:rPr lang="zh-CN" altLang="en-US"/>
              <a:t>float max(float x, float y) {</a:t>
            </a:r>
          </a:p>
          <a:p>
            <a:r>
              <a:rPr lang="zh-CN" altLang="en-US"/>
              <a:t>    return </a:t>
            </a:r>
            <a:r>
              <a:rPr lang="zh-CN" altLang="en-US">
                <a:solidFill>
                  <a:srgbClr val="FF0000"/>
                </a:solidFill>
              </a:rPr>
              <a:t>x &gt; y ? x : y</a:t>
            </a:r>
            <a:r>
              <a:rPr lang="zh-CN" altLang="en-US"/>
              <a:t>;</a:t>
            </a:r>
          </a:p>
          <a:p>
            <a:r>
              <a:rPr lang="zh-CN" altLang="en-US"/>
              <a:t>}</a:t>
            </a:r>
          </a:p>
          <a:p>
            <a:r>
              <a:rPr lang="zh-CN" altLang="en-US"/>
              <a:t>double max(double x, double y) {</a:t>
            </a:r>
          </a:p>
          <a:p>
            <a:r>
              <a:rPr lang="zh-CN" altLang="en-US"/>
              <a:t>    return </a:t>
            </a:r>
            <a:r>
              <a:rPr lang="zh-CN" altLang="en-US">
                <a:solidFill>
                  <a:srgbClr val="FF0000"/>
                </a:solidFill>
              </a:rPr>
              <a:t>x &gt; y ? x : y</a:t>
            </a:r>
            <a:r>
              <a:rPr lang="zh-CN" altLang="en-US"/>
              <a:t>;</a:t>
            </a:r>
          </a:p>
          <a:p>
            <a:r>
              <a:rPr lang="zh-CN" altLang="en-US"/>
              <a:t>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633720" y="3592830"/>
            <a:ext cx="517017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class Comparable{</a:t>
            </a:r>
          </a:p>
          <a:p>
            <a:r>
              <a:rPr lang="zh-CN" altLang="en-US"/>
              <a:t>public:</a:t>
            </a:r>
          </a:p>
          <a:p>
            <a:r>
              <a:rPr lang="zh-CN" altLang="en-US"/>
              <a:t>    virtual bool greater(Comparable* c) = 0;</a:t>
            </a:r>
          </a:p>
          <a:p>
            <a:r>
              <a:rPr lang="zh-CN" altLang="en-US"/>
              <a:t>};</a:t>
            </a:r>
          </a:p>
          <a:p>
            <a:endParaRPr lang="zh-CN" altLang="en-US"/>
          </a:p>
          <a:p>
            <a:r>
              <a:rPr lang="zh-CN" altLang="en-US"/>
              <a:t>Comparable* max(Comparable* x, Comparable* y) {</a:t>
            </a:r>
          </a:p>
          <a:p>
            <a:r>
              <a:rPr lang="zh-CN" altLang="en-US"/>
              <a:t>    return </a:t>
            </a:r>
            <a:r>
              <a:rPr lang="zh-CN" altLang="en-US">
                <a:solidFill>
                  <a:srgbClr val="00B050"/>
                </a:solidFill>
              </a:rPr>
              <a:t>x-&gt;greater(y) ? x : y</a:t>
            </a:r>
            <a:r>
              <a:rPr lang="zh-CN" altLang="en-US"/>
              <a:t>;</a:t>
            </a:r>
          </a:p>
          <a:p>
            <a:r>
              <a:rPr lang="zh-CN" altLang="en-US"/>
              <a:t>}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P-1 </a:t>
            </a:r>
            <a:r>
              <a:rPr lang="zh-CN" altLang="en-US" dirty="0"/>
              <a:t>开放关闭原则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“</a:t>
            </a:r>
            <a:r>
              <a:rPr lang="zh-CN" altLang="en-US" dirty="0"/>
              <a:t>对拓展开放、对修改关闭</a:t>
            </a:r>
            <a:r>
              <a:rPr lang="en-US" altLang="zh-CN" dirty="0"/>
              <a:t>”</a:t>
            </a:r>
          </a:p>
          <a:p>
            <a:pPr lvl="1"/>
            <a:r>
              <a:rPr lang="zh-CN" altLang="en-US" dirty="0"/>
              <a:t>早些年比较流行的教条</a:t>
            </a:r>
          </a:p>
          <a:p>
            <a:pPr lvl="0"/>
            <a:r>
              <a:rPr lang="zh-CN" altLang="en-US" dirty="0"/>
              <a:t>具体而言</a:t>
            </a:r>
          </a:p>
          <a:p>
            <a:pPr lvl="1"/>
            <a:r>
              <a:rPr lang="zh-CN" altLang="en-US" dirty="0"/>
              <a:t>不要轻易修改代码库里的代码</a:t>
            </a:r>
          </a:p>
          <a:p>
            <a:pPr lvl="1"/>
            <a:r>
              <a:rPr lang="zh-CN" altLang="en-US" dirty="0"/>
              <a:t>当你需要修改代码库里的代码时，构建一个新类继承抽象类</a:t>
            </a:r>
          </a:p>
          <a:p>
            <a:pPr lvl="0"/>
            <a:r>
              <a:rPr lang="zh-CN" altLang="en-US" dirty="0"/>
              <a:t>理由</a:t>
            </a:r>
          </a:p>
          <a:p>
            <a:pPr lvl="1"/>
            <a:r>
              <a:rPr lang="zh-CN" altLang="en-US" dirty="0"/>
              <a:t>在复杂的项目之中可能会出现复杂的间接依赖关系</a:t>
            </a:r>
          </a:p>
          <a:p>
            <a:pPr lvl="1"/>
            <a:r>
              <a:rPr lang="zh-CN" altLang="en-US" dirty="0"/>
              <a:t>对于</a:t>
            </a:r>
            <a:r>
              <a:rPr lang="zh-CN" altLang="en-US" b="1" dirty="0"/>
              <a:t>已经通过测试的代码</a:t>
            </a:r>
            <a:r>
              <a:rPr lang="zh-CN" altLang="en-US" dirty="0"/>
              <a:t>，不要轻易动他</a:t>
            </a:r>
          </a:p>
          <a:p>
            <a:pPr lvl="0"/>
            <a:endParaRPr lang="zh-CN" altLang="en-US" dirty="0"/>
          </a:p>
          <a:p>
            <a:pPr lvl="0"/>
            <a:r>
              <a:rPr lang="zh-CN" altLang="en-US" dirty="0"/>
              <a:t>这种原则主要用于大型软件维护的后期</a:t>
            </a:r>
          </a:p>
          <a:p>
            <a:pPr lvl="1"/>
            <a:r>
              <a:rPr lang="zh-CN" altLang="en-US" sz="2400" dirty="0"/>
              <a:t>在软件开发前期可能经常会针对设计进行重构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105</a:t>
            </a:fld>
            <a:endParaRPr lang="zh-CN" alt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P-2 </a:t>
            </a:r>
            <a:r>
              <a:rPr lang="zh-CN" altLang="en-US"/>
              <a:t>里氏替换原则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子类应该能完全充当一个货真价实的父类对象。</a:t>
            </a:r>
          </a:p>
          <a:p>
            <a:pPr lvl="1"/>
            <a:r>
              <a:rPr lang="en-US" altLang="zh-CN"/>
              <a:t>A* a = new B; // </a:t>
            </a:r>
            <a:r>
              <a:rPr lang="zh-CN" altLang="en-US"/>
              <a:t>其中</a:t>
            </a:r>
            <a:r>
              <a:rPr lang="en-US" altLang="zh-CN"/>
              <a:t> B </a:t>
            </a:r>
            <a:r>
              <a:rPr lang="zh-CN" altLang="en-US"/>
              <a:t>为</a:t>
            </a:r>
            <a:r>
              <a:rPr lang="en-US" altLang="zh-CN"/>
              <a:t> A </a:t>
            </a:r>
            <a:r>
              <a:rPr lang="zh-CN" altLang="en-US"/>
              <a:t>的子类</a:t>
            </a:r>
          </a:p>
          <a:p>
            <a:pPr lvl="1"/>
            <a:r>
              <a:rPr lang="en-US" altLang="zh-CN"/>
              <a:t>a.func(); </a:t>
            </a:r>
          </a:p>
          <a:p>
            <a:pPr lvl="0"/>
            <a:endParaRPr lang="en-US" altLang="zh-CN"/>
          </a:p>
          <a:p>
            <a:pPr lvl="0"/>
            <a:r>
              <a:rPr lang="en-US" altLang="zh-CN"/>
              <a:t>B </a:t>
            </a:r>
            <a:r>
              <a:rPr lang="zh-CN" altLang="en-US"/>
              <a:t>类可能会重新实现</a:t>
            </a:r>
            <a:r>
              <a:rPr lang="en-US" altLang="zh-CN"/>
              <a:t> A </a:t>
            </a:r>
            <a:r>
              <a:rPr lang="zh-CN" altLang="en-US"/>
              <a:t>类的一些方法，并拓展一些新的功能</a:t>
            </a:r>
          </a:p>
          <a:p>
            <a:pPr lvl="1"/>
            <a:r>
              <a:rPr lang="zh-CN" altLang="en-US"/>
              <a:t>但作为</a:t>
            </a:r>
            <a:r>
              <a:rPr lang="en-US" altLang="zh-CN"/>
              <a:t> A </a:t>
            </a:r>
            <a:r>
              <a:rPr lang="zh-CN" altLang="en-US"/>
              <a:t>类的子类，</a:t>
            </a:r>
            <a:r>
              <a:rPr lang="en-US" altLang="zh-CN"/>
              <a:t>B </a:t>
            </a:r>
            <a:r>
              <a:rPr lang="zh-CN" altLang="en-US"/>
              <a:t>类的本职工作就是完成</a:t>
            </a:r>
            <a:r>
              <a:rPr lang="en-US" altLang="zh-CN"/>
              <a:t> A </a:t>
            </a:r>
            <a:r>
              <a:rPr lang="zh-CN" altLang="en-US"/>
              <a:t>类本应能完成的工作</a:t>
            </a:r>
          </a:p>
          <a:p>
            <a:pPr lvl="0"/>
            <a:endParaRPr lang="zh-CN" altLang="en-US"/>
          </a:p>
          <a:p>
            <a:pPr lvl="0"/>
            <a:r>
              <a:rPr lang="zh-CN" altLang="en-US"/>
              <a:t>如果</a:t>
            </a:r>
            <a:r>
              <a:rPr lang="en-US" altLang="zh-CN"/>
              <a:t> B </a:t>
            </a:r>
            <a:r>
              <a:rPr lang="zh-CN" altLang="en-US"/>
              <a:t>类不能很好的完成</a:t>
            </a:r>
            <a:r>
              <a:rPr lang="en-US" altLang="zh-CN"/>
              <a:t> A </a:t>
            </a:r>
            <a:r>
              <a:rPr lang="zh-CN" altLang="en-US"/>
              <a:t>类的工作</a:t>
            </a:r>
          </a:p>
          <a:p>
            <a:pPr lvl="1"/>
            <a:endParaRPr lang="zh-CN" altLang="en-US"/>
          </a:p>
          <a:p>
            <a:pPr lvl="1"/>
            <a:endParaRPr lang="zh-CN" altLang="en-US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106</a:t>
            </a:fld>
            <a:endParaRPr lang="zh-CN" alt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P-3 </a:t>
            </a:r>
            <a:r>
              <a:rPr lang="zh-CN" altLang="en-US"/>
              <a:t>依赖倒置原则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关联也好，依赖也好</a:t>
            </a:r>
          </a:p>
          <a:p>
            <a:pPr lvl="1"/>
            <a:r>
              <a:rPr lang="zh-CN" altLang="en-US"/>
              <a:t>最好关联抽象类，如果关联了具体类可能会影响设计的灵活性</a:t>
            </a:r>
          </a:p>
          <a:p>
            <a:pPr lvl="1"/>
            <a:endParaRPr lang="zh-CN" altLang="en-US"/>
          </a:p>
          <a:p>
            <a:pPr lvl="0"/>
            <a:r>
              <a:rPr lang="zh-CN" altLang="en-US"/>
              <a:t>在结构化程序设计中</a:t>
            </a:r>
          </a:p>
          <a:p>
            <a:pPr lvl="1"/>
            <a:r>
              <a:rPr lang="zh-CN" altLang="en-US"/>
              <a:t>我们常常让上层模块调用下层模块</a:t>
            </a:r>
          </a:p>
          <a:p>
            <a:pPr lvl="1"/>
            <a:endParaRPr lang="zh-CN" altLang="en-US"/>
          </a:p>
          <a:p>
            <a:pPr lvl="0"/>
            <a:r>
              <a:rPr lang="zh-CN" altLang="en-US"/>
              <a:t>但是在面向对象程序设计中</a:t>
            </a:r>
          </a:p>
          <a:p>
            <a:pPr lvl="1"/>
            <a:r>
              <a:rPr lang="zh-CN" altLang="en-US"/>
              <a:t>如果我们应该让抽象程度更高的模块被抽象程度更低的模块依赖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107</a:t>
            </a:fld>
            <a:endParaRPr lang="zh-CN" alt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举个例子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比如教务不支持微信登录</a:t>
            </a:r>
          </a:p>
          <a:p>
            <a:pPr lvl="1"/>
            <a:r>
              <a:rPr lang="zh-CN" altLang="en-US"/>
              <a:t>我们想要给他重新实现一个登录系统</a:t>
            </a:r>
          </a:p>
          <a:p>
            <a:pPr lvl="0"/>
            <a:endParaRPr lang="zh-CN" altLang="en-US"/>
          </a:p>
          <a:p>
            <a:pPr lvl="0"/>
            <a:r>
              <a:rPr lang="zh-CN" altLang="en-US"/>
              <a:t>在这个时候如果我们直接去修改</a:t>
            </a:r>
          </a:p>
          <a:p>
            <a:pPr lvl="1"/>
            <a:r>
              <a:rPr lang="zh-CN" altLang="en-US"/>
              <a:t>具体登录管理系统</a:t>
            </a:r>
          </a:p>
          <a:p>
            <a:pPr lvl="1"/>
            <a:r>
              <a:rPr lang="zh-CN" altLang="en-US"/>
              <a:t>可能会导致其他依赖他的对象出错</a:t>
            </a:r>
          </a:p>
          <a:p>
            <a:pPr lvl="0"/>
            <a:endParaRPr lang="zh-CN" altLang="en-US"/>
          </a:p>
          <a:p>
            <a:pPr lvl="0"/>
            <a:r>
              <a:rPr lang="zh-CN" altLang="en-US"/>
              <a:t>这个例子里可以体现</a:t>
            </a:r>
            <a:r>
              <a:rPr lang="en-US" altLang="zh-CN"/>
              <a:t>“</a:t>
            </a:r>
            <a:r>
              <a:rPr lang="zh-CN" altLang="en-US"/>
              <a:t>开放关闭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依赖倒置</a:t>
            </a:r>
            <a:r>
              <a:rPr lang="en-US" altLang="zh-CN"/>
              <a:t>”</a:t>
            </a:r>
            <a:r>
              <a:rPr lang="zh-CN" altLang="en-US"/>
              <a:t>、</a:t>
            </a:r>
            <a:r>
              <a:rPr lang="en-US" altLang="zh-CN"/>
              <a:t>“</a:t>
            </a:r>
            <a:r>
              <a:rPr lang="zh-CN" altLang="en-US"/>
              <a:t>里氏替换</a:t>
            </a:r>
            <a:r>
              <a:rPr lang="en-US" altLang="zh-CN"/>
              <a:t>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480" y="758825"/>
            <a:ext cx="5430520" cy="3579495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6819900" y="3843020"/>
            <a:ext cx="5040663" cy="3014980"/>
            <a:chOff x="9753" y="5624"/>
            <a:chExt cx="7549" cy="4386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53" y="5624"/>
              <a:ext cx="7549" cy="4386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15787" y="5624"/>
              <a:ext cx="1515" cy="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S-1.3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P-4 </a:t>
            </a:r>
            <a:r>
              <a:rPr lang="zh-CN" altLang="en-US"/>
              <a:t>接口隔离原则与单一职责原则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一个大类不如多个小类灵活</a:t>
            </a:r>
          </a:p>
          <a:p>
            <a:pPr lvl="1"/>
            <a:r>
              <a:rPr lang="zh-CN" altLang="en-US" dirty="0"/>
              <a:t>如果一个接口中包含了很多方法</a:t>
            </a:r>
          </a:p>
          <a:p>
            <a:pPr lvl="1"/>
            <a:r>
              <a:rPr lang="zh-CN" altLang="en-US" dirty="0"/>
              <a:t>可能导致继承这个接口的类被强迫实现一些和他没什么关系的方法</a:t>
            </a:r>
          </a:p>
          <a:p>
            <a:pPr lvl="1"/>
            <a:r>
              <a:rPr lang="zh-CN" altLang="en-US" dirty="0"/>
              <a:t>当一个类臃肿到一定程度的时候，试图将其拆分为相互关联的多个类</a:t>
            </a:r>
          </a:p>
          <a:p>
            <a:pPr lvl="0"/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109</a:t>
            </a:fld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388620" y="3571240"/>
            <a:ext cx="5537200" cy="3208020"/>
            <a:chOff x="12078" y="4567"/>
            <a:chExt cx="6830" cy="413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78" y="4567"/>
              <a:ext cx="6830" cy="4131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7721" y="4567"/>
              <a:ext cx="1187" cy="4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S-1.1</a:t>
              </a:r>
            </a:p>
          </p:txBody>
        </p:sp>
      </p:grp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P-5 </a:t>
            </a:r>
            <a:r>
              <a:rPr lang="zh-CN" altLang="en-US"/>
              <a:t>迪米特法则</a:t>
            </a:r>
            <a:r>
              <a:rPr lang="en-US" altLang="zh-CN"/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一个类应该和尽可能少的类发生关联</a:t>
            </a:r>
          </a:p>
          <a:p>
            <a:pPr lvl="1"/>
            <a:r>
              <a:rPr lang="zh-CN" altLang="en-US"/>
              <a:t>如果一个类和非常多的类有关联</a:t>
            </a:r>
          </a:p>
          <a:p>
            <a:pPr lvl="1"/>
            <a:r>
              <a:rPr lang="zh-CN" altLang="en-US"/>
              <a:t>那就应该试图将其拆分为多个类</a:t>
            </a:r>
          </a:p>
          <a:p>
            <a:pPr lvl="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110</a:t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Q5YjU5ZTk4ZTMzNGI1OGVkYmI4MjI5ZTQ1MTE0Y2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7274</Words>
  <Application>Microsoft Office PowerPoint</Application>
  <PresentationFormat>宽屏</PresentationFormat>
  <Paragraphs>1032</Paragraphs>
  <Slides>110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110</vt:i4>
      </vt:variant>
    </vt:vector>
  </HeadingPairs>
  <TitlesOfParts>
    <vt:vector size="116" baseType="lpstr">
      <vt:lpstr>黑体</vt:lpstr>
      <vt:lpstr>微软雅黑</vt:lpstr>
      <vt:lpstr>Arial</vt:lpstr>
      <vt:lpstr>Calibri</vt:lpstr>
      <vt:lpstr>Wingdings</vt:lpstr>
      <vt:lpstr>WPS</vt:lpstr>
      <vt:lpstr>C++面向对象技术分享</vt:lpstr>
      <vt:lpstr>自我介绍</vt:lpstr>
      <vt:lpstr>关于内容</vt:lpstr>
      <vt:lpstr>C++的标准</vt:lpstr>
      <vt:lpstr>C++的标准</vt:lpstr>
      <vt:lpstr>内存分区概述</vt:lpstr>
      <vt:lpstr>包含警戒和program once</vt:lpstr>
      <vt:lpstr>PowerPoint 演示文稿</vt:lpstr>
      <vt:lpstr>Abstract Data Type（ADT）</vt:lpstr>
      <vt:lpstr>Abstract Data Type（ADT）</vt:lpstr>
      <vt:lpstr>ADT的前置声明</vt:lpstr>
      <vt:lpstr>ADT的前置声明不能做的事情</vt:lpstr>
      <vt:lpstr>成员函数的实现 .h(推荐)</vt:lpstr>
      <vt:lpstr>成员函数的实现 .cpp</vt:lpstr>
      <vt:lpstr>成员函数的实现  </vt:lpstr>
      <vt:lpstr>this指针（相当于自己）</vt:lpstr>
      <vt:lpstr>this指针（相当于自己）</vt:lpstr>
      <vt:lpstr>inline(加快运行速度)</vt:lpstr>
      <vt:lpstr>inline(减少函数调用开销，加快运行速度)</vt:lpstr>
      <vt:lpstr>Inline不适用情况</vt:lpstr>
      <vt:lpstr>const </vt:lpstr>
      <vt:lpstr>const </vt:lpstr>
      <vt:lpstr>const</vt:lpstr>
      <vt:lpstr>static</vt:lpstr>
      <vt:lpstr>static</vt:lpstr>
      <vt:lpstr>static and const</vt:lpstr>
      <vt:lpstr>引用&amp;</vt:lpstr>
      <vt:lpstr>引用&amp;</vt:lpstr>
      <vt:lpstr>引用&amp;</vt:lpstr>
      <vt:lpstr>构造函数</vt:lpstr>
      <vt:lpstr>构造函数</vt:lpstr>
      <vt:lpstr>构造函数（可以同时拥有多个不同的构造函数）</vt:lpstr>
      <vt:lpstr>构造函数</vt:lpstr>
      <vt:lpstr>拷贝构造函数</vt:lpstr>
      <vt:lpstr>拷贝构造函数</vt:lpstr>
      <vt:lpstr>拷贝构造函数</vt:lpstr>
      <vt:lpstr>拷贝构造函数</vt:lpstr>
      <vt:lpstr>析构函数</vt:lpstr>
      <vt:lpstr>析构函数</vt:lpstr>
      <vt:lpstr>运算符重载</vt:lpstr>
      <vt:lpstr>运算符重载</vt:lpstr>
      <vt:lpstr>运算符重载</vt:lpstr>
      <vt:lpstr>运算符重载</vt:lpstr>
      <vt:lpstr>运算符重载</vt:lpstr>
      <vt:lpstr>运算符重载</vt:lpstr>
      <vt:lpstr>运算符重载</vt:lpstr>
      <vt:lpstr>友元（friend）</vt:lpstr>
      <vt:lpstr>友元（friend）</vt:lpstr>
      <vt:lpstr>嵌套类</vt:lpstr>
      <vt:lpstr>类间关系的强弱</vt:lpstr>
      <vt:lpstr>水平方向</vt:lpstr>
      <vt:lpstr>关联种类</vt:lpstr>
      <vt:lpstr>面向对象的三大基本特征</vt:lpstr>
      <vt:lpstr>面向对象的三大基本特征</vt:lpstr>
      <vt:lpstr>继承</vt:lpstr>
      <vt:lpstr>继承</vt:lpstr>
      <vt:lpstr>继承</vt:lpstr>
      <vt:lpstr>继承</vt:lpstr>
      <vt:lpstr>继承</vt:lpstr>
      <vt:lpstr>继承</vt:lpstr>
      <vt:lpstr>继承</vt:lpstr>
      <vt:lpstr>4 3 2 1 0</vt:lpstr>
      <vt:lpstr>继承</vt:lpstr>
      <vt:lpstr>继承</vt:lpstr>
      <vt:lpstr>继承</vt:lpstr>
      <vt:lpstr>继承</vt:lpstr>
      <vt:lpstr>继承</vt:lpstr>
      <vt:lpstr>继承</vt:lpstr>
      <vt:lpstr>继承</vt:lpstr>
      <vt:lpstr>继承</vt:lpstr>
      <vt:lpstr>继承</vt:lpstr>
      <vt:lpstr>多重继承</vt:lpstr>
      <vt:lpstr>多重继承下的名字冲突问题</vt:lpstr>
      <vt:lpstr>多重继承下的名字冲突问题</vt:lpstr>
      <vt:lpstr>多重继承下的名字冲突问题</vt:lpstr>
      <vt:lpstr>虚函数</vt:lpstr>
      <vt:lpstr>虚析构函数的作用</vt:lpstr>
      <vt:lpstr>虚函数</vt:lpstr>
      <vt:lpstr>接口类和纯虚函数和抽象类</vt:lpstr>
      <vt:lpstr>虚函数</vt:lpstr>
      <vt:lpstr>虚函数</vt:lpstr>
      <vt:lpstr>虚函数</vt:lpstr>
      <vt:lpstr>val = 4 num = 12 A::g()</vt:lpstr>
      <vt:lpstr>8 1 9 2 11 20</vt:lpstr>
      <vt:lpstr>PowerPoint 演示文稿</vt:lpstr>
      <vt:lpstr>另外一道往年真题</vt:lpstr>
      <vt:lpstr>PowerPoint 演示文稿</vt:lpstr>
      <vt:lpstr>判断选择填空简答</vt:lpstr>
      <vt:lpstr>写程序大题</vt:lpstr>
      <vt:lpstr>在面向对象设计中的一些困惑</vt:lpstr>
      <vt:lpstr>软件为什么要设计？</vt:lpstr>
      <vt:lpstr>情境想象一个情境</vt:lpstr>
      <vt:lpstr>S-1.1 一种符合直觉的设计</vt:lpstr>
      <vt:lpstr>S-1.2 当你和你的团队兴致勃勃地干了一个月后</vt:lpstr>
      <vt:lpstr>S-1.2 哪里不对呢？</vt:lpstr>
      <vt:lpstr>S-1.3 为了避免悲剧的发生</vt:lpstr>
      <vt:lpstr>T-1.1 论题：为什么要设计？</vt:lpstr>
      <vt:lpstr>S-1.4 对比两个设计</vt:lpstr>
      <vt:lpstr>S-1.4 上面给出的只是一个简单的例子</vt:lpstr>
      <vt:lpstr>T-1.2 为什么软件设计没有银弹</vt:lpstr>
      <vt:lpstr>M-1 一个简单的模型</vt:lpstr>
      <vt:lpstr>M-1.1 一个例子</vt:lpstr>
      <vt:lpstr>T-1.3 但是也不用灰心</vt:lpstr>
      <vt:lpstr>T-2 为什么要使用面向对象的设计方式</vt:lpstr>
      <vt:lpstr>P-1 开放关闭原则</vt:lpstr>
      <vt:lpstr>P-2 里氏替换原则</vt:lpstr>
      <vt:lpstr>P-3 依赖倒置原则</vt:lpstr>
      <vt:lpstr>举个例子</vt:lpstr>
      <vt:lpstr>P-4 接口隔离原则与单一职责原则</vt:lpstr>
      <vt:lpstr>P-5 迪米特法则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 premier</dc:creator>
  <cp:lastModifiedBy>chuanbo Gao</cp:lastModifiedBy>
  <cp:revision>1152</cp:revision>
  <dcterms:created xsi:type="dcterms:W3CDTF">2023-08-09T12:44:00Z</dcterms:created>
  <dcterms:modified xsi:type="dcterms:W3CDTF">2026-07-02T06:23:29Z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2052-12.1.0.21171</vt:lpwstr>
  </property>
</Properties>
</file>